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6757a9ffdb4564" /><Relationship Type="http://schemas.openxmlformats.org/officeDocument/2006/relationships/extended-properties" Target="/docProps/app.xml" Id="Rcf7a156e07214374" /><Relationship Type="http://schemas.openxmlformats.org/officeDocument/2006/relationships/officeDocument" Target="/ppt/presentation.xml" Id="R786b2a268f4340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19b1996e0b4b7e"/>
  </p:sldMasterIdLst>
  <p:notesMasterIdLst>
    <p:notesMasterId xmlns:r="http://schemas.openxmlformats.org/officeDocument/2006/relationships" r:id="R4e1b7ab937ca4207"/>
  </p:notesMasterIdLst>
  <p:sldIdLst>
    <p:sldId xmlns:r="http://schemas.openxmlformats.org/officeDocument/2006/relationships" id="256" r:id="R3bb29578c1554f44"/>
    <p:sldId xmlns:r="http://schemas.openxmlformats.org/officeDocument/2006/relationships" id="257" r:id="R64c7e4a50c1041c0"/>
    <p:sldId xmlns:r="http://schemas.openxmlformats.org/officeDocument/2006/relationships" id="258" r:id="R4639cfa21ee44cbc"/>
    <p:sldId xmlns:r="http://schemas.openxmlformats.org/officeDocument/2006/relationships" id="259" r:id="Rb92133791cff4ed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7e9b309e7c54b2d" /><Relationship Type="http://schemas.openxmlformats.org/officeDocument/2006/relationships/slideMaster" Target="/ppt/slideMasters/slideMaster1.xml" Id="Rf619b1996e0b4b7e" /><Relationship Type="http://schemas.openxmlformats.org/officeDocument/2006/relationships/notesMaster" Target="/ppt/notesMasters/notesMaster1.xml" Id="R4e1b7ab937ca4207" /><Relationship Type="http://schemas.openxmlformats.org/officeDocument/2006/relationships/presProps" Target="/ppt/presProps.xml" Id="Rc1f69e2235ba4d8f" /><Relationship Type="http://schemas.openxmlformats.org/officeDocument/2006/relationships/tableStyles" Target="/ppt/tableStyles.xml" Id="R71775c80f70d4894" /><Relationship Type="http://schemas.openxmlformats.org/officeDocument/2006/relationships/slide" Target="/ppt/slides/slide1.xml" Id="R3bb29578c1554f44" /><Relationship Type="http://schemas.openxmlformats.org/officeDocument/2006/relationships/slide" Target="/ppt/slides/slide2.xml" Id="R64c7e4a50c1041c0" /><Relationship Type="http://schemas.openxmlformats.org/officeDocument/2006/relationships/slide" Target="/ppt/slides/slide3.xml" Id="R4639cfa21ee44cbc" /><Relationship Type="http://schemas.openxmlformats.org/officeDocument/2006/relationships/slide" Target="/ppt/slides/slide4.xml" Id="Rb92133791cff4e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bf344ed0be64a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e7215871744c3b" /><Relationship Type="http://schemas.openxmlformats.org/officeDocument/2006/relationships/notesMaster" Target="/ppt/notesMasters/notesMaster1.xml" Id="Rbd7e8ea7f70d41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b79a2c7d0af4536" /><Relationship Type="http://schemas.openxmlformats.org/officeDocument/2006/relationships/notesMaster" Target="/ppt/notesMasters/notesMaster1.xml" Id="R83b9a66626364b5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49a4feee982475d" /><Relationship Type="http://schemas.openxmlformats.org/officeDocument/2006/relationships/notesMaster" Target="/ppt/notesMasters/notesMaster1.xml" Id="R6f6ebe09c716479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e3ea5feeedf4a40" /><Relationship Type="http://schemas.openxmlformats.org/officeDocument/2006/relationships/notesMaster" Target="/ppt/notesMasters/notesMaster1.xml" Id="R2c82f9ae780c48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Best residual example from defensive 30-second windows; ten outfield players, at least 50 qualifying frames each. Four fixed templates and Hungarian squared-distance assignment. Player labels are assigned template slots, not reviewed role truth. Raw versus centered covariance ellipses appear as a small inset. RMS error is not a formation probability; not elastic EFPI inference. Alternative A: Role board. Same team, qualifying window, four candidate templates and assignment algorithm as the main deck; only the visualization differs. Role-board coordinates are schematic where shown; residual plots use observed centered medians.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Notebook: 03_formation_analysis.ipynb</a:t>
            </a:r>
          </a:p>
          <a:p xmlns:a="http://schemas.openxmlformats.org/drawingml/2006/main">
            <a:r>
              <a:t>https://github.com/zcochran27/tracking-data-applied-workshop/blob/main/notebooks/methods/03_formation_analysis.ipynb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Shaw &amp; Glickman: Dynamic Analysis of Team Strategy</a:t>
            </a:r>
          </a:p>
          <a:p xmlns:a="http://schemas.openxmlformats.org/drawingml/2006/main">
            <a:r>
              <a:t>https://static.capabiliaserver.com/frontend/clients/barca/wp_prod/wp-content/uploads/2020/01/83c87dfe-barca_poster_shaw.pdf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Joris Bekkers: Elastic Formation and Position Identification</a:t>
            </a:r>
          </a:p>
          <a:p xmlns:a="http://schemas.openxmlformats.org/drawingml/2006/main">
            <a:r>
              <a:t>https://arxiv.org/abs/2506.23843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Devin Pleuler: Fixed to Fluid (2024)</a:t>
            </a:r>
          </a:p>
          <a:p xmlns:a="http://schemas.openxmlformats.org/drawingml/2006/main">
            <a:r>
              <a:t>https://github.com/devinpleuler/research/blob/master/frame-by-frame-position.md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Best residual example from defensive 30-second windows; ten outfield players, at least 50 qualifying frames each. Four fixed templates and Hungarian squared-distance assignment. Player labels are assigned template slots, not reviewed role truth. Raw versus centered covariance ellipses appear as a small inset. RMS error is not a formation probability; not elastic EFPI inference. Alternative B: Compare templates. Same team, qualifying window, four candidate templates and assignment algorithm as the main deck; only the visualization differs. Role-board coordinates are schematic where shown; residual plots use observed centered medians.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Notebook: 03_formation_analysis.ipynb</a:t>
            </a:r>
          </a:p>
          <a:p xmlns:a="http://schemas.openxmlformats.org/drawingml/2006/main">
            <a:r>
              <a:t>https://github.com/zcochran27/tracking-data-applied-workshop/blob/main/notebooks/methods/03_formation_analysis.ipynb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Shaw &amp; Glickman: Dynamic Analysis of Team Strategy</a:t>
            </a:r>
          </a:p>
          <a:p xmlns:a="http://schemas.openxmlformats.org/drawingml/2006/main">
            <a:r>
              <a:t>https://static.capabiliaserver.com/frontend/clients/barca/wp_prod/wp-content/uploads/2020/01/83c87dfe-barca_poster_shaw.pdf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Joris Bekkers: Elastic Formation and Position Identification</a:t>
            </a:r>
          </a:p>
          <a:p xmlns:a="http://schemas.openxmlformats.org/drawingml/2006/main">
            <a:r>
              <a:t>https://arxiv.org/abs/2506.23843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Devin Pleuler: Fixed to Fluid (2024)</a:t>
            </a:r>
          </a:p>
          <a:p xmlns:a="http://schemas.openxmlformats.org/drawingml/2006/main">
            <a:r>
              <a:t>https://github.com/devinpleuler/research/blob/master/frame-by-frame-position.md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Best residual example from defensive 30-second windows; ten outfield players, at least 50 qualifying frames each. Four fixed templates and Hungarian squared-distance assignment. Player labels are assigned template slots, not reviewed role truth. Raw versus centered covariance ellipses appear as a small inset. RMS error is not a formation probability; not elastic EFPI inference. Alternative C: Normalization + result. Same team, qualifying window, four candidate templates and assignment algorithm as the main deck; only the visualization differs. Role-board coordinates are schematic where shown; residual plots use observed centered medians.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Notebook: 03_formation_analysis.ipynb</a:t>
            </a:r>
          </a:p>
          <a:p xmlns:a="http://schemas.openxmlformats.org/drawingml/2006/main">
            <a:r>
              <a:t>https://github.com/zcochran27/tracking-data-applied-workshop/blob/main/notebooks/methods/03_formation_analysis.ipynb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Shaw &amp; Glickman: Dynamic Analysis of Team Strategy</a:t>
            </a:r>
          </a:p>
          <a:p xmlns:a="http://schemas.openxmlformats.org/drawingml/2006/main">
            <a:r>
              <a:t>https://static.capabiliaserver.com/frontend/clients/barca/wp_prod/wp-content/uploads/2020/01/83c87dfe-barca_poster_shaw.pdf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Joris Bekkers: Elastic Formation and Position Identification</a:t>
            </a:r>
          </a:p>
          <a:p xmlns:a="http://schemas.openxmlformats.org/drawingml/2006/main">
            <a:r>
              <a:t>https://arxiv.org/abs/2506.23843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Devin Pleuler: Fixed to Fluid (2024)</a:t>
            </a:r>
          </a:p>
          <a:p xmlns:a="http://schemas.openxmlformats.org/drawingml/2006/main">
            <a:r>
              <a:t>https://github.com/devinpleuler/research/blob/master/frame-by-frame-position.md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Best residual example from defensive 30-second windows; ten outfield players, at least 50 qualifying frames each. Four fixed templates and Hungarian squared-distance assignment. Player labels are assigned template slots, not reviewed role truth. Raw versus centered covariance ellipses appear as a small inset. RMS error is not a formation probability; not elastic EFPI inference. Alternative D: Fit diagnostics. Same team, qualifying window, four candidate templates and assignment algorithm as the main deck; only the visualization differs. Role-board coordinates are schematic where shown; residual plots use observed centered medians.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Notebook: 03_formation_analysis.ipynb</a:t>
            </a:r>
          </a:p>
          <a:p xmlns:a="http://schemas.openxmlformats.org/drawingml/2006/main">
            <a:r>
              <a:t>https://github.com/zcochran27/tracking-data-applied-workshop/blob/main/notebooks/methods/03_formation_analysis.ipynb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Shaw &amp; Glickman: Dynamic Analysis of Team Strategy</a:t>
            </a:r>
          </a:p>
          <a:p xmlns:a="http://schemas.openxmlformats.org/drawingml/2006/main">
            <a:r>
              <a:t>https://static.capabiliaserver.com/frontend/clients/barca/wp_prod/wp-content/uploads/2020/01/83c87dfe-barca_poster_shaw.pdf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Joris Bekkers: Elastic Formation and Position Identification</a:t>
            </a:r>
          </a:p>
          <a:p xmlns:a="http://schemas.openxmlformats.org/drawingml/2006/main">
            <a:r>
              <a:t>https://arxiv.org/abs/2506.23843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Devin Pleuler: Fixed to Fluid (2024)</a:t>
            </a:r>
          </a:p>
          <a:p xmlns:a="http://schemas.openxmlformats.org/drawingml/2006/main">
            <a:r>
              <a:t>https://github.com/devinpleuler/research/blob/master/frame-by-frame-position.md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e7ed59378a4fb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eb3763d1664cd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5dad0ef5d9480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ce0d7000a54f9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87e09fa5224ea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f200173b054f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AF6DB6C-0A4E-4E7B-A2A6-AD6FEB3BB4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B8B9342-E9C8-499B-80F8-7F09E3ADEF9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03F1CC4-72C5-4F63-8A9E-FF0050E618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04F51A5-9543-47B3-BA26-26D5545923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D66689E-17CE-479F-B220-8CDA42116DB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7565359-741B-4E10-AA92-85D6FE0B6D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9F06F6C-8EFB-4C88-A4EA-6BA5E6B044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AE4EF48-5098-420C-BA44-B253D4AF5E0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EC6D12E-6A65-42D6-B507-9FF0ACCD06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98B4F8F-A109-40B6-BC26-52373BFF8C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c514a02e264e32" /><Relationship Type="http://schemas.openxmlformats.org/officeDocument/2006/relationships/slideLayout" Target="/ppt/slideLayouts/slideLayout1.xml" Id="Rba14ea2270944841" /><Relationship Type="http://schemas.openxmlformats.org/officeDocument/2006/relationships/slideLayout" Target="/ppt/slideLayouts/slideLayout2.xml" Id="R69a132dd94eb4552" /><Relationship Type="http://schemas.openxmlformats.org/officeDocument/2006/relationships/slideLayout" Target="/ppt/slideLayouts/slideLayout3.xml" Id="R165ef27454c14826" /><Relationship Type="http://schemas.openxmlformats.org/officeDocument/2006/relationships/slideLayout" Target="/ppt/slideLayouts/slideLayout4.xml" Id="R9032a6a80b5144b6" /><Relationship Type="http://schemas.openxmlformats.org/officeDocument/2006/relationships/slideLayout" Target="/ppt/slideLayouts/slideLayout5.xml" Id="Rde3d105940d54d40" /><Relationship Type="http://schemas.openxmlformats.org/officeDocument/2006/relationships/slideLayout" Target="/ppt/slideLayouts/slideLayout6.xml" Id="Rfe0c062c7f9f4d6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14ea2270944841"/>
    <p:sldLayoutId xmlns:r="http://schemas.openxmlformats.org/officeDocument/2006/relationships" id="2147483650" r:id="R69a132dd94eb4552"/>
    <p:sldLayoutId xmlns:r="http://schemas.openxmlformats.org/officeDocument/2006/relationships" id="2147483651" r:id="R165ef27454c14826"/>
    <p:sldLayoutId xmlns:r="http://schemas.openxmlformats.org/officeDocument/2006/relationships" id="2147483652" r:id="R9032a6a80b5144b6"/>
    <p:sldLayoutId xmlns:r="http://schemas.openxmlformats.org/officeDocument/2006/relationships" id="2147483653" r:id="Rde3d105940d54d40"/>
    <p:sldLayoutId xmlns:r="http://schemas.openxmlformats.org/officeDocument/2006/relationships" id="2147483654" r:id="Rfe0c062c7f9f4d6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81b51bfa73dc44c8" /><ns0:Relationship Type="http://schemas.openxmlformats.org/officeDocument/2006/relationships/image" Target="/ppt/media/image.png" Id="Ra4aba918300c448f" /><ns0:Relationship Type="http://schemas.openxmlformats.org/officeDocument/2006/relationships/notesSlide" Target="/ppt/notesSlides/notesSlide1.xml" Id="R6935dcc3d2ba4e5d" /><ns0:Relationship Id="rIdWorkshop4" Type="http://schemas.openxmlformats.org/officeDocument/2006/relationships/hyperlink" Target="https://github.com/zcochran27/tracking-data-applied-workshop/blob/main/notebooks/methods/03_formation_analysis.ipynb" TargetMode="External" /><ns0:Relationship Id="rIdWorkshop5" Type="http://schemas.openxmlformats.org/officeDocument/2006/relationships/hyperlink" Target="https://static.capabiliaserver.com/frontend/clients/barca/wp_prod/wp-content/uploads/2020/01/83c87dfe-barca_poster_shaw.pdf" TargetMode="External" /><ns0:Relationship Id="rIdWorkshop6" Type="http://schemas.openxmlformats.org/officeDocument/2006/relationships/hyperlink" Target="https://arxiv.org/abs/2506.23843" TargetMode="External" /><ns0:Relationship Id="rIdWorkshop7" Type="http://schemas.openxmlformats.org/officeDocument/2006/relationships/hyperlink" Target="https://github.com/devinpleuler/research/blob/master/frame-by-frame-position.md" TargetMode="External" /></ns0:Relationships>
</file>

<file path=ppt/slides/_rels/slide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6fe622201bb549c3" /><ns0:Relationship Type="http://schemas.openxmlformats.org/officeDocument/2006/relationships/image" Target="/ppt/media/image2.png" Id="Re40d6db17a814661" /><ns0:Relationship Type="http://schemas.openxmlformats.org/officeDocument/2006/relationships/notesSlide" Target="/ppt/notesSlides/notesSlide2.xml" Id="R5bc7b1ac2b5644be" /><ns0:Relationship Id="rIdWorkshop4" Type="http://schemas.openxmlformats.org/officeDocument/2006/relationships/hyperlink" Target="https://github.com/zcochran27/tracking-data-applied-workshop/blob/main/notebooks/methods/03_formation_analysis.ipynb" TargetMode="External" /><ns0:Relationship Id="rIdWorkshop5" Type="http://schemas.openxmlformats.org/officeDocument/2006/relationships/hyperlink" Target="https://static.capabiliaserver.com/frontend/clients/barca/wp_prod/wp-content/uploads/2020/01/83c87dfe-barca_poster_shaw.pdf" TargetMode="External" /><ns0:Relationship Id="rIdWorkshop6" Type="http://schemas.openxmlformats.org/officeDocument/2006/relationships/hyperlink" Target="https://arxiv.org/abs/2506.23843" TargetMode="External" /><ns0:Relationship Id="rIdWorkshop7" Type="http://schemas.openxmlformats.org/officeDocument/2006/relationships/hyperlink" Target="https://github.com/devinpleuler/research/blob/master/frame-by-frame-position.md" TargetMode="External" /></ns0:Relationships>
</file>

<file path=ppt/slides/_rels/slide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f06a9a2fb0d44956" /><ns0:Relationship Type="http://schemas.openxmlformats.org/officeDocument/2006/relationships/image" Target="/ppt/media/image3.png" Id="R0b8eff8d37264646" /><ns0:Relationship Type="http://schemas.openxmlformats.org/officeDocument/2006/relationships/notesSlide" Target="/ppt/notesSlides/notesSlide3.xml" Id="R7d56e26fe20541b3" /><ns0:Relationship Id="rIdWorkshop4" Type="http://schemas.openxmlformats.org/officeDocument/2006/relationships/hyperlink" Target="https://github.com/zcochran27/tracking-data-applied-workshop/blob/main/notebooks/methods/03_formation_analysis.ipynb" TargetMode="External" /><ns0:Relationship Id="rIdWorkshop5" Type="http://schemas.openxmlformats.org/officeDocument/2006/relationships/hyperlink" Target="https://static.capabiliaserver.com/frontend/clients/barca/wp_prod/wp-content/uploads/2020/01/83c87dfe-barca_poster_shaw.pdf" TargetMode="External" /><ns0:Relationship Id="rIdWorkshop6" Type="http://schemas.openxmlformats.org/officeDocument/2006/relationships/hyperlink" Target="https://arxiv.org/abs/2506.23843" TargetMode="External" /><ns0:Relationship Id="rIdWorkshop7" Type="http://schemas.openxmlformats.org/officeDocument/2006/relationships/hyperlink" Target="https://github.com/devinpleuler/research/blob/master/frame-by-frame-position.md" TargetMode="External" /></ns0:Relationships>
</file>

<file path=ppt/slides/_rels/slide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c2e6ad98cbea48cf" /><ns0:Relationship Type="http://schemas.openxmlformats.org/officeDocument/2006/relationships/image" Target="/ppt/media/image4.png" Id="R37cf8418d008465c" /><ns0:Relationship Type="http://schemas.openxmlformats.org/officeDocument/2006/relationships/notesSlide" Target="/ppt/notesSlides/notesSlide4.xml" Id="R15b6e47672e14977" /><ns0:Relationship Id="rIdWorkshop4" Type="http://schemas.openxmlformats.org/officeDocument/2006/relationships/hyperlink" Target="https://github.com/zcochran27/tracking-data-applied-workshop/blob/main/notebooks/methods/03_formation_analysis.ipynb" TargetMode="External" /><ns0:Relationship Id="rIdWorkshop5" Type="http://schemas.openxmlformats.org/officeDocument/2006/relationships/hyperlink" Target="https://static.capabiliaserver.com/frontend/clients/barca/wp_prod/wp-content/uploads/2020/01/83c87dfe-barca_poster_shaw.pdf" TargetMode="External" /><ns0:Relationship Id="rIdWorkshop6" Type="http://schemas.openxmlformats.org/officeDocument/2006/relationships/hyperlink" Target="https://arxiv.org/abs/2506.23843" TargetMode="External" /><ns0:Relationship Id="rIdWorkshop7" Type="http://schemas.openxmlformats.org/officeDocument/2006/relationships/hyperlink" Target="https://github.com/devinpleuler/research/blob/master/frame-by-frame-position.md" TargetMode="External" /></ns0:Relationships>
</file>

<file path=ppt/slides/slide1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BFCF8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6" name="">
            <a:extLst>
              <a:ext uri="{FF2B5EF4-FFF2-40B4-BE49-F238E27FC236}">
                <ns2:creationId id="{73C4038E-DCC8-42EB-BF06-A4AFCB8B5D1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47D68"/>
          </a:solidFill>
          <a:ln w="0">
            <a:noFill/>
          </a:ln>
        </p:spPr>
      </p:sp>
      <p:sp>
        <p:nvSpPr>
          <p:cNvPr id="2" name="">
            <a:extLst>
              <a:ext uri="{FF2B5EF4-FFF2-40B4-BE49-F238E27FC236}">
                <ns2:creationId id="{362FC0AA-15FB-48C6-A484-BBD3BC2262F6}"/>
              </a:ext>
            </a:extLst>
          </p:cNvPr>
          <p:cNvSpPr>
            <a:spLocks noGrp="1"/>
          </p:cNvSpPr>
          <p:nvPr/>
        </p:nvSpPr>
        <p:spPr>
          <a:xfrm>
            <a:off x="457200" y="276225"/>
            <a:ext cx="1104900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47D68"/>
                </a:solidFill>
                <a:latin typeface="Arial"/>
                <a:ea typeface="Arial"/>
                <a:cs typeface="Arial"/>
              </a:rPr>
              <a:t>SLIDE 10 OPTION A · ROLE BOARD</a:t>
            </a:r>
          </a:p>
        </p:txBody>
      </p:sp>
      <p:sp>
        <p:nvSpPr>
          <p:cNvPr id="3" name="">
            <a:extLst>
              <a:ext uri="{FF2B5EF4-FFF2-40B4-BE49-F238E27FC236}">
                <ns2:creationId id="{DD406123-8B42-4906-A507-88F4CEB3982E}"/>
              </a:ext>
            </a:extLst>
          </p:cNvPr>
          <p:cNvSpPr>
            <a:spLocks noGrp="1"/>
          </p:cNvSpPr>
          <p:nvPr/>
        </p:nvSpPr>
        <p:spPr>
          <a:xfrm>
            <a:off x="457200" y="590550"/>
            <a:ext cx="112776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850" b="1">
                <a:solidFill>
                  <a:srgbClr val="183A35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183A35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183A35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183A35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183A35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183A35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183A35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183A35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183A35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183A3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850" b="1">
                <a:solidFill>
                  <a:srgbClr val="183A3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83A35"/>
                </a:solidFill>
                <a:latin typeface="Arial"/>
                <a:ea typeface="Arial"/>
                <a:cs typeface="Arial"/>
              </a:rPr>
              <a:t>Which formation best fits this shape?</a:t>
            </a:r>
          </a:p>
        </p:txBody>
      </p:sp>
      <p:sp>
        <p:nvSpPr>
          <p:cNvPr id="4" name="">
            <a:extLst>
              <a:ext uri="{FF2B5EF4-FFF2-40B4-BE49-F238E27FC236}">
                <ns2:creationId id="{905AC288-282F-4563-AE7F-B583E10D7C7C}"/>
              </a:ext>
            </a:extLst>
          </p:cNvPr>
          <p:cNvSpPr>
            <a:spLocks noGrp="1"/>
          </p:cNvSpPr>
          <p:nvPr/>
        </p:nvSpPr>
        <p:spPr>
          <a:xfrm>
            <a:off x="457200" y="1504950"/>
            <a:ext cx="22098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47D68"/>
                </a:solidFill>
                <a:latin typeface="Arial"/>
                <a:ea typeface="Arial"/>
                <a:cs typeface="Arial"/>
              </a:rPr>
              <a:t>Problem</a:t>
            </a:r>
          </a:p>
        </p:txBody>
      </p:sp>
      <p:sp>
        <p:nvSpPr>
          <p:cNvPr id="5" name="">
            <a:extLst>
              <a:ext uri="{FF2B5EF4-FFF2-40B4-BE49-F238E27FC236}">
                <ns2:creationId id="{085E174A-A37A-45AC-9E1D-7E3CD31FCC02}"/>
              </a:ext>
            </a:extLst>
          </p:cNvPr>
          <p:cNvSpPr>
            <a:spLocks noGrp="1"/>
          </p:cNvSpPr>
          <p:nvPr/>
        </p:nvSpPr>
        <p:spPr>
          <a:xfrm>
            <a:off x="457200" y="1809750"/>
            <a:ext cx="2209800" cy="12954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65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3A35"/>
                </a:solidFill>
                <a:latin typeface="Arial"/>
                <a:ea typeface="Arial"/>
                <a:cs typeface="Arial"/>
              </a:rPr>
              <a:t>Infer organization from positions rather than the team sheet.</a:t>
            </a:r>
          </a:p>
        </p:txBody>
      </p:sp>
      <p:sp>
        <p:nvSpPr>
          <p:cNvPr id="6" name="">
            <a:extLst>
              <a:ext uri="{FF2B5EF4-FFF2-40B4-BE49-F238E27FC236}">
                <ns2:creationId id="{D3E8D48E-3CE8-440C-9ECC-6979835075F4}"/>
              </a:ext>
            </a:extLst>
          </p:cNvPr>
          <p:cNvSpPr>
            <a:spLocks noGrp="1"/>
          </p:cNvSpPr>
          <p:nvPr/>
        </p:nvSpPr>
        <p:spPr>
          <a:xfrm>
            <a:off x="457200" y="3314700"/>
            <a:ext cx="22098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47D68"/>
                </a:solidFill>
                <a:latin typeface="Arial"/>
                <a:ea typeface="Arial"/>
                <a:cs typeface="Arial"/>
              </a:rPr>
              <a:t>Methods</a:t>
            </a:r>
          </a:p>
        </p:txBody>
      </p:sp>
      <p:sp>
        <p:nvSpPr>
          <p:cNvPr id="7" name="">
            <a:extLst>
              <a:ext uri="{FF2B5EF4-FFF2-40B4-BE49-F238E27FC236}">
                <ns2:creationId id="{30AB0AD4-2985-49F6-B5F0-2FF19877E686}"/>
              </a:ext>
            </a:extLst>
          </p:cNvPr>
          <p:cNvSpPr>
            <a:spLocks noGrp="1"/>
          </p:cNvSpPr>
          <p:nvPr/>
        </p:nvSpPr>
        <p:spPr>
          <a:xfrm>
            <a:off x="457200" y="3619500"/>
            <a:ext cx="2209800" cy="1428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3A35"/>
                </a:solidFill>
                <a:latin typeface="Arial"/>
                <a:ea typeface="Arial"/>
                <a:cs typeface="Arial"/>
              </a:rPr>
              <a:t>Centroid normalization and minimum-cost template assignment.</a:t>
            </a:r>
          </a:p>
        </p:txBody>
      </p:sp>
      <p:sp>
        <p:nvSpPr>
          <p:cNvPr id="8" name="">
            <a:extLst>
              <a:ext uri="{FF2B5EF4-FFF2-40B4-BE49-F238E27FC236}">
                <ns2:creationId id="{BBFCEF5F-668A-461D-B7D8-36B582077411}"/>
              </a:ext>
            </a:extLst>
          </p:cNvPr>
          <p:cNvSpPr>
            <a:spLocks noGrp="1"/>
          </p:cNvSpPr>
          <p:nvPr/>
        </p:nvSpPr>
        <p:spPr>
          <a:xfrm>
            <a:off x="457200" y="5210175"/>
            <a:ext cx="220980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975" b="0">
                <a:solidFill>
                  <a:srgbClr val="65756D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5756D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5756D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5756D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5756D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5756D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5756D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5756D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5756D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5756D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75" b="0">
                <a:solidFill>
                  <a:srgbClr val="6575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5756D"/>
                </a:solidFill>
                <a:latin typeface="Arial"/>
                <a:ea typeface="Arial"/>
                <a:cs typeface="Arial"/>
              </a:rPr>
              <a:t>Option A · Same players and window</a:t>
            </a:r>
          </a:p>
        </p:txBody>
      </p:sp>
      <p:pic>
        <p:nvPicPr>
          <p:cNvPr id="9" name="">
            <a:extLst>
              <a:ext uri="{FF2B5EF4-FFF2-40B4-BE49-F238E27FC236}">
                <ns2:creationId id="{51BF4196-7756-4D40-9BDE-81E821201B2A}"/>
              </a:ext>
            </a:extLst>
          </p:cNvPr>
          <p:cNvPicPr>
            <a:picLocks noChangeAspect="1"/>
          </p:cNvPicPr>
          <p:nvPr/>
        </p:nvPicPr>
        <p:blipFill>
          <a:blip r:embed="Ra4aba918300c448f"/>
          <a:stretch/>
        </p:blipFill>
        <p:spPr>
          <a:xfrm>
            <a:off x="3048000" y="1428750"/>
            <a:ext cx="8667750" cy="4333875"/>
          </a:xfrm>
          <a:prstGeom prst="rect">
            <a:avLst/>
          </a:prstGeom>
        </p:spPr>
      </p:pic>
      <p:sp>
        <p:nvSpPr>
          <p:cNvPr id="10" name="">
            <a:extLst>
              <a:ext uri="{FF2B5EF4-FFF2-40B4-BE49-F238E27FC236}">
                <ns2:creationId id="{EF03D754-99C0-4071-88F8-707212B00DBD}"/>
              </a:ext>
            </a:extLst>
          </p:cNvPr>
          <p:cNvSpPr>
            <a:spLocks noGrp="1"/>
          </p:cNvSpPr>
          <p:nvPr/>
        </p:nvSpPr>
        <p:spPr>
          <a:xfrm>
            <a:off x="457200" y="5934075"/>
            <a:ext cx="112776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650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7D68"/>
                </a:solidFill>
                <a:latin typeface="Arial"/>
                <a:ea typeface="Arial"/>
                <a:cs typeface="Arial"/>
              </a:rPr>
              <a:t>A clean formation board emphasizes the assigned roles.</a:t>
            </a:r>
          </a:p>
        </p:txBody>
      </p:sp>
      <p:sp>
        <p:nvSpPr>
          <p:cNvPr id="11" name="">
            <a:extLst>
              <a:ext uri="{FF2B5EF4-FFF2-40B4-BE49-F238E27FC236}">
                <ns2:creationId id="{18DE7085-F4FB-4A8C-8C1E-0E394C040145}"/>
              </a:ext>
            </a:extLst>
          </p:cNvPr>
          <p:cNvSpPr>
            <a:spLocks noGrp="1"/>
          </p:cNvSpPr>
          <p:nvPr/>
        </p:nvSpPr>
        <p:spPr>
          <a:xfrm>
            <a:off x="6953250" y="6429375"/>
            <a:ext cx="4381500" cy="2571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47D68"/>
                </a:solidFill>
                <a:latin typeface="Arial"/>
                <a:ea typeface="Arial"/>
                <a:cs typeface="Arial"/>
                <a:hlinkClick r:id="rIdWorkshop4"/>
              </a:rPr>
              <a:t>Notebook: 03_formation_analysis.ipynb</a:t>
            </a:r>
          </a:p>
        </p:txBody>
      </p:sp>
      <p:sp>
        <p:nvSpPr>
          <p:cNvPr id="12" name="">
            <a:extLst>
              <a:ext uri="{FF2B5EF4-FFF2-40B4-BE49-F238E27FC236}">
                <ns2:creationId id="{D1B6C6FC-779B-4ADE-9CA4-98FB0FE57207}"/>
              </a:ext>
            </a:extLst>
          </p:cNvPr>
          <p:cNvSpPr>
            <a:spLocks noGrp="1"/>
          </p:cNvSpPr>
          <p:nvPr/>
        </p:nvSpPr>
        <p:spPr>
          <a:xfrm>
            <a:off x="457200" y="6429375"/>
            <a:ext cx="20002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defPPr>
            <a:lvl1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1pPr>
            <a:lvl2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2pPr>
            <a:lvl3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3pPr>
            <a:lvl4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4pPr>
            <a:lvl5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5pPr>
            <a:lvl6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6pPr>
            <a:lvl7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7pPr>
            <a:lvl8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8pPr>
            <a:lvl9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1645C"/>
                </a:solidFill>
                <a:latin typeface="Arial"/>
                <a:ea typeface="Arial"/>
                <a:cs typeface="Arial"/>
                <a:hlinkClick r:id="rIdWorkshop5"/>
              </a:rPr>
              <a:t>Shaw &amp; Glickman: Dynamic Analysis of Team Strategy</a:t>
            </a:r>
          </a:p>
        </p:txBody>
      </p:sp>
      <p:sp>
        <p:nvSpPr>
          <p:cNvPr id="13" name="">
            <a:extLst>
              <a:ext uri="{FF2B5EF4-FFF2-40B4-BE49-F238E27FC236}">
                <ns2:creationId id="{425AEC8B-A3AA-4ECF-B920-112D4B6806CD}"/>
              </a:ext>
            </a:extLst>
          </p:cNvPr>
          <p:cNvSpPr>
            <a:spLocks noGrp="1"/>
          </p:cNvSpPr>
          <p:nvPr/>
        </p:nvSpPr>
        <p:spPr>
          <a:xfrm>
            <a:off x="2520950" y="6429375"/>
            <a:ext cx="20002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defPPr>
            <a:lvl1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1pPr>
            <a:lvl2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2pPr>
            <a:lvl3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3pPr>
            <a:lvl4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4pPr>
            <a:lvl5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5pPr>
            <a:lvl6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6pPr>
            <a:lvl7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7pPr>
            <a:lvl8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8pPr>
            <a:lvl9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1645C"/>
                </a:solidFill>
                <a:latin typeface="Arial"/>
                <a:ea typeface="Arial"/>
                <a:cs typeface="Arial"/>
                <a:hlinkClick r:id="rIdWorkshop6"/>
              </a:rPr>
              <a:t>Joris Bekkers: Elastic Formation and Position Identification</a:t>
            </a:r>
          </a:p>
        </p:txBody>
      </p:sp>
      <p:sp>
        <p:nvSpPr>
          <p:cNvPr id="14" name="">
            <a:extLst>
              <a:ext uri="{FF2B5EF4-FFF2-40B4-BE49-F238E27FC236}">
                <ns2:creationId id="{4E7BA7D9-892E-477F-AB38-236E655D63A8}"/>
              </a:ext>
            </a:extLst>
          </p:cNvPr>
          <p:cNvSpPr>
            <a:spLocks noGrp="1"/>
          </p:cNvSpPr>
          <p:nvPr/>
        </p:nvSpPr>
        <p:spPr>
          <a:xfrm>
            <a:off x="4584700" y="6429375"/>
            <a:ext cx="20002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defPPr>
            <a:lvl1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1pPr>
            <a:lvl2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2pPr>
            <a:lvl3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3pPr>
            <a:lvl4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4pPr>
            <a:lvl5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5pPr>
            <a:lvl6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6pPr>
            <a:lvl7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7pPr>
            <a:lvl8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8pPr>
            <a:lvl9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1645C"/>
                </a:solidFill>
                <a:latin typeface="Arial"/>
                <a:ea typeface="Arial"/>
                <a:cs typeface="Arial"/>
                <a:hlinkClick r:id="rIdWorkshop7"/>
              </a:rPr>
              <a:t>Devin Pleuler: Fixed to Fluid (2024)</a:t>
            </a:r>
          </a:p>
        </p:txBody>
      </p:sp>
      <p:sp>
        <p:nvSpPr>
          <p:cNvPr id="15" name="">
            <a:extLst>
              <a:ext uri="{FF2B5EF4-FFF2-40B4-BE49-F238E27FC236}">
                <ns2:creationId id="{C019B16D-8DC8-4FE1-B6BD-82478628B2F8}"/>
              </a:ext>
            </a:extLst>
          </p:cNvPr>
          <p:cNvSpPr>
            <a:spLocks noGrp="1"/>
          </p:cNvSpPr>
          <p:nvPr/>
        </p:nvSpPr>
        <p:spPr>
          <a:xfrm>
            <a:off x="11544300" y="6429375"/>
            <a:ext cx="381000" cy="2571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975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75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1645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val="512743465"/>
      </p:ext>
    </p:extLst>
  </p:cSld>
</p:sld>
</file>

<file path=ppt/slides/slide2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BFCF8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6" name="">
            <a:extLst>
              <a:ext uri="{FF2B5EF4-FFF2-40B4-BE49-F238E27FC236}">
                <ns2:creationId id="{2FFC58E3-D272-4833-AA70-9EEE13B0BB0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47D68"/>
          </a:solidFill>
          <a:ln w="0">
            <a:noFill/>
          </a:ln>
        </p:spPr>
      </p:sp>
      <p:sp>
        <p:nvSpPr>
          <p:cNvPr id="2" name="">
            <a:extLst>
              <a:ext uri="{FF2B5EF4-FFF2-40B4-BE49-F238E27FC236}">
                <ns2:creationId id="{48A89358-C0B5-4057-BAC6-C25BCE5A4558}"/>
              </a:ext>
            </a:extLst>
          </p:cNvPr>
          <p:cNvSpPr>
            <a:spLocks noGrp="1"/>
          </p:cNvSpPr>
          <p:nvPr/>
        </p:nvSpPr>
        <p:spPr>
          <a:xfrm>
            <a:off x="457200" y="276225"/>
            <a:ext cx="1104900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47D68"/>
                </a:solidFill>
                <a:latin typeface="Arial"/>
                <a:ea typeface="Arial"/>
                <a:cs typeface="Arial"/>
              </a:rPr>
              <a:t>SLIDE 10 OPTION B · COMPARE TEMPLATES</a:t>
            </a:r>
          </a:p>
        </p:txBody>
      </p:sp>
      <p:sp>
        <p:nvSpPr>
          <p:cNvPr id="3" name="">
            <a:extLst>
              <a:ext uri="{FF2B5EF4-FFF2-40B4-BE49-F238E27FC236}">
                <ns2:creationId id="{771D637D-F4B4-4E91-B967-010BC1378BE7}"/>
              </a:ext>
            </a:extLst>
          </p:cNvPr>
          <p:cNvSpPr>
            <a:spLocks noGrp="1"/>
          </p:cNvSpPr>
          <p:nvPr/>
        </p:nvSpPr>
        <p:spPr>
          <a:xfrm>
            <a:off x="457200" y="590550"/>
            <a:ext cx="112776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850" b="1">
                <a:solidFill>
                  <a:srgbClr val="183A35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183A35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183A35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183A35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183A35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183A35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183A35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183A35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183A35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183A3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850" b="1">
                <a:solidFill>
                  <a:srgbClr val="183A3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83A35"/>
                </a:solidFill>
                <a:latin typeface="Arial"/>
                <a:ea typeface="Arial"/>
                <a:cs typeface="Arial"/>
              </a:rPr>
              <a:t>Which formation best fits this shape?</a:t>
            </a:r>
          </a:p>
        </p:txBody>
      </p:sp>
      <p:sp>
        <p:nvSpPr>
          <p:cNvPr id="4" name="">
            <a:extLst>
              <a:ext uri="{FF2B5EF4-FFF2-40B4-BE49-F238E27FC236}">
                <ns2:creationId id="{A8DA6B45-3632-4590-A82E-3AC7590A8A21}"/>
              </a:ext>
            </a:extLst>
          </p:cNvPr>
          <p:cNvSpPr>
            <a:spLocks noGrp="1"/>
          </p:cNvSpPr>
          <p:nvPr/>
        </p:nvSpPr>
        <p:spPr>
          <a:xfrm>
            <a:off x="457200" y="1504950"/>
            <a:ext cx="22098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47D68"/>
                </a:solidFill>
                <a:latin typeface="Arial"/>
                <a:ea typeface="Arial"/>
                <a:cs typeface="Arial"/>
              </a:rPr>
              <a:t>Problem</a:t>
            </a:r>
          </a:p>
        </p:txBody>
      </p:sp>
      <p:sp>
        <p:nvSpPr>
          <p:cNvPr id="5" name="">
            <a:extLst>
              <a:ext uri="{FF2B5EF4-FFF2-40B4-BE49-F238E27FC236}">
                <ns2:creationId id="{B3B31440-33A1-4E56-BBA2-269EEABCF484}"/>
              </a:ext>
            </a:extLst>
          </p:cNvPr>
          <p:cNvSpPr>
            <a:spLocks noGrp="1"/>
          </p:cNvSpPr>
          <p:nvPr/>
        </p:nvSpPr>
        <p:spPr>
          <a:xfrm>
            <a:off x="457200" y="1809750"/>
            <a:ext cx="2209800" cy="12954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65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3A35"/>
                </a:solidFill>
                <a:latin typeface="Arial"/>
                <a:ea typeface="Arial"/>
                <a:cs typeface="Arial"/>
              </a:rPr>
              <a:t>Infer organization from positions rather than the team sheet.</a:t>
            </a:r>
          </a:p>
        </p:txBody>
      </p:sp>
      <p:sp>
        <p:nvSpPr>
          <p:cNvPr id="6" name="">
            <a:extLst>
              <a:ext uri="{FF2B5EF4-FFF2-40B4-BE49-F238E27FC236}">
                <ns2:creationId id="{578BE57B-6738-4F3F-815A-B78E70D332AF}"/>
              </a:ext>
            </a:extLst>
          </p:cNvPr>
          <p:cNvSpPr>
            <a:spLocks noGrp="1"/>
          </p:cNvSpPr>
          <p:nvPr/>
        </p:nvSpPr>
        <p:spPr>
          <a:xfrm>
            <a:off x="457200" y="3314700"/>
            <a:ext cx="22098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47D68"/>
                </a:solidFill>
                <a:latin typeface="Arial"/>
                <a:ea typeface="Arial"/>
                <a:cs typeface="Arial"/>
              </a:rPr>
              <a:t>Methods</a:t>
            </a:r>
          </a:p>
        </p:txBody>
      </p:sp>
      <p:sp>
        <p:nvSpPr>
          <p:cNvPr id="7" name="">
            <a:extLst>
              <a:ext uri="{FF2B5EF4-FFF2-40B4-BE49-F238E27FC236}">
                <ns2:creationId id="{8863E50C-4129-4983-88A5-BE342A0FFCF0}"/>
              </a:ext>
            </a:extLst>
          </p:cNvPr>
          <p:cNvSpPr>
            <a:spLocks noGrp="1"/>
          </p:cNvSpPr>
          <p:nvPr/>
        </p:nvSpPr>
        <p:spPr>
          <a:xfrm>
            <a:off x="457200" y="3619500"/>
            <a:ext cx="2209800" cy="1428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3A35"/>
                </a:solidFill>
                <a:latin typeface="Arial"/>
                <a:ea typeface="Arial"/>
                <a:cs typeface="Arial"/>
              </a:rPr>
              <a:t>Centroid normalization and minimum-cost template assignment.</a:t>
            </a:r>
          </a:p>
        </p:txBody>
      </p:sp>
      <p:sp>
        <p:nvSpPr>
          <p:cNvPr id="8" name="">
            <a:extLst>
              <a:ext uri="{FF2B5EF4-FFF2-40B4-BE49-F238E27FC236}">
                <ns2:creationId id="{7DABBA92-BDA7-483C-9E4C-17057DBFE0F9}"/>
              </a:ext>
            </a:extLst>
          </p:cNvPr>
          <p:cNvSpPr>
            <a:spLocks noGrp="1"/>
          </p:cNvSpPr>
          <p:nvPr/>
        </p:nvSpPr>
        <p:spPr>
          <a:xfrm>
            <a:off x="457200" y="5210175"/>
            <a:ext cx="220980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975" b="0">
                <a:solidFill>
                  <a:srgbClr val="65756D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5756D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5756D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5756D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5756D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5756D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5756D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5756D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5756D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5756D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75" b="0">
                <a:solidFill>
                  <a:srgbClr val="6575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5756D"/>
                </a:solidFill>
                <a:latin typeface="Arial"/>
                <a:ea typeface="Arial"/>
                <a:cs typeface="Arial"/>
              </a:rPr>
              <a:t>Option B · Same players and window</a:t>
            </a:r>
          </a:p>
        </p:txBody>
      </p:sp>
      <p:pic>
        <p:nvPicPr>
          <p:cNvPr id="9" name="">
            <a:extLst>
              <a:ext uri="{FF2B5EF4-FFF2-40B4-BE49-F238E27FC236}">
                <ns2:creationId id="{428D7542-B8C7-442E-9EE3-5EDB4F54EC5E}"/>
              </a:ext>
            </a:extLst>
          </p:cNvPr>
          <p:cNvPicPr>
            <a:picLocks noChangeAspect="1"/>
          </p:cNvPicPr>
          <p:nvPr/>
        </p:nvPicPr>
        <p:blipFill>
          <a:blip r:embed="Re40d6db17a814661"/>
          <a:stretch/>
        </p:blipFill>
        <p:spPr>
          <a:xfrm>
            <a:off x="3048000" y="1428750"/>
            <a:ext cx="8667750" cy="4333875"/>
          </a:xfrm>
          <a:prstGeom prst="rect">
            <a:avLst/>
          </a:prstGeom>
        </p:spPr>
      </p:pic>
      <p:sp>
        <p:nvSpPr>
          <p:cNvPr id="10" name="">
            <a:extLst>
              <a:ext uri="{FF2B5EF4-FFF2-40B4-BE49-F238E27FC236}">
                <ns2:creationId id="{53ADB257-DB0B-4B93-A8A4-1609A31CF8E3}"/>
              </a:ext>
            </a:extLst>
          </p:cNvPr>
          <p:cNvSpPr>
            <a:spLocks noGrp="1"/>
          </p:cNvSpPr>
          <p:nvPr/>
        </p:nvSpPr>
        <p:spPr>
          <a:xfrm>
            <a:off x="457200" y="5934075"/>
            <a:ext cx="112776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650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7D68"/>
                </a:solidFill>
                <a:latin typeface="Arial"/>
                <a:ea typeface="Arial"/>
                <a:cs typeface="Arial"/>
              </a:rPr>
              <a:t>Four candidate shapes show why one template fits better.</a:t>
            </a:r>
          </a:p>
        </p:txBody>
      </p:sp>
      <p:sp>
        <p:nvSpPr>
          <p:cNvPr id="11" name="">
            <a:extLst>
              <a:ext uri="{FF2B5EF4-FFF2-40B4-BE49-F238E27FC236}">
                <ns2:creationId id="{4E38D76C-B688-4DAD-826C-F9CDFC82B65D}"/>
              </a:ext>
            </a:extLst>
          </p:cNvPr>
          <p:cNvSpPr>
            <a:spLocks noGrp="1"/>
          </p:cNvSpPr>
          <p:nvPr/>
        </p:nvSpPr>
        <p:spPr>
          <a:xfrm>
            <a:off x="6953250" y="6429375"/>
            <a:ext cx="4381500" cy="2571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47D68"/>
                </a:solidFill>
                <a:latin typeface="Arial"/>
                <a:ea typeface="Arial"/>
                <a:cs typeface="Arial"/>
                <a:hlinkClick r:id="rIdWorkshop4"/>
              </a:rPr>
              <a:t>Notebook: 03_formation_analysis.ipynb</a:t>
            </a:r>
          </a:p>
        </p:txBody>
      </p:sp>
      <p:sp>
        <p:nvSpPr>
          <p:cNvPr id="12" name="">
            <a:extLst>
              <a:ext uri="{FF2B5EF4-FFF2-40B4-BE49-F238E27FC236}">
                <ns2:creationId id="{1A5FDA6F-440C-4A06-9F7D-AEF8A6A8B1DF}"/>
              </a:ext>
            </a:extLst>
          </p:cNvPr>
          <p:cNvSpPr>
            <a:spLocks noGrp="1"/>
          </p:cNvSpPr>
          <p:nvPr/>
        </p:nvSpPr>
        <p:spPr>
          <a:xfrm>
            <a:off x="457200" y="6429375"/>
            <a:ext cx="20002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defPPr>
            <a:lvl1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1pPr>
            <a:lvl2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2pPr>
            <a:lvl3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3pPr>
            <a:lvl4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4pPr>
            <a:lvl5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5pPr>
            <a:lvl6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6pPr>
            <a:lvl7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7pPr>
            <a:lvl8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8pPr>
            <a:lvl9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1645C"/>
                </a:solidFill>
                <a:latin typeface="Arial"/>
                <a:ea typeface="Arial"/>
                <a:cs typeface="Arial"/>
                <a:hlinkClick r:id="rIdWorkshop5"/>
              </a:rPr>
              <a:t>Shaw &amp; Glickman: Dynamic Analysis of Team Strategy</a:t>
            </a:r>
          </a:p>
        </p:txBody>
      </p:sp>
      <p:sp>
        <p:nvSpPr>
          <p:cNvPr id="13" name="">
            <a:extLst>
              <a:ext uri="{FF2B5EF4-FFF2-40B4-BE49-F238E27FC236}">
                <ns2:creationId id="{FE445247-5685-4132-89DD-253A40A0229B}"/>
              </a:ext>
            </a:extLst>
          </p:cNvPr>
          <p:cNvSpPr>
            <a:spLocks noGrp="1"/>
          </p:cNvSpPr>
          <p:nvPr/>
        </p:nvSpPr>
        <p:spPr>
          <a:xfrm>
            <a:off x="2520950" y="6429375"/>
            <a:ext cx="20002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defPPr>
            <a:lvl1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1pPr>
            <a:lvl2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2pPr>
            <a:lvl3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3pPr>
            <a:lvl4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4pPr>
            <a:lvl5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5pPr>
            <a:lvl6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6pPr>
            <a:lvl7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7pPr>
            <a:lvl8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8pPr>
            <a:lvl9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1645C"/>
                </a:solidFill>
                <a:latin typeface="Arial"/>
                <a:ea typeface="Arial"/>
                <a:cs typeface="Arial"/>
                <a:hlinkClick r:id="rIdWorkshop6"/>
              </a:rPr>
              <a:t>Joris Bekkers: Elastic Formation and Position Identification</a:t>
            </a:r>
          </a:p>
        </p:txBody>
      </p:sp>
      <p:sp>
        <p:nvSpPr>
          <p:cNvPr id="14" name="">
            <a:extLst>
              <a:ext uri="{FF2B5EF4-FFF2-40B4-BE49-F238E27FC236}">
                <ns2:creationId id="{4E4062F1-754B-4CF5-8D9B-80A91923CBDF}"/>
              </a:ext>
            </a:extLst>
          </p:cNvPr>
          <p:cNvSpPr>
            <a:spLocks noGrp="1"/>
          </p:cNvSpPr>
          <p:nvPr/>
        </p:nvSpPr>
        <p:spPr>
          <a:xfrm>
            <a:off x="4584700" y="6429375"/>
            <a:ext cx="20002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defPPr>
            <a:lvl1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1pPr>
            <a:lvl2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2pPr>
            <a:lvl3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3pPr>
            <a:lvl4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4pPr>
            <a:lvl5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5pPr>
            <a:lvl6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6pPr>
            <a:lvl7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7pPr>
            <a:lvl8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8pPr>
            <a:lvl9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1645C"/>
                </a:solidFill>
                <a:latin typeface="Arial"/>
                <a:ea typeface="Arial"/>
                <a:cs typeface="Arial"/>
                <a:hlinkClick r:id="rIdWorkshop7"/>
              </a:rPr>
              <a:t>Devin Pleuler: Fixed to Fluid (2024)</a:t>
            </a:r>
          </a:p>
        </p:txBody>
      </p:sp>
      <p:sp>
        <p:nvSpPr>
          <p:cNvPr id="15" name="">
            <a:extLst>
              <a:ext uri="{FF2B5EF4-FFF2-40B4-BE49-F238E27FC236}">
                <ns2:creationId id="{CB927315-739B-4E0F-89B2-B280873BE5AB}"/>
              </a:ext>
            </a:extLst>
          </p:cNvPr>
          <p:cNvSpPr>
            <a:spLocks noGrp="1"/>
          </p:cNvSpPr>
          <p:nvPr/>
        </p:nvSpPr>
        <p:spPr>
          <a:xfrm>
            <a:off x="11544300" y="6429375"/>
            <a:ext cx="381000" cy="2571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975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75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1645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val="723214345"/>
      </p:ext>
    </p:extLst>
  </p:cSld>
</p:sld>
</file>

<file path=ppt/slides/slide3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BFCF8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6" name="">
            <a:extLst>
              <a:ext uri="{FF2B5EF4-FFF2-40B4-BE49-F238E27FC236}">
                <ns2:creationId id="{7CE74BCF-13F1-4551-B42F-DC94557271B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47D68"/>
          </a:solidFill>
          <a:ln w="0">
            <a:noFill/>
          </a:ln>
        </p:spPr>
      </p:sp>
      <p:sp>
        <p:nvSpPr>
          <p:cNvPr id="2" name="">
            <a:extLst>
              <a:ext uri="{FF2B5EF4-FFF2-40B4-BE49-F238E27FC236}">
                <ns2:creationId id="{B0361338-98C4-411A-86D1-741938566E79}"/>
              </a:ext>
            </a:extLst>
          </p:cNvPr>
          <p:cNvSpPr>
            <a:spLocks noGrp="1"/>
          </p:cNvSpPr>
          <p:nvPr/>
        </p:nvSpPr>
        <p:spPr>
          <a:xfrm>
            <a:off x="457200" y="276225"/>
            <a:ext cx="1104900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47D68"/>
                </a:solidFill>
                <a:latin typeface="Arial"/>
                <a:ea typeface="Arial"/>
                <a:cs typeface="Arial"/>
              </a:rPr>
              <a:t>SLIDE 10 OPTION C · NORMALIZATION + RESULT</a:t>
            </a:r>
          </a:p>
        </p:txBody>
      </p:sp>
      <p:sp>
        <p:nvSpPr>
          <p:cNvPr id="3" name="">
            <a:extLst>
              <a:ext uri="{FF2B5EF4-FFF2-40B4-BE49-F238E27FC236}">
                <ns2:creationId id="{A94F320F-4D4E-4558-8651-9570B9E34CFC}"/>
              </a:ext>
            </a:extLst>
          </p:cNvPr>
          <p:cNvSpPr>
            <a:spLocks noGrp="1"/>
          </p:cNvSpPr>
          <p:nvPr/>
        </p:nvSpPr>
        <p:spPr>
          <a:xfrm>
            <a:off x="457200" y="590550"/>
            <a:ext cx="112776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850" b="1">
                <a:solidFill>
                  <a:srgbClr val="183A35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183A35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183A35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183A35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183A35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183A35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183A35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183A35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183A35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183A3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850" b="1">
                <a:solidFill>
                  <a:srgbClr val="183A3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83A35"/>
                </a:solidFill>
                <a:latin typeface="Arial"/>
                <a:ea typeface="Arial"/>
                <a:cs typeface="Arial"/>
              </a:rPr>
              <a:t>Which formation best fits this shape?</a:t>
            </a:r>
          </a:p>
        </p:txBody>
      </p:sp>
      <p:sp>
        <p:nvSpPr>
          <p:cNvPr id="4" name="">
            <a:extLst>
              <a:ext uri="{FF2B5EF4-FFF2-40B4-BE49-F238E27FC236}">
                <ns2:creationId id="{5D0DAF73-A282-44DE-AE39-9384BA7631A1}"/>
              </a:ext>
            </a:extLst>
          </p:cNvPr>
          <p:cNvSpPr>
            <a:spLocks noGrp="1"/>
          </p:cNvSpPr>
          <p:nvPr/>
        </p:nvSpPr>
        <p:spPr>
          <a:xfrm>
            <a:off x="457200" y="1504950"/>
            <a:ext cx="22098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47D68"/>
                </a:solidFill>
                <a:latin typeface="Arial"/>
                <a:ea typeface="Arial"/>
                <a:cs typeface="Arial"/>
              </a:rPr>
              <a:t>Problem</a:t>
            </a:r>
          </a:p>
        </p:txBody>
      </p:sp>
      <p:sp>
        <p:nvSpPr>
          <p:cNvPr id="5" name="">
            <a:extLst>
              <a:ext uri="{FF2B5EF4-FFF2-40B4-BE49-F238E27FC236}">
                <ns2:creationId id="{9E67C7B6-0158-49A6-90A1-02445D3E0F0F}"/>
              </a:ext>
            </a:extLst>
          </p:cNvPr>
          <p:cNvSpPr>
            <a:spLocks noGrp="1"/>
          </p:cNvSpPr>
          <p:nvPr/>
        </p:nvSpPr>
        <p:spPr>
          <a:xfrm>
            <a:off x="457200" y="1809750"/>
            <a:ext cx="2209800" cy="12954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65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3A35"/>
                </a:solidFill>
                <a:latin typeface="Arial"/>
                <a:ea typeface="Arial"/>
                <a:cs typeface="Arial"/>
              </a:rPr>
              <a:t>Infer organization from positions rather than the team sheet.</a:t>
            </a:r>
          </a:p>
        </p:txBody>
      </p:sp>
      <p:sp>
        <p:nvSpPr>
          <p:cNvPr id="6" name="">
            <a:extLst>
              <a:ext uri="{FF2B5EF4-FFF2-40B4-BE49-F238E27FC236}">
                <ns2:creationId id="{E74E078E-775F-4556-B057-EA336F2C5ADC}"/>
              </a:ext>
            </a:extLst>
          </p:cNvPr>
          <p:cNvSpPr>
            <a:spLocks noGrp="1"/>
          </p:cNvSpPr>
          <p:nvPr/>
        </p:nvSpPr>
        <p:spPr>
          <a:xfrm>
            <a:off x="457200" y="3314700"/>
            <a:ext cx="22098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47D68"/>
                </a:solidFill>
                <a:latin typeface="Arial"/>
                <a:ea typeface="Arial"/>
                <a:cs typeface="Arial"/>
              </a:rPr>
              <a:t>Methods</a:t>
            </a:r>
          </a:p>
        </p:txBody>
      </p:sp>
      <p:sp>
        <p:nvSpPr>
          <p:cNvPr id="7" name="">
            <a:extLst>
              <a:ext uri="{FF2B5EF4-FFF2-40B4-BE49-F238E27FC236}">
                <ns2:creationId id="{5B2B32A7-DB01-4E63-92C2-9900CFD93A25}"/>
              </a:ext>
            </a:extLst>
          </p:cNvPr>
          <p:cNvSpPr>
            <a:spLocks noGrp="1"/>
          </p:cNvSpPr>
          <p:nvPr/>
        </p:nvSpPr>
        <p:spPr>
          <a:xfrm>
            <a:off x="457200" y="3619500"/>
            <a:ext cx="2209800" cy="1428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3A35"/>
                </a:solidFill>
                <a:latin typeface="Arial"/>
                <a:ea typeface="Arial"/>
                <a:cs typeface="Arial"/>
              </a:rPr>
              <a:t>Centroid normalization and minimum-cost template assignment.</a:t>
            </a:r>
          </a:p>
        </p:txBody>
      </p:sp>
      <p:sp>
        <p:nvSpPr>
          <p:cNvPr id="8" name="">
            <a:extLst>
              <a:ext uri="{FF2B5EF4-FFF2-40B4-BE49-F238E27FC236}">
                <ns2:creationId id="{D000FE41-931B-4C10-A67D-E62A5BDA34EB}"/>
              </a:ext>
            </a:extLst>
          </p:cNvPr>
          <p:cNvSpPr>
            <a:spLocks noGrp="1"/>
          </p:cNvSpPr>
          <p:nvPr/>
        </p:nvSpPr>
        <p:spPr>
          <a:xfrm>
            <a:off x="457200" y="5210175"/>
            <a:ext cx="220980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975" b="0">
                <a:solidFill>
                  <a:srgbClr val="65756D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5756D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5756D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5756D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5756D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5756D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5756D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5756D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5756D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5756D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75" b="0">
                <a:solidFill>
                  <a:srgbClr val="6575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5756D"/>
                </a:solidFill>
                <a:latin typeface="Arial"/>
                <a:ea typeface="Arial"/>
                <a:cs typeface="Arial"/>
              </a:rPr>
              <a:t>Option C · Same players and window</a:t>
            </a:r>
          </a:p>
        </p:txBody>
      </p:sp>
      <p:pic>
        <p:nvPicPr>
          <p:cNvPr id="9" name="">
            <a:extLst>
              <a:ext uri="{FF2B5EF4-FFF2-40B4-BE49-F238E27FC236}">
                <ns2:creationId id="{C11828C3-ACCD-4B58-AD64-9BF6A39EE949}"/>
              </a:ext>
            </a:extLst>
          </p:cNvPr>
          <p:cNvPicPr>
            <a:picLocks noChangeAspect="1"/>
          </p:cNvPicPr>
          <p:nvPr/>
        </p:nvPicPr>
        <p:blipFill>
          <a:blip r:embed="R0b8eff8d37264646"/>
          <a:stretch/>
        </p:blipFill>
        <p:spPr>
          <a:xfrm>
            <a:off x="3048000" y="1428750"/>
            <a:ext cx="8667750" cy="4333875"/>
          </a:xfrm>
          <a:prstGeom prst="rect">
            <a:avLst/>
          </a:prstGeom>
        </p:spPr>
      </p:pic>
      <p:sp>
        <p:nvSpPr>
          <p:cNvPr id="10" name="">
            <a:extLst>
              <a:ext uri="{FF2B5EF4-FFF2-40B4-BE49-F238E27FC236}">
                <ns2:creationId id="{EB6A9EE8-3EDB-4E72-890A-16D1F5F28CB6}"/>
              </a:ext>
            </a:extLst>
          </p:cNvPr>
          <p:cNvSpPr>
            <a:spLocks noGrp="1"/>
          </p:cNvSpPr>
          <p:nvPr/>
        </p:nvSpPr>
        <p:spPr>
          <a:xfrm>
            <a:off x="457200" y="5934075"/>
            <a:ext cx="112776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650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7D68"/>
                </a:solidFill>
                <a:latin typeface="Arial"/>
                <a:ea typeface="Arial"/>
                <a:cs typeface="Arial"/>
              </a:rPr>
              <a:t>Distribution changes explain the assigned formation.</a:t>
            </a:r>
          </a:p>
        </p:txBody>
      </p:sp>
      <p:sp>
        <p:nvSpPr>
          <p:cNvPr id="11" name="">
            <a:extLst>
              <a:ext uri="{FF2B5EF4-FFF2-40B4-BE49-F238E27FC236}">
                <ns2:creationId id="{79F1F1DD-5A94-4501-8515-82A00D67B8CC}"/>
              </a:ext>
            </a:extLst>
          </p:cNvPr>
          <p:cNvSpPr>
            <a:spLocks noGrp="1"/>
          </p:cNvSpPr>
          <p:nvPr/>
        </p:nvSpPr>
        <p:spPr>
          <a:xfrm>
            <a:off x="6953250" y="6429375"/>
            <a:ext cx="4381500" cy="2571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47D68"/>
                </a:solidFill>
                <a:latin typeface="Arial"/>
                <a:ea typeface="Arial"/>
                <a:cs typeface="Arial"/>
                <a:hlinkClick r:id="rIdWorkshop4"/>
              </a:rPr>
              <a:t>Notebook: 03_formation_analysis.ipynb</a:t>
            </a:r>
          </a:p>
        </p:txBody>
      </p:sp>
      <p:sp>
        <p:nvSpPr>
          <p:cNvPr id="12" name="">
            <a:extLst>
              <a:ext uri="{FF2B5EF4-FFF2-40B4-BE49-F238E27FC236}">
                <ns2:creationId id="{31472019-91D6-4CA4-80D2-93F399D58923}"/>
              </a:ext>
            </a:extLst>
          </p:cNvPr>
          <p:cNvSpPr>
            <a:spLocks noGrp="1"/>
          </p:cNvSpPr>
          <p:nvPr/>
        </p:nvSpPr>
        <p:spPr>
          <a:xfrm>
            <a:off x="457200" y="6429375"/>
            <a:ext cx="20002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defPPr>
            <a:lvl1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1pPr>
            <a:lvl2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2pPr>
            <a:lvl3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3pPr>
            <a:lvl4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4pPr>
            <a:lvl5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5pPr>
            <a:lvl6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6pPr>
            <a:lvl7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7pPr>
            <a:lvl8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8pPr>
            <a:lvl9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1645C"/>
                </a:solidFill>
                <a:latin typeface="Arial"/>
                <a:ea typeface="Arial"/>
                <a:cs typeface="Arial"/>
                <a:hlinkClick r:id="rIdWorkshop5"/>
              </a:rPr>
              <a:t>Shaw &amp; Glickman: Dynamic Analysis of Team Strategy</a:t>
            </a:r>
          </a:p>
        </p:txBody>
      </p:sp>
      <p:sp>
        <p:nvSpPr>
          <p:cNvPr id="13" name="">
            <a:extLst>
              <a:ext uri="{FF2B5EF4-FFF2-40B4-BE49-F238E27FC236}">
                <ns2:creationId id="{9BB54BCB-1913-4574-907B-F372725945A7}"/>
              </a:ext>
            </a:extLst>
          </p:cNvPr>
          <p:cNvSpPr>
            <a:spLocks noGrp="1"/>
          </p:cNvSpPr>
          <p:nvPr/>
        </p:nvSpPr>
        <p:spPr>
          <a:xfrm>
            <a:off x="2520950" y="6429375"/>
            <a:ext cx="20002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defPPr>
            <a:lvl1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1pPr>
            <a:lvl2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2pPr>
            <a:lvl3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3pPr>
            <a:lvl4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4pPr>
            <a:lvl5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5pPr>
            <a:lvl6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6pPr>
            <a:lvl7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7pPr>
            <a:lvl8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8pPr>
            <a:lvl9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1645C"/>
                </a:solidFill>
                <a:latin typeface="Arial"/>
                <a:ea typeface="Arial"/>
                <a:cs typeface="Arial"/>
                <a:hlinkClick r:id="rIdWorkshop6"/>
              </a:rPr>
              <a:t>Joris Bekkers: Elastic Formation and Position Identification</a:t>
            </a:r>
          </a:p>
        </p:txBody>
      </p:sp>
      <p:sp>
        <p:nvSpPr>
          <p:cNvPr id="14" name="">
            <a:extLst>
              <a:ext uri="{FF2B5EF4-FFF2-40B4-BE49-F238E27FC236}">
                <ns2:creationId id="{448E3844-AF9C-410E-A57A-764824A18A4E}"/>
              </a:ext>
            </a:extLst>
          </p:cNvPr>
          <p:cNvSpPr>
            <a:spLocks noGrp="1"/>
          </p:cNvSpPr>
          <p:nvPr/>
        </p:nvSpPr>
        <p:spPr>
          <a:xfrm>
            <a:off x="4584700" y="6429375"/>
            <a:ext cx="20002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defPPr>
            <a:lvl1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1pPr>
            <a:lvl2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2pPr>
            <a:lvl3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3pPr>
            <a:lvl4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4pPr>
            <a:lvl5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5pPr>
            <a:lvl6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6pPr>
            <a:lvl7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7pPr>
            <a:lvl8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8pPr>
            <a:lvl9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1645C"/>
                </a:solidFill>
                <a:latin typeface="Arial"/>
                <a:ea typeface="Arial"/>
                <a:cs typeface="Arial"/>
                <a:hlinkClick r:id="rIdWorkshop7"/>
              </a:rPr>
              <a:t>Devin Pleuler: Fixed to Fluid (2024)</a:t>
            </a:r>
          </a:p>
        </p:txBody>
      </p:sp>
      <p:sp>
        <p:nvSpPr>
          <p:cNvPr id="15" name="">
            <a:extLst>
              <a:ext uri="{FF2B5EF4-FFF2-40B4-BE49-F238E27FC236}">
                <ns2:creationId id="{B3C5C068-DDF6-4265-BB4E-4E7A948E06D9}"/>
              </a:ext>
            </a:extLst>
          </p:cNvPr>
          <p:cNvSpPr>
            <a:spLocks noGrp="1"/>
          </p:cNvSpPr>
          <p:nvPr/>
        </p:nvSpPr>
        <p:spPr>
          <a:xfrm>
            <a:off x="11544300" y="6429375"/>
            <a:ext cx="381000" cy="2571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975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75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1645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val="1508805848"/>
      </p:ext>
    </p:extLst>
  </p:cSld>
</p:sld>
</file>

<file path=ppt/slides/slide4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BFCF8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6" name="">
            <a:extLst>
              <a:ext uri="{FF2B5EF4-FFF2-40B4-BE49-F238E27FC236}">
                <ns2:creationId id="{9BBDCC0E-3FEB-4516-B6C5-5284FF5C348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47D68"/>
          </a:solidFill>
          <a:ln w="0">
            <a:noFill/>
          </a:ln>
        </p:spPr>
      </p:sp>
      <p:sp>
        <p:nvSpPr>
          <p:cNvPr id="2" name="">
            <a:extLst>
              <a:ext uri="{FF2B5EF4-FFF2-40B4-BE49-F238E27FC236}">
                <ns2:creationId id="{0DA01400-8344-4679-9369-0BDF1B336E78}"/>
              </a:ext>
            </a:extLst>
          </p:cNvPr>
          <p:cNvSpPr>
            <a:spLocks noGrp="1"/>
          </p:cNvSpPr>
          <p:nvPr/>
        </p:nvSpPr>
        <p:spPr>
          <a:xfrm>
            <a:off x="457200" y="276225"/>
            <a:ext cx="1104900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47D68"/>
                </a:solidFill>
                <a:latin typeface="Arial"/>
                <a:ea typeface="Arial"/>
                <a:cs typeface="Arial"/>
              </a:rPr>
              <a:t>SLIDE 10 OPTION D · FIT DIAGNOSTICS</a:t>
            </a:r>
          </a:p>
        </p:txBody>
      </p:sp>
      <p:sp>
        <p:nvSpPr>
          <p:cNvPr id="3" name="">
            <a:extLst>
              <a:ext uri="{FF2B5EF4-FFF2-40B4-BE49-F238E27FC236}">
                <ns2:creationId id="{513B0D58-900F-46B8-9293-03438F884791}"/>
              </a:ext>
            </a:extLst>
          </p:cNvPr>
          <p:cNvSpPr>
            <a:spLocks noGrp="1"/>
          </p:cNvSpPr>
          <p:nvPr/>
        </p:nvSpPr>
        <p:spPr>
          <a:xfrm>
            <a:off x="457200" y="590550"/>
            <a:ext cx="112776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850" b="1">
                <a:solidFill>
                  <a:srgbClr val="183A35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183A35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183A35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183A35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183A35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183A35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183A35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183A35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183A35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183A3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850" b="1">
                <a:solidFill>
                  <a:srgbClr val="183A3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83A35"/>
                </a:solidFill>
                <a:latin typeface="Arial"/>
                <a:ea typeface="Arial"/>
                <a:cs typeface="Arial"/>
              </a:rPr>
              <a:t>Which formation best fits this shape?</a:t>
            </a:r>
          </a:p>
        </p:txBody>
      </p:sp>
      <p:sp>
        <p:nvSpPr>
          <p:cNvPr id="4" name="">
            <a:extLst>
              <a:ext uri="{FF2B5EF4-FFF2-40B4-BE49-F238E27FC236}">
                <ns2:creationId id="{7340ECC1-AA32-4EDD-B453-1EE9EE4EDF1A}"/>
              </a:ext>
            </a:extLst>
          </p:cNvPr>
          <p:cNvSpPr>
            <a:spLocks noGrp="1"/>
          </p:cNvSpPr>
          <p:nvPr/>
        </p:nvSpPr>
        <p:spPr>
          <a:xfrm>
            <a:off x="457200" y="1504950"/>
            <a:ext cx="22098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47D68"/>
                </a:solidFill>
                <a:latin typeface="Arial"/>
                <a:ea typeface="Arial"/>
                <a:cs typeface="Arial"/>
              </a:rPr>
              <a:t>Problem</a:t>
            </a:r>
          </a:p>
        </p:txBody>
      </p:sp>
      <p:sp>
        <p:nvSpPr>
          <p:cNvPr id="5" name="">
            <a:extLst>
              <a:ext uri="{FF2B5EF4-FFF2-40B4-BE49-F238E27FC236}">
                <ns2:creationId id="{E609F8A8-8052-4726-A6CE-3476979E121A}"/>
              </a:ext>
            </a:extLst>
          </p:cNvPr>
          <p:cNvSpPr>
            <a:spLocks noGrp="1"/>
          </p:cNvSpPr>
          <p:nvPr/>
        </p:nvSpPr>
        <p:spPr>
          <a:xfrm>
            <a:off x="457200" y="1809750"/>
            <a:ext cx="2209800" cy="12954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65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3A35"/>
                </a:solidFill>
                <a:latin typeface="Arial"/>
                <a:ea typeface="Arial"/>
                <a:cs typeface="Arial"/>
              </a:rPr>
              <a:t>Infer organization from positions rather than the team sheet.</a:t>
            </a:r>
          </a:p>
        </p:txBody>
      </p:sp>
      <p:sp>
        <p:nvSpPr>
          <p:cNvPr id="6" name="">
            <a:extLst>
              <a:ext uri="{FF2B5EF4-FFF2-40B4-BE49-F238E27FC236}">
                <ns2:creationId id="{C46087DB-C46A-4979-95BC-E2A48C6B9A00}"/>
              </a:ext>
            </a:extLst>
          </p:cNvPr>
          <p:cNvSpPr>
            <a:spLocks noGrp="1"/>
          </p:cNvSpPr>
          <p:nvPr/>
        </p:nvSpPr>
        <p:spPr>
          <a:xfrm>
            <a:off x="457200" y="3314700"/>
            <a:ext cx="22098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12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47D68"/>
                </a:solidFill>
                <a:latin typeface="Arial"/>
                <a:ea typeface="Arial"/>
                <a:cs typeface="Arial"/>
              </a:rPr>
              <a:t>Methods</a:t>
            </a:r>
          </a:p>
        </p:txBody>
      </p:sp>
      <p:sp>
        <p:nvSpPr>
          <p:cNvPr id="7" name="">
            <a:extLst>
              <a:ext uri="{FF2B5EF4-FFF2-40B4-BE49-F238E27FC236}">
                <ns2:creationId id="{660870D9-6E86-4A90-A267-CCF4F2F46A58}"/>
              </a:ext>
            </a:extLst>
          </p:cNvPr>
          <p:cNvSpPr>
            <a:spLocks noGrp="1"/>
          </p:cNvSpPr>
          <p:nvPr/>
        </p:nvSpPr>
        <p:spPr>
          <a:xfrm>
            <a:off x="457200" y="3619500"/>
            <a:ext cx="2209800" cy="1428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0">
                <a:solidFill>
                  <a:srgbClr val="183A3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3A35"/>
                </a:solidFill>
                <a:latin typeface="Arial"/>
                <a:ea typeface="Arial"/>
                <a:cs typeface="Arial"/>
              </a:rPr>
              <a:t>Centroid normalization and minimum-cost template assignment.</a:t>
            </a:r>
          </a:p>
        </p:txBody>
      </p:sp>
      <p:sp>
        <p:nvSpPr>
          <p:cNvPr id="8" name="">
            <a:extLst>
              <a:ext uri="{FF2B5EF4-FFF2-40B4-BE49-F238E27FC236}">
                <ns2:creationId id="{A07E90B2-E8F2-46E3-A55A-50E91747BDE3}"/>
              </a:ext>
            </a:extLst>
          </p:cNvPr>
          <p:cNvSpPr>
            <a:spLocks noGrp="1"/>
          </p:cNvSpPr>
          <p:nvPr/>
        </p:nvSpPr>
        <p:spPr>
          <a:xfrm>
            <a:off x="457200" y="5210175"/>
            <a:ext cx="220980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975" b="0">
                <a:solidFill>
                  <a:srgbClr val="65756D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5756D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5756D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5756D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5756D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5756D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5756D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5756D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5756D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5756D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75" b="0">
                <a:solidFill>
                  <a:srgbClr val="6575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5756D"/>
                </a:solidFill>
                <a:latin typeface="Arial"/>
                <a:ea typeface="Arial"/>
                <a:cs typeface="Arial"/>
              </a:rPr>
              <a:t>Option D · Same players and window</a:t>
            </a:r>
          </a:p>
        </p:txBody>
      </p:sp>
      <p:pic>
        <p:nvPicPr>
          <p:cNvPr id="9" name="">
            <a:extLst>
              <a:ext uri="{FF2B5EF4-FFF2-40B4-BE49-F238E27FC236}">
                <ns2:creationId id="{E61BE126-D217-467C-8C8C-0B827FF260A6}"/>
              </a:ext>
            </a:extLst>
          </p:cNvPr>
          <p:cNvPicPr>
            <a:picLocks noChangeAspect="1"/>
          </p:cNvPicPr>
          <p:nvPr/>
        </p:nvPicPr>
        <p:blipFill>
          <a:blip r:embed="R37cf8418d008465c"/>
          <a:stretch/>
        </p:blipFill>
        <p:spPr>
          <a:xfrm>
            <a:off x="3048000" y="1428750"/>
            <a:ext cx="8667750" cy="4333875"/>
          </a:xfrm>
          <a:prstGeom prst="rect">
            <a:avLst/>
          </a:prstGeom>
        </p:spPr>
      </p:pic>
      <p:sp>
        <p:nvSpPr>
          <p:cNvPr id="10" name="">
            <a:extLst>
              <a:ext uri="{FF2B5EF4-FFF2-40B4-BE49-F238E27FC236}">
                <ns2:creationId id="{FD40CDEE-A9DB-44E1-B60F-E6BC385BA507}"/>
              </a:ext>
            </a:extLst>
          </p:cNvPr>
          <p:cNvSpPr>
            <a:spLocks noGrp="1"/>
          </p:cNvSpPr>
          <p:nvPr/>
        </p:nvSpPr>
        <p:spPr>
          <a:xfrm>
            <a:off x="457200" y="5934075"/>
            <a:ext cx="112776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650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7D68"/>
                </a:solidFill>
                <a:latin typeface="Arial"/>
                <a:ea typeface="Arial"/>
                <a:cs typeface="Arial"/>
              </a:rPr>
              <a:t>The observed shape and residuals reveal where the template struggles.</a:t>
            </a:r>
          </a:p>
        </p:txBody>
      </p:sp>
      <p:sp>
        <p:nvSpPr>
          <p:cNvPr id="11" name="">
            <a:extLst>
              <a:ext uri="{FF2B5EF4-FFF2-40B4-BE49-F238E27FC236}">
                <ns2:creationId id="{33411AA9-6F81-45A7-B22E-19DA13374F63}"/>
              </a:ext>
            </a:extLst>
          </p:cNvPr>
          <p:cNvSpPr>
            <a:spLocks noGrp="1"/>
          </p:cNvSpPr>
          <p:nvPr/>
        </p:nvSpPr>
        <p:spPr>
          <a:xfrm>
            <a:off x="6953250" y="6429375"/>
            <a:ext cx="4381500" cy="2571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75" b="1">
                <a:solidFill>
                  <a:srgbClr val="147D6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47D68"/>
                </a:solidFill>
                <a:latin typeface="Arial"/>
                <a:ea typeface="Arial"/>
                <a:cs typeface="Arial"/>
                <a:hlinkClick r:id="rIdWorkshop4"/>
              </a:rPr>
              <a:t>Notebook: 03_formation_analysis.ipynb</a:t>
            </a:r>
          </a:p>
        </p:txBody>
      </p:sp>
      <p:sp>
        <p:nvSpPr>
          <p:cNvPr id="12" name="">
            <a:extLst>
              <a:ext uri="{FF2B5EF4-FFF2-40B4-BE49-F238E27FC236}">
                <ns2:creationId id="{203DB82F-DFFA-44CD-A4D3-BA87FF020287}"/>
              </a:ext>
            </a:extLst>
          </p:cNvPr>
          <p:cNvSpPr>
            <a:spLocks noGrp="1"/>
          </p:cNvSpPr>
          <p:nvPr/>
        </p:nvSpPr>
        <p:spPr>
          <a:xfrm>
            <a:off x="457200" y="6429375"/>
            <a:ext cx="20002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defPPr>
            <a:lvl1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1pPr>
            <a:lvl2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2pPr>
            <a:lvl3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3pPr>
            <a:lvl4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4pPr>
            <a:lvl5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5pPr>
            <a:lvl6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6pPr>
            <a:lvl7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7pPr>
            <a:lvl8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8pPr>
            <a:lvl9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1645C"/>
                </a:solidFill>
                <a:latin typeface="Arial"/>
                <a:ea typeface="Arial"/>
                <a:cs typeface="Arial"/>
                <a:hlinkClick r:id="rIdWorkshop5"/>
              </a:rPr>
              <a:t>Shaw &amp; Glickman: Dynamic Analysis of Team Strategy</a:t>
            </a:r>
          </a:p>
        </p:txBody>
      </p:sp>
      <p:sp>
        <p:nvSpPr>
          <p:cNvPr id="13" name="">
            <a:extLst>
              <a:ext uri="{FF2B5EF4-FFF2-40B4-BE49-F238E27FC236}">
                <ns2:creationId id="{8FFAA917-C5B3-474A-A3B0-3EE756C53F30}"/>
              </a:ext>
            </a:extLst>
          </p:cNvPr>
          <p:cNvSpPr>
            <a:spLocks noGrp="1"/>
          </p:cNvSpPr>
          <p:nvPr/>
        </p:nvSpPr>
        <p:spPr>
          <a:xfrm>
            <a:off x="2520950" y="6429375"/>
            <a:ext cx="20002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defPPr>
            <a:lvl1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1pPr>
            <a:lvl2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2pPr>
            <a:lvl3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3pPr>
            <a:lvl4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4pPr>
            <a:lvl5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5pPr>
            <a:lvl6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6pPr>
            <a:lvl7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7pPr>
            <a:lvl8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8pPr>
            <a:lvl9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1645C"/>
                </a:solidFill>
                <a:latin typeface="Arial"/>
                <a:ea typeface="Arial"/>
                <a:cs typeface="Arial"/>
                <a:hlinkClick r:id="rIdWorkshop6"/>
              </a:rPr>
              <a:t>Joris Bekkers: Elastic Formation and Position Identification</a:t>
            </a:r>
          </a:p>
        </p:txBody>
      </p:sp>
      <p:sp>
        <p:nvSpPr>
          <p:cNvPr id="14" name="">
            <a:extLst>
              <a:ext uri="{FF2B5EF4-FFF2-40B4-BE49-F238E27FC236}">
                <ns2:creationId id="{A2A760AE-D509-4D43-B1F4-1E29478A3600}"/>
              </a:ext>
            </a:extLst>
          </p:cNvPr>
          <p:cNvSpPr>
            <a:spLocks noGrp="1"/>
          </p:cNvSpPr>
          <p:nvPr/>
        </p:nvSpPr>
        <p:spPr>
          <a:xfrm>
            <a:off x="4584700" y="6429375"/>
            <a:ext cx="20002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defPPr>
            <a:lvl1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1pPr>
            <a:lvl2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2pPr>
            <a:lvl3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3pPr>
            <a:lvl4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4pPr>
            <a:lvl5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5pPr>
            <a:lvl6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6pPr>
            <a:lvl7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7pPr>
            <a:lvl8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8pPr>
            <a:lvl9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750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1645C"/>
                </a:solidFill>
                <a:latin typeface="Arial"/>
                <a:ea typeface="Arial"/>
                <a:cs typeface="Arial"/>
                <a:hlinkClick r:id="rIdWorkshop7"/>
              </a:rPr>
              <a:t>Devin Pleuler: Fixed to Fluid (2024)</a:t>
            </a:r>
          </a:p>
        </p:txBody>
      </p:sp>
      <p:sp>
        <p:nvSpPr>
          <p:cNvPr id="15" name="">
            <a:extLst>
              <a:ext uri="{FF2B5EF4-FFF2-40B4-BE49-F238E27FC236}">
                <ns2:creationId id="{6A606D62-B5DF-42C4-BD28-1C190EADB40D}"/>
              </a:ext>
            </a:extLst>
          </p:cNvPr>
          <p:cNvSpPr>
            <a:spLocks noGrp="1"/>
          </p:cNvSpPr>
          <p:nvPr/>
        </p:nvSpPr>
        <p:spPr>
          <a:xfrm>
            <a:off x="11544300" y="6429375"/>
            <a:ext cx="381000" cy="2571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975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75" b="0">
                <a:solidFill>
                  <a:srgbClr val="51645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1645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val="12061325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2026-10-21T23:01:44.2080000Z</dcterms:created>
  <dcterms:modified xsi:type="dcterms:W3CDTF">2026-10-21T23:01:44.2080000Z</dcterms:modified>
</coreProperties>
</file>
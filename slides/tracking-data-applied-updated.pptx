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67d0fdd2aba343c8" /><Relationship Type="http://schemas.openxmlformats.org/officeDocument/2006/relationships/extended-properties" Target="/docProps/app.xml" Id="R922aedb548774869" /><Relationship Type="http://schemas.openxmlformats.org/officeDocument/2006/relationships/officeDocument" Target="/ppt/presentation.xml" Id="R8fb291f7d97c4626" /></Relationships>
</file>

<file path=ppt/presentation.xml><?xml version="1.0" encoding="utf-8"?>
<p:presentation xmlns:p="http://schemas.openxmlformats.org/presentationml/2006/main">
  <p:sldMasterIdLst>
    <p:sldMasterId xmlns:r="http://schemas.openxmlformats.org/officeDocument/2006/relationships" id="2147483648" r:id="R1e178f63e84545b0"/>
  </p:sldMasterIdLst>
  <p:notesMasterIdLst>
    <p:notesMasterId xmlns:r="http://schemas.openxmlformats.org/officeDocument/2006/relationships" r:id="R7f10738d5f3649e8"/>
  </p:notesMasterIdLst>
  <p:sldIdLst>
    <p:sldId xmlns:r="http://schemas.openxmlformats.org/officeDocument/2006/relationships" id="256" r:id="R9a8a9fdf5dc640d0"/>
    <p:sldId xmlns:r="http://schemas.openxmlformats.org/officeDocument/2006/relationships" id="257" r:id="R43da39c21c544fc8"/>
    <p:sldId xmlns:r="http://schemas.openxmlformats.org/officeDocument/2006/relationships" id="258" r:id="R1522342191584edd"/>
    <p:sldId xmlns:r="http://schemas.openxmlformats.org/officeDocument/2006/relationships" id="259" r:id="R454647448085451f"/>
    <p:sldId xmlns:r="http://schemas.openxmlformats.org/officeDocument/2006/relationships" id="260" r:id="Re4df08ee6d7f4ce7"/>
    <p:sldId xmlns:r="http://schemas.openxmlformats.org/officeDocument/2006/relationships" id="261" r:id="R08c339fd818b4d1b"/>
    <p:sldId xmlns:r="http://schemas.openxmlformats.org/officeDocument/2006/relationships" id="262" r:id="Rdfc0ba02e9324e45"/>
    <p:sldId xmlns:r="http://schemas.openxmlformats.org/officeDocument/2006/relationships" id="263" r:id="Rc46055aa4592486e"/>
    <p:sldId xmlns:r="http://schemas.openxmlformats.org/officeDocument/2006/relationships" id="264" r:id="Re83f5deb05fe486a"/>
    <p:sldId xmlns:r="http://schemas.openxmlformats.org/officeDocument/2006/relationships" id="265" r:id="R87703d763cdc4409"/>
    <p:sldId xmlns:r="http://schemas.openxmlformats.org/officeDocument/2006/relationships" id="266" r:id="Rb1361b92ad5b4a9d"/>
    <p:sldId xmlns:r="http://schemas.openxmlformats.org/officeDocument/2006/relationships" id="267" r:id="R41f8e9e598154a4d"/>
    <p:sldId xmlns:r="http://schemas.openxmlformats.org/officeDocument/2006/relationships" id="268" r:id="Rb3def50d22984109"/>
    <p:sldId xmlns:r="http://schemas.openxmlformats.org/officeDocument/2006/relationships" id="269" r:id="R35bf5196c7b84193"/>
    <p:sldId xmlns:r="http://schemas.openxmlformats.org/officeDocument/2006/relationships" id="270" r:id="Rd7adc2f3e8dd490c"/>
    <p:sldId xmlns:r="http://schemas.openxmlformats.org/officeDocument/2006/relationships" id="271" r:id="Rfa2fd3dc83384a8c"/>
    <p:sldId xmlns:r="http://schemas.openxmlformats.org/officeDocument/2006/relationships" id="272" r:id="Rf33b2a3007bc4ffd"/>
    <p:sldId xmlns:r="http://schemas.openxmlformats.org/officeDocument/2006/relationships" id="273" r:id="Rb28a3b19b3134f79"/>
    <p:sldId xmlns:r="http://schemas.openxmlformats.org/officeDocument/2006/relationships" id="274" r:id="Raa0036423e6e4f00"/>
    <p:sldId xmlns:r="http://schemas.openxmlformats.org/officeDocument/2006/relationships" id="275" r:id="R5efda83816c14580"/>
    <p:sldId xmlns:r="http://schemas.openxmlformats.org/officeDocument/2006/relationships" id="276" r:id="R9d7978d3e4ca47b2"/>
    <p:sldId xmlns:r="http://schemas.openxmlformats.org/officeDocument/2006/relationships" id="277" r:id="Re362f60d090b4e1b"/>
    <p:sldId xmlns:r="http://schemas.openxmlformats.org/officeDocument/2006/relationships" id="278" r:id="R5a3caddbf6cf40e5"/>
    <p:sldId xmlns:r="http://schemas.openxmlformats.org/officeDocument/2006/relationships" id="279" r:id="Rd5676564f4ac466d"/>
    <p:sldId xmlns:r="http://schemas.openxmlformats.org/officeDocument/2006/relationships" id="280" r:id="R1948f3273d9a400e"/>
    <p:sldId xmlns:r="http://schemas.openxmlformats.org/officeDocument/2006/relationships" id="281" r:id="Rac0d1d71d9e34db4"/>
    <p:sldId xmlns:r="http://schemas.openxmlformats.org/officeDocument/2006/relationships" id="282" r:id="R4dc45a64356645ef"/>
    <p:sldId xmlns:r="http://schemas.openxmlformats.org/officeDocument/2006/relationships" id="283" r:id="R0ce974be1d194350"/>
    <p:sldId xmlns:r="http://schemas.openxmlformats.org/officeDocument/2006/relationships" id="284" r:id="Ra73345293e7f45a2"/>
    <p:sldId xmlns:r="http://schemas.openxmlformats.org/officeDocument/2006/relationships" id="285" r:id="Rd2cabec83ade4cab"/>
    <p:sldId xmlns:r="http://schemas.openxmlformats.org/officeDocument/2006/relationships" id="286" r:id="R934a6b400e9c40df"/>
    <p:sldId xmlns:r="http://schemas.openxmlformats.org/officeDocument/2006/relationships" id="287" r:id="R67df2c63acf44465"/>
    <p:sldId xmlns:r="http://schemas.openxmlformats.org/officeDocument/2006/relationships" id="288" r:id="R3dd697ff463d4901"/>
    <p:sldId xmlns:r="http://schemas.openxmlformats.org/officeDocument/2006/relationships" id="289" r:id="R3775aa652b32479f"/>
    <p:sldId xmlns:r="http://schemas.openxmlformats.org/officeDocument/2006/relationships" id="290" r:id="Rc1f73ba3102c47d6"/>
    <p:sldId xmlns:r="http://schemas.openxmlformats.org/officeDocument/2006/relationships" id="291" r:id="Rdbd1dc21b51a4802"/>
    <p:sldId xmlns:r="http://schemas.openxmlformats.org/officeDocument/2006/relationships" id="292" r:id="R1bdd7096a918426e"/>
    <p:sldId xmlns:r="http://schemas.openxmlformats.org/officeDocument/2006/relationships" id="293" r:id="R70fcb938082c421e"/>
    <p:sldId xmlns:r="http://schemas.openxmlformats.org/officeDocument/2006/relationships" id="294" r:id="Rfabd024721fc4a7d"/>
    <p:sldId xmlns:r="http://schemas.openxmlformats.org/officeDocument/2006/relationships" id="295" r:id="Rf43a02b61b2a407d"/>
    <p:sldId xmlns:r="http://schemas.openxmlformats.org/officeDocument/2006/relationships" id="296" r:id="R9871997838ad44c2"/>
    <p:sldId xmlns:r="http://schemas.openxmlformats.org/officeDocument/2006/relationships" id="297" r:id="R0c0a3206d18e4dfa"/>
    <p:sldId xmlns:r="http://schemas.openxmlformats.org/officeDocument/2006/relationships" id="298" r:id="R9b78299d285b4f27"/>
    <p:sldId xmlns:r="http://schemas.openxmlformats.org/officeDocument/2006/relationships" id="299" r:id="Ra366ac50683b46b2"/>
    <p:sldId xmlns:r="http://schemas.openxmlformats.org/officeDocument/2006/relationships" id="300" r:id="R0a51d64ff6414d71"/>
    <p:sldId xmlns:r="http://schemas.openxmlformats.org/officeDocument/2006/relationships" id="301" r:id="R4c50fae53a9744d5"/>
    <p:sldId xmlns:r="http://schemas.openxmlformats.org/officeDocument/2006/relationships" id="302" r:id="R8407cb86c4324236"/>
    <p:sldId xmlns:r="http://schemas.openxmlformats.org/officeDocument/2006/relationships" id="303" r:id="Rd16563e9ba444c1b"/>
    <p:sldId xmlns:r="http://schemas.openxmlformats.org/officeDocument/2006/relationships" id="304" r:id="R622b607187d8436d"/>
    <p:sldId xmlns:r="http://schemas.openxmlformats.org/officeDocument/2006/relationships" id="305" r:id="R3e2aafa8b4d64ac2"/>
    <p:sldId xmlns:r="http://schemas.openxmlformats.org/officeDocument/2006/relationships" id="306" r:id="Ra6840cf3a10740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942529962b4408" /><Relationship Type="http://schemas.openxmlformats.org/officeDocument/2006/relationships/slideMaster" Target="/ppt/slideMasters/slideMaster1.xml" Id="R1e178f63e84545b0" /><Relationship Type="http://schemas.openxmlformats.org/officeDocument/2006/relationships/notesMaster" Target="/ppt/notesMasters/notesMaster1.xml" Id="R7f10738d5f3649e8" /><Relationship Type="http://schemas.openxmlformats.org/officeDocument/2006/relationships/presProps" Target="/ppt/presProps.xml" Id="Re685f6af27624585" /><Relationship Type="http://schemas.openxmlformats.org/officeDocument/2006/relationships/tableStyles" Target="/ppt/tableStyles.xml" Id="R37a26e9725e64bf1" /><Relationship Type="http://schemas.openxmlformats.org/officeDocument/2006/relationships/slide" Target="/ppt/slides/slide1.xml" Id="R9a8a9fdf5dc640d0" /><Relationship Type="http://schemas.openxmlformats.org/officeDocument/2006/relationships/slide" Target="/ppt/slides/slide2.xml" Id="R43da39c21c544fc8" /><Relationship Type="http://schemas.openxmlformats.org/officeDocument/2006/relationships/slide" Target="/ppt/slides/slide3.xml" Id="R1522342191584edd" /><Relationship Type="http://schemas.openxmlformats.org/officeDocument/2006/relationships/slide" Target="/ppt/slides/slide4.xml" Id="R454647448085451f" /><Relationship Type="http://schemas.openxmlformats.org/officeDocument/2006/relationships/slide" Target="/ppt/slides/slide5.xml" Id="Re4df08ee6d7f4ce7" /><Relationship Type="http://schemas.openxmlformats.org/officeDocument/2006/relationships/slide" Target="/ppt/slides/slide6.xml" Id="R08c339fd818b4d1b" /><Relationship Type="http://schemas.openxmlformats.org/officeDocument/2006/relationships/slide" Target="/ppt/slides/slide7.xml" Id="Rdfc0ba02e9324e45" /><Relationship Type="http://schemas.openxmlformats.org/officeDocument/2006/relationships/slide" Target="/ppt/slides/slide8.xml" Id="Rc46055aa4592486e" /><Relationship Type="http://schemas.openxmlformats.org/officeDocument/2006/relationships/slide" Target="/ppt/slides/slide9.xml" Id="Re83f5deb05fe486a" /><Relationship Type="http://schemas.openxmlformats.org/officeDocument/2006/relationships/slide" Target="/ppt/slides/slide10.xml" Id="R87703d763cdc4409" /><Relationship Type="http://schemas.openxmlformats.org/officeDocument/2006/relationships/slide" Target="/ppt/slides/slide11.xml" Id="Rb1361b92ad5b4a9d" /><Relationship Type="http://schemas.openxmlformats.org/officeDocument/2006/relationships/slide" Target="/ppt/slides/slide12.xml" Id="R41f8e9e598154a4d" /><Relationship Type="http://schemas.openxmlformats.org/officeDocument/2006/relationships/slide" Target="/ppt/slides/slide13.xml" Id="Rb3def50d22984109" /><Relationship Type="http://schemas.openxmlformats.org/officeDocument/2006/relationships/slide" Target="/ppt/slides/slide14.xml" Id="R35bf5196c7b84193" /><Relationship Type="http://schemas.openxmlformats.org/officeDocument/2006/relationships/slide" Target="/ppt/slides/slide15.xml" Id="Rd7adc2f3e8dd490c" /><Relationship Type="http://schemas.openxmlformats.org/officeDocument/2006/relationships/slide" Target="/ppt/slides/slide16.xml" Id="Rfa2fd3dc83384a8c" /><Relationship Type="http://schemas.openxmlformats.org/officeDocument/2006/relationships/slide" Target="/ppt/slides/slide17.xml" Id="Rf33b2a3007bc4ffd" /><Relationship Type="http://schemas.openxmlformats.org/officeDocument/2006/relationships/slide" Target="/ppt/slides/slide18.xml" Id="Rb28a3b19b3134f79" /><Relationship Type="http://schemas.openxmlformats.org/officeDocument/2006/relationships/slide" Target="/ppt/slides/slide19.xml" Id="Raa0036423e6e4f00" /><Relationship Type="http://schemas.openxmlformats.org/officeDocument/2006/relationships/slide" Target="/ppt/slides/slide20.xml" Id="R5efda83816c14580" /><Relationship Type="http://schemas.openxmlformats.org/officeDocument/2006/relationships/slide" Target="/ppt/slides/slide21.xml" Id="R9d7978d3e4ca47b2" /><Relationship Type="http://schemas.openxmlformats.org/officeDocument/2006/relationships/slide" Target="/ppt/slides/slide22.xml" Id="Re362f60d090b4e1b" /><Relationship Type="http://schemas.openxmlformats.org/officeDocument/2006/relationships/slide" Target="/ppt/slides/slide23.xml" Id="R5a3caddbf6cf40e5" /><Relationship Type="http://schemas.openxmlformats.org/officeDocument/2006/relationships/slide" Target="/ppt/slides/slide24.xml" Id="Rd5676564f4ac466d" /><Relationship Type="http://schemas.openxmlformats.org/officeDocument/2006/relationships/slide" Target="/ppt/slides/slide25.xml" Id="R1948f3273d9a400e" /><Relationship Type="http://schemas.openxmlformats.org/officeDocument/2006/relationships/slide" Target="/ppt/slides/slide26.xml" Id="Rac0d1d71d9e34db4" /><Relationship Type="http://schemas.openxmlformats.org/officeDocument/2006/relationships/slide" Target="/ppt/slides/slide27.xml" Id="R4dc45a64356645ef" /><Relationship Type="http://schemas.openxmlformats.org/officeDocument/2006/relationships/slide" Target="/ppt/slides/slide28.xml" Id="R0ce974be1d194350" /><Relationship Type="http://schemas.openxmlformats.org/officeDocument/2006/relationships/slide" Target="/ppt/slides/slide29.xml" Id="Ra73345293e7f45a2" /><Relationship Type="http://schemas.openxmlformats.org/officeDocument/2006/relationships/slide" Target="/ppt/slides/slide30.xml" Id="Rd2cabec83ade4cab" /><Relationship Type="http://schemas.openxmlformats.org/officeDocument/2006/relationships/slide" Target="/ppt/slides/slide31.xml" Id="R934a6b400e9c40df" /><Relationship Type="http://schemas.openxmlformats.org/officeDocument/2006/relationships/slide" Target="/ppt/slides/slide32.xml" Id="R67df2c63acf44465" /><Relationship Type="http://schemas.openxmlformats.org/officeDocument/2006/relationships/slide" Target="/ppt/slides/slide33.xml" Id="R3dd697ff463d4901" /><Relationship Type="http://schemas.openxmlformats.org/officeDocument/2006/relationships/slide" Target="/ppt/slides/slide34.xml" Id="R3775aa652b32479f" /><Relationship Type="http://schemas.openxmlformats.org/officeDocument/2006/relationships/slide" Target="/ppt/slides/slide35.xml" Id="Rc1f73ba3102c47d6" /><Relationship Type="http://schemas.openxmlformats.org/officeDocument/2006/relationships/slide" Target="/ppt/slides/slide36.xml" Id="Rdbd1dc21b51a4802" /><Relationship Type="http://schemas.openxmlformats.org/officeDocument/2006/relationships/slide" Target="/ppt/slides/slide37.xml" Id="R1bdd7096a918426e" /><Relationship Type="http://schemas.openxmlformats.org/officeDocument/2006/relationships/slide" Target="/ppt/slides/slide38.xml" Id="R70fcb938082c421e" /><Relationship Type="http://schemas.openxmlformats.org/officeDocument/2006/relationships/slide" Target="/ppt/slides/slide39.xml" Id="Rfabd024721fc4a7d" /><Relationship Type="http://schemas.openxmlformats.org/officeDocument/2006/relationships/slide" Target="/ppt/slides/slide40.xml" Id="Rf43a02b61b2a407d" /><Relationship Type="http://schemas.openxmlformats.org/officeDocument/2006/relationships/slide" Target="/ppt/slides/slide41.xml" Id="R9871997838ad44c2" /><Relationship Type="http://schemas.openxmlformats.org/officeDocument/2006/relationships/slide" Target="/ppt/slides/slide42.xml" Id="R0c0a3206d18e4dfa" /><Relationship Type="http://schemas.openxmlformats.org/officeDocument/2006/relationships/slide" Target="/ppt/slides/slide43.xml" Id="R9b78299d285b4f27" /><Relationship Type="http://schemas.openxmlformats.org/officeDocument/2006/relationships/slide" Target="/ppt/slides/slide44.xml" Id="Ra366ac50683b46b2" /><Relationship Type="http://schemas.openxmlformats.org/officeDocument/2006/relationships/slide" Target="/ppt/slides/slide45.xml" Id="R0a51d64ff6414d71" /><Relationship Type="http://schemas.openxmlformats.org/officeDocument/2006/relationships/slide" Target="/ppt/slides/slide46.xml" Id="R4c50fae53a9744d5" /><Relationship Type="http://schemas.openxmlformats.org/officeDocument/2006/relationships/slide" Target="/ppt/slides/slide47.xml" Id="R8407cb86c4324236" /><Relationship Type="http://schemas.openxmlformats.org/officeDocument/2006/relationships/slide" Target="/ppt/slides/slide48.xml" Id="Rd16563e9ba444c1b" /><Relationship Type="http://schemas.openxmlformats.org/officeDocument/2006/relationships/slide" Target="/ppt/slides/slide49.xml" Id="R622b607187d8436d" /><Relationship Type="http://schemas.openxmlformats.org/officeDocument/2006/relationships/slide" Target="/ppt/slides/slide50.xml" Id="R3e2aafa8b4d64ac2" /><Relationship Type="http://schemas.openxmlformats.org/officeDocument/2006/relationships/slide" Target="/ppt/slides/slide51.xml" Id="Ra6840cf3a10740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041970ee134e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3d598fef5649c1" /><Relationship Type="http://schemas.openxmlformats.org/officeDocument/2006/relationships/notesMaster" Target="/ppt/notesMasters/notesMaster1.xml" Id="Rf38dd40d6a8e40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be25367b3d4322" /><Relationship Type="http://schemas.openxmlformats.org/officeDocument/2006/relationships/notesMaster" Target="/ppt/notesMasters/notesMaster1.xml" Id="R6331ce02cd3348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cfda32594c4080" /><Relationship Type="http://schemas.openxmlformats.org/officeDocument/2006/relationships/notesMaster" Target="/ppt/notesMasters/notesMaster1.xml" Id="Rb26021fe1fd042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22504e13c345c0" /><Relationship Type="http://schemas.openxmlformats.org/officeDocument/2006/relationships/notesMaster" Target="/ppt/notesMasters/notesMaster1.xml" Id="Rfde9c9d538c34e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b22016b8b4480e" /><Relationship Type="http://schemas.openxmlformats.org/officeDocument/2006/relationships/notesMaster" Target="/ppt/notesMasters/notesMaster1.xml" Id="R064dbcaffb0d49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b956610cab4131" /><Relationship Type="http://schemas.openxmlformats.org/officeDocument/2006/relationships/notesMaster" Target="/ppt/notesMasters/notesMaster1.xml" Id="Rf6e7ee4f351240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f129a5f0534ca3" /><Relationship Type="http://schemas.openxmlformats.org/officeDocument/2006/relationships/notesMaster" Target="/ppt/notesMasters/notesMaster1.xml" Id="R89f7277a644c45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6d0d5f369146c7" /><Relationship Type="http://schemas.openxmlformats.org/officeDocument/2006/relationships/notesMaster" Target="/ppt/notesMasters/notesMaster1.xml" Id="Raebdb04583d540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a0429fe7704a98" /><Relationship Type="http://schemas.openxmlformats.org/officeDocument/2006/relationships/notesMaster" Target="/ppt/notesMasters/notesMaster1.xml" Id="Red18e800bdb74c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219a6ddb194cc1" /><Relationship Type="http://schemas.openxmlformats.org/officeDocument/2006/relationships/notesMaster" Target="/ppt/notesMasters/notesMaster1.xml" Id="R6ab45e1c271b45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cb14b5fb3e4be0" /><Relationship Type="http://schemas.openxmlformats.org/officeDocument/2006/relationships/notesMaster" Target="/ppt/notesMasters/notesMaster1.xml" Id="Rd3091f7afa3d47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764bf2cbc94168" /><Relationship Type="http://schemas.openxmlformats.org/officeDocument/2006/relationships/notesMaster" Target="/ppt/notesMasters/notesMaster1.xml" Id="R85bcdddeb6624f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24b73052cf4c9a" /><Relationship Type="http://schemas.openxmlformats.org/officeDocument/2006/relationships/notesMaster" Target="/ppt/notesMasters/notesMaster1.xml" Id="R8cec4486c51546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f6288dca254f9d" /><Relationship Type="http://schemas.openxmlformats.org/officeDocument/2006/relationships/notesMaster" Target="/ppt/notesMasters/notesMaster1.xml" Id="Rf4a72839e7224d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0cf965531a424a" /><Relationship Type="http://schemas.openxmlformats.org/officeDocument/2006/relationships/notesMaster" Target="/ppt/notesMasters/notesMaster1.xml" Id="R17b6c778c2a44f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88a28d77344f20" /><Relationship Type="http://schemas.openxmlformats.org/officeDocument/2006/relationships/notesMaster" Target="/ppt/notesMasters/notesMaster1.xml" Id="R499145cd8d5540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16a8fd3d5db43c6" /><Relationship Type="http://schemas.openxmlformats.org/officeDocument/2006/relationships/notesMaster" Target="/ppt/notesMasters/notesMaster1.xml" Id="Rb45ce28298b743e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f81479cbada438f" /><Relationship Type="http://schemas.openxmlformats.org/officeDocument/2006/relationships/notesMaster" Target="/ppt/notesMasters/notesMaster1.xml" Id="Ra99c43945486424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243dbeef688458b" /><Relationship Type="http://schemas.openxmlformats.org/officeDocument/2006/relationships/notesMaster" Target="/ppt/notesMasters/notesMaster1.xml" Id="Re417fe815b9c42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af88cec75e481b" /><Relationship Type="http://schemas.openxmlformats.org/officeDocument/2006/relationships/notesMaster" Target="/ppt/notesMasters/notesMaster1.xml" Id="R57439cb1350948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d1b5e869994fa7" /><Relationship Type="http://schemas.openxmlformats.org/officeDocument/2006/relationships/notesMaster" Target="/ppt/notesMasters/notesMaster1.xml" Id="Rdb753a5a09c54c5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f97997df9ca429a" /><Relationship Type="http://schemas.openxmlformats.org/officeDocument/2006/relationships/notesMaster" Target="/ppt/notesMasters/notesMaster1.xml" Id="Rfa2b306c47e44a3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425d238007e484a" /><Relationship Type="http://schemas.openxmlformats.org/officeDocument/2006/relationships/notesMaster" Target="/ppt/notesMasters/notesMaster1.xml" Id="R4780214e189c427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c711e013fa340ed" /><Relationship Type="http://schemas.openxmlformats.org/officeDocument/2006/relationships/notesMaster" Target="/ppt/notesMasters/notesMaster1.xml" Id="R0fddcbebb2924e6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7e104d6490c439a" /><Relationship Type="http://schemas.openxmlformats.org/officeDocument/2006/relationships/notesMaster" Target="/ppt/notesMasters/notesMaster1.xml" Id="R2514b9e95e1c41b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3da6f2544d74886" /><Relationship Type="http://schemas.openxmlformats.org/officeDocument/2006/relationships/notesMaster" Target="/ppt/notesMasters/notesMaster1.xml" Id="Rb3fda4be936e4f8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9ae515a230a4945" /><Relationship Type="http://schemas.openxmlformats.org/officeDocument/2006/relationships/notesMaster" Target="/ppt/notesMasters/notesMaster1.xml" Id="R61e1dc2d69ae46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d76228027c1414a" /><Relationship Type="http://schemas.openxmlformats.org/officeDocument/2006/relationships/notesMaster" Target="/ppt/notesMasters/notesMaster1.xml" Id="R0518652dcedd400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484ca5e362f43d6" /><Relationship Type="http://schemas.openxmlformats.org/officeDocument/2006/relationships/notesMaster" Target="/ppt/notesMasters/notesMaster1.xml" Id="R5dc63c8a17c84bc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007656c28094baf" /><Relationship Type="http://schemas.openxmlformats.org/officeDocument/2006/relationships/notesMaster" Target="/ppt/notesMasters/notesMaster1.xml" Id="Re481eca97cde4a0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107d356852e44df" /><Relationship Type="http://schemas.openxmlformats.org/officeDocument/2006/relationships/notesMaster" Target="/ppt/notesMasters/notesMaster1.xml" Id="Rd7c6f0cbdd7b465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e1f7be9eee34ca3" /><Relationship Type="http://schemas.openxmlformats.org/officeDocument/2006/relationships/notesMaster" Target="/ppt/notesMasters/notesMaster1.xml" Id="R6cf88b18afed4a6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f4abff128e945e4" /><Relationship Type="http://schemas.openxmlformats.org/officeDocument/2006/relationships/notesMaster" Target="/ppt/notesMasters/notesMaster1.xml" Id="R4db7ada9292d4f6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e4eb0f5770d4474" /><Relationship Type="http://schemas.openxmlformats.org/officeDocument/2006/relationships/notesMaster" Target="/ppt/notesMasters/notesMaster1.xml" Id="Rde90fef9603c4b6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c4a3e888203413f" /><Relationship Type="http://schemas.openxmlformats.org/officeDocument/2006/relationships/notesMaster" Target="/ppt/notesMasters/notesMaster1.xml" Id="R916bab2c4bff451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5a549e727bc4567" /><Relationship Type="http://schemas.openxmlformats.org/officeDocument/2006/relationships/notesMaster" Target="/ppt/notesMasters/notesMaster1.xml" Id="R5931726cf2e4414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e33fa8e37bd453b" /><Relationship Type="http://schemas.openxmlformats.org/officeDocument/2006/relationships/notesMaster" Target="/ppt/notesMasters/notesMaster1.xml" Id="R184e45da1e8046f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a62efd6a5cc414b" /><Relationship Type="http://schemas.openxmlformats.org/officeDocument/2006/relationships/notesMaster" Target="/ppt/notesMasters/notesMaster1.xml" Id="Rc3cd4813a9c5432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749cea8e92e4fe9" /><Relationship Type="http://schemas.openxmlformats.org/officeDocument/2006/relationships/notesMaster" Target="/ppt/notesMasters/notesMaster1.xml" Id="Rf378c0bcbf914d7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ff80f931ca545cf" /><Relationship Type="http://schemas.openxmlformats.org/officeDocument/2006/relationships/notesMaster" Target="/ppt/notesMasters/notesMaster1.xml" Id="R9042455ff0c741e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9b8151d3bee460e" /><Relationship Type="http://schemas.openxmlformats.org/officeDocument/2006/relationships/notesMaster" Target="/ppt/notesMasters/notesMaster1.xml" Id="R52a711214c16423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549490e28b44c72" /><Relationship Type="http://schemas.openxmlformats.org/officeDocument/2006/relationships/notesMaster" Target="/ppt/notesMasters/notesMaster1.xml" Id="Rf73b94c62e8d480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dad75ff952a464b" /><Relationship Type="http://schemas.openxmlformats.org/officeDocument/2006/relationships/notesMaster" Target="/ppt/notesMasters/notesMaster1.xml" Id="R2f93a2dfcc7e466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f24f654f0ab4bea" /><Relationship Type="http://schemas.openxmlformats.org/officeDocument/2006/relationships/notesMaster" Target="/ppt/notesMasters/notesMaster1.xml" Id="Rf9cdb80a5c044c3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62e2cf92c83487d" /><Relationship Type="http://schemas.openxmlformats.org/officeDocument/2006/relationships/notesMaster" Target="/ppt/notesMasters/notesMaster1.xml" Id="Rc17a2b02d652470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cd3e319ff214b1b" /><Relationship Type="http://schemas.openxmlformats.org/officeDocument/2006/relationships/notesMaster" Target="/ppt/notesMasters/notesMaster1.xml" Id="R8af8971dc0ab485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1a250734dd248ef" /><Relationship Type="http://schemas.openxmlformats.org/officeDocument/2006/relationships/notesMaster" Target="/ppt/notesMasters/notesMaster1.xml" Id="Rc71c661fd10540a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46c7253f55b4032" /><Relationship Type="http://schemas.openxmlformats.org/officeDocument/2006/relationships/notesMaster" Target="/ppt/notesMasters/notesMaster1.xml" Id="Rf1e696a306af464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9651f79f76d4943" /><Relationship Type="http://schemas.openxmlformats.org/officeDocument/2006/relationships/notesMaster" Target="/ppt/notesMasters/notesMaster1.xml" Id="Rb4bde966ff4747a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29ddb3c7e38460c" /><Relationship Type="http://schemas.openxmlformats.org/officeDocument/2006/relationships/notesMaster" Target="/ppt/notesMasters/notesMaster1.xml" Id="R28e1e0ec1d6945f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392f7f1adae480b" /><Relationship Type="http://schemas.openxmlformats.org/officeDocument/2006/relationships/notesMaster" Target="/ppt/notesMasters/notesMaster1.xml" Id="R37f988f64ec94d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SkillCorner open tracking, StatsBomb shot freeze frames, published research and independent teaching models are identified throughout.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User-requested introduction to all avenues. Graphs and GNNs are general modeling tools introduced within game modeling, with applications beyond EPV. No duration or audience-level framing.</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opening entries are linked. Full sources are in the reading list. Real sample: Brisbane vs Perth, 21 December 2024, match 1925299.</a:t>
            </a:r>
          </a:p>
          <a:p xmlns:a="http://schemas.openxmlformats.org/drawingml/2006/main">
            <a:r>
              <a:t/>
            </a:r>
          </a:p>
          <a:p xmlns:a="http://schemas.openxmlformats.org/drawingml/2006/main">
            <a:r>
              <a:t>Notebook: 01_data_exploration.ipynb</a:t>
            </a:r>
          </a:p>
          <a:p xmlns:a="http://schemas.openxmlformats.org/drawingml/2006/main">
            <a:r>
              <a:t>https://github.com/zcochran27/tracking-data-applied-workshop/blob/main/notebooks/methods/01_data_exploration.ipynb</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kloppy SkillCorner loader</a:t>
            </a:r>
          </a:p>
          <a:p xmlns:a="http://schemas.openxmlformats.org/drawingml/2006/main">
            <a:r>
              <a:t>https://kloppy.pysport.org/reference/providers/skillcorner/</a:t>
            </a:r>
          </a:p>
          <a:p xmlns:a="http://schemas.openxmlformats.org/drawingml/2006/main">
            <a:r>
              <a:t/>
            </a:r>
          </a:p>
          <a:p xmlns:a="http://schemas.openxmlformats.org/drawingml/2006/main">
            <a:r>
              <a:t>DataBallPy covered distance</a:t>
            </a:r>
          </a:p>
          <a:p xmlns:a="http://schemas.openxmlformats.org/drawingml/2006/main">
            <a:r>
              <a:t>https://databallpy.readthedocs.io/en/main/features/covered_distance_page.html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SkillCorner frame 163. The green polygon connects top-left, bottom-left, bottom-right and top-right image_corners_projection in native metric coordinates; its fill is clipped to the pitch, while the boundary retains the actual projected corners. Green shading shows the camera footprint, gray pitch lies outside it. Player marker style comes directly from is_detected: filled detections, hollow extrapolations; orange Brisbane, purple Perth. This illustrative frame has 11 players inside/detected and 11 outside/extrapolated. Polygon membership is not substituted for detection status: occlusion or missed detections can occur inside the camera footprint. Coordinates outside camera coverage may still be supplied by extrapolation.</a:t>
            </a:r>
          </a:p>
          <a:p xmlns:a="http://schemas.openxmlformats.org/drawingml/2006/main">
            <a:r>
              <a:t/>
            </a:r>
          </a:p>
          <a:p xmlns:a="http://schemas.openxmlformats.org/drawingml/2006/main">
            <a:r>
              <a:t>Notebook: 01_data_exploration.ipynb</a:t>
            </a:r>
          </a:p>
          <a:p xmlns:a="http://schemas.openxmlformats.org/drawingml/2006/main">
            <a:r>
              <a:t>https://github.com/zcochran27/tracking-data-applied-workshop/blob/main/notebooks/methods/01_data_exploration.ipynb</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DataBallPy preprocessing</a:t>
            </a:r>
          </a:p>
          <a:p xmlns:a="http://schemas.openxmlformats.org/drawingml/2006/main">
            <a:r>
              <a:t>https://databallpy.readthedocs.io/en/main/getting_started/preprocessing_options.html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Embedded native-rate MP4 of actual SkillCorner player and ball positions with shirt numbers. Click the movie in slideshow view. Tracking visualization, not broadcast footage.</a:t>
            </a:r>
          </a:p>
          <a:p xmlns:a="http://schemas.openxmlformats.org/drawingml/2006/main">
            <a:r>
              <a:t/>
            </a:r>
          </a:p>
          <a:p xmlns:a="http://schemas.openxmlformats.org/drawingml/2006/main">
            <a:r>
              <a:t>Notebook: 01_data_exploration.ipynb</a:t>
            </a:r>
          </a:p>
          <a:p xmlns:a="http://schemas.openxmlformats.org/drawingml/2006/main">
            <a:r>
              <a:t>https://github.com/zcochran27/tracking-data-applied-workshop/blob/main/notebooks/methods/01_data_exploration.ipynb</a:t>
            </a:r>
          </a:p>
          <a:p xmlns:a="http://schemas.openxmlformats.org/drawingml/2006/main">
            <a:r>
              <a:t>Embedded video (click to play): assets/videos/tracking_playback.mp4</a:t>
            </a:r>
          </a:p>
          <a:p xmlns:a="http://schemas.openxmlformats.org/drawingml/2006/main">
            <a:r>
              <a:t>Embedded native-rate MP4 of actual SkillCorner player and ball positions with shirt numbers. Click the movie in slideshow view. Tracking visualization, not broadcast footage.</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kloppy SkillCorner loader</a:t>
            </a:r>
          </a:p>
          <a:p xmlns:a="http://schemas.openxmlformats.org/drawingml/2006/main">
            <a:r>
              <a:t>https://kloppy.pysport.org/reference/providers/skillcorner/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coordinates and timestamps in metres and seconds. Player–ball distance is the Euclidean distance. Backward finite differences give velocity from displacement divided by elapsed time, speed from the velocity magnitude, and acceleration from velocity change divided by elapsed time. Compute within periods, reject gaps and missing coordinates, and inspect noise because differencing magnifies it. Combine these derived features into explicit event definitions. The control example requires the same closest player within 2 m, ball height 0–2 m, and horizontal ball speed at most 3 m/s for at least 0.3 s at 10 Hz. Pass candidates connect different same-team stable control intervals through a complete ball trajectory with at least 3 m displacement within 4 s. Acceleration is a diagnostic idea for kicks or deflections, not a gate used by the current detector. Conservative low-speed control can miss fast dribbles, aerial control or one-touch play; slow dummies can still qualify. Tune and evaluate thresholds using independent video-reviewed labels; a physical rule is not event truth.</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 candidate: same nearest player within 2 m, ball height 0–2 m and horizontal ball speed ≤3 m/s for ≥0.3 s at native 10 Hz. Velocity comes from adjacent-frame displacement divided by valid elapsed time, within a period. Missing speed, height, coordinates or frame continuity break the evidence. Video synchronizes distance, speed and stable ownership. This conservative offline heuristic reduces flyovers and fast dummies but can miss fast dribbles, aerial control and one-touch play; slow dummies can still qualify. No validated accuracy claim. Half-speed playback.</a:t>
            </a:r>
          </a:p>
          <a:p xmlns:a="http://schemas.openxmlformats.org/drawingml/2006/main">
            <a:r>
              <a:t/>
            </a:r>
          </a:p>
          <a:p xmlns:a="http://schemas.openxmlformats.org/drawingml/2006/main">
            <a:r>
              <a:t>Notebook: 02_event_detection.ipynb</a:t>
            </a:r>
          </a:p>
          <a:p xmlns:a="http://schemas.openxmlformats.org/drawingml/2006/main">
            <a:r>
              <a:t>https://github.com/zcochran27/tracking-data-applied-workshop/blob/main/notebooks/methods/02_event_detection.ipynb</a:t>
            </a:r>
          </a:p>
          <a:p xmlns:a="http://schemas.openxmlformats.org/drawingml/2006/main">
            <a:r>
              <a:t>Embedded video (click to play): assets/videos/possession_physics.mp4</a:t>
            </a:r>
          </a:p>
          <a:p xmlns:a="http://schemas.openxmlformats.org/drawingml/2006/main">
            <a:r>
              <a:t>Control candidate: same nearest player within 2 m, ball height 0–2 m and horizontal ball speed ≤3 m/s for ≥0.3 s at native 10 Hz. Velocity comes from adjacent-frame displacement divided by valid elapsed time, within a period. Missing speed, height, coordinates or frame continuity break the evidence. Video synchronizes distance, speed and stable ownership. This conservative offline heuristic reduces flyovers and fast dummies but can miss fast dribbles, aerial control and one-touch play; slow dummies can still qualify. No validated accuracy claim. Half-speed playback.</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PathCRF: player trajectories to events (2026)</a:t>
            </a:r>
          </a:p>
          <a:p xmlns:a="http://schemas.openxmlformats.org/drawingml/2006/main">
            <a:r>
              <a:t>https://github.com/hyunsungkim-ds/pathcrf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player–ball distances, horizontal ball speed and ball height share the clip time axis. Same-player proximity within 2 m, height 0–2 m, speed ≤3 m/s and ≥0.3 s persistence define the control endpoints. Different same-team endpoints form a pass candidate only if the intervening ball trajectory is complete, crosses no period boundary, travels at least 3 m and spans no more than 4 s. Transit can exceed the control-speed threshold. Dashed arrow and endpoints are retrospective candidates, not reviewed event truth. Acceleration is not a detection gate.</a:t>
            </a:r>
          </a:p>
          <a:p xmlns:a="http://schemas.openxmlformats.org/drawingml/2006/main">
            <a:r>
              <a:t/>
            </a:r>
          </a:p>
          <a:p xmlns:a="http://schemas.openxmlformats.org/drawingml/2006/main">
            <a:r>
              <a:t>Notebook: 02_event_detection.ipynb</a:t>
            </a:r>
          </a:p>
          <a:p xmlns:a="http://schemas.openxmlformats.org/drawingml/2006/main">
            <a:r>
              <a:t>https://github.com/zcochran27/tracking-data-applied-workshop/blob/main/notebooks/methods/02_event_detection.ipynb</a:t>
            </a:r>
          </a:p>
          <a:p xmlns:a="http://schemas.openxmlformats.org/drawingml/2006/main">
            <a:r>
              <a:t>Embedded video (click to play): assets/videos/pass_control_physics.mp4</a:t>
            </a:r>
          </a:p>
          <a:p xmlns:a="http://schemas.openxmlformats.org/drawingml/2006/main">
            <a:r>
              <a:t>Actual player–ball distances, horizontal ball speed and ball height share the clip time axis. Same-player proximity within 2 m, height 0–2 m, speed ≤3 m/s and ≥0.3 s persistence define the control endpoints. Different same-team endpoints form a pass candidate only if the intervening ball trajectory is complete, crosses no period boundary, travels at least 3 m and spans no more than 4 s. Transit can exceed the control-speed threshold. Dashed arrow and endpoints are retrospective candidates, not reviewed event truth. Acceleration is not a detection gate.</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PathCRF: player trajectories to events (2026)</a:t>
            </a:r>
          </a:p>
          <a:p xmlns:a="http://schemas.openxmlformats.org/drawingml/2006/main">
            <a:r>
              <a:t>https://github.com/hyunsungkim-ds/pathcrf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can we describe team organization while players move and rotate?</a:t>
            </a:r>
          </a:p>
          <a:p xmlns:a="http://schemas.openxmlformats.org/drawingml/2006/main">
            <a:r>
              <a:t>Ideas: Team shape and phase-conditioned averages; Formation-template identification; Player roles and positional rotations; Role signatures from relative geometry; Persistent formation-change candidates; Substitutions and asymmetric shapes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Best residual example from defensive 30-second windows; ten outfield players, at least 50 qualifying frames each. Four fixed templates and Hungarian squared-distance assignment. Player labels are assigned template slots, not reviewed role truth. Raw versus centered covariance ellipses appear as a small inset. RMS error is not a formation probability; not elastic EFPI inference. Selected option C with explicit template matching. Subtract the ten outfield players’ team centroid separately in every qualifying frame, then orient attack consistently. Take coordinate-wise medians over the window. For each fixed template, the Hungarian algorithm finds a one-to-one assignment minimizing total squared Euclidean distance between the ten medians and ten template slots. Compare root mean squared assignment distance across all four candidates. Here 4-2-3-1 has 9.13 m RMS versus 10.37 m for 4-3-3. This is a geometric best fit among supplied candidates, not a validated formation label. The ellipses summarize dispersion; the dots used for matching are medians. The final board uses schematic role slots.</a:t>
            </a:r>
          </a:p>
          <a:p xmlns:a="http://schemas.openxmlformats.org/drawingml/2006/main">
            <a:r>
              <a:t/>
            </a:r>
          </a:p>
          <a:p xmlns:a="http://schemas.openxmlformats.org/drawingml/2006/main">
            <a:r>
              <a:t>Notebook: 03_formation_analysis.ipynb</a:t>
            </a:r>
          </a:p>
          <a:p xmlns:a="http://schemas.openxmlformats.org/drawingml/2006/main">
            <a:r>
              <a:t>https://github.com/zcochran27/tracking-data-applied-workshop/blob/main/notebooks/methods/03_formation_analysis.ipynb</a:t>
            </a:r>
          </a:p>
          <a:p xmlns:a="http://schemas.openxmlformats.org/drawingml/2006/main">
            <a:r>
              <a:t/>
            </a:r>
          </a:p>
          <a:p xmlns:a="http://schemas.openxmlformats.org/drawingml/2006/main">
            <a:r>
              <a:t>Sources:</a:t>
            </a:r>
          </a:p>
          <a:p xmlns:a="http://schemas.openxmlformats.org/drawingml/2006/main">
            <a:r>
              <a:t>Shaw &amp; Glickman: Dynamic Analysis of Team Strategy</a:t>
            </a:r>
          </a:p>
          <a:p xmlns:a="http://schemas.openxmlformats.org/drawingml/2006/main">
            <a:r>
              <a:t>https://static.capabiliaserver.com/frontend/clients/barca/wp_prod/wp-content/uploads/2020/01/83c87dfe-barca_poster_shaw.pdf</a:t>
            </a:r>
          </a:p>
          <a:p xmlns:a="http://schemas.openxmlformats.org/drawingml/2006/main">
            <a:r>
              <a:t/>
            </a:r>
          </a:p>
          <a:p xmlns:a="http://schemas.openxmlformats.org/drawingml/2006/main">
            <a:r>
              <a:t>Joris Bekkers: Elastic Formation and Position Identification</a:t>
            </a:r>
          </a:p>
          <a:p xmlns:a="http://schemas.openxmlformats.org/drawingml/2006/main">
            <a:r>
              <a:t>https://arxiv.org/abs/2506.23843</a:t>
            </a:r>
          </a:p>
          <a:p xmlns:a="http://schemas.openxmlformats.org/drawingml/2006/main">
            <a:r>
              <a:t/>
            </a:r>
          </a:p>
          <a:p xmlns:a="http://schemas.openxmlformats.org/drawingml/2006/main">
            <a:r>
              <a:t>Devin Pleuler: Fixed to Fluid (2024)</a:t>
            </a:r>
          </a:p>
          <a:p xmlns:a="http://schemas.openxmlformats.org/drawingml/2006/main">
            <a:r>
              <a:t>https://github.com/devinpleuler/research/blob/master/frame-by-frame-position.md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Twenty-four attack-normalized headings; teammates only in the comparison. Sector geometry is not observed gaze or occlusion. Metadata roles label the examples, not frame-level ground truth. No real role-classifier performance is claimed; the notebook’s classifier training check remains synthetic.</a:t>
            </a:r>
          </a:p>
          <a:p xmlns:a="http://schemas.openxmlformats.org/drawingml/2006/main">
            <a:r>
              <a:t/>
            </a:r>
          </a:p>
          <a:p xmlns:a="http://schemas.openxmlformats.org/drawingml/2006/main">
            <a:r>
              <a:t>Notebook: 04_role_classification.ipynb</a:t>
            </a:r>
          </a:p>
          <a:p xmlns:a="http://schemas.openxmlformats.org/drawingml/2006/main">
            <a:r>
              <a:t>https://github.com/zcochran27/tracking-data-applied-workshop/blob/main/notebooks/methods/04_role_classification.ipynb</a:t>
            </a:r>
          </a:p>
          <a:p xmlns:a="http://schemas.openxmlformats.org/drawingml/2006/main">
            <a:r>
              <a:t/>
            </a:r>
          </a:p>
          <a:p xmlns:a="http://schemas.openxmlformats.org/drawingml/2006/main">
            <a:r>
              <a:t>Sources:</a:t>
            </a:r>
          </a:p>
          <a:p xmlns:a="http://schemas.openxmlformats.org/drawingml/2006/main">
            <a:r>
              <a:t>Devin Pleuler: Fixed to Fluid (2024)</a:t>
            </a:r>
          </a:p>
          <a:p xmlns:a="http://schemas.openxmlformats.org/drawingml/2006/main">
            <a:r>
              <a:t>https://github.com/devinpleuler/research/blob/master/frame-by-frame-position.md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Dominant timeline and before/after pitch views. Three consecutive available 30-second bins confirm a candidate; missing bins reset evidence, while the last confirmed state is retained. Gray windows are insufficient samples. No substitutions fall in this bounded sample. Differing candidates are not claimed to be verified formation changes.</a:t>
            </a:r>
          </a:p>
          <a:p xmlns:a="http://schemas.openxmlformats.org/drawingml/2006/main">
            <a:r>
              <a:t/>
            </a:r>
          </a:p>
          <a:p xmlns:a="http://schemas.openxmlformats.org/drawingml/2006/main">
            <a:r>
              <a:t>Notebook: 03_formation_analysis.ipynb</a:t>
            </a:r>
          </a:p>
          <a:p xmlns:a="http://schemas.openxmlformats.org/drawingml/2006/main">
            <a:r>
              <a:t>https://github.com/zcochran27/tracking-data-applied-workshop/blob/main/notebooks/methods/03_formation_analysis.ipynb</a:t>
            </a:r>
          </a:p>
          <a:p xmlns:a="http://schemas.openxmlformats.org/drawingml/2006/main">
            <a:r>
              <a:t/>
            </a:r>
          </a:p>
          <a:p xmlns:a="http://schemas.openxmlformats.org/drawingml/2006/main">
            <a:r>
              <a:t>Sources:</a:t>
            </a:r>
          </a:p>
          <a:p xmlns:a="http://schemas.openxmlformats.org/drawingml/2006/main">
            <a:r>
              <a:t>Shaw &amp; Glickman: Dynamic Analysis of Team Strategy</a:t>
            </a:r>
          </a:p>
          <a:p xmlns:a="http://schemas.openxmlformats.org/drawingml/2006/main">
            <a:r>
              <a:t>https://static.capabiliaserver.com/frontend/clients/barca/wp_prod/wp-content/uploads/2020/01/83c87dfe-barca_poster_shaw.pdf</a:t>
            </a:r>
          </a:p>
          <a:p xmlns:a="http://schemas.openxmlformats.org/drawingml/2006/main">
            <a:r>
              <a:t/>
            </a:r>
          </a:p>
          <a:p xmlns:a="http://schemas.openxmlformats.org/drawingml/2006/main">
            <a:r>
              <a:t>Joris Bekkers: Elastic Formation and Position Identification</a:t>
            </a:r>
          </a:p>
          <a:p xmlns:a="http://schemas.openxmlformats.org/drawingml/2006/main">
            <a:r>
              <a:t>https://arxiv.org/abs/2506.23843</a:t>
            </a:r>
          </a:p>
          <a:p xmlns:a="http://schemas.openxmlformats.org/drawingml/2006/main">
            <a:r>
              <a:t/>
            </a:r>
          </a:p>
          <a:p xmlns:a="http://schemas.openxmlformats.org/drawingml/2006/main">
            <a:r>
              <a:t>Devin Pleuler: Fixed to Fluid (2024)</a:t>
            </a:r>
          </a:p>
          <a:p xmlns:a="http://schemas.openxmlformats.org/drawingml/2006/main">
            <a:r>
              <a:t>https://github.com/devinpleuler/research/blob/master/frame-by-frame-position.md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tactical context should an event, shape or workload be compared within?</a:t>
            </a:r>
          </a:p>
          <a:p xmlns:a="http://schemas.openxmlformats.org/drawingml/2006/main">
            <a:r>
              <a:t>Ideas: Possession and transition phases; Build-up, progression and advanced play; Defensive blocks and pressing phases; Set pieces and interruptions; Phase duration and boundary detection; Context-conditioned physical/tactical summaries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Rules apply in priority order. Unknown when ball x is missing or possession team is unknown. Transition candidate when possession age &lt;8 s and trailing 1 s mean forward ball speed &gt;3 m/s (minimum five valid 10 Hz intervals). Otherwise use attack-normalized ball x: deep circulation below -17.5 m, middle progression from -17.5 to below 17.5 m, advanced possession at or above 17.5 m. Offline smoothing accepts raw runs lasting at least 1 s in each known-data block within an uninterrupted possession. Shorter runs inherit the last accepted label; leading short runs inherit the first accepted label, and a block with no accepted run remains unknown. Unknown measurements, possession/team changes, periods and tracking/frame gaps prevent smoothing across boundaries. Changes are backdated to their raw onset after future evidence confirms duration. The video shows our raw and smoothed predictions only, with the rules on screen. Thresholds are teaching assumptions; smoothing can hide genuine short transitions. No accuracy claim.</a:t>
            </a:r>
          </a:p>
          <a:p xmlns:a="http://schemas.openxmlformats.org/drawingml/2006/main">
            <a:r>
              <a:t/>
            </a:r>
          </a:p>
          <a:p xmlns:a="http://schemas.openxmlformats.org/drawingml/2006/main">
            <a:r>
              <a:t>Notebook: 05_match_segmentation.ipynb</a:t>
            </a:r>
          </a:p>
          <a:p xmlns:a="http://schemas.openxmlformats.org/drawingml/2006/main">
            <a:r>
              <a:t>https://github.com/zcochran27/tracking-data-applied-workshop/blob/main/notebooks/methods/05_match_segmentation.ipynb</a:t>
            </a:r>
          </a:p>
          <a:p xmlns:a="http://schemas.openxmlformats.org/drawingml/2006/main">
            <a:r>
              <a:t>Embedded video (click to play): assets/videos/phase_predictions.mp4</a:t>
            </a:r>
          </a:p>
          <a:p xmlns:a="http://schemas.openxmlformats.org/drawingml/2006/main">
            <a:r>
              <a:t>Rules apply in priority order. Unknown when ball x is missing or possession team is unknown. Transition candidate when possession age &lt;8 s and trailing 1 s mean forward ball speed &gt;3 m/s (minimum five valid 10 Hz intervals). Otherwise use attack-normalized ball x: deep circulation below -17.5 m, middle progression from -17.5 to below 17.5 m, advanced possession at or above 17.5 m. Offline smoothing accepts raw runs lasting at least 1 s in each known-data block within an uninterrupted possession. Shorter runs inherit the last accepted label; leading short runs inherit the first accepted label, and a block with no accepted run remains unknown. Unknown measurements, possession/team changes, periods and tracking/frame gaps prevent smoothing across boundaries. Changes are backdated to their raw onset after future evidence confirms duration. The video shows our raw and smoothed predictions only, with the rules on screen. Thresholds are teaching assumptions; smoothing can hide genuine short transitions. No accuracy claim.</a:t>
            </a:r>
          </a:p>
          <a:p xmlns:a="http://schemas.openxmlformats.org/drawingml/2006/main">
            <a:r>
              <a:t/>
            </a:r>
          </a:p>
          <a:p xmlns:a="http://schemas.openxmlformats.org/drawingml/2006/main">
            <a:r>
              <a:t>Sources:</a:t>
            </a:r>
          </a:p>
          <a:p xmlns:a="http://schemas.openxmlformats.org/drawingml/2006/main">
            <a:r>
              <a:t>Augmented possession and phases framework (2025)</a:t>
            </a:r>
          </a:p>
          <a:p xmlns:a="http://schemas.openxmlformats.org/drawingml/2006/main">
            <a:r>
              <a:t>https://doi.org/10.1177/22150218241290988</a:t>
            </a:r>
          </a:p>
          <a:p xmlns:a="http://schemas.openxmlformats.org/drawingml/2006/main">
            <a:r>
              <a:t/>
            </a:r>
          </a:p>
          <a:p xmlns:a="http://schemas.openxmlformats.org/drawingml/2006/main">
            <a:r>
              <a:t>SkillCorner open data and schema</a:t>
            </a:r>
          </a:p>
          <a:p xmlns:a="http://schemas.openxmlformats.org/drawingml/2006/main">
            <a:r>
              <a:t>https://github.com/SkillCorner/opendata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much did players move, and what physical capacities did they demonstrate?</a:t>
            </a:r>
          </a:p>
          <a:p xmlns:a="http://schemas.openxmlformats.org/drawingml/2006/main">
            <a:r>
              <a:t>Ideas: Distance and valid tracking exposure; High-speed and sprint distance; Sprint efforts and repeated intensity; Acceleration and braking; Time to high-speed running / sprint; PSV-99 and Peak Velocity</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smoothing and contiguous-segment derivative rules as notebook 06. Cumulative distance uses mean endpoint speeds and observed elapsed time. Coverage is valid integration seconds divided by bounded sample duration. Extrapolated positions may still contribute; no full-match extrapolation.</a:t>
            </a:r>
          </a:p>
          <a:p xmlns:a="http://schemas.openxmlformats.org/drawingml/2006/main">
            <a:r>
              <a:t/>
            </a:r>
          </a:p>
          <a:p xmlns:a="http://schemas.openxmlformats.org/drawingml/2006/main">
            <a:r>
              <a:t>Notebook: 06_physical_metrics.ipynb</a:t>
            </a:r>
          </a:p>
          <a:p xmlns:a="http://schemas.openxmlformats.org/drawingml/2006/main">
            <a:r>
              <a:t>https://github.com/zcochran27/tracking-data-applied-workshop/blob/main/notebooks/methods/06_physical_metrics.ipynb</a:t>
            </a:r>
          </a:p>
          <a:p xmlns:a="http://schemas.openxmlformats.org/drawingml/2006/main">
            <a:r>
              <a:t/>
            </a:r>
          </a:p>
          <a:p xmlns:a="http://schemas.openxmlformats.org/drawingml/2006/main">
            <a:r>
              <a:t>Sources:</a:t>
            </a:r>
          </a:p>
          <a:p xmlns:a="http://schemas.openxmlformats.org/drawingml/2006/main">
            <a:r>
              <a:t>DataBallPy covered distance</a:t>
            </a:r>
          </a:p>
          <a:p xmlns:a="http://schemas.openxmlformats.org/drawingml/2006/main">
            <a:r>
              <a:t>https://databallpy.readthedocs.io/en/main/features/covered_distance_page.html</a:t>
            </a:r>
          </a:p>
          <a:p xmlns:a="http://schemas.openxmlformats.org/drawingml/2006/main">
            <a:r>
              <a:t/>
            </a:r>
          </a:p>
          <a:p xmlns:a="http://schemas.openxmlformats.org/drawingml/2006/main">
            <a:r>
              <a:t>DataBallPy preprocessing</a:t>
            </a:r>
          </a:p>
          <a:p xmlns:a="http://schemas.openxmlformats.org/drawingml/2006/main">
            <a:r>
              <a:t>https://databallpy.readthedocs.io/en/main/getting_started/preprocessing_options.html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bars: HSR [20,25) and sprint [25,infinity) km/h. Small speed trace illustrates threshold-qualified intervals. Exact equality handling is a teaching convention. Compare exposure/coverage before interpreting player rankings; these are not full-match or official production totals.</a:t>
            </a:r>
          </a:p>
          <a:p xmlns:a="http://schemas.openxmlformats.org/drawingml/2006/main">
            <a:r>
              <a:t/>
            </a:r>
          </a:p>
          <a:p xmlns:a="http://schemas.openxmlformats.org/drawingml/2006/main">
            <a:r>
              <a:t>Notebook: 06_physical_metrics.ipynb</a:t>
            </a:r>
          </a:p>
          <a:p xmlns:a="http://schemas.openxmlformats.org/drawingml/2006/main">
            <a:r>
              <a:t>https://github.com/zcochran27/tracking-data-applied-workshop/blob/main/notebooks/methods/06_physical_metrics.ipynb</a:t>
            </a:r>
          </a:p>
          <a:p xmlns:a="http://schemas.openxmlformats.org/drawingml/2006/main">
            <a:r>
              <a:t/>
            </a:r>
          </a:p>
          <a:p xmlns:a="http://schemas.openxmlformats.org/drawingml/2006/main">
            <a:r>
              <a:t>Sources:</a:t>
            </a:r>
          </a:p>
          <a:p xmlns:a="http://schemas.openxmlformats.org/drawingml/2006/main">
            <a:r>
              <a:t>SkillCorner physical thresholds and time-to metrics</a:t>
            </a:r>
          </a:p>
          <a:p xmlns:a="http://schemas.openxmlformats.org/drawingml/2006/main">
            <a:r>
              <a:t>https://skillcorner.com/us/articles/scouted-brazilian-centre-backs</a:t>
            </a:r>
          </a:p>
          <a:p xmlns:a="http://schemas.openxmlformats.org/drawingml/2006/main">
            <a:r>
              <a:t/>
            </a:r>
          </a:p>
          <a:p xmlns:a="http://schemas.openxmlformats.org/drawingml/2006/main">
            <a:r>
              <a:t>DataBallPy covered distance</a:t>
            </a:r>
          </a:p>
          <a:p xmlns:a="http://schemas.openxmlformats.org/drawingml/2006/main">
            <a:r>
              <a:t>https://databallpy.readthedocs.io/en/main/features/covered_distance_page.html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Uses ≥25 km/h for at least one second, with no merging across gaps. Efforts are numbered on the trace; count comes from notebook 06. These are not exact SkillCorner production effort counts.</a:t>
            </a:r>
          </a:p>
          <a:p xmlns:a="http://schemas.openxmlformats.org/drawingml/2006/main">
            <a:r>
              <a:t/>
            </a:r>
          </a:p>
          <a:p xmlns:a="http://schemas.openxmlformats.org/drawingml/2006/main">
            <a:r>
              <a:t>Notebook: 06_physical_metrics.ipynb</a:t>
            </a:r>
          </a:p>
          <a:p xmlns:a="http://schemas.openxmlformats.org/drawingml/2006/main">
            <a:r>
              <a:t>https://github.com/zcochran27/tracking-data-applied-workshop/blob/main/notebooks/methods/06_physical_metrics.ipynb</a:t>
            </a:r>
          </a:p>
          <a:p xmlns:a="http://schemas.openxmlformats.org/drawingml/2006/main">
            <a:r>
              <a:t/>
            </a:r>
          </a:p>
          <a:p xmlns:a="http://schemas.openxmlformats.org/drawingml/2006/main">
            <a:r>
              <a:t>Sources:</a:t>
            </a:r>
          </a:p>
          <a:p xmlns:a="http://schemas.openxmlformats.org/drawingml/2006/main">
            <a:r>
              <a:t>SkillCorner physical thresholds and time-to metrics</a:t>
            </a:r>
          </a:p>
          <a:p xmlns:a="http://schemas.openxmlformats.org/drawingml/2006/main">
            <a:r>
              <a:t>https://skillcorner.com/us/articles/scouted-brazilian-centre-backs</a:t>
            </a:r>
          </a:p>
          <a:p xmlns:a="http://schemas.openxmlformats.org/drawingml/2006/main">
            <a:r>
              <a:t/>
            </a:r>
          </a:p>
          <a:p xmlns:a="http://schemas.openxmlformats.org/drawingml/2006/main">
            <a:r>
              <a:t>DataBallPy preprocessing</a:t>
            </a:r>
          </a:p>
          <a:p xmlns:a="http://schemas.openxmlformats.org/drawingml/2006/main">
            <a:r>
              <a:t>https://databallpy.readthedocs.io/en/main/getting_started/preprocessing_options.html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Large signed acceleration trace; small synchronized speed trace. This is not acceleration-vector magnitude, and highlighted positive/negative samples are not automatically production-qualified explosive efforts. Derivatives amplify noise; smoothing changes peaks.</a:t>
            </a:r>
          </a:p>
          <a:p xmlns:a="http://schemas.openxmlformats.org/drawingml/2006/main">
            <a:r>
              <a:t/>
            </a:r>
          </a:p>
          <a:p xmlns:a="http://schemas.openxmlformats.org/drawingml/2006/main">
            <a:r>
              <a:t>Notebook: 06_physical_metrics.ipynb</a:t>
            </a:r>
          </a:p>
          <a:p xmlns:a="http://schemas.openxmlformats.org/drawingml/2006/main">
            <a:r>
              <a:t>https://github.com/zcochran27/tracking-data-applied-workshop/blob/main/notebooks/methods/06_physical_metrics.ipynb</a:t>
            </a:r>
          </a:p>
          <a:p xmlns:a="http://schemas.openxmlformats.org/drawingml/2006/main">
            <a:r>
              <a:t/>
            </a:r>
          </a:p>
          <a:p xmlns:a="http://schemas.openxmlformats.org/drawingml/2006/main">
            <a:r>
              <a:t>Sources:</a:t>
            </a:r>
          </a:p>
          <a:p xmlns:a="http://schemas.openxmlformats.org/drawingml/2006/main">
            <a:r>
              <a:t>SkillCorner explosive accelerations</a:t>
            </a:r>
          </a:p>
          <a:p xmlns:a="http://schemas.openxmlformats.org/drawingml/2006/main">
            <a:r>
              <a:t>https://skillcorner.com/articles/new-feature-explosive-accelerations</a:t>
            </a:r>
          </a:p>
          <a:p xmlns:a="http://schemas.openxmlformats.org/drawingml/2006/main">
            <a:r>
              <a:t/>
            </a:r>
          </a:p>
          <a:p xmlns:a="http://schemas.openxmlformats.org/drawingml/2006/main">
            <a:r>
              <a:t>DataBallPy preprocessing</a:t>
            </a:r>
          </a:p>
          <a:p xmlns:a="http://schemas.openxmlformats.org/drawingml/2006/main">
            <a:r>
              <a:t>https://databallpy.readthedocs.io/en/main/getting_started/preprocessing_options.html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slide for 9→20 km/h. Shows fastest qualifying monotone crossing found by the notebook’s sample rule. Official SkillCorner Time to HSR uses additional explosive-acceleration qualification; this slide does not reproduce that production metric.</a:t>
            </a:r>
          </a:p>
          <a:p xmlns:a="http://schemas.openxmlformats.org/drawingml/2006/main">
            <a:r>
              <a:t/>
            </a:r>
          </a:p>
          <a:p xmlns:a="http://schemas.openxmlformats.org/drawingml/2006/main">
            <a:r>
              <a:t>Notebook: 06_physical_metrics.ipynb</a:t>
            </a:r>
          </a:p>
          <a:p xmlns:a="http://schemas.openxmlformats.org/drawingml/2006/main">
            <a:r>
              <a:t>https://github.com/zcochran27/tracking-data-applied-workshop/blob/main/notebooks/methods/06_physical_metrics.ipynb</a:t>
            </a:r>
          </a:p>
          <a:p xmlns:a="http://schemas.openxmlformats.org/drawingml/2006/main">
            <a:r>
              <a:t/>
            </a:r>
          </a:p>
          <a:p xmlns:a="http://schemas.openxmlformats.org/drawingml/2006/main">
            <a:r>
              <a:t>Sources:</a:t>
            </a:r>
          </a:p>
          <a:p xmlns:a="http://schemas.openxmlformats.org/drawingml/2006/main">
            <a:r>
              <a:t>SkillCorner physical thresholds and time-to metrics</a:t>
            </a:r>
          </a:p>
          <a:p xmlns:a="http://schemas.openxmlformats.org/drawingml/2006/main">
            <a:r>
              <a:t>https://skillcorner.com/us/articles/scouted-brazilian-centre-backs</a:t>
            </a:r>
          </a:p>
          <a:p xmlns:a="http://schemas.openxmlformats.org/drawingml/2006/main">
            <a:r>
              <a:t/>
            </a:r>
          </a:p>
          <a:p xmlns:a="http://schemas.openxmlformats.org/drawingml/2006/main">
            <a:r>
              <a:t>SkillCorner explosive accelerations</a:t>
            </a:r>
          </a:p>
          <a:p xmlns:a="http://schemas.openxmlformats.org/drawingml/2006/main">
            <a:r>
              <a:t>https://skillcorner.com/articles/new-feature-explosive-accelerations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slide for 9→25 km/h with its own actual trajectory. No official Time to Sprint or Top-3 metric is reconstructed; opportunity, qualification and filtering matter.</a:t>
            </a:r>
          </a:p>
          <a:p xmlns:a="http://schemas.openxmlformats.org/drawingml/2006/main">
            <a:r>
              <a:t/>
            </a:r>
          </a:p>
          <a:p xmlns:a="http://schemas.openxmlformats.org/drawingml/2006/main">
            <a:r>
              <a:t>Notebook: 06_physical_metrics.ipynb</a:t>
            </a:r>
          </a:p>
          <a:p xmlns:a="http://schemas.openxmlformats.org/drawingml/2006/main">
            <a:r>
              <a:t>https://github.com/zcochran27/tracking-data-applied-workshop/blob/main/notebooks/methods/06_physical_metrics.ipynb</a:t>
            </a:r>
          </a:p>
          <a:p xmlns:a="http://schemas.openxmlformats.org/drawingml/2006/main">
            <a:r>
              <a:t/>
            </a:r>
          </a:p>
          <a:p xmlns:a="http://schemas.openxmlformats.org/drawingml/2006/main">
            <a:r>
              <a:t>Sources:</a:t>
            </a:r>
          </a:p>
          <a:p xmlns:a="http://schemas.openxmlformats.org/drawingml/2006/main">
            <a:r>
              <a:t>SkillCorner physical thresholds and time-to metrics</a:t>
            </a:r>
          </a:p>
          <a:p xmlns:a="http://schemas.openxmlformats.org/drawingml/2006/main">
            <a:r>
              <a:t>https://skillcorner.com/us/articles/scouted-brazilian-centre-backs</a:t>
            </a:r>
          </a:p>
          <a:p xmlns:a="http://schemas.openxmlformats.org/drawingml/2006/main">
            <a:r>
              <a:t/>
            </a:r>
          </a:p>
          <a:p xmlns:a="http://schemas.openxmlformats.org/drawingml/2006/main">
            <a:r>
              <a:t>SkillCorner explosive accelerations</a:t>
            </a:r>
          </a:p>
          <a:p xmlns:a="http://schemas.openxmlformats.org/drawingml/2006/main">
            <a:r>
              <a:t>https://skillcorner.com/articles/new-feature-explosive-accelerations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chart from SkillCorner, Peak Velocity article, 11 June 2026. PSV-99 is described as the 99th percentile of physical activities over 15 km/h, not all frame speeds. This figure is supplied research/product communication, not our sample calculation. Retain original legend and axes.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PSV-99 and Peak Velocity</a:t>
            </a:r>
          </a:p>
          <a:p xmlns:a="http://schemas.openxmlformats.org/drawingml/2006/main">
            <a:r>
              <a:t>https://skillcorner.com/articles/skillcorner-releases-new-peak-velocity-metric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SkillCorner figure. Article reports correlation 0.96 / R² 0.92 when averaging each player’s top three metric values in the displayed validation. Do not generalize this validation to our smoothed sample maxima or to every competition.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PSV-99 and Peak Velocity</a:t>
            </a:r>
          </a:p>
          <a:p xmlns:a="http://schemas.openxmlformats.org/drawingml/2006/main">
            <a:r>
              <a:t>https://skillcorner.com/articles/skillcorner-releases-new-peak-velocity-metric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locations, options and game states create or prevent scoring opportunities?</a:t>
            </a:r>
          </a:p>
          <a:p xmlns:a="http://schemas.openxmlformats.org/drawingml/2006/main">
            <a:r>
              <a:t>Ideas: Shot quality and location value; Control, interception and completion; Accessible and dangerous space; Off-ball options and run threat; Graphs and learned relational models; Possession value and tactical applications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out-of-fold predictions from notebook 07; no model used the example match during that fold’s training. Context includes goalkeeper distance/offset and defender geometry. Selected for model disagreement, not as evidence of aggregate improvement. Freeze-frame coverage is not continuous full tracking.</a:t>
            </a:r>
          </a:p>
          <a:p xmlns:a="http://schemas.openxmlformats.org/drawingml/2006/main">
            <a:r>
              <a:t/>
            </a:r>
          </a:p>
          <a:p xmlns:a="http://schemas.openxmlformats.org/drawingml/2006/main">
            <a:r>
              <a:t>Notebook: 07_expected_goals.ipynb</a:t>
            </a:r>
          </a:p>
          <a:p xmlns:a="http://schemas.openxmlformats.org/drawingml/2006/main">
            <a:r>
              <a:t>https://github.com/zcochran27/tracking-data-applied-workshop/blob/main/notebooks/methods/07_expected_goals.ipynb</a:t>
            </a:r>
          </a:p>
          <a:p xmlns:a="http://schemas.openxmlformats.org/drawingml/2006/main">
            <a:r>
              <a:t/>
            </a:r>
          </a:p>
          <a:p xmlns:a="http://schemas.openxmlformats.org/drawingml/2006/main">
            <a:r>
              <a:t>Sources:</a:t>
            </a:r>
          </a:p>
          <a:p xmlns:a="http://schemas.openxmlformats.org/drawingml/2006/main">
            <a:r>
              <a:t>StatsBomb: Upgrading Expected Goals</a:t>
            </a:r>
          </a:p>
          <a:p xmlns:a="http://schemas.openxmlformats.org/drawingml/2006/main">
            <a:r>
              <a:t>https://blogarchive.statsbomb.com/articles/soccer/upgrading-expected-goals/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Location AUC 0.743879, 95% match-bootstrap interval [0.713895,0.774165]; contextual 0.779870 [0.749411,0.809066]. Paired difference 0.035990 [0.021778,0.051104]. 1,000 match resamples of existing out-of-fold predictions, without refitting. Training-only scaling. ROC is discrimination, not calibration.</a:t>
            </a:r>
          </a:p>
          <a:p xmlns:a="http://schemas.openxmlformats.org/drawingml/2006/main">
            <a:r>
              <a:t/>
            </a:r>
          </a:p>
          <a:p xmlns:a="http://schemas.openxmlformats.org/drawingml/2006/main">
            <a:r>
              <a:t>Notebook: 07_expected_goals.ipynb</a:t>
            </a:r>
          </a:p>
          <a:p xmlns:a="http://schemas.openxmlformats.org/drawingml/2006/main">
            <a:r>
              <a:t>https://github.com/zcochran27/tracking-data-applied-workshop/blob/main/notebooks/methods/07_expected_goals.ipynb</a:t>
            </a:r>
          </a:p>
          <a:p xmlns:a="http://schemas.openxmlformats.org/drawingml/2006/main">
            <a:r>
              <a:t/>
            </a:r>
          </a:p>
          <a:p xmlns:a="http://schemas.openxmlformats.org/drawingml/2006/main">
            <a:r>
              <a:t>Sources:</a:t>
            </a:r>
          </a:p>
          <a:p xmlns:a="http://schemas.openxmlformats.org/drawingml/2006/main">
            <a:r>
              <a:t>StatsBomb: Upgrading Expected Goals</a:t>
            </a:r>
          </a:p>
          <a:p xmlns:a="http://schemas.openxmlformats.org/drawingml/2006/main">
            <a:r>
              <a:t>https://blogarchive.statsbomb.com/articles/soccer/upgrading-expected-goals/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map: licensed fitted DataBallPy open-play grid; SkillCorner successful player-possession passes use release coordinates x_end/y_end and supplied reception coordinates. Attack-normalized 105 m x scaled to the model 106 m convention. Two highest positive and one highest negative gains are selected examples. Small inset: synthetic two-state fitting mechanics from notebook 08; not training the full grid on this sample. Source provenance JSON stores event IDs.</a:t>
            </a:r>
          </a:p>
          <a:p xmlns:a="http://schemas.openxmlformats.org/drawingml/2006/main">
            <a:r>
              <a:t/>
            </a:r>
          </a:p>
          <a:p xmlns:a="http://schemas.openxmlformats.org/drawingml/2006/main">
            <a:r>
              <a:t>Notebook: 08_expected_threat.ipynb</a:t>
            </a:r>
          </a:p>
          <a:p xmlns:a="http://schemas.openxmlformats.org/drawingml/2006/main">
            <a:r>
              <a:t>https://github.com/zcochran27/tracking-data-applied-workshop/blob/main/notebooks/methods/08_expected_threat.ipynb</a:t>
            </a:r>
          </a:p>
          <a:p xmlns:a="http://schemas.openxmlformats.org/drawingml/2006/main">
            <a:r>
              <a:t/>
            </a:r>
          </a:p>
          <a:p xmlns:a="http://schemas.openxmlformats.org/drawingml/2006/main">
            <a:r>
              <a:t>Sources:</a:t>
            </a:r>
          </a:p>
          <a:p xmlns:a="http://schemas.openxmlformats.org/drawingml/2006/main">
            <a:r>
              <a:t>Karun Singh: Expected Threat</a:t>
            </a:r>
          </a:p>
          <a:p xmlns:a="http://schemas.openxmlformats.org/drawingml/2006/main">
            <a:r>
              <a:t>https://karun.in/blog/expected-threat.html</a:t>
            </a:r>
          </a:p>
          <a:p xmlns:a="http://schemas.openxmlformats.org/drawingml/2006/main">
            <a:r>
              <a:t/>
            </a:r>
          </a:p>
          <a:p xmlns:a="http://schemas.openxmlformats.org/drawingml/2006/main">
            <a:r>
              <a:t>DataBallPy fitted xT methodology</a:t>
            </a:r>
          </a:p>
          <a:p xmlns:a="http://schemas.openxmlformats.org/drawingml/2006/main">
            <a:r>
              <a:t>https://databallpy.readthedocs.io/en/main/features/xt_models.html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 approximation to Voronoi on a real frame. Strength: simple and interpretable. Limitation: ignores player movement, ball travel and uncertainty.</a:t>
            </a:r>
          </a:p>
          <a:p xmlns:a="http://schemas.openxmlformats.org/drawingml/2006/main">
            <a:r>
              <a:t/>
            </a:r>
          </a:p>
          <a:p xmlns:a="http://schemas.openxmlformats.org/drawingml/2006/main">
            <a:r>
              <a:t>Notebook: 09_voronoi_control.ipynb</a:t>
            </a:r>
          </a:p>
          <a:p xmlns:a="http://schemas.openxmlformats.org/drawingml/2006/main">
            <a:r>
              <a:t>https://github.com/zcochran27/tracking-data-applied-workshop/blob/main/notebooks/methods/09_voronoi_control.ipynb</a:t>
            </a:r>
          </a:p>
          <a:p xmlns:a="http://schemas.openxmlformats.org/drawingml/2006/main">
            <a:r>
              <a:t/>
            </a:r>
          </a:p>
          <a:p xmlns:a="http://schemas.openxmlformats.org/drawingml/2006/main">
            <a:r>
              <a:t>Sources:</a:t>
            </a:r>
          </a:p>
          <a:p xmlns:a="http://schemas.openxmlformats.org/drawingml/2006/main">
            <a:r>
              <a:t>Space and Control in Soccer (2021)</a:t>
            </a:r>
          </a:p>
          <a:p xmlns:a="http://schemas.openxmlformats.org/drawingml/2006/main">
            <a:r>
              <a:t>https://www.frontiersin.org/journals/sports-and-active-living/articles/10.3389/fspor.2021.676179/full</a:t>
            </a:r>
          </a:p>
          <a:p xmlns:a="http://schemas.openxmlformats.org/drawingml/2006/main">
            <a:r>
              <a:t/>
            </a:r>
          </a:p>
          <a:p xmlns:a="http://schemas.openxmlformats.org/drawingml/2006/main">
            <a:r>
              <a:t>Wide Open Spaces, Fernández &amp; Bornn (2018)</a:t>
            </a:r>
          </a:p>
          <a:p xmlns:a="http://schemas.openxmlformats.org/drawingml/2006/main">
            <a:r>
              <a:t>https://static.capabiliaserver.com/frontend/clients/barca/wp_prod/wp-content/uploads/2018/05/Wide-Open-Spaces.pdf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Directional Gaussian teaching parameterization, not exact Fernández/Bornn covariance. Bounded team comparison is not calibrated possession probability. Velocity and covariance affect the surface; contribution is not causal importance.</a:t>
            </a:r>
          </a:p>
          <a:p xmlns:a="http://schemas.openxmlformats.org/drawingml/2006/main">
            <a:r>
              <a:t/>
            </a:r>
          </a:p>
          <a:p xmlns:a="http://schemas.openxmlformats.org/drawingml/2006/main">
            <a:r>
              <a:t>Notebook: 10_gaussian_control.ipynb</a:t>
            </a:r>
          </a:p>
          <a:p xmlns:a="http://schemas.openxmlformats.org/drawingml/2006/main">
            <a:r>
              <a:t>https://github.com/zcochran27/tracking-data-applied-workshop/blob/main/notebooks/methods/10_gaussian_control.ipynb</a:t>
            </a:r>
          </a:p>
          <a:p xmlns:a="http://schemas.openxmlformats.org/drawingml/2006/main">
            <a:r>
              <a:t/>
            </a:r>
          </a:p>
          <a:p xmlns:a="http://schemas.openxmlformats.org/drawingml/2006/main">
            <a:r>
              <a:t>Sources:</a:t>
            </a:r>
          </a:p>
          <a:p xmlns:a="http://schemas.openxmlformats.org/drawingml/2006/main">
            <a:r>
              <a:t>Wide Open Spaces, Fernández &amp; Bornn (2018)</a:t>
            </a:r>
          </a:p>
          <a:p xmlns:a="http://schemas.openxmlformats.org/drawingml/2006/main">
            <a:r>
              <a:t>https://static.capabiliaserver.com/frontend/clients/barca/wp_prod/wp-content/uploads/2018/05/Wide-Open-Spaces.pdf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s projection/reaction and 5 m/s travel baseline. No full ball-flight, acceleration optimization or competing interception-rate integration. Not the full Spearman model.</a:t>
            </a:r>
          </a:p>
          <a:p xmlns:a="http://schemas.openxmlformats.org/drawingml/2006/main">
            <a:r>
              <a:t/>
            </a:r>
          </a:p>
          <a:p xmlns:a="http://schemas.openxmlformats.org/drawingml/2006/main">
            <a:r>
              <a:t>Notebook: 11_arrival_time_control.ipynb</a:t>
            </a:r>
          </a:p>
          <a:p xmlns:a="http://schemas.openxmlformats.org/drawingml/2006/main">
            <a:r>
              <a:t>https://github.com/zcochran27/tracking-data-applied-workshop/blob/main/notebooks/methods/11_arrival_time_control.ipynb</a:t>
            </a:r>
          </a:p>
          <a:p xmlns:a="http://schemas.openxmlformats.org/drawingml/2006/main">
            <a:r>
              <a:t/>
            </a:r>
          </a:p>
          <a:p xmlns:a="http://schemas.openxmlformats.org/drawingml/2006/main">
            <a:r>
              <a:t>Sources:</a:t>
            </a:r>
          </a:p>
          <a:p xmlns:a="http://schemas.openxmlformats.org/drawingml/2006/main">
            <a:r>
              <a:t>Beyond Expected Goals, Spearman (2018)</a:t>
            </a:r>
          </a:p>
          <a:p xmlns:a="http://schemas.openxmlformats.org/drawingml/2006/main">
            <a:r>
              <a:t>https://static.hudl.com/craft/downloads/SSAC2018_Beyond_Expected_Goals.pdf?mtime=20180327111214</a:t>
            </a:r>
          </a:p>
          <a:p xmlns:a="http://schemas.openxmlformats.org/drawingml/2006/main">
            <a:r>
              <a:t/>
            </a:r>
          </a:p>
          <a:p xmlns:a="http://schemas.openxmlformats.org/drawingml/2006/main">
            <a:r>
              <a:t>Space and Control in Soccer (2021)</a:t>
            </a:r>
          </a:p>
          <a:p xmlns:a="http://schemas.openxmlformats.org/drawingml/2006/main">
            <a:r>
              <a:t>https://www.frontiersin.org/journals/sports-and-active-living/articles/10.3389/fspor.2021.676179/full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synchronized comparison video. Scores are teaching outputs, not calibrated possession probabilities; parameter choices are stated in assets/videos/README.md. Sampled at 5 Hz with real-time playback.</a:t>
            </a:r>
          </a:p>
          <a:p xmlns:a="http://schemas.openxmlformats.org/drawingml/2006/main">
            <a:r>
              <a:t/>
            </a:r>
          </a:p>
          <a:p xmlns:a="http://schemas.openxmlformats.org/drawingml/2006/main">
            <a:r>
              <a:t>Notebook: 11_arrival_time_control.ipynb</a:t>
            </a:r>
          </a:p>
          <a:p xmlns:a="http://schemas.openxmlformats.org/drawingml/2006/main">
            <a:r>
              <a:t>https://github.com/zcochran27/tracking-data-applied-workshop/blob/main/notebooks/methods/11_arrival_time_control.ipynb</a:t>
            </a:r>
          </a:p>
          <a:p xmlns:a="http://schemas.openxmlformats.org/drawingml/2006/main">
            <a:r>
              <a:t>Embedded video (click to play): assets/videos/control_comparison.mp4</a:t>
            </a:r>
          </a:p>
          <a:p xmlns:a="http://schemas.openxmlformats.org/drawingml/2006/main">
            <a:r>
              <a:t>Original synchronized comparison video. Scores are teaching outputs, not calibrated possession probabilities; parameter choices are stated in assets/videos/README.md. Sampled at 5 Hz with real-time playback.</a:t>
            </a:r>
          </a:p>
          <a:p xmlns:a="http://schemas.openxmlformats.org/drawingml/2006/main">
            <a:r>
              <a:t/>
            </a:r>
          </a:p>
          <a:p xmlns:a="http://schemas.openxmlformats.org/drawingml/2006/main">
            <a:r>
              <a:t>Sources:</a:t>
            </a:r>
          </a:p>
          <a:p xmlns:a="http://schemas.openxmlformats.org/drawingml/2006/main">
            <a:r>
              <a:t>Wide Open Spaces, Fernández &amp; Bornn (2018)</a:t>
            </a:r>
          </a:p>
          <a:p xmlns:a="http://schemas.openxmlformats.org/drawingml/2006/main">
            <a:r>
              <a:t>https://static.capabiliaserver.com/frontend/clients/barca/wp_prod/wp-content/uploads/2018/05/Wide-Open-Spaces.pdf</a:t>
            </a:r>
          </a:p>
          <a:p xmlns:a="http://schemas.openxmlformats.org/drawingml/2006/main">
            <a:r>
              <a:t/>
            </a:r>
          </a:p>
          <a:p xmlns:a="http://schemas.openxmlformats.org/drawingml/2006/main">
            <a:r>
              <a:t>Beyond Expected Goals, Spearman (2018)</a:t>
            </a:r>
          </a:p>
          <a:p xmlns:a="http://schemas.openxmlformats.org/drawingml/2006/main">
            <a:r>
              <a:t>https://static.hudl.com/craft/downloads/SSAC2018_Beyond_Expected_Goals.pdf?mtime=20180327111214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interception_components as notebook 12, not the accessible-space main map previously used here. Real frame with known nearby carrier and 22 players; ten teammate options excluding carrier. Constant ball speed 15 m/s, player arrival 0.7 s + distance/5 m/s, hazard 2*sigmoid((ball_time-arrival)/0.15), 40 path points, trapezoidal integration and exp(-cumulative hazard). Selected pass has 15–80% survival and at least two potential interceptors under the assumed model. Dashed defender-to-path links and table compare ball and defender ETAs at three points. Per-defender local P over 0.2 s = 1-exp(-hazard*0.2), conditional on a free ball and constant local hazard; these are not whole-pass completion probabilities and cannot be added. Percentages on teammate rays are endpoint ball-survival estimates. Receivers do not move or need to control the ball; offside, pass execution error and height are not modeled. No calibration or accuracy claim. The model is an independent teaching construction, not an exact Spearman implementation.</a:t>
            </a:r>
          </a:p>
          <a:p xmlns:a="http://schemas.openxmlformats.org/drawingml/2006/main">
            <a:r>
              <a:t/>
            </a:r>
          </a:p>
          <a:p xmlns:a="http://schemas.openxmlformats.org/drawingml/2006/main">
            <a:r>
              <a:t>Notebook: 12_pass_completion.ipynb</a:t>
            </a:r>
          </a:p>
          <a:p xmlns:a="http://schemas.openxmlformats.org/drawingml/2006/main">
            <a:r>
              <a:t>https://github.com/zcochran27/tracking-data-applied-workshop/blob/main/notebooks/methods/12_pass_completion.ipynb</a:t>
            </a:r>
          </a:p>
          <a:p xmlns:a="http://schemas.openxmlformats.org/drawingml/2006/main">
            <a:r>
              <a:t>Embedded video (click to play): assets/videos/pass_survival_options.mp4</a:t>
            </a:r>
          </a:p>
          <a:p xmlns:a="http://schemas.openxmlformats.org/drawingml/2006/main">
            <a:r>
              <a:t>Same interception_components as notebook 12, not the accessible-space main map previously used here. Real frame with known nearby carrier and 22 players; ten teammate options excluding carrier. Constant ball speed 15 m/s, player arrival 0.7 s + distance/5 m/s, hazard 2*sigmoid((ball_time-arrival)/0.15), 40 path points, trapezoidal integration and exp(-cumulative hazard). Selected pass has 15–80% survival and at least two potential interceptors under the assumed model. Dashed defender-to-path links and table compare ball and defender ETAs at three points. Per-defender local P over 0.2 s = 1-exp(-hazard*0.2), conditional on a free ball and constant local hazard; these are not whole-pass completion probabilities and cannot be added. Percentages on teammate rays are endpoint ball-survival estimates. Receivers do not move or need to control the ball; offside, pass execution error and height are not modeled. No calibration or accuracy claim. The model is an independent teaching construction, not an exact Spearman implementation.</a:t>
            </a:r>
          </a:p>
          <a:p xmlns:a="http://schemas.openxmlformats.org/drawingml/2006/main">
            <a:r>
              <a:t/>
            </a:r>
          </a:p>
          <a:p xmlns:a="http://schemas.openxmlformats.org/drawingml/2006/main">
            <a:r>
              <a:t>Sources:</a:t>
            </a:r>
          </a:p>
          <a:p xmlns:a="http://schemas.openxmlformats.org/drawingml/2006/main">
            <a:r>
              <a:t>Beyond Expected Goals, Spearman (2018)</a:t>
            </a:r>
          </a:p>
          <a:p xmlns:a="http://schemas.openxmlformats.org/drawingml/2006/main">
            <a:r>
              <a:t>https://static.hudl.com/craft/downloads/SSAC2018_Beyond_Expected_Goals.pdf?mtime=20180327111214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accessible-space inference. Public model simulation settings and frame provenance are recorded in assets/results/space_result_provenance.json. Notebook 13 demonstrates a simpler area-integral proxy; it is not this published output. AS is an area quantity; individual accessible regions may overlap.</a:t>
            </a:r>
          </a:p>
          <a:p xmlns:a="http://schemas.openxmlformats.org/drawingml/2006/main">
            <a:r>
              <a:t/>
            </a:r>
          </a:p>
          <a:p xmlns:a="http://schemas.openxmlformats.org/drawingml/2006/main">
            <a:r>
              <a:t>Notebook: 13_space_and_danger.ipynb</a:t>
            </a:r>
          </a:p>
          <a:p xmlns:a="http://schemas.openxmlformats.org/drawingml/2006/main">
            <a:r>
              <a:t>https://github.com/zcochran27/tracking-data-applied-workshop/blob/main/notebooks/methods/13_space_and_danger.ipynb</a:t>
            </a:r>
          </a:p>
          <a:p xmlns:a="http://schemas.openxmlformats.org/drawingml/2006/main">
            <a:r>
              <a:t/>
            </a:r>
          </a:p>
          <a:p xmlns:a="http://schemas.openxmlformats.org/drawingml/2006/main">
            <a:r>
              <a:t>Sources:</a:t>
            </a:r>
          </a:p>
          <a:p xmlns:a="http://schemas.openxmlformats.org/drawingml/2006/main">
            <a:r>
              <a:t>Dangerous Accessible Space: paper and implementation</a:t>
            </a:r>
          </a:p>
          <a:p xmlns:a="http://schemas.openxmlformats.org/drawingml/2006/main">
            <a:r>
              <a:t>https://github.com/jonas-bischofberger/accessible-space</a:t>
            </a:r>
          </a:p>
          <a:p xmlns:a="http://schemas.openxmlformats.org/drawingml/2006/main">
            <a:r>
              <a:t/>
            </a:r>
          </a:p>
          <a:p xmlns:a="http://schemas.openxmlformats.org/drawingml/2006/main">
            <a:r>
              <a:t>DataBallPy DAS and expected completion</a:t>
            </a:r>
          </a:p>
          <a:p xmlns:a="http://schemas.openxmlformats.org/drawingml/2006/main">
            <a:r>
              <a:t>https://databallpy.readthedocs.io/en/main/features/dangerous_accessible_space.html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Published dangerous-accessible-space output on the same frame as AS. DAS units are danger-weighted square metres, not scoring probability. The notebook’s chosen distance-based danger proxy is separate.</a:t>
            </a:r>
          </a:p>
          <a:p xmlns:a="http://schemas.openxmlformats.org/drawingml/2006/main">
            <a:r>
              <a:t/>
            </a:r>
          </a:p>
          <a:p xmlns:a="http://schemas.openxmlformats.org/drawingml/2006/main">
            <a:r>
              <a:t>Notebook: 13_space_and_danger.ipynb</a:t>
            </a:r>
          </a:p>
          <a:p xmlns:a="http://schemas.openxmlformats.org/drawingml/2006/main">
            <a:r>
              <a:t>https://github.com/zcochran27/tracking-data-applied-workshop/blob/main/notebooks/methods/13_space_and_danger.ipynb</a:t>
            </a:r>
          </a:p>
          <a:p xmlns:a="http://schemas.openxmlformats.org/drawingml/2006/main">
            <a:r>
              <a:t/>
            </a:r>
          </a:p>
          <a:p xmlns:a="http://schemas.openxmlformats.org/drawingml/2006/main">
            <a:r>
              <a:t>Sources:</a:t>
            </a:r>
          </a:p>
          <a:p xmlns:a="http://schemas.openxmlformats.org/drawingml/2006/main">
            <a:r>
              <a:t>Dangerous Accessible Space: paper and implementation</a:t>
            </a:r>
          </a:p>
          <a:p xmlns:a="http://schemas.openxmlformats.org/drawingml/2006/main">
            <a:r>
              <a:t>https://github.com/jonas-bischofberger/accessible-space</a:t>
            </a:r>
          </a:p>
          <a:p xmlns:a="http://schemas.openxmlformats.org/drawingml/2006/main">
            <a:r>
              <a:t/>
            </a:r>
          </a:p>
          <a:p xmlns:a="http://schemas.openxmlformats.org/drawingml/2006/main">
            <a:r>
              <a:t>DataBallPy DAS and expected completion</a:t>
            </a:r>
          </a:p>
          <a:p xmlns:a="http://schemas.openxmlformats.org/drawingml/2006/main">
            <a:r>
              <a:t>https://databallpy.readthedocs.io/en/main/features/dangerous_accessible_space.html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Published accessible-space outputs at 5 Hz; traces show AS m² and DAS danger-weighted m² separately. Team/possession context must be read with the clip. Before/after movement does not establish causal player credit.</a:t>
            </a:r>
          </a:p>
          <a:p xmlns:a="http://schemas.openxmlformats.org/drawingml/2006/main">
            <a:r>
              <a:t/>
            </a:r>
          </a:p>
          <a:p xmlns:a="http://schemas.openxmlformats.org/drawingml/2006/main">
            <a:r>
              <a:t>Notebook: 13_space_and_danger.ipynb</a:t>
            </a:r>
          </a:p>
          <a:p xmlns:a="http://schemas.openxmlformats.org/drawingml/2006/main">
            <a:r>
              <a:t>https://github.com/zcochran27/tracking-data-applied-workshop/blob/main/notebooks/methods/13_space_and_danger.ipynb</a:t>
            </a:r>
          </a:p>
          <a:p xmlns:a="http://schemas.openxmlformats.org/drawingml/2006/main">
            <a:r>
              <a:t>Embedded video (click to play): assets/videos/dangerous_space_ball.mp4</a:t>
            </a:r>
          </a:p>
          <a:p xmlns:a="http://schemas.openxmlformats.org/drawingml/2006/main">
            <a:r>
              <a:t>Published accessible-space outputs at 5 Hz; traces show AS m² and DAS danger-weighted m² separately. Team/possession context must be read with the clip. Before/after movement does not establish causal player credit. The black-centered white marker shows the ball in both panels.</a:t>
            </a:r>
          </a:p>
          <a:p xmlns:a="http://schemas.openxmlformats.org/drawingml/2006/main">
            <a:r>
              <a:t/>
            </a:r>
          </a:p>
          <a:p xmlns:a="http://schemas.openxmlformats.org/drawingml/2006/main">
            <a:r>
              <a:t>Sources:</a:t>
            </a:r>
          </a:p>
          <a:p xmlns:a="http://schemas.openxmlformats.org/drawingml/2006/main">
            <a:r>
              <a:t>Dangerous Accessible Space: paper and implementation</a:t>
            </a:r>
          </a:p>
          <a:p xmlns:a="http://schemas.openxmlformats.org/drawingml/2006/main">
            <a:r>
              <a:t>https://github.com/jonas-bischofberger/accessible-space</a:t>
            </a:r>
          </a:p>
          <a:p xmlns:a="http://schemas.openxmlformats.org/drawingml/2006/main">
            <a:r>
              <a:t/>
            </a:r>
          </a:p>
          <a:p xmlns:a="http://schemas.openxmlformats.org/drawingml/2006/main">
            <a:r>
              <a:t>DataBallPy DAS and expected completion</a:t>
            </a:r>
          </a:p>
          <a:p xmlns:a="http://schemas.openxmlformats.org/drawingml/2006/main">
            <a:r>
              <a:t>https://databallpy.readthedocs.io/en/main/features/dangerous_accessible_space.html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low/high off-ball-run events fully covered by the sample. Each panel is synchronized to its own run start; the shorter run freezes at the end. A square marks supplied ball carrier when available; dashed lane is hypothetical. Values are supplied event-level xthreat fields, not locally fitted or controlled causal effects.</a:t>
            </a:r>
          </a:p>
          <a:p xmlns:a="http://schemas.openxmlformats.org/drawingml/2006/main">
            <a:r>
              <a:t/>
            </a:r>
          </a:p>
          <a:p xmlns:a="http://schemas.openxmlformats.org/drawingml/2006/main">
            <a:r>
              <a:t/>
            </a:r>
          </a:p>
          <a:p xmlns:a="http://schemas.openxmlformats.org/drawingml/2006/main">
            <a:r>
              <a:t>Embedded video (click to play): assets/videos/run_comparison.mp4</a:t>
            </a:r>
          </a:p>
          <a:p xmlns:a="http://schemas.openxmlformats.org/drawingml/2006/main">
            <a:r>
              <a:t>Selected low/high off-ball-run events fully covered by the sample. Each panel is synchronized to its own run start; the shorter run freezes at the end. A square marks supplied ball carrier when available; dashed lane is hypothetical. Values are supplied event-level xthreat fields, not locally fitted or controlled causal effects.</a:t>
            </a:r>
          </a:p>
          <a:p xmlns:a="http://schemas.openxmlformats.org/drawingml/2006/main">
            <a:r>
              <a:t/>
            </a:r>
          </a:p>
          <a:p xmlns:a="http://schemas.openxmlformats.org/drawingml/2006/main">
            <a:r>
              <a:t>Sources:</a:t>
            </a:r>
          </a:p>
          <a:p xmlns:a="http://schemas.openxmlformats.org/drawingml/2006/main">
            <a:r>
              <a:t>SkillCorner: Expected Threat for off-ball runs</a:t>
            </a:r>
          </a:p>
          <a:p xmlns:a="http://schemas.openxmlformats.org/drawingml/2006/main">
            <a:r>
              <a:t>https://www.linkedin.com/posts/skillcorner_game-intelligence-expected-threat-activity-7057009275247689728-NVPh</a:t>
            </a:r>
          </a:p>
          <a:p xmlns:a="http://schemas.openxmlformats.org/drawingml/2006/main">
            <a:r>
              <a:t/>
            </a:r>
          </a:p>
          <a:p xmlns:a="http://schemas.openxmlformats.org/drawingml/2006/main">
            <a:r>
              <a:t>SkillCorner open data and schema</a:t>
            </a:r>
          </a:p>
          <a:p xmlns:a="http://schemas.openxmlformats.org/drawingml/2006/main">
            <a:r>
              <a:t>https://github.com/SkillCorner/opendata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graph illustration from Bekkers, PyData London 2025. General representation explanation before EPV: player/ball nodes, player-player and player-ball relations, adjacency and global context. The picture is conceptual, not a trained prediction. Source URL and attribution in assets/references/bekkers/attribution.json.</a:t>
            </a:r>
          </a:p>
          <a:p xmlns:a="http://schemas.openxmlformats.org/drawingml/2006/main">
            <a:r>
              <a:t/>
            </a:r>
          </a:p>
          <a:p xmlns:a="http://schemas.openxmlformats.org/drawingml/2006/main">
            <a:r>
              <a:t>Notebook: 16_graph_epv.ipynb</a:t>
            </a:r>
          </a:p>
          <a:p xmlns:a="http://schemas.openxmlformats.org/drawingml/2006/main">
            <a:r>
              <a:t>https://github.com/zcochran27/tracking-data-applied-workshop/blob/main/notebooks/methods/16_graph_epv.ipynb</a:t>
            </a:r>
          </a:p>
          <a:p xmlns:a="http://schemas.openxmlformats.org/drawingml/2006/main">
            <a:r>
              <a:t/>
            </a:r>
          </a:p>
          <a:p xmlns:a="http://schemas.openxmlformats.org/drawingml/2006/main">
            <a:r>
              <a:t>Sources:</a:t>
            </a:r>
          </a:p>
          <a:p xmlns:a="http://schemas.openxmlformats.org/drawingml/2006/main">
            <a:r>
              <a:t>Joris Bekkers: GraphEPV, PyData London 2025</a:t>
            </a:r>
          </a:p>
          <a:p xmlns:a="http://schemas.openxmlformats.org/drawingml/2006/main">
            <a:r>
              <a:t>https://rawcdn.githack.com/UnravelSports/keynotes/main/html/20250607-PyData-London.html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node/global-feature matrix from the linked keynote. This is a general feature menu; do not imply our independent workshop GNN includes every displayed velocity, acceleration or global feature. Its actual features are current-frame geometry and identity/context indicators, specified in notebook 16.</a:t>
            </a:r>
          </a:p>
          <a:p xmlns:a="http://schemas.openxmlformats.org/drawingml/2006/main">
            <a:r>
              <a:t/>
            </a:r>
          </a:p>
          <a:p xmlns:a="http://schemas.openxmlformats.org/drawingml/2006/main">
            <a:r>
              <a:t>Notebook: 16_graph_epv.ipynb</a:t>
            </a:r>
          </a:p>
          <a:p xmlns:a="http://schemas.openxmlformats.org/drawingml/2006/main">
            <a:r>
              <a:t>https://github.com/zcochran27/tracking-data-applied-workshop/blob/main/notebooks/methods/16_graph_epv.ipynb</a:t>
            </a:r>
          </a:p>
          <a:p xmlns:a="http://schemas.openxmlformats.org/drawingml/2006/main">
            <a:r>
              <a:t/>
            </a:r>
          </a:p>
          <a:p xmlns:a="http://schemas.openxmlformats.org/drawingml/2006/main">
            <a:r>
              <a:t>Sources:</a:t>
            </a:r>
          </a:p>
          <a:p xmlns:a="http://schemas.openxmlformats.org/drawingml/2006/main">
            <a:r>
              <a:t>Joris Bekkers: GraphEPV, PyData London 2025</a:t>
            </a:r>
          </a:p>
          <a:p xmlns:a="http://schemas.openxmlformats.org/drawingml/2006/main">
            <a:r>
              <a:t>https://rawcdn.githack.com/UnravelSports/keynotes/main/html/20250607-PyData-London.html</a:t>
            </a:r>
          </a:p>
          <a:p xmlns:a="http://schemas.openxmlformats.org/drawingml/2006/main">
            <a:r>
              <a:t/>
            </a:r>
          </a:p>
          <a:p xmlns:a="http://schemas.openxmlformats.org/drawingml/2006/main">
            <a:r>
              <a:t>UnravelSports soccer GNN tutorial</a:t>
            </a:r>
          </a:p>
          <a:p xmlns:a="http://schemas.openxmlformats.org/drawingml/2006/main">
            <a:r>
              <a:t>https://unravelsports.readthedocs.io/en/latest/tutorials/soccer_gnn.html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Keynote adjacency matrix shows one documented team/ball connection configuration, not a unique universal GraphEPV topology. Edge features can describe distance, relative geometry and team relations; the actual workshop model uses 20 m radius edges plus ball links, not this matrix. The main visual combines original edge-feature and adjacency illustrations from the same keynote; both source files are retained and credited.</a:t>
            </a:r>
          </a:p>
          <a:p xmlns:a="http://schemas.openxmlformats.org/drawingml/2006/main">
            <a:r>
              <a:t/>
            </a:r>
          </a:p>
          <a:p xmlns:a="http://schemas.openxmlformats.org/drawingml/2006/main">
            <a:r>
              <a:t>Notebook: 16_graph_epv.ipynb</a:t>
            </a:r>
          </a:p>
          <a:p xmlns:a="http://schemas.openxmlformats.org/drawingml/2006/main">
            <a:r>
              <a:t>https://github.com/zcochran27/tracking-data-applied-workshop/blob/main/notebooks/methods/16_graph_epv.ipynb</a:t>
            </a:r>
          </a:p>
          <a:p xmlns:a="http://schemas.openxmlformats.org/drawingml/2006/main">
            <a:r>
              <a:t/>
            </a:r>
          </a:p>
          <a:p xmlns:a="http://schemas.openxmlformats.org/drawingml/2006/main">
            <a:r>
              <a:t>Sources:</a:t>
            </a:r>
          </a:p>
          <a:p xmlns:a="http://schemas.openxmlformats.org/drawingml/2006/main">
            <a:r>
              <a:t>Joris Bekkers: GraphEPV, PyData London 2025</a:t>
            </a:r>
          </a:p>
          <a:p xmlns:a="http://schemas.openxmlformats.org/drawingml/2006/main">
            <a:r>
              <a:t>https://rawcdn.githack.com/UnravelSports/keynotes/main/html/20250607-PyData-London.html</a:t>
            </a:r>
          </a:p>
          <a:p xmlns:a="http://schemas.openxmlformats.org/drawingml/2006/main">
            <a:r>
              <a:t/>
            </a:r>
          </a:p>
          <a:p xmlns:a="http://schemas.openxmlformats.org/drawingml/2006/main">
            <a:r>
              <a:t>UnravelSports soccer GNN tutorial</a:t>
            </a:r>
          </a:p>
          <a:p xmlns:a="http://schemas.openxmlformats.org/drawingml/2006/main">
            <a:r>
              <a:t>https://unravelsports.readthedocs.io/en/latest/tutorials/soccer_gnn.html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Sahasrabudhe &amp; Bekkers architecture image reused in the keynote, attributed to its authors. General GNN explanation: shared updates, permutation-invariant aggregation and task-specific output. This is not our independent 353-parameter teaching architecture. No standalone temporal-network/encoder slides are included.</a:t>
            </a:r>
          </a:p>
          <a:p xmlns:a="http://schemas.openxmlformats.org/drawingml/2006/main">
            <a:r>
              <a:t/>
            </a:r>
          </a:p>
          <a:p xmlns:a="http://schemas.openxmlformats.org/drawingml/2006/main">
            <a:r>
              <a:t>Notebook: 16_graph_epv.ipynb</a:t>
            </a:r>
          </a:p>
          <a:p xmlns:a="http://schemas.openxmlformats.org/drawingml/2006/main">
            <a:r>
              <a:t>https://github.com/zcochran27/tracking-data-applied-workshop/blob/main/notebooks/methods/16_graph_epv.ipynb</a:t>
            </a:r>
          </a:p>
          <a:p xmlns:a="http://schemas.openxmlformats.org/drawingml/2006/main">
            <a:r>
              <a:t/>
            </a:r>
          </a:p>
          <a:p xmlns:a="http://schemas.openxmlformats.org/drawingml/2006/main">
            <a:r>
              <a:t>Sources:</a:t>
            </a:r>
          </a:p>
          <a:p xmlns:a="http://schemas.openxmlformats.org/drawingml/2006/main">
            <a:r>
              <a:t>Joris Bekkers: GraphEPV, PyData London 2025</a:t>
            </a:r>
          </a:p>
          <a:p xmlns:a="http://schemas.openxmlformats.org/drawingml/2006/main">
            <a:r>
              <a:t>https://rawcdn.githack.com/UnravelSports/keynotes/main/html/20250607-PyData-London.html</a:t>
            </a:r>
          </a:p>
          <a:p xmlns:a="http://schemas.openxmlformats.org/drawingml/2006/main">
            <a:r>
              <a:t/>
            </a:r>
          </a:p>
          <a:p xmlns:a="http://schemas.openxmlformats.org/drawingml/2006/main">
            <a:r>
              <a:t>U.S. Soccer: counterattack GNNs with SkillCorner (2023)</a:t>
            </a:r>
          </a:p>
          <a:p xmlns:a="http://schemas.openxmlformats.org/drawingml/2006/main">
            <a:r>
              <a:t>https://github.com/USSoccerFederation/ussf_ssac_23_soccer_gnn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Player-only real radius graph at native 10 Hz. The trained workshop graph additionally includes a ball node and ball links. Recomputing spatial edges over time is not itself a trained temporal network or learned attention.</a:t>
            </a:r>
          </a:p>
          <a:p xmlns:a="http://schemas.openxmlformats.org/drawingml/2006/main">
            <a:r>
              <a:t/>
            </a:r>
          </a:p>
          <a:p xmlns:a="http://schemas.openxmlformats.org/drawingml/2006/main">
            <a:r>
              <a:t>Notebook: 16_graph_epv.ipynb</a:t>
            </a:r>
          </a:p>
          <a:p xmlns:a="http://schemas.openxmlformats.org/drawingml/2006/main">
            <a:r>
              <a:t>https://github.com/zcochran27/tracking-data-applied-workshop/blob/main/notebooks/methods/16_graph_epv.ipynb</a:t>
            </a:r>
          </a:p>
          <a:p xmlns:a="http://schemas.openxmlformats.org/drawingml/2006/main">
            <a:r>
              <a:t>Embedded video (click to play): assets/videos/dynamic_graph.mp4</a:t>
            </a:r>
          </a:p>
          <a:p xmlns:a="http://schemas.openxmlformats.org/drawingml/2006/main">
            <a:r>
              <a:t>Player-only real radius graph at native 10 Hz. The trained workshop graph additionally includes a ball node and ball links. Recomputing spatial edges over time is not itself a trained temporal network or learned attention.</a:t>
            </a:r>
          </a:p>
          <a:p xmlns:a="http://schemas.openxmlformats.org/drawingml/2006/main">
            <a:r>
              <a:t/>
            </a:r>
          </a:p>
          <a:p xmlns:a="http://schemas.openxmlformats.org/drawingml/2006/main">
            <a:r>
              <a:t>Sources:</a:t>
            </a:r>
          </a:p>
          <a:p xmlns:a="http://schemas.openxmlformats.org/drawingml/2006/main">
            <a:r>
              <a:t>Joris Bekkers: GraphEPV, PyData London 2025</a:t>
            </a:r>
          </a:p>
          <a:p xmlns:a="http://schemas.openxmlformats.org/drawingml/2006/main">
            <a:r>
              <a:t>https://rawcdn.githack.com/UnravelSports/keynotes/main/html/20250607-PyData-London.html</a:t>
            </a:r>
          </a:p>
          <a:p xmlns:a="http://schemas.openxmlformats.org/drawingml/2006/main">
            <a:r>
              <a:t/>
            </a:r>
          </a:p>
          <a:p xmlns:a="http://schemas.openxmlformats.org/drawingml/2006/main">
            <a:r>
              <a:t>UnravelSports soccer GNN tutorial</a:t>
            </a:r>
          </a:p>
          <a:p xmlns:a="http://schemas.openxmlformats.org/drawingml/2006/main">
            <a:r>
              <a:t>https://unravelsports.readthedocs.io/en/latest/tutorials/soccer_gnn.html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Published PyData London 2025 target uses World Cup PFF tracking and event-aligned goals, respecting team and period. Our notebook trains an independent frame GNN on SkillCorner with reconstructed, score-audited goal timing. It is not Bekkers’ CrystalGraph architecture/weights or a full action-decomposed EPV reproduction.</a:t>
            </a:r>
          </a:p>
          <a:p xmlns:a="http://schemas.openxmlformats.org/drawingml/2006/main">
            <a:r>
              <a:t/>
            </a:r>
          </a:p>
          <a:p xmlns:a="http://schemas.openxmlformats.org/drawingml/2006/main">
            <a:r>
              <a:t>Notebook: 16_graph_epv.ipynb</a:t>
            </a:r>
          </a:p>
          <a:p xmlns:a="http://schemas.openxmlformats.org/drawingml/2006/main">
            <a:r>
              <a:t>https://github.com/zcochran27/tracking-data-applied-workshop/blob/main/notebooks/methods/16_graph_epv.ipynb</a:t>
            </a:r>
          </a:p>
          <a:p xmlns:a="http://schemas.openxmlformats.org/drawingml/2006/main">
            <a:r>
              <a:t/>
            </a:r>
          </a:p>
          <a:p xmlns:a="http://schemas.openxmlformats.org/drawingml/2006/main">
            <a:r>
              <a:t>Sources:</a:t>
            </a:r>
          </a:p>
          <a:p xmlns:a="http://schemas.openxmlformats.org/drawingml/2006/main">
            <a:r>
              <a:t>Joris Bekkers: GraphEPV, PyData London 2025</a:t>
            </a:r>
          </a:p>
          <a:p xmlns:a="http://schemas.openxmlformats.org/drawingml/2006/main">
            <a:r>
              <a:t>https://rawcdn.githack.com/UnravelSports/keynotes/main/html/20250607-PyData-London.html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 included matches total: 10 train, 3 validation, 3 test. Test has 4,846 sampled states and 16 positives, not 16 independent goals. AP baseline prevalence 0.00330. Log loss improves 0.02363→0.02158; Brier worsens 0.003308→0.003335. Model mean prediction 0.00858 versus test prevalence 0.00330. Goal timing is reconstructed and not video-verified. ROC and PR are actual saved notebook results; no temporal model was trained.</a:t>
            </a:r>
          </a:p>
          <a:p xmlns:a="http://schemas.openxmlformats.org/drawingml/2006/main">
            <a:r>
              <a:t/>
            </a:r>
          </a:p>
          <a:p xmlns:a="http://schemas.openxmlformats.org/drawingml/2006/main">
            <a:r>
              <a:t>Notebook: 16_graph_epv.ipynb</a:t>
            </a:r>
          </a:p>
          <a:p xmlns:a="http://schemas.openxmlformats.org/drawingml/2006/main">
            <a:r>
              <a:t>https://github.com/zcochran27/tracking-data-applied-workshop/blob/main/notebooks/methods/16_graph_epv.ipynb</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Joris Bekkers: GraphEPV, PyData London 2025</a:t>
            </a:r>
          </a:p>
          <a:p xmlns:a="http://schemas.openxmlformats.org/drawingml/2006/main">
            <a:r>
              <a:t>https://rawcdn.githack.com/UnravelSports/keynotes/main/html/20250607-PyData-London.html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independent trained model output from notebook 16. Display case is selected by goal context, not high prediction; not a performance sample. Shading indicates retrospective target window, not an input. Model features use the current frame only. User requested goal buildup plus separate performance results; non-goal example stays in the notebook.</a:t>
            </a:r>
          </a:p>
          <a:p xmlns:a="http://schemas.openxmlformats.org/drawingml/2006/main">
            <a:r>
              <a:t/>
            </a:r>
          </a:p>
          <a:p xmlns:a="http://schemas.openxmlformats.org/drawingml/2006/main">
            <a:r>
              <a:t>Notebook: 16_graph_epv.ipynb</a:t>
            </a:r>
          </a:p>
          <a:p xmlns:a="http://schemas.openxmlformats.org/drawingml/2006/main">
            <a:r>
              <a:t>https://github.com/zcochran27/tracking-data-applied-workshop/blob/main/notebooks/methods/16_graph_epv.ipynb</a:t>
            </a:r>
          </a:p>
          <a:p xmlns:a="http://schemas.openxmlformats.org/drawingml/2006/main">
            <a:r>
              <a:t>Embedded video (click to play): assets/videos/graph_epv_possession.mp4</a:t>
            </a:r>
          </a:p>
          <a:p xmlns:a="http://schemas.openxmlformats.org/drawingml/2006/main">
            <a:r>
              <a:t>Actual independent trained model output from notebook 16. Display case is selected by goal context, not high prediction; not a performance sample. Shading indicates retrospective target window, not an input. Model features use the current frame only. User requested goal buildup plus separate performance results; non-goal example stays in the notebook.</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Joris Bekkers: GraphEPV, PyData London 2025</a:t>
            </a:r>
          </a:p>
          <a:p xmlns:a="http://schemas.openxmlformats.org/drawingml/2006/main">
            <a:r>
              <a:t>https://rawcdn.githack.com/UnravelSports/keynotes/main/html/20250607-PyData-London.html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pass_epv_delta_for event fields. Provider output is separate from our ten-second scoring model, classic location xT and Fernández’s action-decomposed EPV framework. Show original field name, target/horizon distinctions and source documentation; no reconstruction or cross-model numerical equivalence is asserted.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Fine-grained expected possession value (2021)</a:t>
            </a:r>
          </a:p>
          <a:p xmlns:a="http://schemas.openxmlformats.org/drawingml/2006/main">
            <a:r>
              <a:t>https://pmc.ncbi.nlm.nih.gov/articles/PMC8570314/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SoccerMap Figure 3, arXiv 2010.10202v1. Yellow/blue attacking/defending players, arrows are velocity, white circle is ball; original probability color scale retained. A CNN, not a GNN. This result is from the paper’s data/model, not our SkillCorner inference. Other heads can address pass selection and expected pass value.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SoccerMap (2020)</a:t>
            </a:r>
          </a:p>
          <a:p xmlns:a="http://schemas.openxmlformats.org/drawingml/2006/main">
            <a:r>
              <a:t>https://arxiv.org/abs/2010.10202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DEFCON paper Figure 3, page 7. Two intercepted passes; color is defender responsibility and numeric text is assigned defensive credit. Credit follows the framework’s assumptions, not causal proof. Cropped figure only, no values changed. Not model inference on our sample; authors’ underlying club dataset is not public.</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DEFCON: GNN-based defensive EPV (2026)</a:t>
            </a:r>
          </a:p>
          <a:p xmlns:a="http://schemas.openxmlformats.org/drawingml/2006/main">
            <a:r>
              <a:t>https://github.com/hyunsungkim-ds/defcon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Figure 5a from A Graph Neural Network deep-dive into successful counterattacks. Women’s-model example predicts ending in the opponent penalty box with probability 49.5%. This is the published event-frame task; do not mix with additional all-frame goal-label datasets in the repository. Not our local model output.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U.S. Soccer: counterattack GNNs with SkillCorner (2023)</a:t>
            </a:r>
          </a:p>
          <a:p xmlns:a="http://schemas.openxmlformats.org/drawingml/2006/main">
            <a:r>
              <a:t>https://github.com/USSoccerFederation/ussf_ssac_23_soccer_gnn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TacticAI Figure 3 from arXiv 2310.10553v1. Corner adjustment and predicted receiver probabilities are authors’ results, not interventions proven to improve match outcomes. Pre/post tactical suggestions are not locally generated or trained on SkillCorner. Retain original figure labels and legend.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TacticAI (2024)</a:t>
            </a:r>
          </a:p>
          <a:p xmlns:a="http://schemas.openxmlformats.org/drawingml/2006/main">
            <a:r>
              <a:t>https://www.nature.com/articles/s41467-024-45965-x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GenTac Figure 5 panel a, arXiv 2604.11786v1. Four-second history, 20 generated rollouts and resulting event distribution are from the paper. Cropped original panel, no probabilities changed. Not a workshop-trained forecast, not a standalone temporal-network architecture slide and not causal intervention evidence.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GenTac: trajectory forecasting (2026 preprint)</a:t>
            </a:r>
          </a:p>
          <a:p xmlns:a="http://schemas.openxmlformats.org/drawingml/2006/main">
            <a:r>
              <a:t>https://arxiv.org/abs/2604.11786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 detection needs reviewed timing-tolerant matching. Formation/role labels require tactical ground truth. Physical comparisons require exposure and preprocessing definitions. Probability models need calibration and rare-event baselines. Stress-test extrapolated tracking, missing data, attack direction and domain shift. Current slide diagram is conceptual, not an extra experiment.</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SkillCorner open data and schema</a:t>
            </a:r>
          </a:p>
          <a:p xmlns:a="http://schemas.openxmlformats.org/drawingml/2006/main">
            <a:r>
              <a:t>https://github.com/SkillCorner/opendata</a:t>
            </a:r>
          </a:p>
          <a:p xmlns:a="http://schemas.openxmlformats.org/drawingml/2006/main">
            <a:r>
              <a:t/>
            </a:r>
          </a:p>
          <a:p xmlns:a="http://schemas.openxmlformats.org/drawingml/2006/main">
            <a:r>
              <a:t>Fine-grained expected possession value (2021)</a:t>
            </a:r>
          </a:p>
          <a:p xmlns:a="http://schemas.openxmlformats.org/drawingml/2006/main">
            <a:r>
              <a:t>https://pmc.ncbi.nlm.nih.gov/articles/PMC8570314/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6738d2aeaa4a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f154a00d7f42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5d9b39b8524a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44beb359e8436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c5f5046b8d54c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f4dc7567c34b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4FF998-EECD-408C-AD19-F5A98B5B054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6CE1BE2-434E-4249-8E26-9D89056059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7B6502-ABC5-408B-8AE5-86192D3826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4EBB98-62E8-49B5-94C9-D1948BF9DA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2FEA94-B069-45DF-992B-4AF6DAAE00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9B0188-D8E9-4BA0-B077-07123AD2EA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D7F65F-ABD8-486E-BDA1-4A5E1A54BA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070F91-2937-4633-BEE5-82D69F34271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64E2DF-B53D-47E5-8887-4509854E74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D9CC75-A03A-484C-9032-F1047E5C27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f88f0638834a32" /><Relationship Type="http://schemas.openxmlformats.org/officeDocument/2006/relationships/slideLayout" Target="/ppt/slideLayouts/slideLayout1.xml" Id="Rbdf231080a6d4447" /><Relationship Type="http://schemas.openxmlformats.org/officeDocument/2006/relationships/slideLayout" Target="/ppt/slideLayouts/slideLayout2.xml" Id="R5799a386dd314956" /><Relationship Type="http://schemas.openxmlformats.org/officeDocument/2006/relationships/slideLayout" Target="/ppt/slideLayouts/slideLayout3.xml" Id="Re8bc41b562bc444e" /><Relationship Type="http://schemas.openxmlformats.org/officeDocument/2006/relationships/slideLayout" Target="/ppt/slideLayouts/slideLayout4.xml" Id="R990a89a26e7049fa" /><Relationship Type="http://schemas.openxmlformats.org/officeDocument/2006/relationships/slideLayout" Target="/ppt/slideLayouts/slideLayout5.xml" Id="R4597031f026048bb" /><Relationship Type="http://schemas.openxmlformats.org/officeDocument/2006/relationships/slideLayout" Target="/ppt/slideLayouts/slideLayout6.xml" Id="R820480eb120544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f231080a6d4447"/>
    <p:sldLayoutId xmlns:r="http://schemas.openxmlformats.org/officeDocument/2006/relationships" id="2147483650" r:id="R5799a386dd314956"/>
    <p:sldLayoutId xmlns:r="http://schemas.openxmlformats.org/officeDocument/2006/relationships" id="2147483651" r:id="Re8bc41b562bc444e"/>
    <p:sldLayoutId xmlns:r="http://schemas.openxmlformats.org/officeDocument/2006/relationships" id="2147483652" r:id="R990a89a26e7049fa"/>
    <p:sldLayoutId xmlns:r="http://schemas.openxmlformats.org/officeDocument/2006/relationships" id="2147483653" r:id="R4597031f026048bb"/>
    <p:sldLayoutId xmlns:r="http://schemas.openxmlformats.org/officeDocument/2006/relationships" id="2147483654" r:id="R820480eb120544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6.xml" Id="R31b4a62a79b3423f" /><ns0:Relationship Type="http://schemas.openxmlformats.org/officeDocument/2006/relationships/image" Target="/ppt/media/image.png" Id="R02ebe9b4e15b464b" /><ns0:Relationship Type="http://schemas.openxmlformats.org/officeDocument/2006/relationships/notesSlide" Target="/ppt/notesSlides/notesSlide1.xml" Id="Rf8a0d7a55cb940cb" /><ns0:Relationship Id="rIdWorkshop4" Type="http://schemas.openxmlformats.org/officeDocument/2006/relationships/hyperlink" Target="https://github.com/SkillCorner/opendata" TargetMode="External"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6.xml" Id="Rb8b4c051588141a7" /><ns0:Relationship Type="http://schemas.openxmlformats.org/officeDocument/2006/relationships/notesSlide" Target="/ppt/notesSlides/notesSlide2.xml" Id="R28417e3c8e254168" /><ns0:Relationship Id="rIdWorkshop3" Type="http://schemas.openxmlformats.org/officeDocument/2006/relationships/hyperlink" Target="https://github.com/SkillCorner/opendata" TargetMode="External"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6.xml" Id="Reb240d090ff545c1" /><ns0:Relationship Type="http://schemas.openxmlformats.org/officeDocument/2006/relationships/image" Target="/ppt/media/image2.png" Id="R43936a78bb6b42e7" /><ns0:Relationship Type="http://schemas.openxmlformats.org/officeDocument/2006/relationships/notesSlide" Target="/ppt/notesSlides/notesSlide3.xml" Id="R25a27f929024499b" /><ns0:Relationship Id="rIdWorkshop4" Type="http://schemas.openxmlformats.org/officeDocument/2006/relationships/hyperlink" Target="https://github.com/zcochran27/tracking-data-applied-workshop/blob/main/notebooks/methods/01_data_exploration.ipynb" TargetMode="External" /><ns0:Relationship Id="rIdWorkshop5" Type="http://schemas.openxmlformats.org/officeDocument/2006/relationships/hyperlink" Target="https://github.com/SkillCorner/opendata" TargetMode="External" /><ns0:Relationship Id="rIdWorkshop6" Type="http://schemas.openxmlformats.org/officeDocument/2006/relationships/hyperlink" Target="https://kloppy.pysport.org/reference/providers/skillcorner/" TargetMode="External" /><ns0:Relationship Id="rIdWorkshop7" Type="http://schemas.openxmlformats.org/officeDocument/2006/relationships/hyperlink" Target="https://databallpy.readthedocs.io/en/main/features/covered_distance_page.html" TargetMode="External"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6.xml" Id="R0ecd0e0a89a64bbc" /><ns0:Relationship Type="http://schemas.openxmlformats.org/officeDocument/2006/relationships/image" Target="/ppt/media/image3.png" Id="Re987715c194545d4" /><ns0:Relationship Type="http://schemas.openxmlformats.org/officeDocument/2006/relationships/notesSlide" Target="/ppt/notesSlides/notesSlide4.xml" Id="R3690711a860942da" /><ns0:Relationship Id="rIdWorkshop4" Type="http://schemas.openxmlformats.org/officeDocument/2006/relationships/hyperlink" Target="https://github.com/zcochran27/tracking-data-applied-workshop/blob/main/notebooks/methods/01_data_exploration.ipynb" TargetMode="External" /><ns0:Relationship Id="rIdWorkshop5" Type="http://schemas.openxmlformats.org/officeDocument/2006/relationships/hyperlink" Target="https://github.com/SkillCorner/opendata" TargetMode="External" /><ns0:Relationship Id="rIdWorkshop6" Type="http://schemas.openxmlformats.org/officeDocument/2006/relationships/hyperlink" Target="https://databallpy.readthedocs.io/en/main/getting_started/preprocessing_options.html" TargetMode="External"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6.xml" Id="Raea37f6c2fec488c" /><ns0:Relationship Type="http://schemas.openxmlformats.org/officeDocument/2006/relationships/image" Target="/ppt/media/image4.png" Id="R5082d0d7f3a54194" /><ns0:Relationship Type="http://schemas.openxmlformats.org/officeDocument/2006/relationships/notesSlide" Target="/ppt/notesSlides/notesSlide5.xml" Id="R6d1af61c825e40a2" /><ns0:Relationship Id="rIdWorkshop4" Type="http://schemas.openxmlformats.org/officeDocument/2006/relationships/hyperlink" Target="https://github.com/zcochran27/tracking-data-applied-workshop/blob/main/notebooks/methods/01_data_exploration.ipynb" TargetMode="External" /><ns0:Relationship Id="rIdWorkshop5" Type="http://schemas.openxmlformats.org/officeDocument/2006/relationships/hyperlink" Target="https://github.com/SkillCorner/opendata" TargetMode="External" /><ns0:Relationship Id="rIdWorkshop6" Type="http://schemas.openxmlformats.org/officeDocument/2006/relationships/hyperlink" Target="https://kloppy.pysport.org/reference/providers/skillcorner/" TargetMode="External" /><ns0:Relationship Id="rIdWorkshopVideo" Type="http://schemas.openxmlformats.org/officeDocument/2006/relationships/video" Target="../media/workshop_tracking_playback.mp4" /><ns0:Relationship Id="rIdWorkshopMedia" Type="http://schemas.microsoft.com/office/2007/relationships/media" Target="../media/workshop_tracking_playback.mp4"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58e897ed2ac74a32" /><ns0:Relationship Type="http://schemas.openxmlformats.org/officeDocument/2006/relationships/notesSlide" Target="/ppt/notesSlides/notesSlide6.xml" Id="Rb2618de0e06f4bfb"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6.xml" Id="R1b036240e5f341ad" /><ns0:Relationship Type="http://schemas.openxmlformats.org/officeDocument/2006/relationships/image" Target="/ppt/media/image5.png" Id="R692ab29d2f8e42bf" /><ns0:Relationship Type="http://schemas.openxmlformats.org/officeDocument/2006/relationships/notesSlide" Target="/ppt/notesSlides/notesSlide7.xml" Id="R707cad21386f4d05" /><ns0:Relationship Id="rIdWorkshop4" Type="http://schemas.openxmlformats.org/officeDocument/2006/relationships/hyperlink" Target="https://github.com/zcochran27/tracking-data-applied-workshop/blob/main/notebooks/methods/02_event_detection.ipynb" TargetMode="External" /><ns0:Relationship Id="rIdWorkshop5" Type="http://schemas.openxmlformats.org/officeDocument/2006/relationships/hyperlink" Target="https://github.com/SkillCorner/opendata" TargetMode="External" /><ns0:Relationship Id="rIdWorkshop6" Type="http://schemas.openxmlformats.org/officeDocument/2006/relationships/hyperlink" Target="https://github.com/hyunsungkim-ds/pathcrf" TargetMode="External" /><ns0:Relationship Id="rIdWorkshopVideo" Type="http://schemas.openxmlformats.org/officeDocument/2006/relationships/video" Target="../media/workshop_possession_physics.mp4" /><ns0:Relationship Id="rIdWorkshopMedia" Type="http://schemas.microsoft.com/office/2007/relationships/media" Target="../media/workshop_possession_physics.mp4"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1135df75661e412c" /><ns0:Relationship Type="http://schemas.openxmlformats.org/officeDocument/2006/relationships/image" Target="/ppt/media/image6.png" Id="Rbc8d3f82c0774a54" /><ns0:Relationship Type="http://schemas.openxmlformats.org/officeDocument/2006/relationships/notesSlide" Target="/ppt/notesSlides/notesSlide8.xml" Id="R420ec6156b4b4b65" /><ns0:Relationship Id="rIdWorkshop4" Type="http://schemas.openxmlformats.org/officeDocument/2006/relationships/hyperlink" Target="https://github.com/zcochran27/tracking-data-applied-workshop/blob/main/notebooks/methods/02_event_detection.ipynb" TargetMode="External" /><ns0:Relationship Id="rIdWorkshop5" Type="http://schemas.openxmlformats.org/officeDocument/2006/relationships/hyperlink" Target="https://github.com/SkillCorner/opendata" TargetMode="External" /><ns0:Relationship Id="rIdWorkshop6" Type="http://schemas.openxmlformats.org/officeDocument/2006/relationships/hyperlink" Target="https://github.com/hyunsungkim-ds/pathcrf" TargetMode="External" /><ns0:Relationship Id="rIdWorkshopVideo" Type="http://schemas.openxmlformats.org/officeDocument/2006/relationships/video" Target="../media/workshop_pass_control_physics.mp4" /><ns0:Relationship Id="rIdWorkshopMedia" Type="http://schemas.microsoft.com/office/2007/relationships/media" Target="../media/workshop_pass_control_physics.mp4"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ab76767db2844d75" /><ns0:Relationship Type="http://schemas.openxmlformats.org/officeDocument/2006/relationships/notesSlide" Target="/ppt/notesSlides/notesSlide9.xml" Id="Rfafb3cbe076b4a3b"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6.xml" Id="R9a1f3cc94dbc48db" /><ns0:Relationship Type="http://schemas.openxmlformats.org/officeDocument/2006/relationships/image" Target="/ppt/media/image7.png" Id="R59a8e45dfdfa4c3d" /><ns0:Relationship Type="http://schemas.openxmlformats.org/officeDocument/2006/relationships/notesSlide" Target="/ppt/notesSlides/notesSlide10.xml" Id="R30aaa870e5b5497a" /><ns0:Relationship Id="rIdWorkshop4" Type="http://schemas.openxmlformats.org/officeDocument/2006/relationships/hyperlink" Target="https://github.com/zcochran27/tracking-data-applied-workshop/blob/main/notebooks/methods/03_formation_analysis.ipynb" TargetMode="External" /><ns0:Relationship Id="rIdWorkshop5" Type="http://schemas.openxmlformats.org/officeDocument/2006/relationships/hyperlink" Target="https://static.capabiliaserver.com/frontend/clients/barca/wp_prod/wp-content/uploads/2020/01/83c87dfe-barca_poster_shaw.pdf" TargetMode="External" /><ns0:Relationship Id="rIdWorkshop6" Type="http://schemas.openxmlformats.org/officeDocument/2006/relationships/hyperlink" Target="https://arxiv.org/abs/2506.23843" TargetMode="External" /><ns0:Relationship Id="rIdWorkshop7" Type="http://schemas.openxmlformats.org/officeDocument/2006/relationships/hyperlink" Target="https://github.com/devinpleuler/research/blob/master/frame-by-frame-position.md" TargetMode="External"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6.xml" Id="R611010fdc8d54261" /><ns0:Relationship Type="http://schemas.openxmlformats.org/officeDocument/2006/relationships/image" Target="/ppt/media/image8.png" Id="Rda9ac81d74524e08" /><ns0:Relationship Type="http://schemas.openxmlformats.org/officeDocument/2006/relationships/notesSlide" Target="/ppt/notesSlides/notesSlide11.xml" Id="R054370f3a85545a8" /><ns0:Relationship Id="rIdWorkshop4" Type="http://schemas.openxmlformats.org/officeDocument/2006/relationships/hyperlink" Target="https://github.com/zcochran27/tracking-data-applied-workshop/blob/main/notebooks/methods/04_role_classification.ipynb" TargetMode="External" /><ns0:Relationship Id="rIdWorkshop5" Type="http://schemas.openxmlformats.org/officeDocument/2006/relationships/hyperlink" Target="https://github.com/devinpleuler/research/blob/master/frame-by-frame-position.md" TargetMode="External"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6.xml" Id="R7ceef9a92b254585" /><ns0:Relationship Type="http://schemas.openxmlformats.org/officeDocument/2006/relationships/image" Target="/ppt/media/image9.png" Id="R1402427d8fe54843" /><ns0:Relationship Type="http://schemas.openxmlformats.org/officeDocument/2006/relationships/notesSlide" Target="/ppt/notesSlides/notesSlide12.xml" Id="R7c9a6021c8af474c" /><ns0:Relationship Id="rIdWorkshop4" Type="http://schemas.openxmlformats.org/officeDocument/2006/relationships/hyperlink" Target="https://github.com/zcochran27/tracking-data-applied-workshop/blob/main/notebooks/methods/03_formation_analysis.ipynb" TargetMode="External" /><ns0:Relationship Id="rIdWorkshop5" Type="http://schemas.openxmlformats.org/officeDocument/2006/relationships/hyperlink" Target="https://static.capabiliaserver.com/frontend/clients/barca/wp_prod/wp-content/uploads/2020/01/83c87dfe-barca_poster_shaw.pdf" TargetMode="External" /><ns0:Relationship Id="rIdWorkshop6" Type="http://schemas.openxmlformats.org/officeDocument/2006/relationships/hyperlink" Target="https://arxiv.org/abs/2506.23843" TargetMode="External" /><ns0:Relationship Id="rIdWorkshop7" Type="http://schemas.openxmlformats.org/officeDocument/2006/relationships/hyperlink" Target="https://github.com/devinpleuler/research/blob/master/frame-by-frame-position.md" TargetMode="External" /></ns0: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6.xml" Id="Rf7e61732074645c5" /><ns0:Relationship Type="http://schemas.openxmlformats.org/officeDocument/2006/relationships/notesSlide" Target="/ppt/notesSlides/notesSlide13.xml" Id="R5cfaf1acca3a4ef1" /></ns0:Relationships>
</file>

<file path=ppt/slides/_rels/slide14.xml.rels><?xml version='1.0' encoding='utf-8'?>
<ns0:Relationships xmlns:ns0="http://schemas.openxmlformats.org/package/2006/relationships"><ns0:Relationship Type="http://schemas.openxmlformats.org/officeDocument/2006/relationships/slideLayout" Target="/ppt/slideLayouts/slideLayout6.xml" Id="R4abaec848ea14a96" /><ns0:Relationship Type="http://schemas.openxmlformats.org/officeDocument/2006/relationships/image" Target="/ppt/media/image10.png" Id="R1c6cdc3d9b8b4040" /><ns0:Relationship Type="http://schemas.openxmlformats.org/officeDocument/2006/relationships/notesSlide" Target="/ppt/notesSlides/notesSlide14.xml" Id="R402ec1989f214cce" /><ns0:Relationship Id="rIdWorkshop4" Type="http://schemas.openxmlformats.org/officeDocument/2006/relationships/hyperlink" Target="https://github.com/zcochran27/tracking-data-applied-workshop/blob/main/notebooks/methods/05_match_segmentation.ipynb" TargetMode="External" /><ns0:Relationship Id="rIdWorkshop5" Type="http://schemas.openxmlformats.org/officeDocument/2006/relationships/hyperlink" Target="https://doi.org/10.1177/22150218241290988" TargetMode="External" /><ns0:Relationship Id="rIdWorkshop6" Type="http://schemas.openxmlformats.org/officeDocument/2006/relationships/hyperlink" Target="https://github.com/SkillCorner/opendata" TargetMode="External" /><ns0:Relationship Id="rIdWorkshopVideo" Type="http://schemas.openxmlformats.org/officeDocument/2006/relationships/video" Target="../media/workshop_phase_predictions.mp4" /><ns0:Relationship Id="rIdWorkshopMedia" Type="http://schemas.microsoft.com/office/2007/relationships/media" Target="../media/workshop_phase_predictions.mp4" /></ns0: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6.xml" Id="Ra0e8a5d8b9af4edd" /><ns0:Relationship Type="http://schemas.openxmlformats.org/officeDocument/2006/relationships/notesSlide" Target="/ppt/notesSlides/notesSlide15.xml" Id="R67b453ca8e704d8c" /></ns0:Relationships>
</file>

<file path=ppt/slides/_rels/slide16.xml.rels><?xml version='1.0' encoding='utf-8'?>
<ns0:Relationships xmlns:ns0="http://schemas.openxmlformats.org/package/2006/relationships"><ns0:Relationship Type="http://schemas.openxmlformats.org/officeDocument/2006/relationships/slideLayout" Target="/ppt/slideLayouts/slideLayout6.xml" Id="Rb569aaca46ab4d7d" /><ns0:Relationship Type="http://schemas.openxmlformats.org/officeDocument/2006/relationships/image" Target="/ppt/media/image11.png" Id="R3a833026d5d446f9" /><ns0:Relationship Type="http://schemas.openxmlformats.org/officeDocument/2006/relationships/notesSlide" Target="/ppt/notesSlides/notesSlide16.xml" Id="R7cd91b684658407b" /><ns0:Relationship Id="rIdWorkshop4" Type="http://schemas.openxmlformats.org/officeDocument/2006/relationships/hyperlink" Target="https://github.com/zcochran27/tracking-data-applied-workshop/blob/main/notebooks/methods/06_physical_metrics.ipynb" TargetMode="External" /><ns0:Relationship Id="rIdWorkshop5" Type="http://schemas.openxmlformats.org/officeDocument/2006/relationships/hyperlink" Target="https://databallpy.readthedocs.io/en/main/features/covered_distance_page.html" TargetMode="External" /><ns0:Relationship Id="rIdWorkshop6" Type="http://schemas.openxmlformats.org/officeDocument/2006/relationships/hyperlink" Target="https://databallpy.readthedocs.io/en/main/getting_started/preprocessing_options.html" TargetMode="External" /></ns0: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6.xml" Id="R7528b0b754b747b1" /><ns0:Relationship Type="http://schemas.openxmlformats.org/officeDocument/2006/relationships/image" Target="/ppt/media/image12.png" Id="R2500293d04e84c07" /><ns0:Relationship Type="http://schemas.openxmlformats.org/officeDocument/2006/relationships/notesSlide" Target="/ppt/notesSlides/notesSlide17.xml" Id="R0b5833ac6be74eec" /><ns0:Relationship Id="rIdWorkshop4" Type="http://schemas.openxmlformats.org/officeDocument/2006/relationships/hyperlink" Target="https://github.com/zcochran27/tracking-data-applied-workshop/blob/main/notebooks/methods/06_physical_metrics.ipynb" TargetMode="External" /><ns0:Relationship Id="rIdWorkshop5" Type="http://schemas.openxmlformats.org/officeDocument/2006/relationships/hyperlink" Target="https://skillcorner.com/us/articles/scouted-brazilian-centre-backs" TargetMode="External" /><ns0:Relationship Id="rIdWorkshop6" Type="http://schemas.openxmlformats.org/officeDocument/2006/relationships/hyperlink" Target="https://databallpy.readthedocs.io/en/main/features/covered_distance_page.html" TargetMode="External"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6.xml" Id="R0db78d77a0a94232" /><ns0:Relationship Type="http://schemas.openxmlformats.org/officeDocument/2006/relationships/image" Target="/ppt/media/image13.png" Id="R367e5585f0c749aa" /><ns0:Relationship Type="http://schemas.openxmlformats.org/officeDocument/2006/relationships/notesSlide" Target="/ppt/notesSlides/notesSlide18.xml" Id="R7834c4598efb4e67" /><ns0:Relationship Id="rIdWorkshop4" Type="http://schemas.openxmlformats.org/officeDocument/2006/relationships/hyperlink" Target="https://github.com/zcochran27/tracking-data-applied-workshop/blob/main/notebooks/methods/06_physical_metrics.ipynb" TargetMode="External" /><ns0:Relationship Id="rIdWorkshop5" Type="http://schemas.openxmlformats.org/officeDocument/2006/relationships/hyperlink" Target="https://skillcorner.com/us/articles/scouted-brazilian-centre-backs" TargetMode="External" /><ns0:Relationship Id="rIdWorkshop6" Type="http://schemas.openxmlformats.org/officeDocument/2006/relationships/hyperlink" Target="https://databallpy.readthedocs.io/en/main/getting_started/preprocessing_options.html" TargetMode="External"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6.xml" Id="R3c8b2aeffd66400e" /><ns0:Relationship Type="http://schemas.openxmlformats.org/officeDocument/2006/relationships/image" Target="/ppt/media/image14.png" Id="Rfda6a68bea004ae4" /><ns0:Relationship Type="http://schemas.openxmlformats.org/officeDocument/2006/relationships/notesSlide" Target="/ppt/notesSlides/notesSlide19.xml" Id="R5481ea7926d34254" /><ns0:Relationship Id="rIdWorkshop4" Type="http://schemas.openxmlformats.org/officeDocument/2006/relationships/hyperlink" Target="https://github.com/zcochran27/tracking-data-applied-workshop/blob/main/notebooks/methods/06_physical_metrics.ipynb" TargetMode="External" /><ns0:Relationship Id="rIdWorkshop5" Type="http://schemas.openxmlformats.org/officeDocument/2006/relationships/hyperlink" Target="https://skillcorner.com/articles/new-feature-explosive-accelerations" TargetMode="External" /><ns0:Relationship Id="rIdWorkshop6" Type="http://schemas.openxmlformats.org/officeDocument/2006/relationships/hyperlink" Target="https://databallpy.readthedocs.io/en/main/getting_started/preprocessing_options.html" TargetMode="External"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6.xml" Id="R7320c84fa2fa4105" /><ns0:Relationship Type="http://schemas.openxmlformats.org/officeDocument/2006/relationships/image" Target="/ppt/media/image15.png" Id="R22c9963b596d40f6" /><ns0:Relationship Type="http://schemas.openxmlformats.org/officeDocument/2006/relationships/notesSlide" Target="/ppt/notesSlides/notesSlide20.xml" Id="Re32ae49fa2e54fd2" /><ns0:Relationship Id="rIdWorkshop4" Type="http://schemas.openxmlformats.org/officeDocument/2006/relationships/hyperlink" Target="https://github.com/zcochran27/tracking-data-applied-workshop/blob/main/notebooks/methods/06_physical_metrics.ipynb" TargetMode="External" /><ns0:Relationship Id="rIdWorkshop5" Type="http://schemas.openxmlformats.org/officeDocument/2006/relationships/hyperlink" Target="https://skillcorner.com/us/articles/scouted-brazilian-centre-backs" TargetMode="External" /><ns0:Relationship Id="rIdWorkshop6" Type="http://schemas.openxmlformats.org/officeDocument/2006/relationships/hyperlink" Target="https://skillcorner.com/articles/new-feature-explosive-accelerations" TargetMode="External"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6.xml" Id="R739ddbee4814413b" /><ns0:Relationship Type="http://schemas.openxmlformats.org/officeDocument/2006/relationships/image" Target="/ppt/media/image16.png" Id="R25867451834a4f38" /><ns0:Relationship Type="http://schemas.openxmlformats.org/officeDocument/2006/relationships/notesSlide" Target="/ppt/notesSlides/notesSlide21.xml" Id="Rfe3c441bfbbd47ee" /><ns0:Relationship Id="rIdWorkshop4" Type="http://schemas.openxmlformats.org/officeDocument/2006/relationships/hyperlink" Target="https://github.com/zcochran27/tracking-data-applied-workshop/blob/main/notebooks/methods/06_physical_metrics.ipynb" TargetMode="External" /><ns0:Relationship Id="rIdWorkshop5" Type="http://schemas.openxmlformats.org/officeDocument/2006/relationships/hyperlink" Target="https://skillcorner.com/us/articles/scouted-brazilian-centre-backs" TargetMode="External" /><ns0:Relationship Id="rIdWorkshop6" Type="http://schemas.openxmlformats.org/officeDocument/2006/relationships/hyperlink" Target="https://skillcorner.com/articles/new-feature-explosive-accelerations" TargetMode="External" /></ns0: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6.xml" Id="R97f12d32a2444424" /><ns0:Relationship Type="http://schemas.openxmlformats.org/officeDocument/2006/relationships/image" Target="/ppt/media/image17.png" Id="R1ef56bf608dd4bbe" /><ns0:Relationship Type="http://schemas.openxmlformats.org/officeDocument/2006/relationships/notesSlide" Target="/ppt/notesSlides/notesSlide22.xml" Id="Re03ce09861fb40b8" /><ns0:Relationship Id="rIdWorkshop4" Type="http://schemas.openxmlformats.org/officeDocument/2006/relationships/hyperlink" Target="https://skillcorner.com/articles/skillcorner-releases-new-peak-velocity-metric" TargetMode="External" /></ns0:Relationships>
</file>

<file path=ppt/slides/_rels/slide23.xml.rels><?xml version='1.0' encoding='utf-8'?>
<ns0:Relationships xmlns:ns0="http://schemas.openxmlformats.org/package/2006/relationships"><ns0:Relationship Type="http://schemas.openxmlformats.org/officeDocument/2006/relationships/slideLayout" Target="/ppt/slideLayouts/slideLayout6.xml" Id="Rd5ffbdeba48742cb" /><ns0:Relationship Type="http://schemas.openxmlformats.org/officeDocument/2006/relationships/image" Target="/ppt/media/image18.png" Id="R90eb3d5c56b043fa" /><ns0:Relationship Type="http://schemas.openxmlformats.org/officeDocument/2006/relationships/notesSlide" Target="/ppt/notesSlides/notesSlide23.xml" Id="R1dbb1f4a16744971" /><ns0:Relationship Id="rIdWorkshop4" Type="http://schemas.openxmlformats.org/officeDocument/2006/relationships/hyperlink" Target="https://skillcorner.com/articles/skillcorner-releases-new-peak-velocity-metric" TargetMode="External" /></ns0:Relationships>
</file>

<file path=ppt/slides/_rels/slide24.xml.rels><?xml version='1.0' encoding='utf-8'?>
<ns0:Relationships xmlns:ns0="http://schemas.openxmlformats.org/package/2006/relationships"><ns0:Relationship Type="http://schemas.openxmlformats.org/officeDocument/2006/relationships/slideLayout" Target="/ppt/slideLayouts/slideLayout6.xml" Id="Rb023e0f00a82408e" /><ns0:Relationship Type="http://schemas.openxmlformats.org/officeDocument/2006/relationships/notesSlide" Target="/ppt/notesSlides/notesSlide24.xml" Id="R71cfc23557484129" /></ns0:Relationships>
</file>

<file path=ppt/slides/_rels/slide25.xml.rels><?xml version='1.0' encoding='utf-8'?>
<ns0:Relationships xmlns:ns0="http://schemas.openxmlformats.org/package/2006/relationships"><ns0:Relationship Type="http://schemas.openxmlformats.org/officeDocument/2006/relationships/slideLayout" Target="/ppt/slideLayouts/slideLayout6.xml" Id="R286de1b0cb8d41d8" /><ns0:Relationship Type="http://schemas.openxmlformats.org/officeDocument/2006/relationships/image" Target="/ppt/media/image19.png" Id="R0333b17b5a3942c0" /><ns0:Relationship Type="http://schemas.openxmlformats.org/officeDocument/2006/relationships/notesSlide" Target="/ppt/notesSlides/notesSlide25.xml" Id="R48100e3cccb74b4b" /><ns0:Relationship Id="rIdWorkshop4" Type="http://schemas.openxmlformats.org/officeDocument/2006/relationships/hyperlink" Target="https://github.com/zcochran27/tracking-data-applied-workshop/blob/main/notebooks/methods/07_expected_goals.ipynb" TargetMode="External" /><ns0:Relationship Id="rIdWorkshop5" Type="http://schemas.openxmlformats.org/officeDocument/2006/relationships/hyperlink" Target="https://blogarchive.statsbomb.com/articles/soccer/upgrading-expected-goals/" TargetMode="External" /></ns0:Relationships>
</file>

<file path=ppt/slides/_rels/slide26.xml.rels><?xml version='1.0' encoding='utf-8'?>
<ns0:Relationships xmlns:ns0="http://schemas.openxmlformats.org/package/2006/relationships"><ns0:Relationship Type="http://schemas.openxmlformats.org/officeDocument/2006/relationships/slideLayout" Target="/ppt/slideLayouts/slideLayout6.xml" Id="Rc131da3565b94f06" /><ns0:Relationship Type="http://schemas.openxmlformats.org/officeDocument/2006/relationships/image" Target="/ppt/media/image20.png" Id="R3a5af50189d54312" /><ns0:Relationship Type="http://schemas.openxmlformats.org/officeDocument/2006/relationships/notesSlide" Target="/ppt/notesSlides/notesSlide26.xml" Id="R94c8c35a68f74f4d" /><ns0:Relationship Id="rIdWorkshop4" Type="http://schemas.openxmlformats.org/officeDocument/2006/relationships/hyperlink" Target="https://github.com/zcochran27/tracking-data-applied-workshop/blob/main/notebooks/methods/07_expected_goals.ipynb" TargetMode="External" /><ns0:Relationship Id="rIdWorkshop5" Type="http://schemas.openxmlformats.org/officeDocument/2006/relationships/hyperlink" Target="https://blogarchive.statsbomb.com/articles/soccer/upgrading-expected-goals/" TargetMode="External" /></ns0:Relationships>
</file>

<file path=ppt/slides/_rels/slide27.xml.rels><?xml version='1.0' encoding='utf-8'?>
<ns0:Relationships xmlns:ns0="http://schemas.openxmlformats.org/package/2006/relationships"><ns0:Relationship Type="http://schemas.openxmlformats.org/officeDocument/2006/relationships/slideLayout" Target="/ppt/slideLayouts/slideLayout6.xml" Id="R89a751d0772740f0" /><ns0:Relationship Type="http://schemas.openxmlformats.org/officeDocument/2006/relationships/image" Target="/ppt/media/image21.png" Id="Re37958ca15414f4f" /><ns0:Relationship Type="http://schemas.openxmlformats.org/officeDocument/2006/relationships/notesSlide" Target="/ppt/notesSlides/notesSlide27.xml" Id="Ree881607fb3748d2" /><ns0:Relationship Id="rIdWorkshop4" Type="http://schemas.openxmlformats.org/officeDocument/2006/relationships/hyperlink" Target="https://github.com/zcochran27/tracking-data-applied-workshop/blob/main/notebooks/methods/08_expected_threat.ipynb" TargetMode="External" /><ns0:Relationship Id="rIdWorkshop5" Type="http://schemas.openxmlformats.org/officeDocument/2006/relationships/hyperlink" Target="https://karun.in/blog/expected-threat.html" TargetMode="External" /><ns0:Relationship Id="rIdWorkshop6" Type="http://schemas.openxmlformats.org/officeDocument/2006/relationships/hyperlink" Target="https://databallpy.readthedocs.io/en/main/features/xt_models.html" TargetMode="External" /></ns0:Relationships>
</file>

<file path=ppt/slides/_rels/slide28.xml.rels><?xml version='1.0' encoding='utf-8'?>
<ns0:Relationships xmlns:ns0="http://schemas.openxmlformats.org/package/2006/relationships"><ns0:Relationship Type="http://schemas.openxmlformats.org/officeDocument/2006/relationships/slideLayout" Target="/ppt/slideLayouts/slideLayout6.xml" Id="Rad6eb9d112954cc9" /><ns0:Relationship Type="http://schemas.openxmlformats.org/officeDocument/2006/relationships/image" Target="/ppt/media/image22.png" Id="R9a49e3e6e9fb443a" /><ns0:Relationship Type="http://schemas.openxmlformats.org/officeDocument/2006/relationships/notesSlide" Target="/ppt/notesSlides/notesSlide28.xml" Id="R31e1e8c086c746f6" /><ns0:Relationship Id="rIdWorkshop4" Type="http://schemas.openxmlformats.org/officeDocument/2006/relationships/hyperlink" Target="https://github.com/zcochran27/tracking-data-applied-workshop/blob/main/notebooks/methods/09_voronoi_control.ipynb" TargetMode="External" /><ns0:Relationship Id="rIdWorkshop5" Type="http://schemas.openxmlformats.org/officeDocument/2006/relationships/hyperlink" Target="https://www.frontiersin.org/journals/sports-and-active-living/articles/10.3389/fspor.2021.676179/full" TargetMode="External" /><ns0:Relationship Id="rIdWorkshop6" Type="http://schemas.openxmlformats.org/officeDocument/2006/relationships/hyperlink" Target="https://static.capabiliaserver.com/frontend/clients/barca/wp_prod/wp-content/uploads/2018/05/Wide-Open-Spaces.pdf" TargetMode="External" /></ns0:Relationships>
</file>

<file path=ppt/slides/_rels/slide29.xml.rels><?xml version='1.0' encoding='utf-8'?>
<ns0:Relationships xmlns:ns0="http://schemas.openxmlformats.org/package/2006/relationships"><ns0:Relationship Type="http://schemas.openxmlformats.org/officeDocument/2006/relationships/slideLayout" Target="/ppt/slideLayouts/slideLayout6.xml" Id="R0cbb276a5f794c15" /><ns0:Relationship Type="http://schemas.openxmlformats.org/officeDocument/2006/relationships/image" Target="/ppt/media/image23.png" Id="R14b86f4a335f43a8" /><ns0:Relationship Type="http://schemas.openxmlformats.org/officeDocument/2006/relationships/notesSlide" Target="/ppt/notesSlides/notesSlide29.xml" Id="R7548487e31f747d3" /><ns0:Relationship Id="rIdWorkshop4" Type="http://schemas.openxmlformats.org/officeDocument/2006/relationships/hyperlink" Target="https://github.com/zcochran27/tracking-data-applied-workshop/blob/main/notebooks/methods/10_gaussian_control.ipynb" TargetMode="External" /><ns0:Relationship Id="rIdWorkshop5" Type="http://schemas.openxmlformats.org/officeDocument/2006/relationships/hyperlink" Target="https://static.capabiliaserver.com/frontend/clients/barca/wp_prod/wp-content/uploads/2018/05/Wide-Open-Spaces.pdf" TargetMode="External" /></ns0:Relationships>
</file>

<file path=ppt/slides/_rels/slide30.xml.rels><?xml version='1.0' encoding='utf-8'?>
<ns0:Relationships xmlns:ns0="http://schemas.openxmlformats.org/package/2006/relationships"><ns0:Relationship Type="http://schemas.openxmlformats.org/officeDocument/2006/relationships/slideLayout" Target="/ppt/slideLayouts/slideLayout6.xml" Id="R8dc9fe5eec734c73" /><ns0:Relationship Type="http://schemas.openxmlformats.org/officeDocument/2006/relationships/image" Target="/ppt/media/image24.png" Id="R2514bdcf707447d2" /><ns0:Relationship Type="http://schemas.openxmlformats.org/officeDocument/2006/relationships/notesSlide" Target="/ppt/notesSlides/notesSlide30.xml" Id="Rffa776ffaa204779" /><ns0:Relationship Id="rIdWorkshop4" Type="http://schemas.openxmlformats.org/officeDocument/2006/relationships/hyperlink" Target="https://github.com/zcochran27/tracking-data-applied-workshop/blob/main/notebooks/methods/11_arrival_time_control.ipynb" TargetMode="External" /><ns0:Relationship Id="rIdWorkshop5" Type="http://schemas.openxmlformats.org/officeDocument/2006/relationships/hyperlink" Target="https://static.hudl.com/craft/downloads/SSAC2018_Beyond_Expected_Goals.pdf?mtime=20180327111214" TargetMode="External" /><ns0:Relationship Id="rIdWorkshop6" Type="http://schemas.openxmlformats.org/officeDocument/2006/relationships/hyperlink" Target="https://www.frontiersin.org/journals/sports-and-active-living/articles/10.3389/fspor.2021.676179/full" TargetMode="External" /></ns0:Relationships>
</file>

<file path=ppt/slides/_rels/slide31.xml.rels><?xml version='1.0' encoding='utf-8'?>
<ns0:Relationships xmlns:ns0="http://schemas.openxmlformats.org/package/2006/relationships"><ns0:Relationship Type="http://schemas.openxmlformats.org/officeDocument/2006/relationships/slideLayout" Target="/ppt/slideLayouts/slideLayout6.xml" Id="Rf829a5f14102416d" /><ns0:Relationship Type="http://schemas.openxmlformats.org/officeDocument/2006/relationships/image" Target="/ppt/media/image25.png" Id="R1673582395b34807" /><ns0:Relationship Type="http://schemas.openxmlformats.org/officeDocument/2006/relationships/notesSlide" Target="/ppt/notesSlides/notesSlide31.xml" Id="Rd2bfecd75bce4ea0" /><ns0:Relationship Id="rIdWorkshop4" Type="http://schemas.openxmlformats.org/officeDocument/2006/relationships/hyperlink" Target="https://github.com/zcochran27/tracking-data-applied-workshop/blob/main/notebooks/methods/11_arrival_time_control.ipynb" TargetMode="External" /><ns0:Relationship Id="rIdWorkshop5" Type="http://schemas.openxmlformats.org/officeDocument/2006/relationships/hyperlink" Target="https://static.capabiliaserver.com/frontend/clients/barca/wp_prod/wp-content/uploads/2018/05/Wide-Open-Spaces.pdf" TargetMode="External" /><ns0:Relationship Id="rIdWorkshop6" Type="http://schemas.openxmlformats.org/officeDocument/2006/relationships/hyperlink" Target="https://static.hudl.com/craft/downloads/SSAC2018_Beyond_Expected_Goals.pdf?mtime=20180327111214" TargetMode="External" /><ns0:Relationship Id="rIdWorkshopVideo" Type="http://schemas.openxmlformats.org/officeDocument/2006/relationships/video" Target="../media/workshop_control_comparison.mp4" /><ns0:Relationship Id="rIdWorkshopMedia" Type="http://schemas.microsoft.com/office/2007/relationships/media" Target="../media/workshop_control_comparison.mp4" /></ns0:Relationships>
</file>

<file path=ppt/slides/_rels/slide32.xml.rels><?xml version='1.0' encoding='utf-8'?>
<ns0:Relationships xmlns:ns0="http://schemas.openxmlformats.org/package/2006/relationships"><ns0:Relationship Type="http://schemas.openxmlformats.org/officeDocument/2006/relationships/slideLayout" Target="/ppt/slideLayouts/slideLayout6.xml" Id="Rd7844d99689e4c8b" /><ns0:Relationship Type="http://schemas.openxmlformats.org/officeDocument/2006/relationships/image" Target="/ppt/media/image26.png" Id="R920d72e23cc24439" /><ns0:Relationship Type="http://schemas.openxmlformats.org/officeDocument/2006/relationships/notesSlide" Target="/ppt/notesSlides/notesSlide32.xml" Id="R9b224621f65f49d3" /><ns0:Relationship Id="rIdWorkshop4" Type="http://schemas.openxmlformats.org/officeDocument/2006/relationships/hyperlink" Target="https://github.com/zcochran27/tracking-data-applied-workshop/blob/main/notebooks/methods/12_pass_completion.ipynb" TargetMode="External" /><ns0:Relationship Id="rIdWorkshop5" Type="http://schemas.openxmlformats.org/officeDocument/2006/relationships/hyperlink" Target="https://static.hudl.com/craft/downloads/SSAC2018_Beyond_Expected_Goals.pdf?mtime=20180327111214" TargetMode="External" /><ns0:Relationship Id="rIdWorkshopVideo" Type="http://schemas.openxmlformats.org/officeDocument/2006/relationships/video" Target="../media/workshop_pass_survival_options.mp4" /><ns0:Relationship Id="rIdWorkshopMedia" Type="http://schemas.microsoft.com/office/2007/relationships/media" Target="../media/workshop_pass_survival_options.mp4" /></ns0:Relationships>
</file>

<file path=ppt/slides/_rels/slide33.xml.rels><?xml version='1.0' encoding='utf-8'?>
<ns0:Relationships xmlns:ns0="http://schemas.openxmlformats.org/package/2006/relationships"><ns0:Relationship Type="http://schemas.openxmlformats.org/officeDocument/2006/relationships/slideLayout" Target="/ppt/slideLayouts/slideLayout6.xml" Id="R09e703b7a66343a5" /><ns0:Relationship Type="http://schemas.openxmlformats.org/officeDocument/2006/relationships/image" Target="/ppt/media/image27.png" Id="R72e0fbd881b7476d" /><ns0:Relationship Type="http://schemas.openxmlformats.org/officeDocument/2006/relationships/notesSlide" Target="/ppt/notesSlides/notesSlide33.xml" Id="R97050afa1ad3425a" /><ns0:Relationship Id="rIdWorkshop4" Type="http://schemas.openxmlformats.org/officeDocument/2006/relationships/hyperlink" Target="https://github.com/zcochran27/tracking-data-applied-workshop/blob/main/notebooks/methods/13_space_and_danger.ipynb" TargetMode="External" /><ns0:Relationship Id="rIdWorkshop5" Type="http://schemas.openxmlformats.org/officeDocument/2006/relationships/hyperlink" Target="https://github.com/jonas-bischofberger/accessible-space" TargetMode="External" /><ns0:Relationship Id="rIdWorkshop6" Type="http://schemas.openxmlformats.org/officeDocument/2006/relationships/hyperlink" Target="https://databallpy.readthedocs.io/en/main/features/dangerous_accessible_space.html" TargetMode="External" /></ns0:Relationships>
</file>

<file path=ppt/slides/_rels/slide34.xml.rels><?xml version='1.0' encoding='utf-8'?>
<ns0:Relationships xmlns:ns0="http://schemas.openxmlformats.org/package/2006/relationships"><ns0:Relationship Type="http://schemas.openxmlformats.org/officeDocument/2006/relationships/slideLayout" Target="/ppt/slideLayouts/slideLayout6.xml" Id="R8b2416d227a941b8" /><ns0:Relationship Type="http://schemas.openxmlformats.org/officeDocument/2006/relationships/image" Target="/ppt/media/image28.png" Id="R6f28719340784233" /><ns0:Relationship Type="http://schemas.openxmlformats.org/officeDocument/2006/relationships/notesSlide" Target="/ppt/notesSlides/notesSlide34.xml" Id="Re3f065ad01b54c19" /><ns0:Relationship Id="rIdWorkshop4" Type="http://schemas.openxmlformats.org/officeDocument/2006/relationships/hyperlink" Target="https://github.com/zcochran27/tracking-data-applied-workshop/blob/main/notebooks/methods/13_space_and_danger.ipynb" TargetMode="External" /><ns0:Relationship Id="rIdWorkshop5" Type="http://schemas.openxmlformats.org/officeDocument/2006/relationships/hyperlink" Target="https://github.com/jonas-bischofberger/accessible-space" TargetMode="External" /><ns0:Relationship Id="rIdWorkshop6" Type="http://schemas.openxmlformats.org/officeDocument/2006/relationships/hyperlink" Target="https://databallpy.readthedocs.io/en/main/features/dangerous_accessible_space.html" TargetMode="External" /></ns0:Relationships>
</file>

<file path=ppt/slides/_rels/slide35.xml.rels><?xml version='1.0' encoding='utf-8'?>
<ns0:Relationships xmlns:ns0="http://schemas.openxmlformats.org/package/2006/relationships"><ns0:Relationship Type="http://schemas.openxmlformats.org/officeDocument/2006/relationships/slideLayout" Target="/ppt/slideLayouts/slideLayout6.xml" Id="R012c96785a7a43b7" /><ns0:Relationship Type="http://schemas.openxmlformats.org/officeDocument/2006/relationships/image" Target="/ppt/media/image29.png" Id="Rcfa3c5a9be354ecc" /><ns0:Relationship Type="http://schemas.openxmlformats.org/officeDocument/2006/relationships/notesSlide" Target="/ppt/notesSlides/notesSlide35.xml" Id="R39d20409505f4659" /><ns0:Relationship Id="rIdWorkshop4" Type="http://schemas.openxmlformats.org/officeDocument/2006/relationships/hyperlink" Target="https://github.com/zcochran27/tracking-data-applied-workshop/blob/main/notebooks/methods/13_space_and_danger.ipynb" TargetMode="External" /><ns0:Relationship Id="rIdWorkshop5" Type="http://schemas.openxmlformats.org/officeDocument/2006/relationships/hyperlink" Target="https://github.com/jonas-bischofberger/accessible-space" TargetMode="External" /><ns0:Relationship Id="rIdWorkshop6" Type="http://schemas.openxmlformats.org/officeDocument/2006/relationships/hyperlink" Target="https://databallpy.readthedocs.io/en/main/features/dangerous_accessible_space.html" TargetMode="External" /><ns0:Relationship Id="rIdWorkshopVideo" Type="http://schemas.openxmlformats.org/officeDocument/2006/relationships/video" Target="../media/workshop_dangerous_space_ball.mp4" /><ns0:Relationship Id="rIdWorkshopMedia" Type="http://schemas.microsoft.com/office/2007/relationships/media" Target="../media/workshop_dangerous_space_ball.mp4" /></ns0:Relationships>
</file>

<file path=ppt/slides/_rels/slide36.xml.rels><?xml version='1.0' encoding='utf-8'?>
<ns0:Relationships xmlns:ns0="http://schemas.openxmlformats.org/package/2006/relationships"><ns0:Relationship Type="http://schemas.openxmlformats.org/officeDocument/2006/relationships/slideLayout" Target="/ppt/slideLayouts/slideLayout6.xml" Id="R6b8db0a7a7214d48" /><ns0:Relationship Type="http://schemas.openxmlformats.org/officeDocument/2006/relationships/image" Target="/ppt/media/image30.png" Id="R8a6bf55c614a446b" /><ns0:Relationship Type="http://schemas.openxmlformats.org/officeDocument/2006/relationships/notesSlide" Target="/ppt/notesSlides/notesSlide36.xml" Id="Rc92864391aff4f63" /><ns0:Relationship Id="rIdWorkshop4" Type="http://schemas.openxmlformats.org/officeDocument/2006/relationships/hyperlink" Target="https://www.linkedin.com/posts/skillcorner_game-intelligence-expected-threat-activity-7057009275247689728-NVPh" TargetMode="External" /><ns0:Relationship Id="rIdWorkshop5" Type="http://schemas.openxmlformats.org/officeDocument/2006/relationships/hyperlink" Target="https://github.com/SkillCorner/opendata" TargetMode="External" /><ns0:Relationship Id="rIdWorkshopVideo" Type="http://schemas.openxmlformats.org/officeDocument/2006/relationships/video" Target="../media/workshop_run_comparison.mp4" /><ns0:Relationship Id="rIdWorkshopMedia" Type="http://schemas.microsoft.com/office/2007/relationships/media" Target="../media/workshop_run_comparison.mp4" /></ns0:Relationships>
</file>

<file path=ppt/slides/_rels/slide37.xml.rels><?xml version='1.0' encoding='utf-8'?>
<ns0:Relationships xmlns:ns0="http://schemas.openxmlformats.org/package/2006/relationships"><ns0:Relationship Type="http://schemas.openxmlformats.org/officeDocument/2006/relationships/slideLayout" Target="/ppt/slideLayouts/slideLayout6.xml" Id="R26c57b81de054d53" /><ns0:Relationship Type="http://schemas.openxmlformats.org/officeDocument/2006/relationships/image" Target="/ppt/media/image31.png" Id="Re9fbee3837bf4934" /><ns0:Relationship Type="http://schemas.openxmlformats.org/officeDocument/2006/relationships/notesSlide" Target="/ppt/notesSlides/notesSlide37.xml" Id="R99e94f825e6c44d1" /><ns0:Relationship Id="rIdWorkshop4" Type="http://schemas.openxmlformats.org/officeDocument/2006/relationships/hyperlink" Target="https://github.com/zcochran27/tracking-data-applied-workshop/blob/main/notebooks/methods/16_graph_epv.ipynb" TargetMode="External" /><ns0:Relationship Id="rIdWorkshop5" Type="http://schemas.openxmlformats.org/officeDocument/2006/relationships/hyperlink" Target="https://rawcdn.githack.com/UnravelSports/keynotes/main/html/20250607-PyData-London.html" TargetMode="External" /></ns0:Relationships>
</file>

<file path=ppt/slides/_rels/slide38.xml.rels><?xml version='1.0' encoding='utf-8'?>
<ns0:Relationships xmlns:ns0="http://schemas.openxmlformats.org/package/2006/relationships"><ns0:Relationship Type="http://schemas.openxmlformats.org/officeDocument/2006/relationships/slideLayout" Target="/ppt/slideLayouts/slideLayout6.xml" Id="R240d55c81820465f" /><ns0:Relationship Type="http://schemas.openxmlformats.org/officeDocument/2006/relationships/image" Target="/ppt/media/image32.png" Id="Rad84b6c0363d4503" /><ns0:Relationship Type="http://schemas.openxmlformats.org/officeDocument/2006/relationships/notesSlide" Target="/ppt/notesSlides/notesSlide38.xml" Id="R1099de887f504755" /><ns0:Relationship Id="rIdWorkshop4" Type="http://schemas.openxmlformats.org/officeDocument/2006/relationships/hyperlink" Target="https://github.com/zcochran27/tracking-data-applied-workshop/blob/main/notebooks/methods/16_graph_epv.ipynb" TargetMode="External" /><ns0:Relationship Id="rIdWorkshop5" Type="http://schemas.openxmlformats.org/officeDocument/2006/relationships/hyperlink" Target="https://rawcdn.githack.com/UnravelSports/keynotes/main/html/20250607-PyData-London.html" TargetMode="External" /><ns0:Relationship Id="rIdWorkshop6" Type="http://schemas.openxmlformats.org/officeDocument/2006/relationships/hyperlink" Target="https://unravelsports.readthedocs.io/en/latest/tutorials/soccer_gnn.html" TargetMode="External" /></ns0:Relationships>
</file>

<file path=ppt/slides/_rels/slide39.xml.rels><?xml version='1.0' encoding='utf-8'?>
<ns0:Relationships xmlns:ns0="http://schemas.openxmlformats.org/package/2006/relationships"><ns0:Relationship Type="http://schemas.openxmlformats.org/officeDocument/2006/relationships/slideLayout" Target="/ppt/slideLayouts/slideLayout6.xml" Id="R874e4995d80a401c" /><ns0:Relationship Type="http://schemas.openxmlformats.org/officeDocument/2006/relationships/image" Target="/ppt/media/image33.png" Id="Rbd7836027d484c97" /><ns0:Relationship Type="http://schemas.openxmlformats.org/officeDocument/2006/relationships/notesSlide" Target="/ppt/notesSlides/notesSlide39.xml" Id="R92a434b848d44946" /><ns0:Relationship Id="rIdWorkshop4" Type="http://schemas.openxmlformats.org/officeDocument/2006/relationships/hyperlink" Target="https://github.com/zcochran27/tracking-data-applied-workshop/blob/main/notebooks/methods/16_graph_epv.ipynb" TargetMode="External" /><ns0:Relationship Id="rIdWorkshop5" Type="http://schemas.openxmlformats.org/officeDocument/2006/relationships/hyperlink" Target="https://rawcdn.githack.com/UnravelSports/keynotes/main/html/20250607-PyData-London.html" TargetMode="External" /><ns0:Relationship Id="rIdWorkshop6" Type="http://schemas.openxmlformats.org/officeDocument/2006/relationships/hyperlink" Target="https://unravelsports.readthedocs.io/en/latest/tutorials/soccer_gnn.html" TargetMode="External" /></ns0:Relationships>
</file>

<file path=ppt/slides/_rels/slide40.xml.rels><?xml version='1.0' encoding='utf-8'?>
<ns0:Relationships xmlns:ns0="http://schemas.openxmlformats.org/package/2006/relationships"><ns0:Relationship Type="http://schemas.openxmlformats.org/officeDocument/2006/relationships/slideLayout" Target="/ppt/slideLayouts/slideLayout6.xml" Id="Rcc4bdf2f9c844003" /><ns0:Relationship Type="http://schemas.openxmlformats.org/officeDocument/2006/relationships/image" Target="/ppt/media/image34.png" Id="R1f8f3746242749c6" /><ns0:Relationship Type="http://schemas.openxmlformats.org/officeDocument/2006/relationships/notesSlide" Target="/ppt/notesSlides/notesSlide40.xml" Id="Rb2b40b76dd1d41ad" /><ns0:Relationship Id="rIdWorkshop4" Type="http://schemas.openxmlformats.org/officeDocument/2006/relationships/hyperlink" Target="https://github.com/zcochran27/tracking-data-applied-workshop/blob/main/notebooks/methods/16_graph_epv.ipynb" TargetMode="External" /><ns0:Relationship Id="rIdWorkshop5" Type="http://schemas.openxmlformats.org/officeDocument/2006/relationships/hyperlink" Target="https://rawcdn.githack.com/UnravelSports/keynotes/main/html/20250607-PyData-London.html" TargetMode="External" /><ns0:Relationship Id="rIdWorkshop6" Type="http://schemas.openxmlformats.org/officeDocument/2006/relationships/hyperlink" Target="https://github.com/USSoccerFederation/ussf_ssac_23_soccer_gnn" TargetMode="External" /></ns0:Relationships>
</file>

<file path=ppt/slides/_rels/slide41.xml.rels><?xml version='1.0' encoding='utf-8'?>
<ns0:Relationships xmlns:ns0="http://schemas.openxmlformats.org/package/2006/relationships"><ns0:Relationship Type="http://schemas.openxmlformats.org/officeDocument/2006/relationships/slideLayout" Target="/ppt/slideLayouts/slideLayout6.xml" Id="R0ef5d0af3c574ebc" /><ns0:Relationship Type="http://schemas.openxmlformats.org/officeDocument/2006/relationships/image" Target="/ppt/media/image35.png" Id="R3d8a7f73ff984d72" /><ns0:Relationship Type="http://schemas.openxmlformats.org/officeDocument/2006/relationships/notesSlide" Target="/ppt/notesSlides/notesSlide41.xml" Id="Reb0b5504a71c4ac0" /><ns0:Relationship Id="rIdWorkshop4" Type="http://schemas.openxmlformats.org/officeDocument/2006/relationships/hyperlink" Target="https://github.com/zcochran27/tracking-data-applied-workshop/blob/main/notebooks/methods/16_graph_epv.ipynb" TargetMode="External" /><ns0:Relationship Id="rIdWorkshop5" Type="http://schemas.openxmlformats.org/officeDocument/2006/relationships/hyperlink" Target="https://rawcdn.githack.com/UnravelSports/keynotes/main/html/20250607-PyData-London.html" TargetMode="External" /><ns0:Relationship Id="rIdWorkshop6" Type="http://schemas.openxmlformats.org/officeDocument/2006/relationships/hyperlink" Target="https://unravelsports.readthedocs.io/en/latest/tutorials/soccer_gnn.html" TargetMode="External" /><ns0:Relationship Id="rIdWorkshopVideo" Type="http://schemas.openxmlformats.org/officeDocument/2006/relationships/video" Target="../media/workshop_dynamic_graph.mp4" /><ns0:Relationship Id="rIdWorkshopMedia" Type="http://schemas.microsoft.com/office/2007/relationships/media" Target="../media/workshop_dynamic_graph.mp4" /></ns0:Relationships>
</file>

<file path=ppt/slides/_rels/slide42.xml.rels><?xml version='1.0' encoding='utf-8'?>
<ns0:Relationships xmlns:ns0="http://schemas.openxmlformats.org/package/2006/relationships"><ns0:Relationship Type="http://schemas.openxmlformats.org/officeDocument/2006/relationships/slideLayout" Target="/ppt/slideLayouts/slideLayout6.xml" Id="R14a70b58650d4381" /><ns0:Relationship Type="http://schemas.openxmlformats.org/officeDocument/2006/relationships/image" Target="/ppt/media/image36.png" Id="Ra2a23f9fc430413a" /><ns0:Relationship Type="http://schemas.openxmlformats.org/officeDocument/2006/relationships/notesSlide" Target="/ppt/notesSlides/notesSlide42.xml" Id="Rc3e643fe62a34a32" /><ns0:Relationship Id="rIdWorkshop4" Type="http://schemas.openxmlformats.org/officeDocument/2006/relationships/hyperlink" Target="https://github.com/zcochran27/tracking-data-applied-workshop/blob/main/notebooks/methods/16_graph_epv.ipynb" TargetMode="External" /><ns0:Relationship Id="rIdWorkshop5" Type="http://schemas.openxmlformats.org/officeDocument/2006/relationships/hyperlink" Target="https://rawcdn.githack.com/UnravelSports/keynotes/main/html/20250607-PyData-London.html" TargetMode="External" /></ns0:Relationships>
</file>

<file path=ppt/slides/_rels/slide43.xml.rels><?xml version='1.0' encoding='utf-8'?>
<ns0:Relationships xmlns:ns0="http://schemas.openxmlformats.org/package/2006/relationships"><ns0:Relationship Type="http://schemas.openxmlformats.org/officeDocument/2006/relationships/slideLayout" Target="/ppt/slideLayouts/slideLayout6.xml" Id="R4d6d52932eb94693" /><ns0:Relationship Type="http://schemas.openxmlformats.org/officeDocument/2006/relationships/image" Target="/ppt/media/image37.png" Id="R1b5f4683192d4dc7" /><ns0:Relationship Type="http://schemas.openxmlformats.org/officeDocument/2006/relationships/notesSlide" Target="/ppt/notesSlides/notesSlide43.xml" Id="R5528ea5c38214368" /><ns0:Relationship Id="rIdWorkshop4" Type="http://schemas.openxmlformats.org/officeDocument/2006/relationships/hyperlink" Target="https://github.com/zcochran27/tracking-data-applied-workshop/blob/main/notebooks/methods/16_graph_epv.ipynb" TargetMode="External" /><ns0:Relationship Id="rIdWorkshop5" Type="http://schemas.openxmlformats.org/officeDocument/2006/relationships/hyperlink" Target="https://github.com/SkillCorner/opendata" TargetMode="External" /><ns0:Relationship Id="rIdWorkshop6" Type="http://schemas.openxmlformats.org/officeDocument/2006/relationships/hyperlink" Target="https://rawcdn.githack.com/UnravelSports/keynotes/main/html/20250607-PyData-London.html" TargetMode="External" /></ns0:Relationships>
</file>

<file path=ppt/slides/_rels/slide44.xml.rels><?xml version='1.0' encoding='utf-8'?>
<ns0:Relationships xmlns:ns0="http://schemas.openxmlformats.org/package/2006/relationships"><ns0:Relationship Type="http://schemas.openxmlformats.org/officeDocument/2006/relationships/slideLayout" Target="/ppt/slideLayouts/slideLayout6.xml" Id="Ref04cde41f69428e" /><ns0:Relationship Type="http://schemas.openxmlformats.org/officeDocument/2006/relationships/image" Target="/ppt/media/image38.png" Id="R280ea34e6e0b4923" /><ns0:Relationship Type="http://schemas.openxmlformats.org/officeDocument/2006/relationships/notesSlide" Target="/ppt/notesSlides/notesSlide44.xml" Id="Rb197f3d4980f419a" /><ns0:Relationship Id="rIdWorkshop4" Type="http://schemas.openxmlformats.org/officeDocument/2006/relationships/hyperlink" Target="https://github.com/zcochran27/tracking-data-applied-workshop/blob/main/notebooks/methods/16_graph_epv.ipynb" TargetMode="External" /><ns0:Relationship Id="rIdWorkshop5" Type="http://schemas.openxmlformats.org/officeDocument/2006/relationships/hyperlink" Target="https://github.com/SkillCorner/opendata" TargetMode="External" /><ns0:Relationship Id="rIdWorkshop6" Type="http://schemas.openxmlformats.org/officeDocument/2006/relationships/hyperlink" Target="https://rawcdn.githack.com/UnravelSports/keynotes/main/html/20250607-PyData-London.html" TargetMode="External" /><ns0:Relationship Id="rIdWorkshopVideo" Type="http://schemas.openxmlformats.org/officeDocument/2006/relationships/video" Target="../media/workshop_graph_epv_possession.mp4" /><ns0:Relationship Id="rIdWorkshopMedia" Type="http://schemas.microsoft.com/office/2007/relationships/media" Target="../media/workshop_graph_epv_possession.mp4" /></ns0:Relationships>
</file>

<file path=ppt/slides/_rels/slide45.xml.rels><?xml version='1.0' encoding='utf-8'?>
<ns0:Relationships xmlns:ns0="http://schemas.openxmlformats.org/package/2006/relationships"><ns0:Relationship Type="http://schemas.openxmlformats.org/officeDocument/2006/relationships/slideLayout" Target="/ppt/slideLayouts/slideLayout6.xml" Id="R261ce4beba444ace" /><ns0:Relationship Type="http://schemas.openxmlformats.org/officeDocument/2006/relationships/image" Target="/ppt/media/image39.png" Id="Rd7ac2b991d6d40b2" /><ns0:Relationship Type="http://schemas.openxmlformats.org/officeDocument/2006/relationships/notesSlide" Target="/ppt/notesSlides/notesSlide45.xml" Id="R6aec7839b75c40f1" /><ns0:Relationship Id="rIdWorkshop4" Type="http://schemas.openxmlformats.org/officeDocument/2006/relationships/hyperlink" Target="https://github.com/SkillCorner/opendata" TargetMode="External" /><ns0:Relationship Id="rIdWorkshop5" Type="http://schemas.openxmlformats.org/officeDocument/2006/relationships/hyperlink" Target="https://pmc.ncbi.nlm.nih.gov/articles/PMC8570314/" TargetMode="External" /></ns0:Relationships>
</file>

<file path=ppt/slides/_rels/slide46.xml.rels><?xml version='1.0' encoding='utf-8'?>
<ns0:Relationships xmlns:ns0="http://schemas.openxmlformats.org/package/2006/relationships"><ns0:Relationship Type="http://schemas.openxmlformats.org/officeDocument/2006/relationships/slideLayout" Target="/ppt/slideLayouts/slideLayout6.xml" Id="R741f590fac834527" /><ns0:Relationship Type="http://schemas.openxmlformats.org/officeDocument/2006/relationships/image" Target="/ppt/media/image40.png" Id="R8ce48e9ed2e14f42" /><ns0:Relationship Type="http://schemas.openxmlformats.org/officeDocument/2006/relationships/notesSlide" Target="/ppt/notesSlides/notesSlide46.xml" Id="R46f17df9bca243e4" /><ns0:Relationship Id="rIdWorkshop4" Type="http://schemas.openxmlformats.org/officeDocument/2006/relationships/hyperlink" Target="https://arxiv.org/abs/2010.10202" TargetMode="External" /></ns0:Relationships>
</file>

<file path=ppt/slides/_rels/slide47.xml.rels><?xml version='1.0' encoding='utf-8'?>
<ns0:Relationships xmlns:ns0="http://schemas.openxmlformats.org/package/2006/relationships"><ns0:Relationship Type="http://schemas.openxmlformats.org/officeDocument/2006/relationships/slideLayout" Target="/ppt/slideLayouts/slideLayout6.xml" Id="Rdbe76387da334970" /><ns0:Relationship Type="http://schemas.openxmlformats.org/officeDocument/2006/relationships/image" Target="/ppt/media/image41.png" Id="Rfec02531206b49f7" /><ns0:Relationship Type="http://schemas.openxmlformats.org/officeDocument/2006/relationships/notesSlide" Target="/ppt/notesSlides/notesSlide47.xml" Id="R735259a80cbf45aa" /><ns0:Relationship Id="rIdWorkshop4" Type="http://schemas.openxmlformats.org/officeDocument/2006/relationships/hyperlink" Target="https://github.com/hyunsungkim-ds/defcon" TargetMode="External" /></ns0:Relationships>
</file>

<file path=ppt/slides/_rels/slide48.xml.rels><?xml version='1.0' encoding='utf-8'?>
<ns0:Relationships xmlns:ns0="http://schemas.openxmlformats.org/package/2006/relationships"><ns0:Relationship Type="http://schemas.openxmlformats.org/officeDocument/2006/relationships/slideLayout" Target="/ppt/slideLayouts/slideLayout6.xml" Id="Rc8d216f90bf14d19" /><ns0:Relationship Type="http://schemas.openxmlformats.org/officeDocument/2006/relationships/image" Target="/ppt/media/image42.png" Id="R7199a27ab902490d" /><ns0:Relationship Type="http://schemas.openxmlformats.org/officeDocument/2006/relationships/notesSlide" Target="/ppt/notesSlides/notesSlide48.xml" Id="R8c2f4ffc82904091" /><ns0:Relationship Id="rIdWorkshop4" Type="http://schemas.openxmlformats.org/officeDocument/2006/relationships/hyperlink" Target="https://github.com/USSoccerFederation/ussf_ssac_23_soccer_gnn" TargetMode="External" /></ns0:Relationships>
</file>

<file path=ppt/slides/_rels/slide49.xml.rels><?xml version='1.0' encoding='utf-8'?>
<ns0:Relationships xmlns:ns0="http://schemas.openxmlformats.org/package/2006/relationships"><ns0:Relationship Type="http://schemas.openxmlformats.org/officeDocument/2006/relationships/slideLayout" Target="/ppt/slideLayouts/slideLayout6.xml" Id="Rccca0be03c1c4203" /><ns0:Relationship Type="http://schemas.openxmlformats.org/officeDocument/2006/relationships/image" Target="/ppt/media/image43.png" Id="Rd35326d467f94b9d" /><ns0:Relationship Type="http://schemas.openxmlformats.org/officeDocument/2006/relationships/notesSlide" Target="/ppt/notesSlides/notesSlide49.xml" Id="Rcf6dbcef211f4b76" /><ns0:Relationship Id="rIdWorkshop4" Type="http://schemas.openxmlformats.org/officeDocument/2006/relationships/hyperlink" Target="https://www.nature.com/articles/s41467-024-45965-x" TargetMode="External" /></ns0:Relationships>
</file>

<file path=ppt/slides/_rels/slide50.xml.rels><?xml version='1.0' encoding='utf-8'?>
<ns0:Relationships xmlns:ns0="http://schemas.openxmlformats.org/package/2006/relationships"><ns0:Relationship Type="http://schemas.openxmlformats.org/officeDocument/2006/relationships/slideLayout" Target="/ppt/slideLayouts/slideLayout6.xml" Id="R1ab3bc30c9fe4dee" /><ns0:Relationship Type="http://schemas.openxmlformats.org/officeDocument/2006/relationships/image" Target="/ppt/media/image44.png" Id="Rd539e68fd7c7485a" /><ns0:Relationship Type="http://schemas.openxmlformats.org/officeDocument/2006/relationships/notesSlide" Target="/ppt/notesSlides/notesSlide50.xml" Id="Rda8daf90062b4969" /><ns0:Relationship Id="rIdWorkshop4" Type="http://schemas.openxmlformats.org/officeDocument/2006/relationships/hyperlink" Target="https://arxiv.org/abs/2604.11786" TargetMode="External" /></ns0:Relationships>
</file>

<file path=ppt/slides/_rels/slide51.xml.rels><?xml version='1.0' encoding='utf-8'?>
<ns0:Relationships xmlns:ns0="http://schemas.openxmlformats.org/package/2006/relationships"><ns0:Relationship Type="http://schemas.openxmlformats.org/officeDocument/2006/relationships/slideLayout" Target="/ppt/slideLayouts/slideLayout6.xml" Id="Re1880b4a24934674" /><ns0:Relationship Type="http://schemas.openxmlformats.org/officeDocument/2006/relationships/image" Target="/ppt/media/image45.png" Id="R041491716a744ea2" /><ns0:Relationship Type="http://schemas.openxmlformats.org/officeDocument/2006/relationships/notesSlide" Target="/ppt/notesSlides/notesSlide51.xml" Id="R9aca7fae5bed41de" /><ns0:Relationship Id="rIdWorkshop4" Type="http://schemas.openxmlformats.org/officeDocument/2006/relationships/hyperlink" Target="https://github.com/SkillCorner/opendata" TargetMode="External" /><ns0:Relationship Id="rIdWorkshop5" Type="http://schemas.openxmlformats.org/officeDocument/2006/relationships/hyperlink" Target="https://pmc.ncbi.nlm.nih.gov/articles/PMC8570314/" TargetMode="External" /></ns0: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9" name="">
            <a:extLst>
              <a:ext uri="{FF2B5EF4-FFF2-40B4-BE49-F238E27FC236}">
                <ns2:creationId id="{143B48A7-FB76-40EB-838F-F99C03422A1F}"/>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B753400B-8B6E-437E-A086-727E1D80A76A}"/>
              </a:ext>
            </a:extLst>
          </p:cNvPr>
          <p:cNvSpPr>
            <a:spLocks noGrp="1"/>
          </p:cNvSpPr>
          <p:nvPr/>
        </p:nvSpPr>
        <p:spPr>
          <a:xfrm>
            <a:off x="476250" y="495300"/>
            <a:ext cx="11239500" cy="28575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SOCCER ANALYTICS · SKILLCORNER OPEN DATA</a:t>
            </a:r>
          </a:p>
        </p:txBody>
      </p:sp>
      <p:sp>
        <p:nvSpPr>
          <p:cNvPr id="3" name="">
            <a:extLst>
              <a:ext uri="{FF2B5EF4-FFF2-40B4-BE49-F238E27FC236}">
                <ns2:creationId id="{374E52F9-E25C-4327-9ED3-6A2EFD716687}"/>
              </a:ext>
            </a:extLst>
          </p:cNvPr>
          <p:cNvSpPr>
            <a:spLocks noGrp="1"/>
          </p:cNvSpPr>
          <p:nvPr/>
        </p:nvSpPr>
        <p:spPr>
          <a:xfrm>
            <a:off x="476250" y="1066800"/>
            <a:ext cx="11239500" cy="952500"/>
          </a:xfrm>
          <a:prstGeom prst="rect">
            <a:avLst/>
          </a:prstGeom>
          <a:noFill/>
          <a:ln w="0">
            <a:noFill/>
          </a:ln>
        </p:spPr>
        <p:txBody>
          <a:bodyPr/>
          <a:lstStyle>
            <a:defPPr>
              <a:defRPr sz="4650" b="1">
                <a:solidFill>
                  <a:srgbClr val="183A35"/>
                </a:solidFill>
                <a:latin typeface="Arial"/>
                <a:ea typeface="Arial"/>
                <a:cs typeface="Arial"/>
              </a:defRPr>
            </a:defPPr>
            <a:lvl1pPr>
              <a:defRPr sz="4650" b="1">
                <a:solidFill>
                  <a:srgbClr val="183A35"/>
                </a:solidFill>
                <a:latin typeface="Arial"/>
                <a:ea typeface="Arial"/>
                <a:cs typeface="Arial"/>
              </a:defRPr>
            </a:lvl1pPr>
            <a:lvl2pPr>
              <a:defRPr sz="4650" b="1">
                <a:solidFill>
                  <a:srgbClr val="183A35"/>
                </a:solidFill>
                <a:latin typeface="Arial"/>
                <a:ea typeface="Arial"/>
                <a:cs typeface="Arial"/>
              </a:defRPr>
            </a:lvl2pPr>
            <a:lvl3pPr>
              <a:defRPr sz="4650" b="1">
                <a:solidFill>
                  <a:srgbClr val="183A35"/>
                </a:solidFill>
                <a:latin typeface="Arial"/>
                <a:ea typeface="Arial"/>
                <a:cs typeface="Arial"/>
              </a:defRPr>
            </a:lvl3pPr>
            <a:lvl4pPr>
              <a:defRPr sz="4650" b="1">
                <a:solidFill>
                  <a:srgbClr val="183A35"/>
                </a:solidFill>
                <a:latin typeface="Arial"/>
                <a:ea typeface="Arial"/>
                <a:cs typeface="Arial"/>
              </a:defRPr>
            </a:lvl4pPr>
            <a:lvl5pPr>
              <a:defRPr sz="4650" b="1">
                <a:solidFill>
                  <a:srgbClr val="183A35"/>
                </a:solidFill>
                <a:latin typeface="Arial"/>
                <a:ea typeface="Arial"/>
                <a:cs typeface="Arial"/>
              </a:defRPr>
            </a:lvl5pPr>
            <a:lvl6pPr>
              <a:defRPr sz="4650" b="1">
                <a:solidFill>
                  <a:srgbClr val="183A35"/>
                </a:solidFill>
                <a:latin typeface="Arial"/>
                <a:ea typeface="Arial"/>
                <a:cs typeface="Arial"/>
              </a:defRPr>
            </a:lvl6pPr>
            <a:lvl7pPr>
              <a:defRPr sz="4650" b="1">
                <a:solidFill>
                  <a:srgbClr val="183A35"/>
                </a:solidFill>
                <a:latin typeface="Arial"/>
                <a:ea typeface="Arial"/>
                <a:cs typeface="Arial"/>
              </a:defRPr>
            </a:lvl7pPr>
            <a:lvl8pPr>
              <a:defRPr sz="4650" b="1">
                <a:solidFill>
                  <a:srgbClr val="183A35"/>
                </a:solidFill>
                <a:latin typeface="Arial"/>
                <a:ea typeface="Arial"/>
                <a:cs typeface="Arial"/>
              </a:defRPr>
            </a:lvl8pPr>
            <a:lvl9pPr>
              <a:defRPr sz="4650" b="1">
                <a:solidFill>
                  <a:srgbClr val="183A35"/>
                </a:solidFill>
                <a:latin typeface="Arial"/>
                <a:ea typeface="Arial"/>
                <a:cs typeface="Arial"/>
              </a:defRPr>
            </a:lvl9pPr>
          </a:lstStyle>
          <a:p>
            <a:pPr>
              <a:defRPr sz="4650" b="1">
                <a:solidFill>
                  <a:srgbClr val="183A35"/>
                </a:solidFill>
                <a:latin typeface="Arial"/>
                <a:ea typeface="Arial"/>
                <a:cs typeface="Arial"/>
              </a:defRPr>
            </a:pPr>
            <a:r>
              <a:rPr sz="4650" b="1">
                <a:solidFill>
                  <a:srgbClr val="183A35"/>
                </a:solidFill>
                <a:latin typeface="Arial"/>
                <a:ea typeface="Arial"/>
                <a:cs typeface="Arial"/>
              </a:rPr>
              <a:t>Tracking Data Applied</a:t>
            </a:r>
          </a:p>
        </p:txBody>
      </p:sp>
      <p:sp>
        <p:nvSpPr>
          <p:cNvPr id="4" name="">
            <a:extLst>
              <a:ext uri="{FF2B5EF4-FFF2-40B4-BE49-F238E27FC236}">
                <ns2:creationId id="{8F259315-39B7-4EFB-9AB6-1890FD9C6508}"/>
              </a:ext>
            </a:extLst>
          </p:cNvPr>
          <p:cNvSpPr>
            <a:spLocks noGrp="1"/>
          </p:cNvSpPr>
          <p:nvPr/>
        </p:nvSpPr>
        <p:spPr>
          <a:xfrm>
            <a:off x="476250" y="2286000"/>
            <a:ext cx="4953000" cy="1428750"/>
          </a:xfrm>
          <a:prstGeom prst="rect">
            <a:avLst/>
          </a:prstGeom>
          <a:noFill/>
          <a:ln w="0">
            <a:noFill/>
          </a:ln>
        </p:spPr>
        <p:txBody>
          <a:bodyPr/>
          <a:lstStyle>
            <a:defPPr>
              <a:defRPr sz="2550" b="0">
                <a:solidFill>
                  <a:srgbClr val="183A35"/>
                </a:solidFill>
                <a:latin typeface="Arial"/>
                <a:ea typeface="Arial"/>
                <a:cs typeface="Arial"/>
              </a:defRPr>
            </a:defPPr>
            <a:lvl1pPr>
              <a:defRPr sz="2550" b="0">
                <a:solidFill>
                  <a:srgbClr val="183A35"/>
                </a:solidFill>
                <a:latin typeface="Arial"/>
                <a:ea typeface="Arial"/>
                <a:cs typeface="Arial"/>
              </a:defRPr>
            </a:lvl1pPr>
            <a:lvl2pPr>
              <a:defRPr sz="2550" b="0">
                <a:solidFill>
                  <a:srgbClr val="183A35"/>
                </a:solidFill>
                <a:latin typeface="Arial"/>
                <a:ea typeface="Arial"/>
                <a:cs typeface="Arial"/>
              </a:defRPr>
            </a:lvl2pPr>
            <a:lvl3pPr>
              <a:defRPr sz="2550" b="0">
                <a:solidFill>
                  <a:srgbClr val="183A35"/>
                </a:solidFill>
                <a:latin typeface="Arial"/>
                <a:ea typeface="Arial"/>
                <a:cs typeface="Arial"/>
              </a:defRPr>
            </a:lvl3pPr>
            <a:lvl4pPr>
              <a:defRPr sz="2550" b="0">
                <a:solidFill>
                  <a:srgbClr val="183A35"/>
                </a:solidFill>
                <a:latin typeface="Arial"/>
                <a:ea typeface="Arial"/>
                <a:cs typeface="Arial"/>
              </a:defRPr>
            </a:lvl4pPr>
            <a:lvl5pPr>
              <a:defRPr sz="2550" b="0">
                <a:solidFill>
                  <a:srgbClr val="183A35"/>
                </a:solidFill>
                <a:latin typeface="Arial"/>
                <a:ea typeface="Arial"/>
                <a:cs typeface="Arial"/>
              </a:defRPr>
            </a:lvl5pPr>
            <a:lvl6pPr>
              <a:defRPr sz="2550" b="0">
                <a:solidFill>
                  <a:srgbClr val="183A35"/>
                </a:solidFill>
                <a:latin typeface="Arial"/>
                <a:ea typeface="Arial"/>
                <a:cs typeface="Arial"/>
              </a:defRPr>
            </a:lvl6pPr>
            <a:lvl7pPr>
              <a:defRPr sz="2550" b="0">
                <a:solidFill>
                  <a:srgbClr val="183A35"/>
                </a:solidFill>
                <a:latin typeface="Arial"/>
                <a:ea typeface="Arial"/>
                <a:cs typeface="Arial"/>
              </a:defRPr>
            </a:lvl7pPr>
            <a:lvl8pPr>
              <a:defRPr sz="2550" b="0">
                <a:solidFill>
                  <a:srgbClr val="183A35"/>
                </a:solidFill>
                <a:latin typeface="Arial"/>
                <a:ea typeface="Arial"/>
                <a:cs typeface="Arial"/>
              </a:defRPr>
            </a:lvl8pPr>
            <a:lvl9pPr>
              <a:defRPr sz="2550" b="0">
                <a:solidFill>
                  <a:srgbClr val="183A35"/>
                </a:solidFill>
                <a:latin typeface="Arial"/>
                <a:ea typeface="Arial"/>
                <a:cs typeface="Arial"/>
              </a:defRPr>
            </a:lvl9pPr>
          </a:lstStyle>
          <a:p>
            <a:pPr>
              <a:defRPr sz="2550" b="0">
                <a:solidFill>
                  <a:srgbClr val="183A35"/>
                </a:solidFill>
                <a:latin typeface="Arial"/>
                <a:ea typeface="Arial"/>
                <a:cs typeface="Arial"/>
              </a:defRPr>
            </a:pPr>
            <a:r>
              <a:rPr sz="2550" b="0">
                <a:solidFill>
                  <a:srgbClr val="183A35"/>
                </a:solidFill>
                <a:latin typeface="Arial"/>
                <a:ea typeface="Arial"/>
                <a:cs typeface="Arial"/>
              </a:rPr>
              <a:t>Turn player and ball movement into football answers.</a:t>
            </a:r>
          </a:p>
        </p:txBody>
      </p:sp>
      <p:pic>
        <p:nvPicPr>
          <p:cNvPr id="5" name="">
            <a:extLst>
              <a:ext uri="{FF2B5EF4-FFF2-40B4-BE49-F238E27FC236}">
                <ns2:creationId id="{6B3FA2AB-D074-4E80-ADA4-19A4ACD6AB96}"/>
              </a:ext>
            </a:extLst>
          </p:cNvPr>
          <p:cNvPicPr>
            <a:picLocks noChangeAspect="1"/>
          </p:cNvPicPr>
          <p:nvPr/>
        </p:nvPicPr>
        <p:blipFill>
          <a:blip r:embed="R02ebe9b4e15b464b"/>
          <a:stretch/>
        </p:blipFill>
        <p:spPr>
          <a:xfrm>
            <a:off x="5667375" y="2190750"/>
            <a:ext cx="6096000" cy="3429000"/>
          </a:xfrm>
          <a:prstGeom prst="rect">
            <a:avLst/>
          </a:prstGeom>
        </p:spPr>
      </p:pic>
      <p:sp>
        <p:nvSpPr>
          <p:cNvPr id="6" name="">
            <a:extLst>
              <a:ext uri="{FF2B5EF4-FFF2-40B4-BE49-F238E27FC236}">
                <ns2:creationId id="{930412E8-F19F-4F4F-A7AB-D2484A98B0B1}"/>
              </a:ext>
            </a:extLst>
          </p:cNvPr>
          <p:cNvSpPr>
            <a:spLocks noGrp="1"/>
          </p:cNvSpPr>
          <p:nvPr/>
        </p:nvSpPr>
        <p:spPr>
          <a:xfrm>
            <a:off x="476250" y="5124450"/>
            <a:ext cx="4476750" cy="809625"/>
          </a:xfrm>
          <a:prstGeom prst="rect">
            <a:avLst/>
          </a:prstGeom>
          <a:noFill/>
          <a:ln w="0">
            <a:noFill/>
          </a:ln>
        </p:spPr>
        <p:txBody>
          <a:bodyPr/>
          <a:lstStyle>
            <a:defPPr>
              <a:defRPr sz="1875" b="1">
                <a:solidFill>
                  <a:srgbClr val="147D68"/>
                </a:solidFill>
                <a:latin typeface="Arial"/>
                <a:ea typeface="Arial"/>
                <a:cs typeface="Arial"/>
              </a:defRPr>
            </a:defPPr>
            <a:lvl1pPr>
              <a:defRPr sz="1875" b="1">
                <a:solidFill>
                  <a:srgbClr val="147D68"/>
                </a:solidFill>
                <a:latin typeface="Arial"/>
                <a:ea typeface="Arial"/>
                <a:cs typeface="Arial"/>
              </a:defRPr>
            </a:lvl1pPr>
            <a:lvl2pPr>
              <a:defRPr sz="1875" b="1">
                <a:solidFill>
                  <a:srgbClr val="147D68"/>
                </a:solidFill>
                <a:latin typeface="Arial"/>
                <a:ea typeface="Arial"/>
                <a:cs typeface="Arial"/>
              </a:defRPr>
            </a:lvl2pPr>
            <a:lvl3pPr>
              <a:defRPr sz="1875" b="1">
                <a:solidFill>
                  <a:srgbClr val="147D68"/>
                </a:solidFill>
                <a:latin typeface="Arial"/>
                <a:ea typeface="Arial"/>
                <a:cs typeface="Arial"/>
              </a:defRPr>
            </a:lvl3pPr>
            <a:lvl4pPr>
              <a:defRPr sz="1875" b="1">
                <a:solidFill>
                  <a:srgbClr val="147D68"/>
                </a:solidFill>
                <a:latin typeface="Arial"/>
                <a:ea typeface="Arial"/>
                <a:cs typeface="Arial"/>
              </a:defRPr>
            </a:lvl4pPr>
            <a:lvl5pPr>
              <a:defRPr sz="1875" b="1">
                <a:solidFill>
                  <a:srgbClr val="147D68"/>
                </a:solidFill>
                <a:latin typeface="Arial"/>
                <a:ea typeface="Arial"/>
                <a:cs typeface="Arial"/>
              </a:defRPr>
            </a:lvl5pPr>
            <a:lvl6pPr>
              <a:defRPr sz="1875" b="1">
                <a:solidFill>
                  <a:srgbClr val="147D68"/>
                </a:solidFill>
                <a:latin typeface="Arial"/>
                <a:ea typeface="Arial"/>
                <a:cs typeface="Arial"/>
              </a:defRPr>
            </a:lvl6pPr>
            <a:lvl7pPr>
              <a:defRPr sz="1875" b="1">
                <a:solidFill>
                  <a:srgbClr val="147D68"/>
                </a:solidFill>
                <a:latin typeface="Arial"/>
                <a:ea typeface="Arial"/>
                <a:cs typeface="Arial"/>
              </a:defRPr>
            </a:lvl7pPr>
            <a:lvl8pPr>
              <a:defRPr sz="1875" b="1">
                <a:solidFill>
                  <a:srgbClr val="147D68"/>
                </a:solidFill>
                <a:latin typeface="Arial"/>
                <a:ea typeface="Arial"/>
                <a:cs typeface="Arial"/>
              </a:defRPr>
            </a:lvl8pPr>
            <a:lvl9pPr>
              <a:defRPr sz="1875" b="1">
                <a:solidFill>
                  <a:srgbClr val="147D68"/>
                </a:solidFill>
                <a:latin typeface="Arial"/>
                <a:ea typeface="Arial"/>
                <a:cs typeface="Arial"/>
              </a:defRPr>
            </a:lvl9pPr>
          </a:lstStyle>
          <a:p>
            <a:pPr>
              <a:defRPr sz="1875" b="1">
                <a:solidFill>
                  <a:srgbClr val="147D68"/>
                </a:solidFill>
                <a:latin typeface="Arial"/>
                <a:ea typeface="Arial"/>
                <a:cs typeface="Arial"/>
              </a:defRPr>
            </a:pPr>
            <a:r>
              <a:rPr sz="1875" b="1">
                <a:solidFill>
                  <a:srgbClr val="147D68"/>
                </a:solidFill>
                <a:latin typeface="Arial"/>
                <a:ea typeface="Arial"/>
                <a:cs typeface="Arial"/>
              </a:rPr>
              <a:t>Problems, methods and results</a:t>
            </a:r>
          </a:p>
          <a:p>
            <a:pPr>
              <a:defRPr sz="1875" b="1">
                <a:solidFill>
                  <a:srgbClr val="147D68"/>
                </a:solidFill>
                <a:latin typeface="Arial"/>
                <a:ea typeface="Arial"/>
                <a:cs typeface="Arial"/>
              </a:defRPr>
            </a:pPr>
            <a:r>
              <a:rPr sz="1875" b="1">
                <a:solidFill>
                  <a:srgbClr val="147D68"/>
                </a:solidFill>
                <a:latin typeface="Arial"/>
                <a:ea typeface="Arial"/>
                <a:cs typeface="Arial"/>
              </a:rPr>
              <a:t>Code and implementation live in the notebooks.</a:t>
            </a:r>
          </a:p>
        </p:txBody>
      </p:sp>
      <p:sp>
        <p:nvSpPr>
          <p:cNvPr id="7" name="">
            <a:extLst>
              <a:ext uri="{FF2B5EF4-FFF2-40B4-BE49-F238E27FC236}">
                <ns2:creationId id="{3FCCC50C-2FD2-4D42-99FF-413F630FF1E2}"/>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4"/>
              </a:rPr>
              <a:t>SkillCorner open data and schema</a:t>
            </a:r>
          </a:p>
        </p:txBody>
      </p:sp>
      <p:sp>
        <p:nvSpPr>
          <p:cNvPr id="8" name="">
            <a:extLst>
              <a:ext uri="{FF2B5EF4-FFF2-40B4-BE49-F238E27FC236}">
                <ns2:creationId id="{8CEEBF5A-D630-47A3-A12A-525637F0E408}"/>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1</a:t>
            </a:r>
          </a:p>
        </p:txBody>
      </p:sp>
    </p:spTree>
    <p:extLst>
      <p:ext uri="{BB962C8B-B14F-4D97-AF65-F5344CB8AC3E}">
        <p14:creationId val="811326089"/>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7EC6A427-A978-4451-9B9F-C704A671ED85}"/>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BE5BCE62-FDAD-43E1-B05D-7D5E8EE5DA8F}"/>
              </a:ext>
            </a:extLst>
          </p:cNvPr>
          <p:cNvSpPr>
            <a:spLocks noGrp="1"/>
          </p:cNvSpPr>
          <p:nvPr/>
        </p:nvSpPr>
        <p:spPr>
          <a:xfrm>
            <a:off x="476250" y="523875"/>
            <a:ext cx="10953750" cy="809625"/>
          </a:xfrm>
          <a:prstGeom prst="rect">
            <a:avLst/>
          </a:prstGeom>
          <a:noFill/>
          <a:ln w="0">
            <a:noFill/>
          </a:ln>
        </p:spPr>
        <p:txBody>
          <a:bodyPr/>
          <a:lstStyle>
            <a:defPPr>
              <a:defRPr sz="3450" b="1">
                <a:solidFill>
                  <a:srgbClr val="183A35"/>
                </a:solidFill>
                <a:latin typeface="Arial"/>
                <a:ea typeface="Arial"/>
                <a:cs typeface="Arial"/>
              </a:defRPr>
            </a:defPPr>
            <a:lvl1pPr>
              <a:defRPr sz="3450" b="1">
                <a:solidFill>
                  <a:srgbClr val="183A35"/>
                </a:solidFill>
                <a:latin typeface="Arial"/>
                <a:ea typeface="Arial"/>
                <a:cs typeface="Arial"/>
              </a:defRPr>
            </a:lvl1pPr>
            <a:lvl2pPr>
              <a:defRPr sz="3450" b="1">
                <a:solidFill>
                  <a:srgbClr val="183A35"/>
                </a:solidFill>
                <a:latin typeface="Arial"/>
                <a:ea typeface="Arial"/>
                <a:cs typeface="Arial"/>
              </a:defRPr>
            </a:lvl2pPr>
            <a:lvl3pPr>
              <a:defRPr sz="3450" b="1">
                <a:solidFill>
                  <a:srgbClr val="183A35"/>
                </a:solidFill>
                <a:latin typeface="Arial"/>
                <a:ea typeface="Arial"/>
                <a:cs typeface="Arial"/>
              </a:defRPr>
            </a:lvl3pPr>
            <a:lvl4pPr>
              <a:defRPr sz="3450" b="1">
                <a:solidFill>
                  <a:srgbClr val="183A35"/>
                </a:solidFill>
                <a:latin typeface="Arial"/>
                <a:ea typeface="Arial"/>
                <a:cs typeface="Arial"/>
              </a:defRPr>
            </a:lvl4pPr>
            <a:lvl5pPr>
              <a:defRPr sz="3450" b="1">
                <a:solidFill>
                  <a:srgbClr val="183A35"/>
                </a:solidFill>
                <a:latin typeface="Arial"/>
                <a:ea typeface="Arial"/>
                <a:cs typeface="Arial"/>
              </a:defRPr>
            </a:lvl5pPr>
            <a:lvl6pPr>
              <a:defRPr sz="3450" b="1">
                <a:solidFill>
                  <a:srgbClr val="183A35"/>
                </a:solidFill>
                <a:latin typeface="Arial"/>
                <a:ea typeface="Arial"/>
                <a:cs typeface="Arial"/>
              </a:defRPr>
            </a:lvl6pPr>
            <a:lvl7pPr>
              <a:defRPr sz="3450" b="1">
                <a:solidFill>
                  <a:srgbClr val="183A35"/>
                </a:solidFill>
                <a:latin typeface="Arial"/>
                <a:ea typeface="Arial"/>
                <a:cs typeface="Arial"/>
              </a:defRPr>
            </a:lvl7pPr>
            <a:lvl8pPr>
              <a:defRPr sz="3450" b="1">
                <a:solidFill>
                  <a:srgbClr val="183A35"/>
                </a:solidFill>
                <a:latin typeface="Arial"/>
                <a:ea typeface="Arial"/>
                <a:cs typeface="Arial"/>
              </a:defRPr>
            </a:lvl8pPr>
            <a:lvl9pPr>
              <a:defRPr sz="3450" b="1">
                <a:solidFill>
                  <a:srgbClr val="183A35"/>
                </a:solidFill>
                <a:latin typeface="Arial"/>
                <a:ea typeface="Arial"/>
                <a:cs typeface="Arial"/>
              </a:defRPr>
            </a:lvl9pPr>
          </a:lstStyle>
          <a:p>
            <a:pPr>
              <a:defRPr sz="3450" b="1">
                <a:solidFill>
                  <a:srgbClr val="183A35"/>
                </a:solidFill>
                <a:latin typeface="Arial"/>
                <a:ea typeface="Arial"/>
                <a:cs typeface="Arial"/>
              </a:defRPr>
            </a:pPr>
            <a:r>
              <a:rPr sz="3450" b="1">
                <a:solidFill>
                  <a:srgbClr val="183A35"/>
                </a:solidFill>
                <a:latin typeface="Arial"/>
                <a:ea typeface="Arial"/>
                <a:cs typeface="Arial"/>
              </a:rPr>
              <a:t>What can tracking data answer?</a:t>
            </a:r>
          </a:p>
        </p:txBody>
      </p:sp>
      <p:sp>
        <p:nvSpPr>
          <p:cNvPr id="3" name="">
            <a:extLst>
              <a:ext uri="{FF2B5EF4-FFF2-40B4-BE49-F238E27FC236}">
                <ns2:creationId id="{CAAF4F8B-C924-4D55-B343-12A2CC86119F}"/>
              </a:ext>
            </a:extLst>
          </p:cNvPr>
          <p:cNvSpPr>
            <a:spLocks noGrp="1"/>
          </p:cNvSpPr>
          <p:nvPr/>
        </p:nvSpPr>
        <p:spPr>
          <a:xfrm>
            <a:off x="476250" y="1457325"/>
            <a:ext cx="11049000" cy="590550"/>
          </a:xfrm>
          <a:prstGeom prst="rect">
            <a:avLst/>
          </a:prstGeom>
          <a:noFill/>
          <a:ln w="0">
            <a:noFill/>
          </a:ln>
        </p:spPr>
        <p:txBody>
          <a:bodyPr/>
          <a:lstStyle>
            <a:defPPr>
              <a:defRPr sz="1875" b="0">
                <a:solidFill>
                  <a:srgbClr val="183A35"/>
                </a:solidFill>
                <a:latin typeface="Arial"/>
                <a:ea typeface="Arial"/>
                <a:cs typeface="Arial"/>
              </a:defRPr>
            </a:defPPr>
            <a:lvl1pPr>
              <a:defRPr sz="1875" b="0">
                <a:solidFill>
                  <a:srgbClr val="183A35"/>
                </a:solidFill>
                <a:latin typeface="Arial"/>
                <a:ea typeface="Arial"/>
                <a:cs typeface="Arial"/>
              </a:defRPr>
            </a:lvl1pPr>
            <a:lvl2pPr>
              <a:defRPr sz="1875" b="0">
                <a:solidFill>
                  <a:srgbClr val="183A35"/>
                </a:solidFill>
                <a:latin typeface="Arial"/>
                <a:ea typeface="Arial"/>
                <a:cs typeface="Arial"/>
              </a:defRPr>
            </a:lvl2pPr>
            <a:lvl3pPr>
              <a:defRPr sz="1875" b="0">
                <a:solidFill>
                  <a:srgbClr val="183A35"/>
                </a:solidFill>
                <a:latin typeface="Arial"/>
                <a:ea typeface="Arial"/>
                <a:cs typeface="Arial"/>
              </a:defRPr>
            </a:lvl3pPr>
            <a:lvl4pPr>
              <a:defRPr sz="1875" b="0">
                <a:solidFill>
                  <a:srgbClr val="183A35"/>
                </a:solidFill>
                <a:latin typeface="Arial"/>
                <a:ea typeface="Arial"/>
                <a:cs typeface="Arial"/>
              </a:defRPr>
            </a:lvl4pPr>
            <a:lvl5pPr>
              <a:defRPr sz="1875" b="0">
                <a:solidFill>
                  <a:srgbClr val="183A35"/>
                </a:solidFill>
                <a:latin typeface="Arial"/>
                <a:ea typeface="Arial"/>
                <a:cs typeface="Arial"/>
              </a:defRPr>
            </a:lvl5pPr>
            <a:lvl6pPr>
              <a:defRPr sz="1875" b="0">
                <a:solidFill>
                  <a:srgbClr val="183A35"/>
                </a:solidFill>
                <a:latin typeface="Arial"/>
                <a:ea typeface="Arial"/>
                <a:cs typeface="Arial"/>
              </a:defRPr>
            </a:lvl6pPr>
            <a:lvl7pPr>
              <a:defRPr sz="1875" b="0">
                <a:solidFill>
                  <a:srgbClr val="183A35"/>
                </a:solidFill>
                <a:latin typeface="Arial"/>
                <a:ea typeface="Arial"/>
                <a:cs typeface="Arial"/>
              </a:defRPr>
            </a:lvl7pPr>
            <a:lvl8pPr>
              <a:defRPr sz="1875" b="0">
                <a:solidFill>
                  <a:srgbClr val="183A35"/>
                </a:solidFill>
                <a:latin typeface="Arial"/>
                <a:ea typeface="Arial"/>
                <a:cs typeface="Arial"/>
              </a:defRPr>
            </a:lvl8pPr>
            <a:lvl9pPr>
              <a:defRPr sz="1875" b="0">
                <a:solidFill>
                  <a:srgbClr val="183A35"/>
                </a:solidFill>
                <a:latin typeface="Arial"/>
                <a:ea typeface="Arial"/>
                <a:cs typeface="Arial"/>
              </a:defRPr>
            </a:lvl9pPr>
          </a:lstStyle>
          <a:p>
            <a:pPr>
              <a:defRPr sz="1875" b="0">
                <a:solidFill>
                  <a:srgbClr val="183A35"/>
                </a:solidFill>
                <a:latin typeface="Arial"/>
                <a:ea typeface="Arial"/>
                <a:cs typeface="Arial"/>
              </a:defRPr>
            </a:pPr>
            <a:r>
              <a:rPr sz="1875" b="0">
                <a:solidFill>
                  <a:srgbClr val="183A35"/>
                </a:solidFill>
                <a:latin typeface="Arial"/>
                <a:ea typeface="Arial"/>
                <a:cs typeface="Arial"/>
              </a:rPr>
              <a:t>Five avenues connect continuous movement to analytical questions.</a:t>
            </a:r>
          </a:p>
        </p:txBody>
      </p:sp>
      <p:sp>
        <p:nvSpPr>
          <p:cNvPr id="4" name="">
            <a:extLst>
              <a:ext uri="{FF2B5EF4-FFF2-40B4-BE49-F238E27FC236}">
                <ns2:creationId id="{2A117CC3-5DBF-4623-8925-6D38996AE38F}"/>
              </a:ext>
            </a:extLst>
          </p:cNvPr>
          <p:cNvSpPr>
            <a:spLocks noGrp="1"/>
          </p:cNvSpPr>
          <p:nvPr/>
        </p:nvSpPr>
        <p:spPr>
          <a:xfrm>
            <a:off x="476250" y="2286000"/>
            <a:ext cx="4381500" cy="428625"/>
          </a:xfrm>
          <a:prstGeom prst="rect">
            <a:avLst/>
          </a:prstGeom>
          <a:noFill/>
          <a:ln w="0">
            <a:noFill/>
          </a:ln>
        </p:spPr>
        <p:txBody>
          <a:bodyPr/>
          <a:lstStyle>
            <a:defPPr>
              <a:defRPr sz="1875" b="1">
                <a:solidFill>
                  <a:srgbClr val="147D68"/>
                </a:solidFill>
                <a:latin typeface="Arial"/>
                <a:ea typeface="Arial"/>
                <a:cs typeface="Arial"/>
              </a:defRPr>
            </a:defPPr>
            <a:lvl1pPr>
              <a:defRPr sz="1875" b="1">
                <a:solidFill>
                  <a:srgbClr val="147D68"/>
                </a:solidFill>
                <a:latin typeface="Arial"/>
                <a:ea typeface="Arial"/>
                <a:cs typeface="Arial"/>
              </a:defRPr>
            </a:lvl1pPr>
            <a:lvl2pPr>
              <a:defRPr sz="1875" b="1">
                <a:solidFill>
                  <a:srgbClr val="147D68"/>
                </a:solidFill>
                <a:latin typeface="Arial"/>
                <a:ea typeface="Arial"/>
                <a:cs typeface="Arial"/>
              </a:defRPr>
            </a:lvl2pPr>
            <a:lvl3pPr>
              <a:defRPr sz="1875" b="1">
                <a:solidFill>
                  <a:srgbClr val="147D68"/>
                </a:solidFill>
                <a:latin typeface="Arial"/>
                <a:ea typeface="Arial"/>
                <a:cs typeface="Arial"/>
              </a:defRPr>
            </a:lvl3pPr>
            <a:lvl4pPr>
              <a:defRPr sz="1875" b="1">
                <a:solidFill>
                  <a:srgbClr val="147D68"/>
                </a:solidFill>
                <a:latin typeface="Arial"/>
                <a:ea typeface="Arial"/>
                <a:cs typeface="Arial"/>
              </a:defRPr>
            </a:lvl4pPr>
            <a:lvl5pPr>
              <a:defRPr sz="1875" b="1">
                <a:solidFill>
                  <a:srgbClr val="147D68"/>
                </a:solidFill>
                <a:latin typeface="Arial"/>
                <a:ea typeface="Arial"/>
                <a:cs typeface="Arial"/>
              </a:defRPr>
            </a:lvl5pPr>
            <a:lvl6pPr>
              <a:defRPr sz="1875" b="1">
                <a:solidFill>
                  <a:srgbClr val="147D68"/>
                </a:solidFill>
                <a:latin typeface="Arial"/>
                <a:ea typeface="Arial"/>
                <a:cs typeface="Arial"/>
              </a:defRPr>
            </a:lvl6pPr>
            <a:lvl7pPr>
              <a:defRPr sz="1875" b="1">
                <a:solidFill>
                  <a:srgbClr val="147D68"/>
                </a:solidFill>
                <a:latin typeface="Arial"/>
                <a:ea typeface="Arial"/>
                <a:cs typeface="Arial"/>
              </a:defRPr>
            </a:lvl7pPr>
            <a:lvl8pPr>
              <a:defRPr sz="1875" b="1">
                <a:solidFill>
                  <a:srgbClr val="147D68"/>
                </a:solidFill>
                <a:latin typeface="Arial"/>
                <a:ea typeface="Arial"/>
                <a:cs typeface="Arial"/>
              </a:defRPr>
            </a:lvl8pPr>
            <a:lvl9pPr>
              <a:defRPr sz="1875" b="1">
                <a:solidFill>
                  <a:srgbClr val="147D68"/>
                </a:solidFill>
                <a:latin typeface="Arial"/>
                <a:ea typeface="Arial"/>
                <a:cs typeface="Arial"/>
              </a:defRPr>
            </a:lvl9pPr>
          </a:lstStyle>
          <a:p>
            <a:pPr>
              <a:defRPr sz="1875" b="1">
                <a:solidFill>
                  <a:srgbClr val="147D68"/>
                </a:solidFill>
                <a:latin typeface="Arial"/>
                <a:ea typeface="Arial"/>
                <a:cs typeface="Arial"/>
              </a:defRPr>
            </a:pPr>
            <a:r>
              <a:rPr sz="1875" b="1">
                <a:solidFill>
                  <a:srgbClr val="147D68"/>
                </a:solidFill>
                <a:latin typeface="Arial"/>
                <a:ea typeface="Arial"/>
                <a:cs typeface="Arial"/>
              </a:rPr>
              <a:t>Event detection</a:t>
            </a:r>
          </a:p>
        </p:txBody>
      </p:sp>
      <p:sp>
        <p:nvSpPr>
          <p:cNvPr id="5" name="">
            <a:extLst>
              <a:ext uri="{FF2B5EF4-FFF2-40B4-BE49-F238E27FC236}">
                <ns2:creationId id="{16171979-D6CA-40F3-AD1C-CDB53302EFE5}"/>
              </a:ext>
            </a:extLst>
          </p:cNvPr>
          <p:cNvSpPr>
            <a:spLocks noGrp="1"/>
          </p:cNvSpPr>
          <p:nvPr/>
        </p:nvSpPr>
        <p:spPr>
          <a:xfrm>
            <a:off x="5048250" y="2286000"/>
            <a:ext cx="6477000" cy="514350"/>
          </a:xfrm>
          <a:prstGeom prst="rect">
            <a:avLst/>
          </a:prstGeom>
          <a:noFill/>
          <a:ln w="0">
            <a:noFill/>
          </a:ln>
        </p:spPr>
        <p:txBody>
          <a:bodyPr/>
          <a:lstStyle>
            <a:defPPr>
              <a:defRPr sz="1725" b="0">
                <a:solidFill>
                  <a:srgbClr val="183A35"/>
                </a:solidFill>
                <a:latin typeface="Arial"/>
                <a:ea typeface="Arial"/>
                <a:cs typeface="Arial"/>
              </a:defRPr>
            </a:defPPr>
            <a:lvl1pPr>
              <a:defRPr sz="1725" b="0">
                <a:solidFill>
                  <a:srgbClr val="183A35"/>
                </a:solidFill>
                <a:latin typeface="Arial"/>
                <a:ea typeface="Arial"/>
                <a:cs typeface="Arial"/>
              </a:defRPr>
            </a:lvl1pPr>
            <a:lvl2pPr>
              <a:defRPr sz="1725" b="0">
                <a:solidFill>
                  <a:srgbClr val="183A35"/>
                </a:solidFill>
                <a:latin typeface="Arial"/>
                <a:ea typeface="Arial"/>
                <a:cs typeface="Arial"/>
              </a:defRPr>
            </a:lvl2pPr>
            <a:lvl3pPr>
              <a:defRPr sz="1725" b="0">
                <a:solidFill>
                  <a:srgbClr val="183A35"/>
                </a:solidFill>
                <a:latin typeface="Arial"/>
                <a:ea typeface="Arial"/>
                <a:cs typeface="Arial"/>
              </a:defRPr>
            </a:lvl3pPr>
            <a:lvl4pPr>
              <a:defRPr sz="1725" b="0">
                <a:solidFill>
                  <a:srgbClr val="183A35"/>
                </a:solidFill>
                <a:latin typeface="Arial"/>
                <a:ea typeface="Arial"/>
                <a:cs typeface="Arial"/>
              </a:defRPr>
            </a:lvl4pPr>
            <a:lvl5pPr>
              <a:defRPr sz="1725" b="0">
                <a:solidFill>
                  <a:srgbClr val="183A35"/>
                </a:solidFill>
                <a:latin typeface="Arial"/>
                <a:ea typeface="Arial"/>
                <a:cs typeface="Arial"/>
              </a:defRPr>
            </a:lvl5pPr>
            <a:lvl6pPr>
              <a:defRPr sz="1725" b="0">
                <a:solidFill>
                  <a:srgbClr val="183A35"/>
                </a:solidFill>
                <a:latin typeface="Arial"/>
                <a:ea typeface="Arial"/>
                <a:cs typeface="Arial"/>
              </a:defRPr>
            </a:lvl6pPr>
            <a:lvl7pPr>
              <a:defRPr sz="1725" b="0">
                <a:solidFill>
                  <a:srgbClr val="183A35"/>
                </a:solidFill>
                <a:latin typeface="Arial"/>
                <a:ea typeface="Arial"/>
                <a:cs typeface="Arial"/>
              </a:defRPr>
            </a:lvl7pPr>
            <a:lvl8pPr>
              <a:defRPr sz="1725" b="0">
                <a:solidFill>
                  <a:srgbClr val="183A35"/>
                </a:solidFill>
                <a:latin typeface="Arial"/>
                <a:ea typeface="Arial"/>
                <a:cs typeface="Arial"/>
              </a:defRPr>
            </a:lvl8pPr>
            <a:lvl9pPr>
              <a:defRPr sz="1725" b="0">
                <a:solidFill>
                  <a:srgbClr val="183A35"/>
                </a:solidFill>
                <a:latin typeface="Arial"/>
                <a:ea typeface="Arial"/>
                <a:cs typeface="Arial"/>
              </a:defRPr>
            </a:lvl9pPr>
          </a:lstStyle>
          <a:p>
            <a:pPr>
              <a:defRPr sz="1725" b="0">
                <a:solidFill>
                  <a:srgbClr val="183A35"/>
                </a:solidFill>
                <a:latin typeface="Arial"/>
                <a:ea typeface="Arial"/>
                <a:cs typeface="Arial"/>
              </a:defRPr>
            </a:pPr>
            <a:r>
              <a:rPr sz="1725" b="0">
                <a:solidFill>
                  <a:srgbClr val="183A35"/>
                </a:solidFill>
                <a:latin typeface="Arial"/>
                <a:ea typeface="Arial"/>
                <a:cs typeface="Arial"/>
              </a:rPr>
              <a:t>Who controlled the ball, and what happened?</a:t>
            </a:r>
          </a:p>
        </p:txBody>
      </p:sp>
      <p:sp>
        <p:nvSpPr>
          <p:cNvPr id="6" name="">
            <a:extLst>
              <a:ext uri="{FF2B5EF4-FFF2-40B4-BE49-F238E27FC236}">
                <ns2:creationId id="{F7F2B610-199E-4E77-BD1C-1A80B6A9F2BB}"/>
              </a:ext>
            </a:extLst>
          </p:cNvPr>
          <p:cNvSpPr>
            <a:spLocks noGrp="1"/>
          </p:cNvSpPr>
          <p:nvPr/>
        </p:nvSpPr>
        <p:spPr>
          <a:xfrm>
            <a:off x="476250" y="2990850"/>
            <a:ext cx="4381500" cy="428625"/>
          </a:xfrm>
          <a:prstGeom prst="rect">
            <a:avLst/>
          </a:prstGeom>
          <a:noFill/>
          <a:ln w="0">
            <a:noFill/>
          </a:ln>
        </p:spPr>
        <p:txBody>
          <a:bodyPr/>
          <a:lstStyle>
            <a:defPPr>
              <a:defRPr sz="1875" b="1">
                <a:solidFill>
                  <a:srgbClr val="147D68"/>
                </a:solidFill>
                <a:latin typeface="Arial"/>
                <a:ea typeface="Arial"/>
                <a:cs typeface="Arial"/>
              </a:defRPr>
            </a:defPPr>
            <a:lvl1pPr>
              <a:defRPr sz="1875" b="1">
                <a:solidFill>
                  <a:srgbClr val="147D68"/>
                </a:solidFill>
                <a:latin typeface="Arial"/>
                <a:ea typeface="Arial"/>
                <a:cs typeface="Arial"/>
              </a:defRPr>
            </a:lvl1pPr>
            <a:lvl2pPr>
              <a:defRPr sz="1875" b="1">
                <a:solidFill>
                  <a:srgbClr val="147D68"/>
                </a:solidFill>
                <a:latin typeface="Arial"/>
                <a:ea typeface="Arial"/>
                <a:cs typeface="Arial"/>
              </a:defRPr>
            </a:lvl2pPr>
            <a:lvl3pPr>
              <a:defRPr sz="1875" b="1">
                <a:solidFill>
                  <a:srgbClr val="147D68"/>
                </a:solidFill>
                <a:latin typeface="Arial"/>
                <a:ea typeface="Arial"/>
                <a:cs typeface="Arial"/>
              </a:defRPr>
            </a:lvl3pPr>
            <a:lvl4pPr>
              <a:defRPr sz="1875" b="1">
                <a:solidFill>
                  <a:srgbClr val="147D68"/>
                </a:solidFill>
                <a:latin typeface="Arial"/>
                <a:ea typeface="Arial"/>
                <a:cs typeface="Arial"/>
              </a:defRPr>
            </a:lvl4pPr>
            <a:lvl5pPr>
              <a:defRPr sz="1875" b="1">
                <a:solidFill>
                  <a:srgbClr val="147D68"/>
                </a:solidFill>
                <a:latin typeface="Arial"/>
                <a:ea typeface="Arial"/>
                <a:cs typeface="Arial"/>
              </a:defRPr>
            </a:lvl5pPr>
            <a:lvl6pPr>
              <a:defRPr sz="1875" b="1">
                <a:solidFill>
                  <a:srgbClr val="147D68"/>
                </a:solidFill>
                <a:latin typeface="Arial"/>
                <a:ea typeface="Arial"/>
                <a:cs typeface="Arial"/>
              </a:defRPr>
            </a:lvl6pPr>
            <a:lvl7pPr>
              <a:defRPr sz="1875" b="1">
                <a:solidFill>
                  <a:srgbClr val="147D68"/>
                </a:solidFill>
                <a:latin typeface="Arial"/>
                <a:ea typeface="Arial"/>
                <a:cs typeface="Arial"/>
              </a:defRPr>
            </a:lvl7pPr>
            <a:lvl8pPr>
              <a:defRPr sz="1875" b="1">
                <a:solidFill>
                  <a:srgbClr val="147D68"/>
                </a:solidFill>
                <a:latin typeface="Arial"/>
                <a:ea typeface="Arial"/>
                <a:cs typeface="Arial"/>
              </a:defRPr>
            </a:lvl8pPr>
            <a:lvl9pPr>
              <a:defRPr sz="1875" b="1">
                <a:solidFill>
                  <a:srgbClr val="147D68"/>
                </a:solidFill>
                <a:latin typeface="Arial"/>
                <a:ea typeface="Arial"/>
                <a:cs typeface="Arial"/>
              </a:defRPr>
            </a:lvl9pPr>
          </a:lstStyle>
          <a:p>
            <a:pPr>
              <a:defRPr sz="1875" b="1">
                <a:solidFill>
                  <a:srgbClr val="147D68"/>
                </a:solidFill>
                <a:latin typeface="Arial"/>
                <a:ea typeface="Arial"/>
                <a:cs typeface="Arial"/>
              </a:defRPr>
            </a:pPr>
            <a:r>
              <a:rPr sz="1875" b="1">
                <a:solidFill>
                  <a:srgbClr val="147D68"/>
                </a:solidFill>
                <a:latin typeface="Arial"/>
                <a:ea typeface="Arial"/>
                <a:cs typeface="Arial"/>
              </a:rPr>
              <a:t>Formation and positions</a:t>
            </a:r>
          </a:p>
        </p:txBody>
      </p:sp>
      <p:sp>
        <p:nvSpPr>
          <p:cNvPr id="7" name="">
            <a:extLst>
              <a:ext uri="{FF2B5EF4-FFF2-40B4-BE49-F238E27FC236}">
                <ns2:creationId id="{90EC8305-3295-4A58-82BD-94F866DE1C13}"/>
              </a:ext>
            </a:extLst>
          </p:cNvPr>
          <p:cNvSpPr>
            <a:spLocks noGrp="1"/>
          </p:cNvSpPr>
          <p:nvPr/>
        </p:nvSpPr>
        <p:spPr>
          <a:xfrm>
            <a:off x="5048250" y="2990850"/>
            <a:ext cx="6477000" cy="514350"/>
          </a:xfrm>
          <a:prstGeom prst="rect">
            <a:avLst/>
          </a:prstGeom>
          <a:noFill/>
          <a:ln w="0">
            <a:noFill/>
          </a:ln>
        </p:spPr>
        <p:txBody>
          <a:bodyPr/>
          <a:lstStyle>
            <a:defPPr>
              <a:defRPr sz="1725" b="0">
                <a:solidFill>
                  <a:srgbClr val="183A35"/>
                </a:solidFill>
                <a:latin typeface="Arial"/>
                <a:ea typeface="Arial"/>
                <a:cs typeface="Arial"/>
              </a:defRPr>
            </a:defPPr>
            <a:lvl1pPr>
              <a:defRPr sz="1725" b="0">
                <a:solidFill>
                  <a:srgbClr val="183A35"/>
                </a:solidFill>
                <a:latin typeface="Arial"/>
                <a:ea typeface="Arial"/>
                <a:cs typeface="Arial"/>
              </a:defRPr>
            </a:lvl1pPr>
            <a:lvl2pPr>
              <a:defRPr sz="1725" b="0">
                <a:solidFill>
                  <a:srgbClr val="183A35"/>
                </a:solidFill>
                <a:latin typeface="Arial"/>
                <a:ea typeface="Arial"/>
                <a:cs typeface="Arial"/>
              </a:defRPr>
            </a:lvl2pPr>
            <a:lvl3pPr>
              <a:defRPr sz="1725" b="0">
                <a:solidFill>
                  <a:srgbClr val="183A35"/>
                </a:solidFill>
                <a:latin typeface="Arial"/>
                <a:ea typeface="Arial"/>
                <a:cs typeface="Arial"/>
              </a:defRPr>
            </a:lvl3pPr>
            <a:lvl4pPr>
              <a:defRPr sz="1725" b="0">
                <a:solidFill>
                  <a:srgbClr val="183A35"/>
                </a:solidFill>
                <a:latin typeface="Arial"/>
                <a:ea typeface="Arial"/>
                <a:cs typeface="Arial"/>
              </a:defRPr>
            </a:lvl4pPr>
            <a:lvl5pPr>
              <a:defRPr sz="1725" b="0">
                <a:solidFill>
                  <a:srgbClr val="183A35"/>
                </a:solidFill>
                <a:latin typeface="Arial"/>
                <a:ea typeface="Arial"/>
                <a:cs typeface="Arial"/>
              </a:defRPr>
            </a:lvl5pPr>
            <a:lvl6pPr>
              <a:defRPr sz="1725" b="0">
                <a:solidFill>
                  <a:srgbClr val="183A35"/>
                </a:solidFill>
                <a:latin typeface="Arial"/>
                <a:ea typeface="Arial"/>
                <a:cs typeface="Arial"/>
              </a:defRPr>
            </a:lvl6pPr>
            <a:lvl7pPr>
              <a:defRPr sz="1725" b="0">
                <a:solidFill>
                  <a:srgbClr val="183A35"/>
                </a:solidFill>
                <a:latin typeface="Arial"/>
                <a:ea typeface="Arial"/>
                <a:cs typeface="Arial"/>
              </a:defRPr>
            </a:lvl7pPr>
            <a:lvl8pPr>
              <a:defRPr sz="1725" b="0">
                <a:solidFill>
                  <a:srgbClr val="183A35"/>
                </a:solidFill>
                <a:latin typeface="Arial"/>
                <a:ea typeface="Arial"/>
                <a:cs typeface="Arial"/>
              </a:defRPr>
            </a:lvl8pPr>
            <a:lvl9pPr>
              <a:defRPr sz="1725" b="0">
                <a:solidFill>
                  <a:srgbClr val="183A35"/>
                </a:solidFill>
                <a:latin typeface="Arial"/>
                <a:ea typeface="Arial"/>
                <a:cs typeface="Arial"/>
              </a:defRPr>
            </a:lvl9pPr>
          </a:lstStyle>
          <a:p>
            <a:pPr>
              <a:defRPr sz="1725" b="0">
                <a:solidFill>
                  <a:srgbClr val="183A35"/>
                </a:solidFill>
                <a:latin typeface="Arial"/>
                <a:ea typeface="Arial"/>
                <a:cs typeface="Arial"/>
              </a:defRPr>
            </a:pPr>
            <a:r>
              <a:rPr sz="1725" b="0">
                <a:solidFill>
                  <a:srgbClr val="183A35"/>
                </a:solidFill>
                <a:latin typeface="Arial"/>
                <a:ea typeface="Arial"/>
                <a:cs typeface="Arial"/>
              </a:rPr>
              <a:t>How was the team organized, and who played which role?</a:t>
            </a:r>
          </a:p>
        </p:txBody>
      </p:sp>
      <p:sp>
        <p:nvSpPr>
          <p:cNvPr id="8" name="">
            <a:extLst>
              <a:ext uri="{FF2B5EF4-FFF2-40B4-BE49-F238E27FC236}">
                <ns2:creationId id="{E044F436-FF15-4B4D-980E-9E3C8F4E20AE}"/>
              </a:ext>
            </a:extLst>
          </p:cNvPr>
          <p:cNvSpPr>
            <a:spLocks noGrp="1"/>
          </p:cNvSpPr>
          <p:nvPr/>
        </p:nvSpPr>
        <p:spPr>
          <a:xfrm>
            <a:off x="476250" y="3695700"/>
            <a:ext cx="4381500" cy="428625"/>
          </a:xfrm>
          <a:prstGeom prst="rect">
            <a:avLst/>
          </a:prstGeom>
          <a:noFill/>
          <a:ln w="0">
            <a:noFill/>
          </a:ln>
        </p:spPr>
        <p:txBody>
          <a:bodyPr/>
          <a:lstStyle>
            <a:defPPr>
              <a:defRPr sz="1875" b="1">
                <a:solidFill>
                  <a:srgbClr val="147D68"/>
                </a:solidFill>
                <a:latin typeface="Arial"/>
                <a:ea typeface="Arial"/>
                <a:cs typeface="Arial"/>
              </a:defRPr>
            </a:defPPr>
            <a:lvl1pPr>
              <a:defRPr sz="1875" b="1">
                <a:solidFill>
                  <a:srgbClr val="147D68"/>
                </a:solidFill>
                <a:latin typeface="Arial"/>
                <a:ea typeface="Arial"/>
                <a:cs typeface="Arial"/>
              </a:defRPr>
            </a:lvl1pPr>
            <a:lvl2pPr>
              <a:defRPr sz="1875" b="1">
                <a:solidFill>
                  <a:srgbClr val="147D68"/>
                </a:solidFill>
                <a:latin typeface="Arial"/>
                <a:ea typeface="Arial"/>
                <a:cs typeface="Arial"/>
              </a:defRPr>
            </a:lvl2pPr>
            <a:lvl3pPr>
              <a:defRPr sz="1875" b="1">
                <a:solidFill>
                  <a:srgbClr val="147D68"/>
                </a:solidFill>
                <a:latin typeface="Arial"/>
                <a:ea typeface="Arial"/>
                <a:cs typeface="Arial"/>
              </a:defRPr>
            </a:lvl3pPr>
            <a:lvl4pPr>
              <a:defRPr sz="1875" b="1">
                <a:solidFill>
                  <a:srgbClr val="147D68"/>
                </a:solidFill>
                <a:latin typeface="Arial"/>
                <a:ea typeface="Arial"/>
                <a:cs typeface="Arial"/>
              </a:defRPr>
            </a:lvl4pPr>
            <a:lvl5pPr>
              <a:defRPr sz="1875" b="1">
                <a:solidFill>
                  <a:srgbClr val="147D68"/>
                </a:solidFill>
                <a:latin typeface="Arial"/>
                <a:ea typeface="Arial"/>
                <a:cs typeface="Arial"/>
              </a:defRPr>
            </a:lvl5pPr>
            <a:lvl6pPr>
              <a:defRPr sz="1875" b="1">
                <a:solidFill>
                  <a:srgbClr val="147D68"/>
                </a:solidFill>
                <a:latin typeface="Arial"/>
                <a:ea typeface="Arial"/>
                <a:cs typeface="Arial"/>
              </a:defRPr>
            </a:lvl6pPr>
            <a:lvl7pPr>
              <a:defRPr sz="1875" b="1">
                <a:solidFill>
                  <a:srgbClr val="147D68"/>
                </a:solidFill>
                <a:latin typeface="Arial"/>
                <a:ea typeface="Arial"/>
                <a:cs typeface="Arial"/>
              </a:defRPr>
            </a:lvl7pPr>
            <a:lvl8pPr>
              <a:defRPr sz="1875" b="1">
                <a:solidFill>
                  <a:srgbClr val="147D68"/>
                </a:solidFill>
                <a:latin typeface="Arial"/>
                <a:ea typeface="Arial"/>
                <a:cs typeface="Arial"/>
              </a:defRPr>
            </a:lvl8pPr>
            <a:lvl9pPr>
              <a:defRPr sz="1875" b="1">
                <a:solidFill>
                  <a:srgbClr val="147D68"/>
                </a:solidFill>
                <a:latin typeface="Arial"/>
                <a:ea typeface="Arial"/>
                <a:cs typeface="Arial"/>
              </a:defRPr>
            </a:lvl9pPr>
          </a:lstStyle>
          <a:p>
            <a:pPr>
              <a:defRPr sz="1875" b="1">
                <a:solidFill>
                  <a:srgbClr val="147D68"/>
                </a:solidFill>
                <a:latin typeface="Arial"/>
                <a:ea typeface="Arial"/>
                <a:cs typeface="Arial"/>
              </a:defRPr>
            </a:pPr>
            <a:r>
              <a:rPr sz="1875" b="1">
                <a:solidFill>
                  <a:srgbClr val="147D68"/>
                </a:solidFill>
                <a:latin typeface="Arial"/>
                <a:ea typeface="Arial"/>
                <a:cs typeface="Arial"/>
              </a:rPr>
              <a:t>Match segmentation</a:t>
            </a:r>
          </a:p>
        </p:txBody>
      </p:sp>
      <p:sp>
        <p:nvSpPr>
          <p:cNvPr id="9" name="">
            <a:extLst>
              <a:ext uri="{FF2B5EF4-FFF2-40B4-BE49-F238E27FC236}">
                <ns2:creationId id="{CF89F1E8-18CD-4780-9046-B47246B3BBF5}"/>
              </a:ext>
            </a:extLst>
          </p:cNvPr>
          <p:cNvSpPr>
            <a:spLocks noGrp="1"/>
          </p:cNvSpPr>
          <p:nvPr/>
        </p:nvSpPr>
        <p:spPr>
          <a:xfrm>
            <a:off x="5048250" y="3695700"/>
            <a:ext cx="6477000" cy="514350"/>
          </a:xfrm>
          <a:prstGeom prst="rect">
            <a:avLst/>
          </a:prstGeom>
          <a:noFill/>
          <a:ln w="0">
            <a:noFill/>
          </a:ln>
        </p:spPr>
        <p:txBody>
          <a:bodyPr/>
          <a:lstStyle>
            <a:defPPr>
              <a:defRPr sz="1725" b="0">
                <a:solidFill>
                  <a:srgbClr val="183A35"/>
                </a:solidFill>
                <a:latin typeface="Arial"/>
                <a:ea typeface="Arial"/>
                <a:cs typeface="Arial"/>
              </a:defRPr>
            </a:defPPr>
            <a:lvl1pPr>
              <a:defRPr sz="1725" b="0">
                <a:solidFill>
                  <a:srgbClr val="183A35"/>
                </a:solidFill>
                <a:latin typeface="Arial"/>
                <a:ea typeface="Arial"/>
                <a:cs typeface="Arial"/>
              </a:defRPr>
            </a:lvl1pPr>
            <a:lvl2pPr>
              <a:defRPr sz="1725" b="0">
                <a:solidFill>
                  <a:srgbClr val="183A35"/>
                </a:solidFill>
                <a:latin typeface="Arial"/>
                <a:ea typeface="Arial"/>
                <a:cs typeface="Arial"/>
              </a:defRPr>
            </a:lvl2pPr>
            <a:lvl3pPr>
              <a:defRPr sz="1725" b="0">
                <a:solidFill>
                  <a:srgbClr val="183A35"/>
                </a:solidFill>
                <a:latin typeface="Arial"/>
                <a:ea typeface="Arial"/>
                <a:cs typeface="Arial"/>
              </a:defRPr>
            </a:lvl3pPr>
            <a:lvl4pPr>
              <a:defRPr sz="1725" b="0">
                <a:solidFill>
                  <a:srgbClr val="183A35"/>
                </a:solidFill>
                <a:latin typeface="Arial"/>
                <a:ea typeface="Arial"/>
                <a:cs typeface="Arial"/>
              </a:defRPr>
            </a:lvl4pPr>
            <a:lvl5pPr>
              <a:defRPr sz="1725" b="0">
                <a:solidFill>
                  <a:srgbClr val="183A35"/>
                </a:solidFill>
                <a:latin typeface="Arial"/>
                <a:ea typeface="Arial"/>
                <a:cs typeface="Arial"/>
              </a:defRPr>
            </a:lvl5pPr>
            <a:lvl6pPr>
              <a:defRPr sz="1725" b="0">
                <a:solidFill>
                  <a:srgbClr val="183A35"/>
                </a:solidFill>
                <a:latin typeface="Arial"/>
                <a:ea typeface="Arial"/>
                <a:cs typeface="Arial"/>
              </a:defRPr>
            </a:lvl6pPr>
            <a:lvl7pPr>
              <a:defRPr sz="1725" b="0">
                <a:solidFill>
                  <a:srgbClr val="183A35"/>
                </a:solidFill>
                <a:latin typeface="Arial"/>
                <a:ea typeface="Arial"/>
                <a:cs typeface="Arial"/>
              </a:defRPr>
            </a:lvl7pPr>
            <a:lvl8pPr>
              <a:defRPr sz="1725" b="0">
                <a:solidFill>
                  <a:srgbClr val="183A35"/>
                </a:solidFill>
                <a:latin typeface="Arial"/>
                <a:ea typeface="Arial"/>
                <a:cs typeface="Arial"/>
              </a:defRPr>
            </a:lvl8pPr>
            <a:lvl9pPr>
              <a:defRPr sz="1725" b="0">
                <a:solidFill>
                  <a:srgbClr val="183A35"/>
                </a:solidFill>
                <a:latin typeface="Arial"/>
                <a:ea typeface="Arial"/>
                <a:cs typeface="Arial"/>
              </a:defRPr>
            </a:lvl9pPr>
          </a:lstStyle>
          <a:p>
            <a:pPr>
              <a:defRPr sz="1725" b="0">
                <a:solidFill>
                  <a:srgbClr val="183A35"/>
                </a:solidFill>
                <a:latin typeface="Arial"/>
                <a:ea typeface="Arial"/>
                <a:cs typeface="Arial"/>
              </a:defRPr>
            </a:pPr>
            <a:r>
              <a:rPr sz="1725" b="0">
                <a:solidFill>
                  <a:srgbClr val="183A35"/>
                </a:solidFill>
                <a:latin typeface="Arial"/>
                <a:ea typeface="Arial"/>
                <a:cs typeface="Arial"/>
              </a:rPr>
              <a:t>Which phase or tactical context was the team in?</a:t>
            </a:r>
          </a:p>
        </p:txBody>
      </p:sp>
      <p:sp>
        <p:nvSpPr>
          <p:cNvPr id="10" name="">
            <a:extLst>
              <a:ext uri="{FF2B5EF4-FFF2-40B4-BE49-F238E27FC236}">
                <ns2:creationId id="{B7126A8B-F40A-452C-B22B-7644BB8E4235}"/>
              </a:ext>
            </a:extLst>
          </p:cNvPr>
          <p:cNvSpPr>
            <a:spLocks noGrp="1"/>
          </p:cNvSpPr>
          <p:nvPr/>
        </p:nvSpPr>
        <p:spPr>
          <a:xfrm>
            <a:off x="476250" y="4400550"/>
            <a:ext cx="4381500" cy="428625"/>
          </a:xfrm>
          <a:prstGeom prst="rect">
            <a:avLst/>
          </a:prstGeom>
          <a:noFill/>
          <a:ln w="0">
            <a:noFill/>
          </a:ln>
        </p:spPr>
        <p:txBody>
          <a:bodyPr/>
          <a:lstStyle>
            <a:defPPr>
              <a:defRPr sz="1875" b="1">
                <a:solidFill>
                  <a:srgbClr val="147D68"/>
                </a:solidFill>
                <a:latin typeface="Arial"/>
                <a:ea typeface="Arial"/>
                <a:cs typeface="Arial"/>
              </a:defRPr>
            </a:defPPr>
            <a:lvl1pPr>
              <a:defRPr sz="1875" b="1">
                <a:solidFill>
                  <a:srgbClr val="147D68"/>
                </a:solidFill>
                <a:latin typeface="Arial"/>
                <a:ea typeface="Arial"/>
                <a:cs typeface="Arial"/>
              </a:defRPr>
            </a:lvl1pPr>
            <a:lvl2pPr>
              <a:defRPr sz="1875" b="1">
                <a:solidFill>
                  <a:srgbClr val="147D68"/>
                </a:solidFill>
                <a:latin typeface="Arial"/>
                <a:ea typeface="Arial"/>
                <a:cs typeface="Arial"/>
              </a:defRPr>
            </a:lvl2pPr>
            <a:lvl3pPr>
              <a:defRPr sz="1875" b="1">
                <a:solidFill>
                  <a:srgbClr val="147D68"/>
                </a:solidFill>
                <a:latin typeface="Arial"/>
                <a:ea typeface="Arial"/>
                <a:cs typeface="Arial"/>
              </a:defRPr>
            </a:lvl3pPr>
            <a:lvl4pPr>
              <a:defRPr sz="1875" b="1">
                <a:solidFill>
                  <a:srgbClr val="147D68"/>
                </a:solidFill>
                <a:latin typeface="Arial"/>
                <a:ea typeface="Arial"/>
                <a:cs typeface="Arial"/>
              </a:defRPr>
            </a:lvl4pPr>
            <a:lvl5pPr>
              <a:defRPr sz="1875" b="1">
                <a:solidFill>
                  <a:srgbClr val="147D68"/>
                </a:solidFill>
                <a:latin typeface="Arial"/>
                <a:ea typeface="Arial"/>
                <a:cs typeface="Arial"/>
              </a:defRPr>
            </a:lvl5pPr>
            <a:lvl6pPr>
              <a:defRPr sz="1875" b="1">
                <a:solidFill>
                  <a:srgbClr val="147D68"/>
                </a:solidFill>
                <a:latin typeface="Arial"/>
                <a:ea typeface="Arial"/>
                <a:cs typeface="Arial"/>
              </a:defRPr>
            </a:lvl6pPr>
            <a:lvl7pPr>
              <a:defRPr sz="1875" b="1">
                <a:solidFill>
                  <a:srgbClr val="147D68"/>
                </a:solidFill>
                <a:latin typeface="Arial"/>
                <a:ea typeface="Arial"/>
                <a:cs typeface="Arial"/>
              </a:defRPr>
            </a:lvl7pPr>
            <a:lvl8pPr>
              <a:defRPr sz="1875" b="1">
                <a:solidFill>
                  <a:srgbClr val="147D68"/>
                </a:solidFill>
                <a:latin typeface="Arial"/>
                <a:ea typeface="Arial"/>
                <a:cs typeface="Arial"/>
              </a:defRPr>
            </a:lvl8pPr>
            <a:lvl9pPr>
              <a:defRPr sz="1875" b="1">
                <a:solidFill>
                  <a:srgbClr val="147D68"/>
                </a:solidFill>
                <a:latin typeface="Arial"/>
                <a:ea typeface="Arial"/>
                <a:cs typeface="Arial"/>
              </a:defRPr>
            </a:lvl9pPr>
          </a:lstStyle>
          <a:p>
            <a:pPr>
              <a:defRPr sz="1875" b="1">
                <a:solidFill>
                  <a:srgbClr val="147D68"/>
                </a:solidFill>
                <a:latin typeface="Arial"/>
                <a:ea typeface="Arial"/>
                <a:cs typeface="Arial"/>
              </a:defRPr>
            </a:pPr>
            <a:r>
              <a:rPr sz="1875" b="1">
                <a:solidFill>
                  <a:srgbClr val="147D68"/>
                </a:solidFill>
                <a:latin typeface="Arial"/>
                <a:ea typeface="Arial"/>
                <a:cs typeface="Arial"/>
              </a:rPr>
              <a:t>Physical metrics</a:t>
            </a:r>
          </a:p>
        </p:txBody>
      </p:sp>
      <p:sp>
        <p:nvSpPr>
          <p:cNvPr id="11" name="">
            <a:extLst>
              <a:ext uri="{FF2B5EF4-FFF2-40B4-BE49-F238E27FC236}">
                <ns2:creationId id="{B7748ED4-FE87-4D19-B2D8-E948636763D7}"/>
              </a:ext>
            </a:extLst>
          </p:cNvPr>
          <p:cNvSpPr>
            <a:spLocks noGrp="1"/>
          </p:cNvSpPr>
          <p:nvPr/>
        </p:nvSpPr>
        <p:spPr>
          <a:xfrm>
            <a:off x="5048250" y="4400550"/>
            <a:ext cx="6477000" cy="514350"/>
          </a:xfrm>
          <a:prstGeom prst="rect">
            <a:avLst/>
          </a:prstGeom>
          <a:noFill/>
          <a:ln w="0">
            <a:noFill/>
          </a:ln>
        </p:spPr>
        <p:txBody>
          <a:bodyPr/>
          <a:lstStyle>
            <a:defPPr>
              <a:defRPr sz="1725" b="0">
                <a:solidFill>
                  <a:srgbClr val="183A35"/>
                </a:solidFill>
                <a:latin typeface="Arial"/>
                <a:ea typeface="Arial"/>
                <a:cs typeface="Arial"/>
              </a:defRPr>
            </a:defPPr>
            <a:lvl1pPr>
              <a:defRPr sz="1725" b="0">
                <a:solidFill>
                  <a:srgbClr val="183A35"/>
                </a:solidFill>
                <a:latin typeface="Arial"/>
                <a:ea typeface="Arial"/>
                <a:cs typeface="Arial"/>
              </a:defRPr>
            </a:lvl1pPr>
            <a:lvl2pPr>
              <a:defRPr sz="1725" b="0">
                <a:solidFill>
                  <a:srgbClr val="183A35"/>
                </a:solidFill>
                <a:latin typeface="Arial"/>
                <a:ea typeface="Arial"/>
                <a:cs typeface="Arial"/>
              </a:defRPr>
            </a:lvl2pPr>
            <a:lvl3pPr>
              <a:defRPr sz="1725" b="0">
                <a:solidFill>
                  <a:srgbClr val="183A35"/>
                </a:solidFill>
                <a:latin typeface="Arial"/>
                <a:ea typeface="Arial"/>
                <a:cs typeface="Arial"/>
              </a:defRPr>
            </a:lvl3pPr>
            <a:lvl4pPr>
              <a:defRPr sz="1725" b="0">
                <a:solidFill>
                  <a:srgbClr val="183A35"/>
                </a:solidFill>
                <a:latin typeface="Arial"/>
                <a:ea typeface="Arial"/>
                <a:cs typeface="Arial"/>
              </a:defRPr>
            </a:lvl4pPr>
            <a:lvl5pPr>
              <a:defRPr sz="1725" b="0">
                <a:solidFill>
                  <a:srgbClr val="183A35"/>
                </a:solidFill>
                <a:latin typeface="Arial"/>
                <a:ea typeface="Arial"/>
                <a:cs typeface="Arial"/>
              </a:defRPr>
            </a:lvl5pPr>
            <a:lvl6pPr>
              <a:defRPr sz="1725" b="0">
                <a:solidFill>
                  <a:srgbClr val="183A35"/>
                </a:solidFill>
                <a:latin typeface="Arial"/>
                <a:ea typeface="Arial"/>
                <a:cs typeface="Arial"/>
              </a:defRPr>
            </a:lvl6pPr>
            <a:lvl7pPr>
              <a:defRPr sz="1725" b="0">
                <a:solidFill>
                  <a:srgbClr val="183A35"/>
                </a:solidFill>
                <a:latin typeface="Arial"/>
                <a:ea typeface="Arial"/>
                <a:cs typeface="Arial"/>
              </a:defRPr>
            </a:lvl7pPr>
            <a:lvl8pPr>
              <a:defRPr sz="1725" b="0">
                <a:solidFill>
                  <a:srgbClr val="183A35"/>
                </a:solidFill>
                <a:latin typeface="Arial"/>
                <a:ea typeface="Arial"/>
                <a:cs typeface="Arial"/>
              </a:defRPr>
            </a:lvl8pPr>
            <a:lvl9pPr>
              <a:defRPr sz="1725" b="0">
                <a:solidFill>
                  <a:srgbClr val="183A35"/>
                </a:solidFill>
                <a:latin typeface="Arial"/>
                <a:ea typeface="Arial"/>
                <a:cs typeface="Arial"/>
              </a:defRPr>
            </a:lvl9pPr>
          </a:lstStyle>
          <a:p>
            <a:pPr>
              <a:defRPr sz="1725" b="0">
                <a:solidFill>
                  <a:srgbClr val="183A35"/>
                </a:solidFill>
                <a:latin typeface="Arial"/>
                <a:ea typeface="Arial"/>
                <a:cs typeface="Arial"/>
              </a:defRPr>
            </a:pPr>
            <a:r>
              <a:rPr sz="1725" b="0">
                <a:solidFill>
                  <a:srgbClr val="183A35"/>
                </a:solidFill>
                <a:latin typeface="Arial"/>
                <a:ea typeface="Arial"/>
                <a:cs typeface="Arial"/>
              </a:rPr>
              <a:t>How far, how fast and how explosively did players move?</a:t>
            </a:r>
          </a:p>
        </p:txBody>
      </p:sp>
      <p:sp>
        <p:nvSpPr>
          <p:cNvPr id="12" name="">
            <a:extLst>
              <a:ext uri="{FF2B5EF4-FFF2-40B4-BE49-F238E27FC236}">
                <ns2:creationId id="{2424E9A5-FDCF-4346-A75F-52BAB8F363D8}"/>
              </a:ext>
            </a:extLst>
          </p:cNvPr>
          <p:cNvSpPr>
            <a:spLocks noGrp="1"/>
          </p:cNvSpPr>
          <p:nvPr/>
        </p:nvSpPr>
        <p:spPr>
          <a:xfrm>
            <a:off x="476250" y="5105400"/>
            <a:ext cx="4381500" cy="428625"/>
          </a:xfrm>
          <a:prstGeom prst="rect">
            <a:avLst/>
          </a:prstGeom>
          <a:noFill/>
          <a:ln w="0">
            <a:noFill/>
          </a:ln>
        </p:spPr>
        <p:txBody>
          <a:bodyPr/>
          <a:lstStyle>
            <a:defPPr>
              <a:defRPr sz="1875" b="1">
                <a:solidFill>
                  <a:srgbClr val="147D68"/>
                </a:solidFill>
                <a:latin typeface="Arial"/>
                <a:ea typeface="Arial"/>
                <a:cs typeface="Arial"/>
              </a:defRPr>
            </a:defPPr>
            <a:lvl1pPr>
              <a:defRPr sz="1875" b="1">
                <a:solidFill>
                  <a:srgbClr val="147D68"/>
                </a:solidFill>
                <a:latin typeface="Arial"/>
                <a:ea typeface="Arial"/>
                <a:cs typeface="Arial"/>
              </a:defRPr>
            </a:lvl1pPr>
            <a:lvl2pPr>
              <a:defRPr sz="1875" b="1">
                <a:solidFill>
                  <a:srgbClr val="147D68"/>
                </a:solidFill>
                <a:latin typeface="Arial"/>
                <a:ea typeface="Arial"/>
                <a:cs typeface="Arial"/>
              </a:defRPr>
            </a:lvl2pPr>
            <a:lvl3pPr>
              <a:defRPr sz="1875" b="1">
                <a:solidFill>
                  <a:srgbClr val="147D68"/>
                </a:solidFill>
                <a:latin typeface="Arial"/>
                <a:ea typeface="Arial"/>
                <a:cs typeface="Arial"/>
              </a:defRPr>
            </a:lvl3pPr>
            <a:lvl4pPr>
              <a:defRPr sz="1875" b="1">
                <a:solidFill>
                  <a:srgbClr val="147D68"/>
                </a:solidFill>
                <a:latin typeface="Arial"/>
                <a:ea typeface="Arial"/>
                <a:cs typeface="Arial"/>
              </a:defRPr>
            </a:lvl4pPr>
            <a:lvl5pPr>
              <a:defRPr sz="1875" b="1">
                <a:solidFill>
                  <a:srgbClr val="147D68"/>
                </a:solidFill>
                <a:latin typeface="Arial"/>
                <a:ea typeface="Arial"/>
                <a:cs typeface="Arial"/>
              </a:defRPr>
            </a:lvl5pPr>
            <a:lvl6pPr>
              <a:defRPr sz="1875" b="1">
                <a:solidFill>
                  <a:srgbClr val="147D68"/>
                </a:solidFill>
                <a:latin typeface="Arial"/>
                <a:ea typeface="Arial"/>
                <a:cs typeface="Arial"/>
              </a:defRPr>
            </a:lvl6pPr>
            <a:lvl7pPr>
              <a:defRPr sz="1875" b="1">
                <a:solidFill>
                  <a:srgbClr val="147D68"/>
                </a:solidFill>
                <a:latin typeface="Arial"/>
                <a:ea typeface="Arial"/>
                <a:cs typeface="Arial"/>
              </a:defRPr>
            </a:lvl7pPr>
            <a:lvl8pPr>
              <a:defRPr sz="1875" b="1">
                <a:solidFill>
                  <a:srgbClr val="147D68"/>
                </a:solidFill>
                <a:latin typeface="Arial"/>
                <a:ea typeface="Arial"/>
                <a:cs typeface="Arial"/>
              </a:defRPr>
            </a:lvl8pPr>
            <a:lvl9pPr>
              <a:defRPr sz="1875" b="1">
                <a:solidFill>
                  <a:srgbClr val="147D68"/>
                </a:solidFill>
                <a:latin typeface="Arial"/>
                <a:ea typeface="Arial"/>
                <a:cs typeface="Arial"/>
              </a:defRPr>
            </a:lvl9pPr>
          </a:lstStyle>
          <a:p>
            <a:pPr>
              <a:defRPr sz="1875" b="1">
                <a:solidFill>
                  <a:srgbClr val="147D68"/>
                </a:solidFill>
                <a:latin typeface="Arial"/>
                <a:ea typeface="Arial"/>
                <a:cs typeface="Arial"/>
              </a:defRPr>
            </a:pPr>
            <a:r>
              <a:rPr sz="1875" b="1">
                <a:solidFill>
                  <a:srgbClr val="147D68"/>
                </a:solidFill>
                <a:latin typeface="Arial"/>
                <a:ea typeface="Arial"/>
                <a:cs typeface="Arial"/>
              </a:rPr>
              <a:t>Game modeling</a:t>
            </a:r>
          </a:p>
        </p:txBody>
      </p:sp>
      <p:sp>
        <p:nvSpPr>
          <p:cNvPr id="13" name="">
            <a:extLst>
              <a:ext uri="{FF2B5EF4-FFF2-40B4-BE49-F238E27FC236}">
                <ns2:creationId id="{610B7D4F-16EF-48ED-94A5-E92AF9D86A3F}"/>
              </a:ext>
            </a:extLst>
          </p:cNvPr>
          <p:cNvSpPr>
            <a:spLocks noGrp="1"/>
          </p:cNvSpPr>
          <p:nvPr/>
        </p:nvSpPr>
        <p:spPr>
          <a:xfrm>
            <a:off x="5048250" y="5105400"/>
            <a:ext cx="6477000" cy="514350"/>
          </a:xfrm>
          <a:prstGeom prst="rect">
            <a:avLst/>
          </a:prstGeom>
          <a:noFill/>
          <a:ln w="0">
            <a:noFill/>
          </a:ln>
        </p:spPr>
        <p:txBody>
          <a:bodyPr/>
          <a:lstStyle>
            <a:defPPr>
              <a:defRPr sz="1725" b="0">
                <a:solidFill>
                  <a:srgbClr val="183A35"/>
                </a:solidFill>
                <a:latin typeface="Arial"/>
                <a:ea typeface="Arial"/>
                <a:cs typeface="Arial"/>
              </a:defRPr>
            </a:defPPr>
            <a:lvl1pPr>
              <a:defRPr sz="1725" b="0">
                <a:solidFill>
                  <a:srgbClr val="183A35"/>
                </a:solidFill>
                <a:latin typeface="Arial"/>
                <a:ea typeface="Arial"/>
                <a:cs typeface="Arial"/>
              </a:defRPr>
            </a:lvl1pPr>
            <a:lvl2pPr>
              <a:defRPr sz="1725" b="0">
                <a:solidFill>
                  <a:srgbClr val="183A35"/>
                </a:solidFill>
                <a:latin typeface="Arial"/>
                <a:ea typeface="Arial"/>
                <a:cs typeface="Arial"/>
              </a:defRPr>
            </a:lvl2pPr>
            <a:lvl3pPr>
              <a:defRPr sz="1725" b="0">
                <a:solidFill>
                  <a:srgbClr val="183A35"/>
                </a:solidFill>
                <a:latin typeface="Arial"/>
                <a:ea typeface="Arial"/>
                <a:cs typeface="Arial"/>
              </a:defRPr>
            </a:lvl3pPr>
            <a:lvl4pPr>
              <a:defRPr sz="1725" b="0">
                <a:solidFill>
                  <a:srgbClr val="183A35"/>
                </a:solidFill>
                <a:latin typeface="Arial"/>
                <a:ea typeface="Arial"/>
                <a:cs typeface="Arial"/>
              </a:defRPr>
            </a:lvl4pPr>
            <a:lvl5pPr>
              <a:defRPr sz="1725" b="0">
                <a:solidFill>
                  <a:srgbClr val="183A35"/>
                </a:solidFill>
                <a:latin typeface="Arial"/>
                <a:ea typeface="Arial"/>
                <a:cs typeface="Arial"/>
              </a:defRPr>
            </a:lvl5pPr>
            <a:lvl6pPr>
              <a:defRPr sz="1725" b="0">
                <a:solidFill>
                  <a:srgbClr val="183A35"/>
                </a:solidFill>
                <a:latin typeface="Arial"/>
                <a:ea typeface="Arial"/>
                <a:cs typeface="Arial"/>
              </a:defRPr>
            </a:lvl6pPr>
            <a:lvl7pPr>
              <a:defRPr sz="1725" b="0">
                <a:solidFill>
                  <a:srgbClr val="183A35"/>
                </a:solidFill>
                <a:latin typeface="Arial"/>
                <a:ea typeface="Arial"/>
                <a:cs typeface="Arial"/>
              </a:defRPr>
            </a:lvl7pPr>
            <a:lvl8pPr>
              <a:defRPr sz="1725" b="0">
                <a:solidFill>
                  <a:srgbClr val="183A35"/>
                </a:solidFill>
                <a:latin typeface="Arial"/>
                <a:ea typeface="Arial"/>
                <a:cs typeface="Arial"/>
              </a:defRPr>
            </a:lvl8pPr>
            <a:lvl9pPr>
              <a:defRPr sz="1725" b="0">
                <a:solidFill>
                  <a:srgbClr val="183A35"/>
                </a:solidFill>
                <a:latin typeface="Arial"/>
                <a:ea typeface="Arial"/>
                <a:cs typeface="Arial"/>
              </a:defRPr>
            </a:lvl9pPr>
          </a:lstStyle>
          <a:p>
            <a:pPr>
              <a:defRPr sz="1725" b="0">
                <a:solidFill>
                  <a:srgbClr val="183A35"/>
                </a:solidFill>
                <a:latin typeface="Arial"/>
                <a:ea typeface="Arial"/>
                <a:cs typeface="Arial"/>
              </a:defRPr>
            </a:pPr>
            <a:r>
              <a:rPr sz="1725" b="0">
                <a:solidFill>
                  <a:srgbClr val="183A35"/>
                </a:solidFill>
                <a:latin typeface="Arial"/>
                <a:ea typeface="Arial"/>
                <a:cs typeface="Arial"/>
              </a:rPr>
              <a:t>Which spaces, actions and game states create value?</a:t>
            </a:r>
          </a:p>
        </p:txBody>
      </p:sp>
      <p:sp>
        <p:nvSpPr>
          <p:cNvPr id="14" name="">
            <a:extLst>
              <a:ext uri="{FF2B5EF4-FFF2-40B4-BE49-F238E27FC236}">
                <ns2:creationId id="{55E4258C-7968-4EA0-9150-4E8AF5B31CEC}"/>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3"/>
              </a:rPr>
              <a:t>SkillCorner open data and schema</a:t>
            </a:r>
          </a:p>
        </p:txBody>
      </p:sp>
      <p:sp>
        <p:nvSpPr>
          <p:cNvPr id="15" name="">
            <a:extLst>
              <a:ext uri="{FF2B5EF4-FFF2-40B4-BE49-F238E27FC236}">
                <ns2:creationId id="{9ED69A1A-F324-4EBC-A1D0-AC1C569160A6}"/>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2</a:t>
            </a:r>
          </a:p>
        </p:txBody>
      </p:sp>
    </p:spTree>
    <p:extLst>
      <p:ext uri="{BB962C8B-B14F-4D97-AF65-F5344CB8AC3E}">
        <p14:creationId val="1506426888"/>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914DF65B-67C6-4CAB-8DC8-0A235D800808}"/>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F63C38BD-BD21-42F4-9713-EDEB45B2DC5F}"/>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Foundations</a:t>
            </a:r>
          </a:p>
        </p:txBody>
      </p:sp>
      <p:sp>
        <p:nvSpPr>
          <p:cNvPr id="3" name="">
            <a:extLst>
              <a:ext uri="{FF2B5EF4-FFF2-40B4-BE49-F238E27FC236}">
                <ns2:creationId id="{91DBC700-8172-4250-BB0F-FB7488389349}"/>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Data and documentation</a:t>
            </a:r>
          </a:p>
        </p:txBody>
      </p:sp>
      <p:sp>
        <p:nvSpPr>
          <p:cNvPr id="4" name="">
            <a:extLst>
              <a:ext uri="{FF2B5EF4-FFF2-40B4-BE49-F238E27FC236}">
                <ns2:creationId id="{21D869C5-C423-48B6-8453-7988E3ED6FC2}"/>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6680CDB3-F145-4CF7-9945-A15837ED57A5}"/>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Where do coordinates, labels and metric definitions come from?</a:t>
            </a:r>
          </a:p>
        </p:txBody>
      </p:sp>
      <p:sp>
        <p:nvSpPr>
          <p:cNvPr id="6" name="">
            <a:extLst>
              <a:ext uri="{FF2B5EF4-FFF2-40B4-BE49-F238E27FC236}">
                <ns2:creationId id="{73D941C4-41EE-4108-B886-7BB56AAACECD}"/>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E88BC08A-9E84-47F6-8453-B34A80B31768}"/>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SkillCorner open data; kloppy ingestion; DataBallPy metric documentation.</a:t>
            </a:r>
          </a:p>
        </p:txBody>
      </p:sp>
      <p:sp>
        <p:nvSpPr>
          <p:cNvPr id="8" name="">
            <a:extLst>
              <a:ext uri="{FF2B5EF4-FFF2-40B4-BE49-F238E27FC236}">
                <ns2:creationId id="{9493E2D4-4802-4D97-BACD-39BBA628A940}"/>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Links and loaded data</a:t>
            </a:r>
          </a:p>
        </p:txBody>
      </p:sp>
      <p:pic>
        <p:nvPicPr>
          <p:cNvPr id="9" name="">
            <a:extLst>
              <a:ext uri="{FF2B5EF4-FFF2-40B4-BE49-F238E27FC236}">
                <ns2:creationId id="{52CE15D3-0C5A-470D-A367-E240E25B588C}"/>
              </a:ext>
            </a:extLst>
          </p:cNvPr>
          <p:cNvPicPr>
            <a:picLocks noChangeAspect="1"/>
          </p:cNvPicPr>
          <p:nvPr/>
        </p:nvPicPr>
        <p:blipFill>
          <a:blip r:embed="R43936a78bb6b42e7"/>
          <a:stretch/>
        </p:blipFill>
        <p:spPr>
          <a:xfrm>
            <a:off x="3730598" y="1428750"/>
            <a:ext cx="7302555" cy="4333875"/>
          </a:xfrm>
          <a:prstGeom prst="rect">
            <a:avLst/>
          </a:prstGeom>
        </p:spPr>
      </p:pic>
      <p:sp>
        <p:nvSpPr>
          <p:cNvPr id="10" name="">
            <a:extLst>
              <a:ext uri="{FF2B5EF4-FFF2-40B4-BE49-F238E27FC236}">
                <ns2:creationId id="{FB876610-020E-40D7-A6FE-1C7CBA02D7AA}"/>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Keep coordinates, supplied labels and our derived estimates distinct.</a:t>
            </a:r>
          </a:p>
        </p:txBody>
      </p:sp>
      <p:sp>
        <p:nvSpPr>
          <p:cNvPr id="11" name="">
            <a:extLst>
              <a:ext uri="{FF2B5EF4-FFF2-40B4-BE49-F238E27FC236}">
                <ns2:creationId id="{9E8EBB57-4CB3-4F4C-9251-3EBBF3C0C136}"/>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01_data_exploration.ipynb</a:t>
            </a:r>
          </a:p>
        </p:txBody>
      </p:sp>
      <p:sp>
        <p:nvSpPr>
          <p:cNvPr id="12" name="">
            <a:extLst>
              <a:ext uri="{FF2B5EF4-FFF2-40B4-BE49-F238E27FC236}">
                <ns2:creationId id="{2B0A93B9-ED24-4D47-BC93-36ECC7BCF2F5}"/>
              </a:ext>
            </a:extLst>
          </p:cNvPr>
          <p:cNvSpPr>
            <a:spLocks noGrp="1"/>
          </p:cNvSpPr>
          <p:nvPr/>
        </p:nvSpPr>
        <p:spPr>
          <a:xfrm>
            <a:off x="457200" y="6429375"/>
            <a:ext cx="20002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open data and schema</a:t>
            </a:r>
          </a:p>
        </p:txBody>
      </p:sp>
      <p:sp>
        <p:nvSpPr>
          <p:cNvPr id="13" name="">
            <a:extLst>
              <a:ext uri="{FF2B5EF4-FFF2-40B4-BE49-F238E27FC236}">
                <ns2:creationId id="{C51D96B6-20A4-43EC-8E0E-ED7EC25C9879}"/>
              </a:ext>
            </a:extLst>
          </p:cNvPr>
          <p:cNvSpPr>
            <a:spLocks noGrp="1"/>
          </p:cNvSpPr>
          <p:nvPr/>
        </p:nvSpPr>
        <p:spPr>
          <a:xfrm>
            <a:off x="2520950" y="6429375"/>
            <a:ext cx="20002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kloppy SkillCorner loader</a:t>
            </a:r>
          </a:p>
        </p:txBody>
      </p:sp>
      <p:sp>
        <p:nvSpPr>
          <p:cNvPr id="14" name="">
            <a:extLst>
              <a:ext uri="{FF2B5EF4-FFF2-40B4-BE49-F238E27FC236}">
                <ns2:creationId id="{BFA66440-5F63-4BF6-AFDA-C4E7032DFCCC}"/>
              </a:ext>
            </a:extLst>
          </p:cNvPr>
          <p:cNvSpPr>
            <a:spLocks noGrp="1"/>
          </p:cNvSpPr>
          <p:nvPr/>
        </p:nvSpPr>
        <p:spPr>
          <a:xfrm>
            <a:off x="4584700" y="6429375"/>
            <a:ext cx="20002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7"/>
              </a:rPr>
              <a:t>DataBallPy covered distance</a:t>
            </a:r>
          </a:p>
        </p:txBody>
      </p:sp>
      <p:sp>
        <p:nvSpPr>
          <p:cNvPr id="15" name="">
            <a:extLst>
              <a:ext uri="{FF2B5EF4-FFF2-40B4-BE49-F238E27FC236}">
                <ns2:creationId id="{D1589F92-70CB-456A-963A-C929088EE938}"/>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3</a:t>
            </a:r>
          </a:p>
        </p:txBody>
      </p:sp>
    </p:spTree>
    <p:extLst>
      <p:ext uri="{BB962C8B-B14F-4D97-AF65-F5344CB8AC3E}">
        <p14:creationId val="868983732"/>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AD3D0D75-B984-467E-928F-D8E90E9D90E5}"/>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53CAFBA0-EB4D-4370-981B-19D21D9773E5}"/>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Foundations</a:t>
            </a:r>
          </a:p>
        </p:txBody>
      </p:sp>
      <p:sp>
        <p:nvSpPr>
          <p:cNvPr id="3" name="">
            <a:extLst>
              <a:ext uri="{FF2B5EF4-FFF2-40B4-BE49-F238E27FC236}">
                <ns2:creationId id="{2B08BA1E-A4F7-4C90-81AD-8828BF85B5CC}"/>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Tracking quality and visibility</a:t>
            </a:r>
          </a:p>
        </p:txBody>
      </p:sp>
      <p:sp>
        <p:nvSpPr>
          <p:cNvPr id="4" name="">
            <a:extLst>
              <a:ext uri="{FF2B5EF4-FFF2-40B4-BE49-F238E27FC236}">
                <ns2:creationId id="{DCA65951-06FA-45C0-8620-35A5B670F24F}"/>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323C6AAF-35C6-4C06-9FE7-7DEC699A90D4}"/>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Which positions were observed on screen?</a:t>
            </a:r>
          </a:p>
        </p:txBody>
      </p:sp>
      <p:sp>
        <p:nvSpPr>
          <p:cNvPr id="6" name="">
            <a:extLst>
              <a:ext uri="{FF2B5EF4-FFF2-40B4-BE49-F238E27FC236}">
                <ns2:creationId id="{D2B2DC78-AC78-4A35-9358-44138D5F705B}"/>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9A187EBF-D272-419C-8F57-944D90637B94}"/>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Project image corners; read each player’s is_detected flag.</a:t>
            </a:r>
          </a:p>
        </p:txBody>
      </p:sp>
      <p:sp>
        <p:nvSpPr>
          <p:cNvPr id="8" name="">
            <a:extLst>
              <a:ext uri="{FF2B5EF4-FFF2-40B4-BE49-F238E27FC236}">
                <ns2:creationId id="{E958159C-0315-460B-9793-C22D3DFB1508}"/>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11 detected · 11 extrapolated</a:t>
            </a:r>
          </a:p>
        </p:txBody>
      </p:sp>
      <p:pic>
        <p:nvPicPr>
          <p:cNvPr id="9" name="">
            <a:extLst>
              <a:ext uri="{FF2B5EF4-FFF2-40B4-BE49-F238E27FC236}">
                <ns2:creationId id="{F8FB3F01-9F9F-4AAA-A682-E2E0700B3C2A}"/>
              </a:ext>
            </a:extLst>
          </p:cNvPr>
          <p:cNvPicPr>
            <a:picLocks noChangeAspect="1"/>
          </p:cNvPicPr>
          <p:nvPr/>
        </p:nvPicPr>
        <p:blipFill>
          <a:blip r:embed="Re987715c194545d4"/>
          <a:stretch/>
        </p:blipFill>
        <p:spPr>
          <a:xfrm>
            <a:off x="3529542" y="1428750"/>
            <a:ext cx="7704667" cy="4333875"/>
          </a:xfrm>
          <a:prstGeom prst="rect">
            <a:avLst/>
          </a:prstGeom>
        </p:spPr>
      </p:pic>
      <p:sp>
        <p:nvSpPr>
          <p:cNvPr id="10" name="">
            <a:extLst>
              <a:ext uri="{FF2B5EF4-FFF2-40B4-BE49-F238E27FC236}">
                <ns2:creationId id="{D762BC75-0EAA-4FEA-831F-91A0E9CD2C8C}"/>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Camera coverage and detection status are related, separate fields.</a:t>
            </a:r>
          </a:p>
        </p:txBody>
      </p:sp>
      <p:sp>
        <p:nvSpPr>
          <p:cNvPr id="11" name="">
            <a:extLst>
              <a:ext uri="{FF2B5EF4-FFF2-40B4-BE49-F238E27FC236}">
                <ns2:creationId id="{833A3965-C106-45B4-A7E5-601C42E0B373}"/>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01_data_exploration.ipynb</a:t>
            </a:r>
          </a:p>
        </p:txBody>
      </p:sp>
      <p:sp>
        <p:nvSpPr>
          <p:cNvPr id="12" name="">
            <a:extLst>
              <a:ext uri="{FF2B5EF4-FFF2-40B4-BE49-F238E27FC236}">
                <ns2:creationId id="{FB8E1809-FAD4-464B-9DC0-98C1CD5DF7D7}"/>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open data and schema</a:t>
            </a:r>
          </a:p>
        </p:txBody>
      </p:sp>
      <p:sp>
        <p:nvSpPr>
          <p:cNvPr id="13" name="">
            <a:extLst>
              <a:ext uri="{FF2B5EF4-FFF2-40B4-BE49-F238E27FC236}">
                <ns2:creationId id="{76000EFF-6FAC-4A28-AD84-EF8F3D10CE57}"/>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DataBallPy preprocessing</a:t>
            </a:r>
          </a:p>
        </p:txBody>
      </p:sp>
      <p:sp>
        <p:nvSpPr>
          <p:cNvPr id="14" name="">
            <a:extLst>
              <a:ext uri="{FF2B5EF4-FFF2-40B4-BE49-F238E27FC236}">
                <ns2:creationId id="{84A19383-388A-4A74-94BA-CEA065A7E934}"/>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4</a:t>
            </a:r>
          </a:p>
        </p:txBody>
      </p:sp>
    </p:spTree>
    <p:extLst>
      <p:ext uri="{BB962C8B-B14F-4D97-AF65-F5344CB8AC3E}">
        <p14:creationId val="297668599"/>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439FB279-98A4-486E-81FF-C3A022FB6942}"/>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8BB32A88-4895-42D1-A3F6-F9EE4509D28F}"/>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Foundations</a:t>
            </a:r>
          </a:p>
        </p:txBody>
      </p:sp>
      <p:sp>
        <p:nvSpPr>
          <p:cNvPr id="3" name="">
            <a:extLst>
              <a:ext uri="{FF2B5EF4-FFF2-40B4-BE49-F238E27FC236}">
                <ns2:creationId id="{E81A14D2-0FDA-4E11-86E7-29BBAB19458C}"/>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Read movement in context</a:t>
            </a:r>
          </a:p>
        </p:txBody>
      </p:sp>
      <p:sp>
        <p:nvSpPr>
          <p:cNvPr id="4" name="">
            <a:extLst>
              <a:ext uri="{FF2B5EF4-FFF2-40B4-BE49-F238E27FC236}">
                <ns2:creationId id="{969FAD96-E956-42DA-8E7C-BBC6D05F08EF}"/>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AB4862EF-4708-431B-80D0-7540AF52E6CF}"/>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What does a tracking sequence reveal that one frame misses?</a:t>
            </a:r>
          </a:p>
        </p:txBody>
      </p:sp>
      <p:sp>
        <p:nvSpPr>
          <p:cNvPr id="6" name="">
            <a:extLst>
              <a:ext uri="{FF2B5EF4-FFF2-40B4-BE49-F238E27FC236}">
                <ns2:creationId id="{BF3C066C-2AB8-4981-9FC7-41C939998EC6}"/>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52BD332B-3FB6-48AA-9D99-FEE121E83B5F}"/>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Animate the same player identities and ball through time.</a:t>
            </a:r>
          </a:p>
        </p:txBody>
      </p:sp>
      <p:sp>
        <p:nvSpPr>
          <p:cNvPr id="8" name="">
            <a:extLst>
              <a:ext uri="{FF2B5EF4-FFF2-40B4-BE49-F238E27FC236}">
                <ns2:creationId id="{0C6F45BF-753D-4171-92DC-04CB6C4A46E7}"/>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Native 10 Hz playback</a:t>
            </a:r>
          </a:p>
        </p:txBody>
      </p:sp>
      <p:pic>
        <p:nvPicPr>
          <p:cNvPr id="9" name="Video: Read movement in context" descr="Embedded MP4. Click to play. Embedded native-rate MP4 of actual SkillCorner player and ball positions with shirt numbers. Click the movie in slideshow view. Tracking visualization, not broadcast footage.">
            <a:hlinkClick action="ppaction://media"/>
            <a:extLst>
              <a:ext uri="{FF2B5EF4-FFF2-40B4-BE49-F238E27FC236}">
                <ns2:creationId id="{BBFC148E-2B8F-4ABE-A9F1-55D2D1B7280E}"/>
              </a:ext>
            </a:extLst>
          </p:cNvPr>
          <p:cNvPicPr>
            <a:picLocks noChangeAspect="1"/>
          </p:cNvPicPr>
          <p:nvPr>
            <a:videoFile r:link="rIdWorkshopVideo"/>
            <p:extLst>
              <p:ext uri="{DAA4B4D4-6D71-4841-9C94-3DE7FCFB9230}">
                <p14:media r:embed="rIdWorkshopMedia"/>
              </p:ext>
            </p:extLst>
          </p:nvPr>
        </p:nvPicPr>
        <p:blipFill>
          <a:blip r:embed="R5082d0d7f3a54194"/>
          <a:stretch/>
        </p:blipFill>
        <p:spPr>
          <a:xfrm>
            <a:off x="3724275" y="1428750"/>
            <a:ext cx="7315200" cy="4114800"/>
          </a:xfrm>
          <a:prstGeom prst="rect">
            <a:avLst/>
          </a:prstGeom>
        </p:spPr>
      </p:pic>
      <p:sp>
        <p:nvSpPr>
          <p:cNvPr id="10" name="">
            <a:extLst>
              <a:ext uri="{FF2B5EF4-FFF2-40B4-BE49-F238E27FC236}">
                <ns2:creationId id="{56593716-52BB-4B9C-AF45-176AF33200AD}"/>
              </a:ext>
            </a:extLst>
          </p:cNvPr>
          <p:cNvSpPr>
            <a:spLocks noGrp="1"/>
          </p:cNvSpPr>
          <p:nvPr/>
        </p:nvSpPr>
        <p:spPr>
          <a:xfrm>
            <a:off x="3143250" y="5591175"/>
            <a:ext cx="8286750" cy="22860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 Click video to play</a:t>
            </a:r>
          </a:p>
        </p:txBody>
      </p:sp>
      <p:sp>
        <p:nvSpPr>
          <p:cNvPr id="11" name="">
            <a:extLst>
              <a:ext uri="{FF2B5EF4-FFF2-40B4-BE49-F238E27FC236}">
                <ns2:creationId id="{22CF396B-CB65-4E14-9C27-8AC44F78365D}"/>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Motion, team structure and tracking uncertainty become visible.</a:t>
            </a:r>
          </a:p>
        </p:txBody>
      </p:sp>
      <p:sp>
        <p:nvSpPr>
          <p:cNvPr id="12" name="">
            <a:extLst>
              <a:ext uri="{FF2B5EF4-FFF2-40B4-BE49-F238E27FC236}">
                <ns2:creationId id="{68DE622E-FA65-4778-933B-5958D4328B32}"/>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01_data_exploration.ipynb</a:t>
            </a:r>
          </a:p>
        </p:txBody>
      </p:sp>
      <p:sp>
        <p:nvSpPr>
          <p:cNvPr id="13" name="">
            <a:extLst>
              <a:ext uri="{FF2B5EF4-FFF2-40B4-BE49-F238E27FC236}">
                <ns2:creationId id="{B291E09E-B5FA-470A-8FD9-5291BF1A71A6}"/>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open data and schema</a:t>
            </a:r>
          </a:p>
        </p:txBody>
      </p:sp>
      <p:sp>
        <p:nvSpPr>
          <p:cNvPr id="14" name="">
            <a:extLst>
              <a:ext uri="{FF2B5EF4-FFF2-40B4-BE49-F238E27FC236}">
                <ns2:creationId id="{7A98D84C-97F3-4256-B0FD-BCB87B43CF01}"/>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kloppy SkillCorner loader</a:t>
            </a:r>
          </a:p>
        </p:txBody>
      </p:sp>
      <p:sp>
        <p:nvSpPr>
          <p:cNvPr id="15" name="">
            <a:extLst>
              <a:ext uri="{FF2B5EF4-FFF2-40B4-BE49-F238E27FC236}">
                <ns2:creationId id="{12D59ABE-92F5-43E3-8E74-378D67331F33}"/>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5</a:t>
            </a:r>
          </a:p>
        </p:txBody>
      </p:sp>
    </p:spTree>
    <p:extLst>
      <p:ext uri="{BB962C8B-B14F-4D97-AF65-F5344CB8AC3E}">
        <p14:creationId val="453719922"/>
      </p:ext>
    </p:extLst>
  </p:cSld>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BFCF8"/>
        </a:solidFill>
      </p:bgPr>
    </p:bg>
    <p:spTree>
      <p:nvGrpSpPr>
        <p:cNvPr id="1" name=""/>
        <p:cNvGrpSpPr/>
        <p:nvPr/>
      </p:nvGrpSpPr>
      <p:grpSpPr>
        <a:xfrm/>
      </p:grpSpPr>
      <p:sp>
        <p:nvSpPr>
          <p:cNvPr id="14" name="">
            <a:extLst>
              <a:ext uri="{FF2B5EF4-FFF2-40B4-BE49-F238E27FC236}">
                <ns2:creationId id="{4CE6303F-981F-4A0C-8438-1D31D68931E2}"/>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05864083-7FAA-4418-85A7-6B25F8CCA2AB}"/>
              </a:ext>
            </a:extLst>
          </p:cNvPr>
          <p:cNvSpPr>
            <a:spLocks noGrp="1"/>
          </p:cNvSpPr>
          <p:nvPr/>
        </p:nvSpPr>
        <p:spPr>
          <a:xfrm>
            <a:off x="476250" y="419100"/>
            <a:ext cx="10953750" cy="28575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ANALYTICAL AVENUE</a:t>
            </a:r>
          </a:p>
        </p:txBody>
      </p:sp>
      <p:sp>
        <p:nvSpPr>
          <p:cNvPr id="3" name="">
            <a:extLst>
              <a:ext uri="{FF2B5EF4-FFF2-40B4-BE49-F238E27FC236}">
                <ns2:creationId id="{2B73E396-4ACB-4014-A245-5D9994BF5679}"/>
              </a:ext>
            </a:extLst>
          </p:cNvPr>
          <p:cNvSpPr>
            <a:spLocks noGrp="1"/>
          </p:cNvSpPr>
          <p:nvPr/>
        </p:nvSpPr>
        <p:spPr>
          <a:xfrm>
            <a:off x="476250" y="1066800"/>
            <a:ext cx="11049000" cy="809625"/>
          </a:xfrm>
          <a:prstGeom prst="rect">
            <a:avLst/>
          </a:prstGeom>
          <a:noFill/>
          <a:ln w="0">
            <a:noFill/>
          </a:ln>
        </p:spPr>
        <p:txBody>
          <a:bodyPr/>
          <a:lstStyle>
            <a:defPPr>
              <a:defRPr sz="3900" b="1">
                <a:solidFill>
                  <a:srgbClr val="183A35"/>
                </a:solidFill>
                <a:latin typeface="Arial"/>
                <a:ea typeface="Arial"/>
                <a:cs typeface="Arial"/>
              </a:defRPr>
            </a:defPPr>
            <a:lvl1pPr>
              <a:defRPr sz="3900" b="1">
                <a:solidFill>
                  <a:srgbClr val="183A35"/>
                </a:solidFill>
                <a:latin typeface="Arial"/>
                <a:ea typeface="Arial"/>
                <a:cs typeface="Arial"/>
              </a:defRPr>
            </a:lvl1pPr>
            <a:lvl2pPr>
              <a:defRPr sz="3900" b="1">
                <a:solidFill>
                  <a:srgbClr val="183A35"/>
                </a:solidFill>
                <a:latin typeface="Arial"/>
                <a:ea typeface="Arial"/>
                <a:cs typeface="Arial"/>
              </a:defRPr>
            </a:lvl2pPr>
            <a:lvl3pPr>
              <a:defRPr sz="3900" b="1">
                <a:solidFill>
                  <a:srgbClr val="183A35"/>
                </a:solidFill>
                <a:latin typeface="Arial"/>
                <a:ea typeface="Arial"/>
                <a:cs typeface="Arial"/>
              </a:defRPr>
            </a:lvl3pPr>
            <a:lvl4pPr>
              <a:defRPr sz="3900" b="1">
                <a:solidFill>
                  <a:srgbClr val="183A35"/>
                </a:solidFill>
                <a:latin typeface="Arial"/>
                <a:ea typeface="Arial"/>
                <a:cs typeface="Arial"/>
              </a:defRPr>
            </a:lvl4pPr>
            <a:lvl5pPr>
              <a:defRPr sz="3900" b="1">
                <a:solidFill>
                  <a:srgbClr val="183A35"/>
                </a:solidFill>
                <a:latin typeface="Arial"/>
                <a:ea typeface="Arial"/>
                <a:cs typeface="Arial"/>
              </a:defRPr>
            </a:lvl5pPr>
            <a:lvl6pPr>
              <a:defRPr sz="3900" b="1">
                <a:solidFill>
                  <a:srgbClr val="183A35"/>
                </a:solidFill>
                <a:latin typeface="Arial"/>
                <a:ea typeface="Arial"/>
                <a:cs typeface="Arial"/>
              </a:defRPr>
            </a:lvl6pPr>
            <a:lvl7pPr>
              <a:defRPr sz="3900" b="1">
                <a:solidFill>
                  <a:srgbClr val="183A35"/>
                </a:solidFill>
                <a:latin typeface="Arial"/>
                <a:ea typeface="Arial"/>
                <a:cs typeface="Arial"/>
              </a:defRPr>
            </a:lvl7pPr>
            <a:lvl8pPr>
              <a:defRPr sz="3900" b="1">
                <a:solidFill>
                  <a:srgbClr val="183A35"/>
                </a:solidFill>
                <a:latin typeface="Arial"/>
                <a:ea typeface="Arial"/>
                <a:cs typeface="Arial"/>
              </a:defRPr>
            </a:lvl8pPr>
            <a:lvl9pPr>
              <a:defRPr sz="3900" b="1">
                <a:solidFill>
                  <a:srgbClr val="183A35"/>
                </a:solidFill>
                <a:latin typeface="Arial"/>
                <a:ea typeface="Arial"/>
                <a:cs typeface="Arial"/>
              </a:defRPr>
            </a:lvl9pPr>
          </a:lstStyle>
          <a:p>
            <a:pPr>
              <a:defRPr sz="3900" b="1">
                <a:solidFill>
                  <a:srgbClr val="183A35"/>
                </a:solidFill>
                <a:latin typeface="Arial"/>
                <a:ea typeface="Arial"/>
                <a:cs typeface="Arial"/>
              </a:defRPr>
            </a:pPr>
            <a:r>
              <a:rPr sz="3900" b="1">
                <a:solidFill>
                  <a:srgbClr val="183A35"/>
                </a:solidFill>
                <a:latin typeface="Arial"/>
                <a:ea typeface="Arial"/>
                <a:cs typeface="Arial"/>
              </a:rPr>
              <a:t>Event detection</a:t>
            </a:r>
          </a:p>
        </p:txBody>
      </p:sp>
      <p:sp>
        <p:nvSpPr>
          <p:cNvPr id="4" name="">
            <a:extLst>
              <a:ext uri="{FF2B5EF4-FFF2-40B4-BE49-F238E27FC236}">
                <ns2:creationId id="{0854623B-7E7B-4988-9F5F-80A6B9458403}"/>
              </a:ext>
            </a:extLst>
          </p:cNvPr>
          <p:cNvSpPr>
            <a:spLocks noGrp="1"/>
          </p:cNvSpPr>
          <p:nvPr/>
        </p:nvSpPr>
        <p:spPr>
          <a:xfrm>
            <a:off x="476250" y="2076450"/>
            <a:ext cx="10763250" cy="876300"/>
          </a:xfrm>
          <a:prstGeom prst="rect">
            <a:avLst/>
          </a:prstGeom>
          <a:noFill/>
          <a:ln w="0">
            <a:noFill/>
          </a:ln>
        </p:spPr>
        <p:txBody>
          <a:bodyPr/>
          <a:lstStyle>
            <a:defPPr>
              <a:defRPr sz="2250" b="0">
                <a:solidFill>
                  <a:srgbClr val="183A35"/>
                </a:solidFill>
                <a:latin typeface="Arial"/>
                <a:ea typeface="Arial"/>
                <a:cs typeface="Arial"/>
              </a:defRPr>
            </a:defPPr>
            <a:lvl1pPr>
              <a:defRPr sz="2250" b="0">
                <a:solidFill>
                  <a:srgbClr val="183A35"/>
                </a:solidFill>
                <a:latin typeface="Arial"/>
                <a:ea typeface="Arial"/>
                <a:cs typeface="Arial"/>
              </a:defRPr>
            </a:lvl1pPr>
            <a:lvl2pPr>
              <a:defRPr sz="2250" b="0">
                <a:solidFill>
                  <a:srgbClr val="183A35"/>
                </a:solidFill>
                <a:latin typeface="Arial"/>
                <a:ea typeface="Arial"/>
                <a:cs typeface="Arial"/>
              </a:defRPr>
            </a:lvl2pPr>
            <a:lvl3pPr>
              <a:defRPr sz="2250" b="0">
                <a:solidFill>
                  <a:srgbClr val="183A35"/>
                </a:solidFill>
                <a:latin typeface="Arial"/>
                <a:ea typeface="Arial"/>
                <a:cs typeface="Arial"/>
              </a:defRPr>
            </a:lvl3pPr>
            <a:lvl4pPr>
              <a:defRPr sz="2250" b="0">
                <a:solidFill>
                  <a:srgbClr val="183A35"/>
                </a:solidFill>
                <a:latin typeface="Arial"/>
                <a:ea typeface="Arial"/>
                <a:cs typeface="Arial"/>
              </a:defRPr>
            </a:lvl4pPr>
            <a:lvl5pPr>
              <a:defRPr sz="2250" b="0">
                <a:solidFill>
                  <a:srgbClr val="183A35"/>
                </a:solidFill>
                <a:latin typeface="Arial"/>
                <a:ea typeface="Arial"/>
                <a:cs typeface="Arial"/>
              </a:defRPr>
            </a:lvl5pPr>
            <a:lvl6pPr>
              <a:defRPr sz="2250" b="0">
                <a:solidFill>
                  <a:srgbClr val="183A35"/>
                </a:solidFill>
                <a:latin typeface="Arial"/>
                <a:ea typeface="Arial"/>
                <a:cs typeface="Arial"/>
              </a:defRPr>
            </a:lvl6pPr>
            <a:lvl7pPr>
              <a:defRPr sz="2250" b="0">
                <a:solidFill>
                  <a:srgbClr val="183A35"/>
                </a:solidFill>
                <a:latin typeface="Arial"/>
                <a:ea typeface="Arial"/>
                <a:cs typeface="Arial"/>
              </a:defRPr>
            </a:lvl7pPr>
            <a:lvl8pPr>
              <a:defRPr sz="2250" b="0">
                <a:solidFill>
                  <a:srgbClr val="183A35"/>
                </a:solidFill>
                <a:latin typeface="Arial"/>
                <a:ea typeface="Arial"/>
                <a:cs typeface="Arial"/>
              </a:defRPr>
            </a:lvl8pPr>
            <a:lvl9pPr>
              <a:defRPr sz="2250" b="0">
                <a:solidFill>
                  <a:srgbClr val="183A35"/>
                </a:solidFill>
                <a:latin typeface="Arial"/>
                <a:ea typeface="Arial"/>
                <a:cs typeface="Arial"/>
              </a:defRPr>
            </a:lvl9pPr>
          </a:lstStyle>
          <a:p>
            <a:pPr>
              <a:defRPr sz="2250" b="0">
                <a:solidFill>
                  <a:srgbClr val="183A35"/>
                </a:solidFill>
                <a:latin typeface="Arial"/>
                <a:ea typeface="Arial"/>
                <a:cs typeface="Arial"/>
              </a:defRPr>
            </a:pPr>
            <a:r>
              <a:rPr sz="2250" b="0">
                <a:solidFill>
                  <a:srgbClr val="183A35"/>
                </a:solidFill>
                <a:latin typeface="Arial"/>
                <a:ea typeface="Arial"/>
                <a:cs typeface="Arial"/>
              </a:rPr>
              <a:t>Derive motion from tracking coordinates, then combine physical measurements with rules to identify event candidates.</a:t>
            </a:r>
          </a:p>
        </p:txBody>
      </p:sp>
      <p:sp>
        <p:nvSpPr>
          <p:cNvPr id="5" name="">
            <a:extLst>
              <a:ext uri="{FF2B5EF4-FFF2-40B4-BE49-F238E27FC236}">
                <ns2:creationId id="{836EA0A4-0FEB-4CA3-8609-0DED106A68CA}"/>
              </a:ext>
            </a:extLst>
          </p:cNvPr>
          <p:cNvSpPr>
            <a:spLocks noGrp="1"/>
          </p:cNvSpPr>
          <p:nvPr/>
        </p:nvSpPr>
        <p:spPr>
          <a:xfrm>
            <a:off x="476250" y="3352800"/>
            <a:ext cx="3810000" cy="342900"/>
          </a:xfrm>
          <a:prstGeom prst="rect">
            <a:avLst/>
          </a:prstGeom>
          <a:noFill/>
          <a:ln w="0">
            <a:noFill/>
          </a:ln>
        </p:spPr>
        <p:txBody>
          <a:bodyPr/>
          <a:lstStyle>
            <a:defPPr>
              <a:defRPr sz="1500" b="1">
                <a:solidFill>
                  <a:srgbClr val="147D68"/>
                </a:solidFill>
                <a:latin typeface="Arial"/>
                <a:ea typeface="Arial"/>
                <a:cs typeface="Arial"/>
              </a:defRPr>
            </a:defPPr>
            <a:lvl1pPr>
              <a:defRPr sz="1500" b="1">
                <a:solidFill>
                  <a:srgbClr val="147D68"/>
                </a:solidFill>
                <a:latin typeface="Arial"/>
                <a:ea typeface="Arial"/>
                <a:cs typeface="Arial"/>
              </a:defRPr>
            </a:lvl1pPr>
            <a:lvl2pPr>
              <a:defRPr sz="1500" b="1">
                <a:solidFill>
                  <a:srgbClr val="147D68"/>
                </a:solidFill>
                <a:latin typeface="Arial"/>
                <a:ea typeface="Arial"/>
                <a:cs typeface="Arial"/>
              </a:defRPr>
            </a:lvl2pPr>
            <a:lvl3pPr>
              <a:defRPr sz="1500" b="1">
                <a:solidFill>
                  <a:srgbClr val="147D68"/>
                </a:solidFill>
                <a:latin typeface="Arial"/>
                <a:ea typeface="Arial"/>
                <a:cs typeface="Arial"/>
              </a:defRPr>
            </a:lvl3pPr>
            <a:lvl4pPr>
              <a:defRPr sz="1500" b="1">
                <a:solidFill>
                  <a:srgbClr val="147D68"/>
                </a:solidFill>
                <a:latin typeface="Arial"/>
                <a:ea typeface="Arial"/>
                <a:cs typeface="Arial"/>
              </a:defRPr>
            </a:lvl4pPr>
            <a:lvl5pPr>
              <a:defRPr sz="1500" b="1">
                <a:solidFill>
                  <a:srgbClr val="147D68"/>
                </a:solidFill>
                <a:latin typeface="Arial"/>
                <a:ea typeface="Arial"/>
                <a:cs typeface="Arial"/>
              </a:defRPr>
            </a:lvl5pPr>
            <a:lvl6pPr>
              <a:defRPr sz="1500" b="1">
                <a:solidFill>
                  <a:srgbClr val="147D68"/>
                </a:solidFill>
                <a:latin typeface="Arial"/>
                <a:ea typeface="Arial"/>
                <a:cs typeface="Arial"/>
              </a:defRPr>
            </a:lvl6pPr>
            <a:lvl7pPr>
              <a:defRPr sz="1500" b="1">
                <a:solidFill>
                  <a:srgbClr val="147D68"/>
                </a:solidFill>
                <a:latin typeface="Arial"/>
                <a:ea typeface="Arial"/>
                <a:cs typeface="Arial"/>
              </a:defRPr>
            </a:lvl7pPr>
            <a:lvl8pPr>
              <a:defRPr sz="1500" b="1">
                <a:solidFill>
                  <a:srgbClr val="147D68"/>
                </a:solidFill>
                <a:latin typeface="Arial"/>
                <a:ea typeface="Arial"/>
                <a:cs typeface="Arial"/>
              </a:defRPr>
            </a:lvl8pPr>
            <a:lvl9pPr>
              <a:defRPr sz="1500" b="1">
                <a:solidFill>
                  <a:srgbClr val="147D68"/>
                </a:solidFill>
                <a:latin typeface="Arial"/>
                <a:ea typeface="Arial"/>
                <a:cs typeface="Arial"/>
              </a:defRPr>
            </a:lvl9pPr>
          </a:lstStyle>
          <a:p>
            <a:pPr>
              <a:defRPr sz="1500" b="1">
                <a:solidFill>
                  <a:srgbClr val="147D68"/>
                </a:solidFill>
                <a:latin typeface="Arial"/>
                <a:ea typeface="Arial"/>
                <a:cs typeface="Arial"/>
              </a:defRPr>
            </a:pPr>
            <a:r>
              <a:rPr sz="1500" b="1">
                <a:solidFill>
                  <a:srgbClr val="147D68"/>
                </a:solidFill>
                <a:latin typeface="Arial"/>
                <a:ea typeface="Arial"/>
                <a:cs typeface="Arial"/>
              </a:rPr>
              <a:t>Ideas and detection rules</a:t>
            </a:r>
          </a:p>
        </p:txBody>
      </p:sp>
      <p:sp>
        <p:nvSpPr>
          <p:cNvPr id="6" name="">
            <a:extLst>
              <a:ext uri="{FF2B5EF4-FFF2-40B4-BE49-F238E27FC236}">
                <ns2:creationId id="{141A7F25-70A9-4316-B51B-213D3696A79A}"/>
              </a:ext>
            </a:extLst>
          </p:cNvPr>
          <p:cNvSpPr>
            <a:spLocks noGrp="1"/>
          </p:cNvSpPr>
          <p:nvPr/>
        </p:nvSpPr>
        <p:spPr>
          <a:xfrm>
            <a:off x="476250" y="389572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Control: close, low, slow and sustained</a:t>
            </a:r>
          </a:p>
        </p:txBody>
      </p:sp>
      <p:sp>
        <p:nvSpPr>
          <p:cNvPr id="7" name="">
            <a:extLst>
              <a:ext uri="{FF2B5EF4-FFF2-40B4-BE49-F238E27FC236}">
                <ns2:creationId id="{C0F4F1A5-C729-4FDF-8978-40C24DDBEF7C}"/>
              </a:ext>
            </a:extLst>
          </p:cNvPr>
          <p:cNvSpPr>
            <a:spLocks noGrp="1"/>
          </p:cNvSpPr>
          <p:nvPr/>
        </p:nvSpPr>
        <p:spPr>
          <a:xfrm>
            <a:off x="6096000" y="389572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Passes: release, travel and reception</a:t>
            </a:r>
          </a:p>
        </p:txBody>
      </p:sp>
      <p:sp>
        <p:nvSpPr>
          <p:cNvPr id="8" name="">
            <a:extLst>
              <a:ext uri="{FF2B5EF4-FFF2-40B4-BE49-F238E27FC236}">
                <ns2:creationId id="{CC652C8C-5EA0-461E-942B-1EFCA432E73D}"/>
              </a:ext>
            </a:extLst>
          </p:cNvPr>
          <p:cNvSpPr>
            <a:spLocks noGrp="1"/>
          </p:cNvSpPr>
          <p:nvPr/>
        </p:nvSpPr>
        <p:spPr>
          <a:xfrm>
            <a:off x="476250" y="4514850"/>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Shots, carries, duels and pressure</a:t>
            </a:r>
          </a:p>
        </p:txBody>
      </p:sp>
      <p:sp>
        <p:nvSpPr>
          <p:cNvPr id="9" name="">
            <a:extLst>
              <a:ext uri="{FF2B5EF4-FFF2-40B4-BE49-F238E27FC236}">
                <ns2:creationId id="{595A48F0-DD86-4D72-A8B4-EFA7041A24A1}"/>
              </a:ext>
            </a:extLst>
          </p:cNvPr>
          <p:cNvSpPr>
            <a:spLocks noGrp="1"/>
          </p:cNvSpPr>
          <p:nvPr/>
        </p:nvSpPr>
        <p:spPr>
          <a:xfrm>
            <a:off x="6096000" y="4514850"/>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Speed = displacement / elapsed time</a:t>
            </a:r>
          </a:p>
        </p:txBody>
      </p:sp>
      <p:sp>
        <p:nvSpPr>
          <p:cNvPr id="10" name="">
            <a:extLst>
              <a:ext uri="{FF2B5EF4-FFF2-40B4-BE49-F238E27FC236}">
                <ns2:creationId id="{B6B96B90-8290-4532-88DD-611B297763AD}"/>
              </a:ext>
            </a:extLst>
          </p:cNvPr>
          <p:cNvSpPr>
            <a:spLocks noGrp="1"/>
          </p:cNvSpPr>
          <p:nvPr/>
        </p:nvSpPr>
        <p:spPr>
          <a:xfrm>
            <a:off x="476250" y="513397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Acceleration = velocity change / time</a:t>
            </a:r>
          </a:p>
        </p:txBody>
      </p:sp>
      <p:sp>
        <p:nvSpPr>
          <p:cNvPr id="11" name="">
            <a:extLst>
              <a:ext uri="{FF2B5EF4-FFF2-40B4-BE49-F238E27FC236}">
                <ns2:creationId id="{53BC7267-092A-4967-9825-E4545CF77D5D}"/>
              </a:ext>
            </a:extLst>
          </p:cNvPr>
          <p:cNvSpPr>
            <a:spLocks noGrp="1"/>
          </p:cNvSpPr>
          <p:nvPr/>
        </p:nvSpPr>
        <p:spPr>
          <a:xfrm>
            <a:off x="6096000" y="513397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Detection rules and video validation</a:t>
            </a:r>
          </a:p>
        </p:txBody>
      </p:sp>
      <p:sp>
        <p:nvSpPr>
          <p:cNvPr id="12" name="">
            <a:extLst>
              <a:ext uri="{FF2B5EF4-FFF2-40B4-BE49-F238E27FC236}">
                <ns2:creationId id="{9452E7BF-1D73-4E54-861C-706FFC4E2C97}"/>
              </a:ext>
            </a:extLst>
          </p:cNvPr>
          <p:cNvSpPr>
            <a:spLocks noGrp="1"/>
          </p:cNvSpPr>
          <p:nvPr/>
        </p:nvSpPr>
        <p:spPr>
          <a:xfrm>
            <a:off x="476250" y="5829300"/>
            <a:ext cx="11049000" cy="428625"/>
          </a:xfrm>
          <a:prstGeom prst="rect">
            <a:avLst/>
          </a:prstGeom>
          <a:noFill/>
          <a:ln w="0">
            <a:noFill/>
          </a:ln>
        </p:spPr>
        <p:txBody>
          <a:bodyPr/>
          <a:lstStyle>
            <a:defPPr>
              <a:defRPr sz="1575" b="1">
                <a:solidFill>
                  <a:srgbClr val="147D68"/>
                </a:solidFill>
                <a:latin typeface="Arial"/>
                <a:ea typeface="Arial"/>
                <a:cs typeface="Arial"/>
              </a:defRPr>
            </a:defPPr>
            <a:lvl1pPr>
              <a:defRPr sz="1575" b="1">
                <a:solidFill>
                  <a:srgbClr val="147D68"/>
                </a:solidFill>
                <a:latin typeface="Arial"/>
                <a:ea typeface="Arial"/>
                <a:cs typeface="Arial"/>
              </a:defRPr>
            </a:lvl1pPr>
            <a:lvl2pPr>
              <a:defRPr sz="1575" b="1">
                <a:solidFill>
                  <a:srgbClr val="147D68"/>
                </a:solidFill>
                <a:latin typeface="Arial"/>
                <a:ea typeface="Arial"/>
                <a:cs typeface="Arial"/>
              </a:defRPr>
            </a:lvl2pPr>
            <a:lvl3pPr>
              <a:defRPr sz="1575" b="1">
                <a:solidFill>
                  <a:srgbClr val="147D68"/>
                </a:solidFill>
                <a:latin typeface="Arial"/>
                <a:ea typeface="Arial"/>
                <a:cs typeface="Arial"/>
              </a:defRPr>
            </a:lvl3pPr>
            <a:lvl4pPr>
              <a:defRPr sz="1575" b="1">
                <a:solidFill>
                  <a:srgbClr val="147D68"/>
                </a:solidFill>
                <a:latin typeface="Arial"/>
                <a:ea typeface="Arial"/>
                <a:cs typeface="Arial"/>
              </a:defRPr>
            </a:lvl4pPr>
            <a:lvl5pPr>
              <a:defRPr sz="1575" b="1">
                <a:solidFill>
                  <a:srgbClr val="147D68"/>
                </a:solidFill>
                <a:latin typeface="Arial"/>
                <a:ea typeface="Arial"/>
                <a:cs typeface="Arial"/>
              </a:defRPr>
            </a:lvl5pPr>
            <a:lvl6pPr>
              <a:defRPr sz="1575" b="1">
                <a:solidFill>
                  <a:srgbClr val="147D68"/>
                </a:solidFill>
                <a:latin typeface="Arial"/>
                <a:ea typeface="Arial"/>
                <a:cs typeface="Arial"/>
              </a:defRPr>
            </a:lvl6pPr>
            <a:lvl7pPr>
              <a:defRPr sz="1575" b="1">
                <a:solidFill>
                  <a:srgbClr val="147D68"/>
                </a:solidFill>
                <a:latin typeface="Arial"/>
                <a:ea typeface="Arial"/>
                <a:cs typeface="Arial"/>
              </a:defRPr>
            </a:lvl7pPr>
            <a:lvl8pPr>
              <a:defRPr sz="1575" b="1">
                <a:solidFill>
                  <a:srgbClr val="147D68"/>
                </a:solidFill>
                <a:latin typeface="Arial"/>
                <a:ea typeface="Arial"/>
                <a:cs typeface="Arial"/>
              </a:defRPr>
            </a:lvl8pPr>
            <a:lvl9pPr>
              <a:defRPr sz="1575" b="1">
                <a:solidFill>
                  <a:srgbClr val="147D68"/>
                </a:solidFill>
                <a:latin typeface="Arial"/>
                <a:ea typeface="Arial"/>
                <a:cs typeface="Arial"/>
              </a:defRPr>
            </a:lvl9pPr>
          </a:lstStyle>
          <a:p>
            <a:pPr>
              <a:defRPr sz="1575" b="1">
                <a:solidFill>
                  <a:srgbClr val="147D68"/>
                </a:solidFill>
                <a:latin typeface="Arial"/>
                <a:ea typeface="Arial"/>
                <a:cs typeface="Arial"/>
              </a:defRPr>
            </a:pPr>
            <a:r>
              <a:rPr sz="1575" b="1">
                <a:solidFill>
                  <a:srgbClr val="147D68"/>
                </a:solidFill>
                <a:latin typeface="Arial"/>
                <a:ea typeface="Arial"/>
                <a:cs typeface="Arial"/>
              </a:rPr>
              <a:t>Physics supplies measurements. Event definitions supply thresholds and timing rules.</a:t>
            </a:r>
          </a:p>
        </p:txBody>
      </p:sp>
      <p:sp>
        <p:nvSpPr>
          <p:cNvPr id="13" name="">
            <a:extLst>
              <a:ext uri="{FF2B5EF4-FFF2-40B4-BE49-F238E27FC236}">
                <ns2:creationId id="{00F3843F-1224-4E4F-A485-09830749289A}"/>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6</a:t>
            </a:r>
          </a:p>
        </p:txBody>
      </p:sp>
    </p:spTree>
    <p:extLst>
      <p:ext uri="{BB962C8B-B14F-4D97-AF65-F5344CB8AC3E}">
        <p14:creationId val="236609033"/>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D9226F40-DD35-4549-A12C-B664231EDB23}"/>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81F69290-3DD2-4E74-A3C5-7AC6C82AC840}"/>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Event detection</a:t>
            </a:r>
          </a:p>
        </p:txBody>
      </p:sp>
      <p:sp>
        <p:nvSpPr>
          <p:cNvPr id="3" name="">
            <a:extLst>
              <a:ext uri="{FF2B5EF4-FFF2-40B4-BE49-F238E27FC236}">
                <ns2:creationId id="{50FE5D7E-BFA7-4763-9DCF-41D45EACFE09}"/>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Who controls the ball?</a:t>
            </a:r>
          </a:p>
        </p:txBody>
      </p:sp>
      <p:sp>
        <p:nvSpPr>
          <p:cNvPr id="4" name="">
            <a:extLst>
              <a:ext uri="{FF2B5EF4-FFF2-40B4-BE49-F238E27FC236}">
                <ns2:creationId id="{DA98C67F-AC92-43A9-A85B-F8E514024EF5}"/>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EADF4F0C-68DD-4D06-BEC1-04AD3E88BF9D}"/>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Identify the likely ball carrier between recorded events.</a:t>
            </a:r>
          </a:p>
        </p:txBody>
      </p:sp>
      <p:sp>
        <p:nvSpPr>
          <p:cNvPr id="6" name="">
            <a:extLst>
              <a:ext uri="{FF2B5EF4-FFF2-40B4-BE49-F238E27FC236}">
                <ns2:creationId id="{07760E35-6622-477C-930B-B423FD2627D6}"/>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C47ED9FF-00CB-4EFF-AE0C-327630203808}"/>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Require sustained proximity, low ball speed and low ball height.</a:t>
            </a:r>
          </a:p>
        </p:txBody>
      </p:sp>
      <p:sp>
        <p:nvSpPr>
          <p:cNvPr id="8" name="">
            <a:extLst>
              <a:ext uri="{FF2B5EF4-FFF2-40B4-BE49-F238E27FC236}">
                <ns2:creationId id="{5E553A55-4E93-4BC3-BC9F-4747AB590190}"/>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Offline teaching heuristic</a:t>
            </a:r>
          </a:p>
        </p:txBody>
      </p:sp>
      <p:pic>
        <p:nvPicPr>
          <p:cNvPr id="9" name="Video: Who controls the ball?" descr="Embedded MP4. Click to play. Control candidate: same nearest player within 2 m, ball height 0–2 m and horizontal ball speed ≤3 m/s for ≥0.3 s at native 10 Hz. Velocity comes from adjacent-frame displacement divided by valid elapsed time, within a period. Missing speed, height, coordinates or frame continuity break the evidence. Video synchronizes distance, speed and stable ownership. This conservative offline heuristic reduces flyovers and fast dummies but can miss fast dribbles, aerial control and one-touch play; slow dummies can still qualify. No validated accuracy claim. Half-speed playback.">
            <a:hlinkClick action="ppaction://media"/>
            <a:extLst>
              <a:ext uri="{FF2B5EF4-FFF2-40B4-BE49-F238E27FC236}">
                <ns2:creationId id="{AAAA6894-87CB-4087-8FFD-BDEA076D9719}"/>
              </a:ext>
            </a:extLst>
          </p:cNvPr>
          <p:cNvPicPr>
            <a:picLocks noChangeAspect="1"/>
          </p:cNvPicPr>
          <p:nvPr>
            <a:videoFile r:link="rIdWorkshopVideo"/>
            <p:extLst>
              <p:ext uri="{DAA4B4D4-6D71-4841-9C94-3DE7FCFB9230}">
                <p14:media r:embed="rIdWorkshopMedia"/>
              </p:ext>
            </p:extLst>
          </p:nvPr>
        </p:nvPicPr>
        <p:blipFill>
          <a:blip r:embed="R692ab29d2f8e42bf"/>
          <a:stretch/>
        </p:blipFill>
        <p:spPr>
          <a:xfrm>
            <a:off x="3724275" y="1428750"/>
            <a:ext cx="7315200" cy="4114800"/>
          </a:xfrm>
          <a:prstGeom prst="rect">
            <a:avLst/>
          </a:prstGeom>
        </p:spPr>
      </p:pic>
      <p:sp>
        <p:nvSpPr>
          <p:cNvPr id="10" name="">
            <a:extLst>
              <a:ext uri="{FF2B5EF4-FFF2-40B4-BE49-F238E27FC236}">
                <ns2:creationId id="{C99A0B6E-3884-4771-B0FD-77A4E9EB8A2D}"/>
              </a:ext>
            </a:extLst>
          </p:cNvPr>
          <p:cNvSpPr>
            <a:spLocks noGrp="1"/>
          </p:cNvSpPr>
          <p:nvPr/>
        </p:nvSpPr>
        <p:spPr>
          <a:xfrm>
            <a:off x="3143250" y="5591175"/>
            <a:ext cx="8286750" cy="22860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 Click video to play</a:t>
            </a:r>
          </a:p>
        </p:txBody>
      </p:sp>
      <p:sp>
        <p:nvSpPr>
          <p:cNvPr id="11" name="">
            <a:extLst>
              <a:ext uri="{FF2B5EF4-FFF2-40B4-BE49-F238E27FC236}">
                <ns2:creationId id="{EA1A97E9-EC40-4112-B142-F88E11E88D79}"/>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Highlighted carrier states; uncertain intervals remain unassigned.</a:t>
            </a:r>
          </a:p>
        </p:txBody>
      </p:sp>
      <p:sp>
        <p:nvSpPr>
          <p:cNvPr id="12" name="">
            <a:extLst>
              <a:ext uri="{FF2B5EF4-FFF2-40B4-BE49-F238E27FC236}">
                <ns2:creationId id="{694A347E-CD57-4A9A-926F-09BDABD0BD08}"/>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02_event_detection.ipynb</a:t>
            </a:r>
          </a:p>
        </p:txBody>
      </p:sp>
      <p:sp>
        <p:nvSpPr>
          <p:cNvPr id="13" name="">
            <a:extLst>
              <a:ext uri="{FF2B5EF4-FFF2-40B4-BE49-F238E27FC236}">
                <ns2:creationId id="{02B8D72E-0EED-426A-A2EA-2AC7DAFC5E8A}"/>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open data and schema</a:t>
            </a:r>
          </a:p>
        </p:txBody>
      </p:sp>
      <p:sp>
        <p:nvSpPr>
          <p:cNvPr id="14" name="">
            <a:extLst>
              <a:ext uri="{FF2B5EF4-FFF2-40B4-BE49-F238E27FC236}">
                <ns2:creationId id="{BFD9D177-EC6A-4DE2-A295-8B1521FED4D9}"/>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PathCRF: player trajectories to events (2026)</a:t>
            </a:r>
          </a:p>
        </p:txBody>
      </p:sp>
      <p:sp>
        <p:nvSpPr>
          <p:cNvPr id="15" name="">
            <a:extLst>
              <a:ext uri="{FF2B5EF4-FFF2-40B4-BE49-F238E27FC236}">
                <ns2:creationId id="{895F0015-CCD0-4E2E-A494-45848CD78CC0}"/>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7</a:t>
            </a:r>
          </a:p>
        </p:txBody>
      </p:sp>
    </p:spTree>
    <p:extLst>
      <p:ext uri="{BB962C8B-B14F-4D97-AF65-F5344CB8AC3E}">
        <p14:creationId val="1893383626"/>
      </p:ext>
    </p:extLst>
  </p:cSld>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AF8BC12C-B281-403F-BC16-50CB50FD2E39}"/>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916A9FE4-64E9-489C-BD61-7FD6721AB7D5}"/>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Event detection</a:t>
            </a:r>
          </a:p>
        </p:txBody>
      </p:sp>
      <p:sp>
        <p:nvSpPr>
          <p:cNvPr id="3" name="">
            <a:extLst>
              <a:ext uri="{FF2B5EF4-FFF2-40B4-BE49-F238E27FC236}">
                <ns2:creationId id="{87E603AF-0FA7-44B2-B5C7-597D86C7275B}"/>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When does a pass occur?</a:t>
            </a:r>
          </a:p>
        </p:txBody>
      </p:sp>
      <p:sp>
        <p:nvSpPr>
          <p:cNvPr id="4" name="">
            <a:extLst>
              <a:ext uri="{FF2B5EF4-FFF2-40B4-BE49-F238E27FC236}">
                <ns2:creationId id="{EC867A85-E2B9-4BF4-AF95-8720C24C941E}"/>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A5A394DB-B67A-4D71-BF1B-D8B10E817CC8}"/>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Separate a pass from touches, ball transit and reception.</a:t>
            </a:r>
          </a:p>
        </p:txBody>
      </p:sp>
      <p:sp>
        <p:nvSpPr>
          <p:cNvPr id="6" name="">
            <a:extLst>
              <a:ext uri="{FF2B5EF4-FFF2-40B4-BE49-F238E27FC236}">
                <ns2:creationId id="{0327E5F6-8EE4-41AA-BB10-D49E55B3ABD5}"/>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63FFB64E-EC52-4C40-BA9B-5291674EB842}"/>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Link same-team low-speed control intervals through continuous ball travel.</a:t>
            </a:r>
          </a:p>
        </p:txBody>
      </p:sp>
      <p:sp>
        <p:nvSpPr>
          <p:cNvPr id="8" name="">
            <a:extLst>
              <a:ext uri="{FF2B5EF4-FFF2-40B4-BE49-F238E27FC236}">
                <ns2:creationId id="{10838B8C-C8F4-4263-A94D-380C4D4F0973}"/>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Unverified pass candidate</a:t>
            </a:r>
          </a:p>
        </p:txBody>
      </p:sp>
      <p:pic>
        <p:nvPicPr>
          <p:cNvPr id="9" name="Video: When does a pass occur?" descr="Embedded MP4. Click to play. Actual player–ball distances, horizontal ball speed and ball height share the clip time axis. Same-player proximity within 2 m, height 0–2 m, speed ≤3 m/s and ≥0.3 s persistence define the control endpoints. Different same-team endpoints form a pass candidate only if the intervening ball trajectory is complete, crosses no period boundary, travels at least 3 m and spans no more than 4 s. Transit can exceed the control-speed threshold. Dashed arrow and endpoints are retrospective candidates, not reviewed event truth. Acceleration is not a detection gate.">
            <a:hlinkClick action="ppaction://media"/>
            <a:extLst>
              <a:ext uri="{FF2B5EF4-FFF2-40B4-BE49-F238E27FC236}">
                <ns2:creationId id="{EACBFD0F-A227-4A50-972A-3530459B8645}"/>
              </a:ext>
            </a:extLst>
          </p:cNvPr>
          <p:cNvPicPr>
            <a:picLocks noChangeAspect="1"/>
          </p:cNvPicPr>
          <p:nvPr>
            <a:videoFile r:link="rIdWorkshopVideo"/>
            <p:extLst>
              <p:ext uri="{DAA4B4D4-6D71-4841-9C94-3DE7FCFB9230}">
                <p14:media r:embed="rIdWorkshopMedia"/>
              </p:ext>
            </p:extLst>
          </p:nvPr>
        </p:nvPicPr>
        <p:blipFill>
          <a:blip r:embed="Rbc8d3f82c0774a54"/>
          <a:stretch/>
        </p:blipFill>
        <p:spPr>
          <a:xfrm>
            <a:off x="3724275" y="1428750"/>
            <a:ext cx="7315200" cy="4114800"/>
          </a:xfrm>
          <a:prstGeom prst="rect">
            <a:avLst/>
          </a:prstGeom>
        </p:spPr>
      </p:pic>
      <p:sp>
        <p:nvSpPr>
          <p:cNvPr id="10" name="">
            <a:extLst>
              <a:ext uri="{FF2B5EF4-FFF2-40B4-BE49-F238E27FC236}">
                <ns2:creationId id="{226024D5-B978-4A36-A6E6-35637162BBA1}"/>
              </a:ext>
            </a:extLst>
          </p:cNvPr>
          <p:cNvSpPr>
            <a:spLocks noGrp="1"/>
          </p:cNvSpPr>
          <p:nvPr/>
        </p:nvSpPr>
        <p:spPr>
          <a:xfrm>
            <a:off x="3143250" y="5591175"/>
            <a:ext cx="8286750" cy="22860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 Click video to play</a:t>
            </a:r>
          </a:p>
        </p:txBody>
      </p:sp>
      <p:sp>
        <p:nvSpPr>
          <p:cNvPr id="11" name="">
            <a:extLst>
              <a:ext uri="{FF2B5EF4-FFF2-40B4-BE49-F238E27FC236}">
                <ns2:creationId id="{9CC4A9A4-550C-40A0-A0E1-124CB1CE9016}"/>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Release and reception candidates align with the physics traces.</a:t>
            </a:r>
          </a:p>
        </p:txBody>
      </p:sp>
      <p:sp>
        <p:nvSpPr>
          <p:cNvPr id="12" name="">
            <a:extLst>
              <a:ext uri="{FF2B5EF4-FFF2-40B4-BE49-F238E27FC236}">
                <ns2:creationId id="{1533B7AB-49C5-4193-BD33-872965494AA2}"/>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02_event_detection.ipynb</a:t>
            </a:r>
          </a:p>
        </p:txBody>
      </p:sp>
      <p:sp>
        <p:nvSpPr>
          <p:cNvPr id="13" name="">
            <a:extLst>
              <a:ext uri="{FF2B5EF4-FFF2-40B4-BE49-F238E27FC236}">
                <ns2:creationId id="{BD3765BB-36C1-4764-A4E1-6C6EBE6C7D67}"/>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open data and schema</a:t>
            </a:r>
          </a:p>
        </p:txBody>
      </p:sp>
      <p:sp>
        <p:nvSpPr>
          <p:cNvPr id="14" name="">
            <a:extLst>
              <a:ext uri="{FF2B5EF4-FFF2-40B4-BE49-F238E27FC236}">
                <ns2:creationId id="{23FFD009-25BF-4A23-B05A-1A4EF574D4D6}"/>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PathCRF: player trajectories to events (2026)</a:t>
            </a:r>
          </a:p>
        </p:txBody>
      </p:sp>
      <p:sp>
        <p:nvSpPr>
          <p:cNvPr id="15" name="">
            <a:extLst>
              <a:ext uri="{FF2B5EF4-FFF2-40B4-BE49-F238E27FC236}">
                <ns2:creationId id="{0FA9506B-9DD3-408C-A65D-B7662CB52B97}"/>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8</a:t>
            </a:r>
          </a:p>
        </p:txBody>
      </p:sp>
    </p:spTree>
    <p:extLst>
      <p:ext uri="{BB962C8B-B14F-4D97-AF65-F5344CB8AC3E}">
        <p14:creationId val="1522645319"/>
      </p:ext>
    </p:extLst>
  </p:cSld>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BFCF8"/>
        </a:solidFill>
      </p:bgPr>
    </p:bg>
    <p:spTree>
      <p:nvGrpSpPr>
        <p:cNvPr id="1" name=""/>
        <p:cNvGrpSpPr/>
        <p:nvPr/>
      </p:nvGrpSpPr>
      <p:grpSpPr>
        <a:xfrm/>
      </p:grpSpPr>
      <p:sp>
        <p:nvSpPr>
          <p:cNvPr id="14" name="">
            <a:extLst>
              <a:ext uri="{FF2B5EF4-FFF2-40B4-BE49-F238E27FC236}">
                <ns2:creationId id="{C970DABE-9E59-4197-924B-6F818E78DDCD}"/>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5209592B-487A-4148-BC4B-90B537EF65A5}"/>
              </a:ext>
            </a:extLst>
          </p:cNvPr>
          <p:cNvSpPr>
            <a:spLocks noGrp="1"/>
          </p:cNvSpPr>
          <p:nvPr/>
        </p:nvSpPr>
        <p:spPr>
          <a:xfrm>
            <a:off x="476250" y="419100"/>
            <a:ext cx="10953750" cy="28575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ANALYTICAL AVENUE</a:t>
            </a:r>
          </a:p>
        </p:txBody>
      </p:sp>
      <p:sp>
        <p:nvSpPr>
          <p:cNvPr id="3" name="">
            <a:extLst>
              <a:ext uri="{FF2B5EF4-FFF2-40B4-BE49-F238E27FC236}">
                <ns2:creationId id="{82C66146-6605-476E-881E-11AD37DE2027}"/>
              </a:ext>
            </a:extLst>
          </p:cNvPr>
          <p:cNvSpPr>
            <a:spLocks noGrp="1"/>
          </p:cNvSpPr>
          <p:nvPr/>
        </p:nvSpPr>
        <p:spPr>
          <a:xfrm>
            <a:off x="476250" y="1066800"/>
            <a:ext cx="11049000" cy="809625"/>
          </a:xfrm>
          <a:prstGeom prst="rect">
            <a:avLst/>
          </a:prstGeom>
          <a:noFill/>
          <a:ln w="0">
            <a:noFill/>
          </a:ln>
        </p:spPr>
        <p:txBody>
          <a:bodyPr/>
          <a:lstStyle>
            <a:defPPr>
              <a:defRPr sz="3900" b="1">
                <a:solidFill>
                  <a:srgbClr val="183A35"/>
                </a:solidFill>
                <a:latin typeface="Arial"/>
                <a:ea typeface="Arial"/>
                <a:cs typeface="Arial"/>
              </a:defRPr>
            </a:defPPr>
            <a:lvl1pPr>
              <a:defRPr sz="3900" b="1">
                <a:solidFill>
                  <a:srgbClr val="183A35"/>
                </a:solidFill>
                <a:latin typeface="Arial"/>
                <a:ea typeface="Arial"/>
                <a:cs typeface="Arial"/>
              </a:defRPr>
            </a:lvl1pPr>
            <a:lvl2pPr>
              <a:defRPr sz="3900" b="1">
                <a:solidFill>
                  <a:srgbClr val="183A35"/>
                </a:solidFill>
                <a:latin typeface="Arial"/>
                <a:ea typeface="Arial"/>
                <a:cs typeface="Arial"/>
              </a:defRPr>
            </a:lvl2pPr>
            <a:lvl3pPr>
              <a:defRPr sz="3900" b="1">
                <a:solidFill>
                  <a:srgbClr val="183A35"/>
                </a:solidFill>
                <a:latin typeface="Arial"/>
                <a:ea typeface="Arial"/>
                <a:cs typeface="Arial"/>
              </a:defRPr>
            </a:lvl3pPr>
            <a:lvl4pPr>
              <a:defRPr sz="3900" b="1">
                <a:solidFill>
                  <a:srgbClr val="183A35"/>
                </a:solidFill>
                <a:latin typeface="Arial"/>
                <a:ea typeface="Arial"/>
                <a:cs typeface="Arial"/>
              </a:defRPr>
            </a:lvl4pPr>
            <a:lvl5pPr>
              <a:defRPr sz="3900" b="1">
                <a:solidFill>
                  <a:srgbClr val="183A35"/>
                </a:solidFill>
                <a:latin typeface="Arial"/>
                <a:ea typeface="Arial"/>
                <a:cs typeface="Arial"/>
              </a:defRPr>
            </a:lvl5pPr>
            <a:lvl6pPr>
              <a:defRPr sz="3900" b="1">
                <a:solidFill>
                  <a:srgbClr val="183A35"/>
                </a:solidFill>
                <a:latin typeface="Arial"/>
                <a:ea typeface="Arial"/>
                <a:cs typeface="Arial"/>
              </a:defRPr>
            </a:lvl6pPr>
            <a:lvl7pPr>
              <a:defRPr sz="3900" b="1">
                <a:solidFill>
                  <a:srgbClr val="183A35"/>
                </a:solidFill>
                <a:latin typeface="Arial"/>
                <a:ea typeface="Arial"/>
                <a:cs typeface="Arial"/>
              </a:defRPr>
            </a:lvl7pPr>
            <a:lvl8pPr>
              <a:defRPr sz="3900" b="1">
                <a:solidFill>
                  <a:srgbClr val="183A35"/>
                </a:solidFill>
                <a:latin typeface="Arial"/>
                <a:ea typeface="Arial"/>
                <a:cs typeface="Arial"/>
              </a:defRPr>
            </a:lvl8pPr>
            <a:lvl9pPr>
              <a:defRPr sz="3900" b="1">
                <a:solidFill>
                  <a:srgbClr val="183A35"/>
                </a:solidFill>
                <a:latin typeface="Arial"/>
                <a:ea typeface="Arial"/>
                <a:cs typeface="Arial"/>
              </a:defRPr>
            </a:lvl9pPr>
          </a:lstStyle>
          <a:p>
            <a:pPr>
              <a:defRPr sz="3900" b="1">
                <a:solidFill>
                  <a:srgbClr val="183A35"/>
                </a:solidFill>
                <a:latin typeface="Arial"/>
                <a:ea typeface="Arial"/>
                <a:cs typeface="Arial"/>
              </a:defRPr>
            </a:pPr>
            <a:r>
              <a:rPr sz="3900" b="1">
                <a:solidFill>
                  <a:srgbClr val="183A35"/>
                </a:solidFill>
                <a:latin typeface="Arial"/>
                <a:ea typeface="Arial"/>
                <a:cs typeface="Arial"/>
              </a:rPr>
              <a:t>Formation and position identification</a:t>
            </a:r>
          </a:p>
        </p:txBody>
      </p:sp>
      <p:sp>
        <p:nvSpPr>
          <p:cNvPr id="4" name="">
            <a:extLst>
              <a:ext uri="{FF2B5EF4-FFF2-40B4-BE49-F238E27FC236}">
                <ns2:creationId id="{1023DA72-2318-4F28-B066-3FC6D6E0B2EB}"/>
              </a:ext>
            </a:extLst>
          </p:cNvPr>
          <p:cNvSpPr>
            <a:spLocks noGrp="1"/>
          </p:cNvSpPr>
          <p:nvPr/>
        </p:nvSpPr>
        <p:spPr>
          <a:xfrm>
            <a:off x="476250" y="2076450"/>
            <a:ext cx="10763250" cy="876300"/>
          </a:xfrm>
          <a:prstGeom prst="rect">
            <a:avLst/>
          </a:prstGeom>
          <a:noFill/>
          <a:ln w="0">
            <a:noFill/>
          </a:ln>
        </p:spPr>
        <p:txBody>
          <a:bodyPr/>
          <a:lstStyle>
            <a:defPPr>
              <a:defRPr sz="2250" b="0">
                <a:solidFill>
                  <a:srgbClr val="183A35"/>
                </a:solidFill>
                <a:latin typeface="Arial"/>
                <a:ea typeface="Arial"/>
                <a:cs typeface="Arial"/>
              </a:defRPr>
            </a:defPPr>
            <a:lvl1pPr>
              <a:defRPr sz="2250" b="0">
                <a:solidFill>
                  <a:srgbClr val="183A35"/>
                </a:solidFill>
                <a:latin typeface="Arial"/>
                <a:ea typeface="Arial"/>
                <a:cs typeface="Arial"/>
              </a:defRPr>
            </a:lvl1pPr>
            <a:lvl2pPr>
              <a:defRPr sz="2250" b="0">
                <a:solidFill>
                  <a:srgbClr val="183A35"/>
                </a:solidFill>
                <a:latin typeface="Arial"/>
                <a:ea typeface="Arial"/>
                <a:cs typeface="Arial"/>
              </a:defRPr>
            </a:lvl2pPr>
            <a:lvl3pPr>
              <a:defRPr sz="2250" b="0">
                <a:solidFill>
                  <a:srgbClr val="183A35"/>
                </a:solidFill>
                <a:latin typeface="Arial"/>
                <a:ea typeface="Arial"/>
                <a:cs typeface="Arial"/>
              </a:defRPr>
            </a:lvl3pPr>
            <a:lvl4pPr>
              <a:defRPr sz="2250" b="0">
                <a:solidFill>
                  <a:srgbClr val="183A35"/>
                </a:solidFill>
                <a:latin typeface="Arial"/>
                <a:ea typeface="Arial"/>
                <a:cs typeface="Arial"/>
              </a:defRPr>
            </a:lvl4pPr>
            <a:lvl5pPr>
              <a:defRPr sz="2250" b="0">
                <a:solidFill>
                  <a:srgbClr val="183A35"/>
                </a:solidFill>
                <a:latin typeface="Arial"/>
                <a:ea typeface="Arial"/>
                <a:cs typeface="Arial"/>
              </a:defRPr>
            </a:lvl5pPr>
            <a:lvl6pPr>
              <a:defRPr sz="2250" b="0">
                <a:solidFill>
                  <a:srgbClr val="183A35"/>
                </a:solidFill>
                <a:latin typeface="Arial"/>
                <a:ea typeface="Arial"/>
                <a:cs typeface="Arial"/>
              </a:defRPr>
            </a:lvl6pPr>
            <a:lvl7pPr>
              <a:defRPr sz="2250" b="0">
                <a:solidFill>
                  <a:srgbClr val="183A35"/>
                </a:solidFill>
                <a:latin typeface="Arial"/>
                <a:ea typeface="Arial"/>
                <a:cs typeface="Arial"/>
              </a:defRPr>
            </a:lvl7pPr>
            <a:lvl8pPr>
              <a:defRPr sz="2250" b="0">
                <a:solidFill>
                  <a:srgbClr val="183A35"/>
                </a:solidFill>
                <a:latin typeface="Arial"/>
                <a:ea typeface="Arial"/>
                <a:cs typeface="Arial"/>
              </a:defRPr>
            </a:lvl8pPr>
            <a:lvl9pPr>
              <a:defRPr sz="2250" b="0">
                <a:solidFill>
                  <a:srgbClr val="183A35"/>
                </a:solidFill>
                <a:latin typeface="Arial"/>
                <a:ea typeface="Arial"/>
                <a:cs typeface="Arial"/>
              </a:defRPr>
            </a:lvl9pPr>
          </a:lstStyle>
          <a:p>
            <a:pPr>
              <a:defRPr sz="2250" b="0">
                <a:solidFill>
                  <a:srgbClr val="183A35"/>
                </a:solidFill>
                <a:latin typeface="Arial"/>
                <a:ea typeface="Arial"/>
                <a:cs typeface="Arial"/>
              </a:defRPr>
            </a:pPr>
            <a:r>
              <a:rPr sz="2250" b="0">
                <a:solidFill>
                  <a:srgbClr val="183A35"/>
                </a:solidFill>
                <a:latin typeface="Arial"/>
                <a:ea typeface="Arial"/>
                <a:cs typeface="Arial"/>
              </a:rPr>
              <a:t>How can we describe team organization while players move and rotate?</a:t>
            </a:r>
          </a:p>
        </p:txBody>
      </p:sp>
      <p:sp>
        <p:nvSpPr>
          <p:cNvPr id="5" name="">
            <a:extLst>
              <a:ext uri="{FF2B5EF4-FFF2-40B4-BE49-F238E27FC236}">
                <ns2:creationId id="{AF1D5F38-F148-4314-BCBC-B47CE4B86489}"/>
              </a:ext>
            </a:extLst>
          </p:cNvPr>
          <p:cNvSpPr>
            <a:spLocks noGrp="1"/>
          </p:cNvSpPr>
          <p:nvPr/>
        </p:nvSpPr>
        <p:spPr>
          <a:xfrm>
            <a:off x="476250" y="3352800"/>
            <a:ext cx="3810000" cy="342900"/>
          </a:xfrm>
          <a:prstGeom prst="rect">
            <a:avLst/>
          </a:prstGeom>
          <a:noFill/>
          <a:ln w="0">
            <a:noFill/>
          </a:ln>
        </p:spPr>
        <p:txBody>
          <a:bodyPr/>
          <a:lstStyle>
            <a:defPPr>
              <a:defRPr sz="1500" b="1">
                <a:solidFill>
                  <a:srgbClr val="147D68"/>
                </a:solidFill>
                <a:latin typeface="Arial"/>
                <a:ea typeface="Arial"/>
                <a:cs typeface="Arial"/>
              </a:defRPr>
            </a:defPPr>
            <a:lvl1pPr>
              <a:defRPr sz="1500" b="1">
                <a:solidFill>
                  <a:srgbClr val="147D68"/>
                </a:solidFill>
                <a:latin typeface="Arial"/>
                <a:ea typeface="Arial"/>
                <a:cs typeface="Arial"/>
              </a:defRPr>
            </a:lvl1pPr>
            <a:lvl2pPr>
              <a:defRPr sz="1500" b="1">
                <a:solidFill>
                  <a:srgbClr val="147D68"/>
                </a:solidFill>
                <a:latin typeface="Arial"/>
                <a:ea typeface="Arial"/>
                <a:cs typeface="Arial"/>
              </a:defRPr>
            </a:lvl2pPr>
            <a:lvl3pPr>
              <a:defRPr sz="1500" b="1">
                <a:solidFill>
                  <a:srgbClr val="147D68"/>
                </a:solidFill>
                <a:latin typeface="Arial"/>
                <a:ea typeface="Arial"/>
                <a:cs typeface="Arial"/>
              </a:defRPr>
            </a:lvl3pPr>
            <a:lvl4pPr>
              <a:defRPr sz="1500" b="1">
                <a:solidFill>
                  <a:srgbClr val="147D68"/>
                </a:solidFill>
                <a:latin typeface="Arial"/>
                <a:ea typeface="Arial"/>
                <a:cs typeface="Arial"/>
              </a:defRPr>
            </a:lvl4pPr>
            <a:lvl5pPr>
              <a:defRPr sz="1500" b="1">
                <a:solidFill>
                  <a:srgbClr val="147D68"/>
                </a:solidFill>
                <a:latin typeface="Arial"/>
                <a:ea typeface="Arial"/>
                <a:cs typeface="Arial"/>
              </a:defRPr>
            </a:lvl5pPr>
            <a:lvl6pPr>
              <a:defRPr sz="1500" b="1">
                <a:solidFill>
                  <a:srgbClr val="147D68"/>
                </a:solidFill>
                <a:latin typeface="Arial"/>
                <a:ea typeface="Arial"/>
                <a:cs typeface="Arial"/>
              </a:defRPr>
            </a:lvl6pPr>
            <a:lvl7pPr>
              <a:defRPr sz="1500" b="1">
                <a:solidFill>
                  <a:srgbClr val="147D68"/>
                </a:solidFill>
                <a:latin typeface="Arial"/>
                <a:ea typeface="Arial"/>
                <a:cs typeface="Arial"/>
              </a:defRPr>
            </a:lvl7pPr>
            <a:lvl8pPr>
              <a:defRPr sz="1500" b="1">
                <a:solidFill>
                  <a:srgbClr val="147D68"/>
                </a:solidFill>
                <a:latin typeface="Arial"/>
                <a:ea typeface="Arial"/>
                <a:cs typeface="Arial"/>
              </a:defRPr>
            </a:lvl8pPr>
            <a:lvl9pPr>
              <a:defRPr sz="1500" b="1">
                <a:solidFill>
                  <a:srgbClr val="147D68"/>
                </a:solidFill>
                <a:latin typeface="Arial"/>
                <a:ea typeface="Arial"/>
                <a:cs typeface="Arial"/>
              </a:defRPr>
            </a:lvl9pPr>
          </a:lstStyle>
          <a:p>
            <a:pPr>
              <a:defRPr sz="1500" b="1">
                <a:solidFill>
                  <a:srgbClr val="147D68"/>
                </a:solidFill>
                <a:latin typeface="Arial"/>
                <a:ea typeface="Arial"/>
                <a:cs typeface="Arial"/>
              </a:defRPr>
            </a:pPr>
            <a:r>
              <a:rPr sz="1500" b="1">
                <a:solidFill>
                  <a:srgbClr val="147D68"/>
                </a:solidFill>
                <a:latin typeface="Arial"/>
                <a:ea typeface="Arial"/>
                <a:cs typeface="Arial"/>
              </a:rPr>
              <a:t>Questions to explore</a:t>
            </a:r>
          </a:p>
        </p:txBody>
      </p:sp>
      <p:sp>
        <p:nvSpPr>
          <p:cNvPr id="6" name="">
            <a:extLst>
              <a:ext uri="{FF2B5EF4-FFF2-40B4-BE49-F238E27FC236}">
                <ns2:creationId id="{E8A51040-CDEC-408F-B4F1-94CD89DDF650}"/>
              </a:ext>
            </a:extLst>
          </p:cNvPr>
          <p:cNvSpPr>
            <a:spLocks noGrp="1"/>
          </p:cNvSpPr>
          <p:nvPr/>
        </p:nvSpPr>
        <p:spPr>
          <a:xfrm>
            <a:off x="476250" y="389572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Team shape and phase-conditioned averages</a:t>
            </a:r>
          </a:p>
        </p:txBody>
      </p:sp>
      <p:sp>
        <p:nvSpPr>
          <p:cNvPr id="7" name="">
            <a:extLst>
              <a:ext uri="{FF2B5EF4-FFF2-40B4-BE49-F238E27FC236}">
                <ns2:creationId id="{681D25EB-EED9-4B37-8ECF-97F7A2213608}"/>
              </a:ext>
            </a:extLst>
          </p:cNvPr>
          <p:cNvSpPr>
            <a:spLocks noGrp="1"/>
          </p:cNvSpPr>
          <p:nvPr/>
        </p:nvSpPr>
        <p:spPr>
          <a:xfrm>
            <a:off x="6096000" y="389572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Formation-template identification</a:t>
            </a:r>
          </a:p>
        </p:txBody>
      </p:sp>
      <p:sp>
        <p:nvSpPr>
          <p:cNvPr id="8" name="">
            <a:extLst>
              <a:ext uri="{FF2B5EF4-FFF2-40B4-BE49-F238E27FC236}">
                <ns2:creationId id="{FE988AD3-87F2-4330-890A-40DDF3C7F26E}"/>
              </a:ext>
            </a:extLst>
          </p:cNvPr>
          <p:cNvSpPr>
            <a:spLocks noGrp="1"/>
          </p:cNvSpPr>
          <p:nvPr/>
        </p:nvSpPr>
        <p:spPr>
          <a:xfrm>
            <a:off x="476250" y="4514850"/>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Player roles and positional rotations</a:t>
            </a:r>
          </a:p>
        </p:txBody>
      </p:sp>
      <p:sp>
        <p:nvSpPr>
          <p:cNvPr id="9" name="">
            <a:extLst>
              <a:ext uri="{FF2B5EF4-FFF2-40B4-BE49-F238E27FC236}">
                <ns2:creationId id="{DCEEE4DE-DAE7-4716-B984-BE3F4A5DD6BF}"/>
              </a:ext>
            </a:extLst>
          </p:cNvPr>
          <p:cNvSpPr>
            <a:spLocks noGrp="1"/>
          </p:cNvSpPr>
          <p:nvPr/>
        </p:nvSpPr>
        <p:spPr>
          <a:xfrm>
            <a:off x="6096000" y="4514850"/>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Role signatures from relative geometry</a:t>
            </a:r>
          </a:p>
        </p:txBody>
      </p:sp>
      <p:sp>
        <p:nvSpPr>
          <p:cNvPr id="10" name="">
            <a:extLst>
              <a:ext uri="{FF2B5EF4-FFF2-40B4-BE49-F238E27FC236}">
                <ns2:creationId id="{13A1720E-B148-4AB2-89B5-297E8C79F7B3}"/>
              </a:ext>
            </a:extLst>
          </p:cNvPr>
          <p:cNvSpPr>
            <a:spLocks noGrp="1"/>
          </p:cNvSpPr>
          <p:nvPr/>
        </p:nvSpPr>
        <p:spPr>
          <a:xfrm>
            <a:off x="476250" y="513397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Persistent formation-change candidates</a:t>
            </a:r>
          </a:p>
        </p:txBody>
      </p:sp>
      <p:sp>
        <p:nvSpPr>
          <p:cNvPr id="11" name="">
            <a:extLst>
              <a:ext uri="{FF2B5EF4-FFF2-40B4-BE49-F238E27FC236}">
                <ns2:creationId id="{DAB1E52C-8340-4F95-BC30-C4F80125E002}"/>
              </a:ext>
            </a:extLst>
          </p:cNvPr>
          <p:cNvSpPr>
            <a:spLocks noGrp="1"/>
          </p:cNvSpPr>
          <p:nvPr/>
        </p:nvSpPr>
        <p:spPr>
          <a:xfrm>
            <a:off x="6096000" y="513397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Substitutions and asymmetric shapes</a:t>
            </a:r>
          </a:p>
        </p:txBody>
      </p:sp>
      <p:sp>
        <p:nvSpPr>
          <p:cNvPr id="12" name="">
            <a:extLst>
              <a:ext uri="{FF2B5EF4-FFF2-40B4-BE49-F238E27FC236}">
                <ns2:creationId id="{62B5E7CC-DC59-4B25-9FE1-11113DF5DE5F}"/>
              </a:ext>
            </a:extLst>
          </p:cNvPr>
          <p:cNvSpPr>
            <a:spLocks noGrp="1"/>
          </p:cNvSpPr>
          <p:nvPr/>
        </p:nvSpPr>
        <p:spPr>
          <a:xfrm>
            <a:off x="476250" y="5829300"/>
            <a:ext cx="11049000" cy="428625"/>
          </a:xfrm>
          <a:prstGeom prst="rect">
            <a:avLst/>
          </a:prstGeom>
          <a:noFill/>
          <a:ln w="0">
            <a:noFill/>
          </a:ln>
        </p:spPr>
        <p:txBody>
          <a:bodyPr/>
          <a:lstStyle>
            <a:defPPr>
              <a:defRPr sz="1575" b="1">
                <a:solidFill>
                  <a:srgbClr val="147D68"/>
                </a:solidFill>
                <a:latin typeface="Arial"/>
                <a:ea typeface="Arial"/>
                <a:cs typeface="Arial"/>
              </a:defRPr>
            </a:defPPr>
            <a:lvl1pPr>
              <a:defRPr sz="1575" b="1">
                <a:solidFill>
                  <a:srgbClr val="147D68"/>
                </a:solidFill>
                <a:latin typeface="Arial"/>
                <a:ea typeface="Arial"/>
                <a:cs typeface="Arial"/>
              </a:defRPr>
            </a:lvl1pPr>
            <a:lvl2pPr>
              <a:defRPr sz="1575" b="1">
                <a:solidFill>
                  <a:srgbClr val="147D68"/>
                </a:solidFill>
                <a:latin typeface="Arial"/>
                <a:ea typeface="Arial"/>
                <a:cs typeface="Arial"/>
              </a:defRPr>
            </a:lvl2pPr>
            <a:lvl3pPr>
              <a:defRPr sz="1575" b="1">
                <a:solidFill>
                  <a:srgbClr val="147D68"/>
                </a:solidFill>
                <a:latin typeface="Arial"/>
                <a:ea typeface="Arial"/>
                <a:cs typeface="Arial"/>
              </a:defRPr>
            </a:lvl3pPr>
            <a:lvl4pPr>
              <a:defRPr sz="1575" b="1">
                <a:solidFill>
                  <a:srgbClr val="147D68"/>
                </a:solidFill>
                <a:latin typeface="Arial"/>
                <a:ea typeface="Arial"/>
                <a:cs typeface="Arial"/>
              </a:defRPr>
            </a:lvl4pPr>
            <a:lvl5pPr>
              <a:defRPr sz="1575" b="1">
                <a:solidFill>
                  <a:srgbClr val="147D68"/>
                </a:solidFill>
                <a:latin typeface="Arial"/>
                <a:ea typeface="Arial"/>
                <a:cs typeface="Arial"/>
              </a:defRPr>
            </a:lvl5pPr>
            <a:lvl6pPr>
              <a:defRPr sz="1575" b="1">
                <a:solidFill>
                  <a:srgbClr val="147D68"/>
                </a:solidFill>
                <a:latin typeface="Arial"/>
                <a:ea typeface="Arial"/>
                <a:cs typeface="Arial"/>
              </a:defRPr>
            </a:lvl6pPr>
            <a:lvl7pPr>
              <a:defRPr sz="1575" b="1">
                <a:solidFill>
                  <a:srgbClr val="147D68"/>
                </a:solidFill>
                <a:latin typeface="Arial"/>
                <a:ea typeface="Arial"/>
                <a:cs typeface="Arial"/>
              </a:defRPr>
            </a:lvl7pPr>
            <a:lvl8pPr>
              <a:defRPr sz="1575" b="1">
                <a:solidFill>
                  <a:srgbClr val="147D68"/>
                </a:solidFill>
                <a:latin typeface="Arial"/>
                <a:ea typeface="Arial"/>
                <a:cs typeface="Arial"/>
              </a:defRPr>
            </a:lvl8pPr>
            <a:lvl9pPr>
              <a:defRPr sz="1575" b="1">
                <a:solidFill>
                  <a:srgbClr val="147D68"/>
                </a:solidFill>
                <a:latin typeface="Arial"/>
                <a:ea typeface="Arial"/>
                <a:cs typeface="Arial"/>
              </a:defRPr>
            </a:lvl9pPr>
          </a:lstStyle>
          <a:p>
            <a:pPr>
              <a:defRPr sz="1575" b="1">
                <a:solidFill>
                  <a:srgbClr val="147D68"/>
                </a:solidFill>
                <a:latin typeface="Arial"/>
                <a:ea typeface="Arial"/>
                <a:cs typeface="Arial"/>
              </a:defRPr>
            </a:pPr>
            <a:r>
              <a:rPr sz="1575" b="1">
                <a:solidFill>
                  <a:srgbClr val="147D68"/>
                </a:solidFill>
                <a:latin typeface="Arial"/>
                <a:ea typeface="Arial"/>
                <a:cs typeface="Arial"/>
              </a:rPr>
              <a:t>Examples: formation assignments, angular signatures and change timelines</a:t>
            </a:r>
          </a:p>
        </p:txBody>
      </p:sp>
      <p:sp>
        <p:nvSpPr>
          <p:cNvPr id="13" name="">
            <a:extLst>
              <a:ext uri="{FF2B5EF4-FFF2-40B4-BE49-F238E27FC236}">
                <ns2:creationId id="{E13EE0BA-799D-4996-BEED-638244143F06}"/>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9</a:t>
            </a:r>
          </a:p>
        </p:txBody>
      </p:sp>
    </p:spTree>
    <p:extLst>
      <p:ext uri="{BB962C8B-B14F-4D97-AF65-F5344CB8AC3E}">
        <p14:creationId val="29317975"/>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B9332DE4-A7C6-400B-9F81-707ABD844268}"/>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8BC491F2-31C7-4195-BA12-F5E550B6E9A4}"/>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Formation and position identification</a:t>
            </a:r>
          </a:p>
        </p:txBody>
      </p:sp>
      <p:sp>
        <p:nvSpPr>
          <p:cNvPr id="3" name="">
            <a:extLst>
              <a:ext uri="{FF2B5EF4-FFF2-40B4-BE49-F238E27FC236}">
                <ns2:creationId id="{71A02C72-8FF8-4139-AEA4-CA455DDA1EF2}"/>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Which formation best fits this shape?</a:t>
            </a:r>
          </a:p>
        </p:txBody>
      </p:sp>
      <p:sp>
        <p:nvSpPr>
          <p:cNvPr id="4" name="">
            <a:extLst>
              <a:ext uri="{FF2B5EF4-FFF2-40B4-BE49-F238E27FC236}">
                <ns2:creationId id="{2F371B6D-64F3-494E-90BE-A6FDA1FEED9F}"/>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594E1E61-CEBB-4C9B-86F4-815E183488D7}"/>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Infer organization from positions rather than the team sheet.</a:t>
            </a:r>
          </a:p>
        </p:txBody>
      </p:sp>
      <p:sp>
        <p:nvSpPr>
          <p:cNvPr id="6" name="">
            <a:extLst>
              <a:ext uri="{FF2B5EF4-FFF2-40B4-BE49-F238E27FC236}">
                <ns2:creationId id="{9D245F8B-3BFA-4C33-813F-BDA57A14C80A}"/>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60392485-E3BF-4BDA-8AED-EA561181A4DA}"/>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Center each frame, match players to template slots, then compare RMS error.</a:t>
            </a:r>
          </a:p>
        </p:txBody>
      </p:sp>
      <p:sp>
        <p:nvSpPr>
          <p:cNvPr id="8" name="">
            <a:extLst>
              <a:ext uri="{FF2B5EF4-FFF2-40B4-BE49-F238E27FC236}">
                <ns2:creationId id="{038B45A0-4F3E-45F4-8080-8BEAADBFF9B5}"/>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Fixed-template estimate; roles are inferred.</a:t>
            </a:r>
          </a:p>
        </p:txBody>
      </p:sp>
      <p:pic>
        <p:nvPicPr>
          <p:cNvPr id="9" name="">
            <a:extLst>
              <a:ext uri="{FF2B5EF4-FFF2-40B4-BE49-F238E27FC236}">
                <ns2:creationId id="{78C22372-2AFC-4F3E-B295-B78364A7672E}"/>
              </a:ext>
            </a:extLst>
          </p:cNvPr>
          <p:cNvPicPr>
            <a:picLocks noChangeAspect="1"/>
          </p:cNvPicPr>
          <p:nvPr/>
        </p:nvPicPr>
        <p:blipFill>
          <a:blip r:embed="R59a8e45dfdfa4c3d"/>
          <a:stretch/>
        </p:blipFill>
        <p:spPr>
          <a:xfrm>
            <a:off x="3048000" y="1428750"/>
            <a:ext cx="8667750" cy="4333875"/>
          </a:xfrm>
          <a:prstGeom prst="rect">
            <a:avLst/>
          </a:prstGeom>
        </p:spPr>
      </p:pic>
      <p:sp>
        <p:nvSpPr>
          <p:cNvPr id="10" name="">
            <a:extLst>
              <a:ext uri="{FF2B5EF4-FFF2-40B4-BE49-F238E27FC236}">
                <ns2:creationId id="{C115E393-6485-4420-9BE2-E44DA39C3098}"/>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Minimum assignment error selects 4-2-3-1 from the four candidate templates.</a:t>
            </a:r>
          </a:p>
        </p:txBody>
      </p:sp>
      <p:sp>
        <p:nvSpPr>
          <p:cNvPr id="11" name="">
            <a:extLst>
              <a:ext uri="{FF2B5EF4-FFF2-40B4-BE49-F238E27FC236}">
                <ns2:creationId id="{AF42362F-072D-4DA1-A4A5-B6C21C3FA10D}"/>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03_formation_analysis.ipynb</a:t>
            </a:r>
          </a:p>
        </p:txBody>
      </p:sp>
      <p:sp>
        <p:nvSpPr>
          <p:cNvPr id="12" name="">
            <a:extLst>
              <a:ext uri="{FF2B5EF4-FFF2-40B4-BE49-F238E27FC236}">
                <ns2:creationId id="{01292808-00DD-4619-AC1E-00D760602050}"/>
              </a:ext>
            </a:extLst>
          </p:cNvPr>
          <p:cNvSpPr>
            <a:spLocks noGrp="1"/>
          </p:cNvSpPr>
          <p:nvPr/>
        </p:nvSpPr>
        <p:spPr>
          <a:xfrm>
            <a:off x="457200" y="6429375"/>
            <a:ext cx="20002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Shaw &amp; Glickman: Dynamic Analysis of Team Strategy</a:t>
            </a:r>
          </a:p>
        </p:txBody>
      </p:sp>
      <p:sp>
        <p:nvSpPr>
          <p:cNvPr id="13" name="">
            <a:extLst>
              <a:ext uri="{FF2B5EF4-FFF2-40B4-BE49-F238E27FC236}">
                <ns2:creationId id="{1BC1EB89-9372-4E13-837F-F1BFB2CFF53C}"/>
              </a:ext>
            </a:extLst>
          </p:cNvPr>
          <p:cNvSpPr>
            <a:spLocks noGrp="1"/>
          </p:cNvSpPr>
          <p:nvPr/>
        </p:nvSpPr>
        <p:spPr>
          <a:xfrm>
            <a:off x="2520950" y="6429375"/>
            <a:ext cx="20002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Joris Bekkers: Elastic Formation and Position Identification</a:t>
            </a:r>
          </a:p>
        </p:txBody>
      </p:sp>
      <p:sp>
        <p:nvSpPr>
          <p:cNvPr id="14" name="">
            <a:extLst>
              <a:ext uri="{FF2B5EF4-FFF2-40B4-BE49-F238E27FC236}">
                <ns2:creationId id="{9493E4EC-F167-42DF-A4C4-2051DC1EE2A5}"/>
              </a:ext>
            </a:extLst>
          </p:cNvPr>
          <p:cNvSpPr>
            <a:spLocks noGrp="1"/>
          </p:cNvSpPr>
          <p:nvPr/>
        </p:nvSpPr>
        <p:spPr>
          <a:xfrm>
            <a:off x="4584700" y="6429375"/>
            <a:ext cx="20002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7"/>
              </a:rPr>
              <a:t>Devin Pleuler: Fixed to Fluid (2024)</a:t>
            </a:r>
          </a:p>
        </p:txBody>
      </p:sp>
      <p:sp>
        <p:nvSpPr>
          <p:cNvPr id="15" name="">
            <a:extLst>
              <a:ext uri="{FF2B5EF4-FFF2-40B4-BE49-F238E27FC236}">
                <ns2:creationId id="{38DACEC8-6A27-4FDF-A136-3A701E23A82B}"/>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10</a:t>
            </a:r>
          </a:p>
        </p:txBody>
      </p:sp>
    </p:spTree>
    <p:extLst>
      <p:ext uri="{BB962C8B-B14F-4D97-AF65-F5344CB8AC3E}">
        <p14:creationId val="719021026"/>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4" name="">
            <a:extLst>
              <a:ext uri="{FF2B5EF4-FFF2-40B4-BE49-F238E27FC236}">
                <ns2:creationId id="{F9C6D12E-175E-49AD-BD45-B9423C1768F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B008A3E2-C7F2-4F4B-A98E-25B032A963E9}"/>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Formation and position identification</a:t>
            </a:r>
          </a:p>
        </p:txBody>
      </p:sp>
      <p:sp>
        <p:nvSpPr>
          <p:cNvPr id="3" name="">
            <a:extLst>
              <a:ext uri="{FF2B5EF4-FFF2-40B4-BE49-F238E27FC236}">
                <ns2:creationId id="{79CFF711-19B8-4428-928C-56CA037FD352}"/>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Which spatial signature describes a role?</a:t>
            </a:r>
          </a:p>
        </p:txBody>
      </p:sp>
      <p:sp>
        <p:nvSpPr>
          <p:cNvPr id="4" name="">
            <a:extLst>
              <a:ext uri="{FF2B5EF4-FFF2-40B4-BE49-F238E27FC236}">
                <ns2:creationId id="{74A8C055-3AD3-4298-A66D-799FC96A212B}"/>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52D13F87-E002-4A0B-B3C9-0585C5E439BE}"/>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Distinguish players by where their teammates lie around them.</a:t>
            </a:r>
          </a:p>
        </p:txBody>
      </p:sp>
      <p:sp>
        <p:nvSpPr>
          <p:cNvPr id="6" name="">
            <a:extLst>
              <a:ext uri="{FF2B5EF4-FFF2-40B4-BE49-F238E27FC236}">
                <ns2:creationId id="{34BA899F-1090-46DE-A215-ADEA0E9875D0}"/>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BCB98300-E027-48C7-A124-AC700A44FF5B}"/>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Pleuler-inspired teammate counts across rotating 90° sectors.</a:t>
            </a:r>
          </a:p>
        </p:txBody>
      </p:sp>
      <p:sp>
        <p:nvSpPr>
          <p:cNvPr id="8" name="">
            <a:extLst>
              <a:ext uri="{FF2B5EF4-FFF2-40B4-BE49-F238E27FC236}">
                <ns2:creationId id="{D59F8EC8-FC5E-4127-BB83-59E408AFA0EF}"/>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Real geometry · metadata role labels</a:t>
            </a:r>
          </a:p>
        </p:txBody>
      </p:sp>
      <p:pic>
        <p:nvPicPr>
          <p:cNvPr id="9" name="">
            <a:extLst>
              <a:ext uri="{FF2B5EF4-FFF2-40B4-BE49-F238E27FC236}">
                <ns2:creationId id="{D497246B-7E1F-40F5-BC17-74075A6370F8}"/>
              </a:ext>
            </a:extLst>
          </p:cNvPr>
          <p:cNvPicPr>
            <a:picLocks noChangeAspect="1"/>
          </p:cNvPicPr>
          <p:nvPr/>
        </p:nvPicPr>
        <p:blipFill>
          <a:blip r:embed="Rda9ac81d74524e08"/>
          <a:stretch/>
        </p:blipFill>
        <p:spPr>
          <a:xfrm>
            <a:off x="3048000" y="1428750"/>
            <a:ext cx="8667750" cy="4333875"/>
          </a:xfrm>
          <a:prstGeom prst="rect">
            <a:avLst/>
          </a:prstGeom>
        </p:spPr>
      </p:pic>
      <p:sp>
        <p:nvSpPr>
          <p:cNvPr id="10" name="">
            <a:extLst>
              <a:ext uri="{FF2B5EF4-FFF2-40B4-BE49-F238E27FC236}">
                <ns2:creationId id="{7C6DAAC1-F91D-4EB0-8BF0-A72981545C22}"/>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Contrasting angular signatures for wide, central and attacking roles.</a:t>
            </a:r>
          </a:p>
        </p:txBody>
      </p:sp>
      <p:sp>
        <p:nvSpPr>
          <p:cNvPr id="11" name="">
            <a:extLst>
              <a:ext uri="{FF2B5EF4-FFF2-40B4-BE49-F238E27FC236}">
                <ns2:creationId id="{CFC7D792-2017-4286-94AC-17082976C638}"/>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04_role_classification.ipynb</a:t>
            </a:r>
          </a:p>
        </p:txBody>
      </p:sp>
      <p:sp>
        <p:nvSpPr>
          <p:cNvPr id="12" name="">
            <a:extLst>
              <a:ext uri="{FF2B5EF4-FFF2-40B4-BE49-F238E27FC236}">
                <ns2:creationId id="{84AB3C7B-2395-4780-917D-2C446BB5D429}"/>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Devin Pleuler: Fixed to Fluid (2024)</a:t>
            </a:r>
          </a:p>
        </p:txBody>
      </p:sp>
      <p:sp>
        <p:nvSpPr>
          <p:cNvPr id="13" name="">
            <a:extLst>
              <a:ext uri="{FF2B5EF4-FFF2-40B4-BE49-F238E27FC236}">
                <ns2:creationId id="{A9E20C5E-8281-4F0E-80FE-C1B69C741686}"/>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11</a:t>
            </a:r>
          </a:p>
        </p:txBody>
      </p:sp>
    </p:spTree>
    <p:extLst>
      <p:ext uri="{BB962C8B-B14F-4D97-AF65-F5344CB8AC3E}">
        <p14:creationId val="1090847956"/>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D76E1D8B-B9AF-42B2-A5F2-4DB90DFC865F}"/>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1591324E-6721-46BE-9602-06613E640D9E}"/>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Formation and position identification</a:t>
            </a:r>
          </a:p>
        </p:txBody>
      </p:sp>
      <p:sp>
        <p:nvSpPr>
          <p:cNvPr id="3" name="">
            <a:extLst>
              <a:ext uri="{FF2B5EF4-FFF2-40B4-BE49-F238E27FC236}">
                <ns2:creationId id="{2346308D-2695-497B-BCF7-7F697A0D903F}"/>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Did the formation actually change?</a:t>
            </a:r>
          </a:p>
        </p:txBody>
      </p:sp>
      <p:sp>
        <p:nvSpPr>
          <p:cNvPr id="4" name="">
            <a:extLst>
              <a:ext uri="{FF2B5EF4-FFF2-40B4-BE49-F238E27FC236}">
                <ns2:creationId id="{F2243DD7-3B26-466A-A450-1AF6388C8BC8}"/>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D9A2A251-E877-43AC-B20D-93B801318758}"/>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Separate persistent reorganization from transient shape changes.</a:t>
            </a:r>
          </a:p>
        </p:txBody>
      </p:sp>
      <p:sp>
        <p:nvSpPr>
          <p:cNvPr id="6" name="">
            <a:extLst>
              <a:ext uri="{FF2B5EF4-FFF2-40B4-BE49-F238E27FC236}">
                <ns2:creationId id="{57A1C9D9-B325-48F3-8026-DF9586C4AC2F}"/>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7E86926C-1A44-4B9D-B79D-A291419B2B29}"/>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Compare defensive windows; confirm only persistent candidates.</a:t>
            </a:r>
          </a:p>
        </p:txBody>
      </p:sp>
      <p:sp>
        <p:nvSpPr>
          <p:cNvPr id="8" name="">
            <a:extLst>
              <a:ext uri="{FF2B5EF4-FFF2-40B4-BE49-F238E27FC236}">
                <ns2:creationId id="{16D76E91-BE1A-4186-A559-DF372259EFEE}"/>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Candidates, not verified tactical changes</a:t>
            </a:r>
          </a:p>
        </p:txBody>
      </p:sp>
      <p:pic>
        <p:nvPicPr>
          <p:cNvPr id="9" name="">
            <a:extLst>
              <a:ext uri="{FF2B5EF4-FFF2-40B4-BE49-F238E27FC236}">
                <ns2:creationId id="{ED6FAB65-AFD0-4021-90AD-965CD676289E}"/>
              </a:ext>
            </a:extLst>
          </p:cNvPr>
          <p:cNvPicPr>
            <a:picLocks noChangeAspect="1"/>
          </p:cNvPicPr>
          <p:nvPr/>
        </p:nvPicPr>
        <p:blipFill>
          <a:blip r:embed="R1402427d8fe54843"/>
          <a:stretch/>
        </p:blipFill>
        <p:spPr>
          <a:xfrm>
            <a:off x="3048000" y="1428750"/>
            <a:ext cx="8667750" cy="4333875"/>
          </a:xfrm>
          <a:prstGeom prst="rect">
            <a:avLst/>
          </a:prstGeom>
        </p:spPr>
      </p:pic>
      <p:sp>
        <p:nvSpPr>
          <p:cNvPr id="10" name="">
            <a:extLst>
              <a:ext uri="{FF2B5EF4-FFF2-40B4-BE49-F238E27FC236}">
                <ns2:creationId id="{A016A443-B2B3-44F8-B894-6CCC8542FFB3}"/>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timeline distinguishes raw candidates, confirmed labels and gaps.</a:t>
            </a:r>
          </a:p>
        </p:txBody>
      </p:sp>
      <p:sp>
        <p:nvSpPr>
          <p:cNvPr id="11" name="">
            <a:extLst>
              <a:ext uri="{FF2B5EF4-FFF2-40B4-BE49-F238E27FC236}">
                <ns2:creationId id="{0C3F7716-C524-41F6-973A-A353800D1833}"/>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03_formation_analysis.ipynb</a:t>
            </a:r>
          </a:p>
        </p:txBody>
      </p:sp>
      <p:sp>
        <p:nvSpPr>
          <p:cNvPr id="12" name="">
            <a:extLst>
              <a:ext uri="{FF2B5EF4-FFF2-40B4-BE49-F238E27FC236}">
                <ns2:creationId id="{AEA5798F-2CEA-4300-84C9-7A29A3C8E227}"/>
              </a:ext>
            </a:extLst>
          </p:cNvPr>
          <p:cNvSpPr>
            <a:spLocks noGrp="1"/>
          </p:cNvSpPr>
          <p:nvPr/>
        </p:nvSpPr>
        <p:spPr>
          <a:xfrm>
            <a:off x="457200" y="6429375"/>
            <a:ext cx="20002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Shaw &amp; Glickman: Dynamic Analysis of Team Strategy</a:t>
            </a:r>
          </a:p>
        </p:txBody>
      </p:sp>
      <p:sp>
        <p:nvSpPr>
          <p:cNvPr id="13" name="">
            <a:extLst>
              <a:ext uri="{FF2B5EF4-FFF2-40B4-BE49-F238E27FC236}">
                <ns2:creationId id="{4119EFF8-B6C9-4C9E-BEE7-E07D1267E213}"/>
              </a:ext>
            </a:extLst>
          </p:cNvPr>
          <p:cNvSpPr>
            <a:spLocks noGrp="1"/>
          </p:cNvSpPr>
          <p:nvPr/>
        </p:nvSpPr>
        <p:spPr>
          <a:xfrm>
            <a:off x="2520950" y="6429375"/>
            <a:ext cx="20002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Joris Bekkers: Elastic Formation and Position Identification</a:t>
            </a:r>
          </a:p>
        </p:txBody>
      </p:sp>
      <p:sp>
        <p:nvSpPr>
          <p:cNvPr id="14" name="">
            <a:extLst>
              <a:ext uri="{FF2B5EF4-FFF2-40B4-BE49-F238E27FC236}">
                <ns2:creationId id="{2354BC53-6B20-417B-9A34-DA2E53D676A0}"/>
              </a:ext>
            </a:extLst>
          </p:cNvPr>
          <p:cNvSpPr>
            <a:spLocks noGrp="1"/>
          </p:cNvSpPr>
          <p:nvPr/>
        </p:nvSpPr>
        <p:spPr>
          <a:xfrm>
            <a:off x="4584700" y="6429375"/>
            <a:ext cx="20002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7"/>
              </a:rPr>
              <a:t>Devin Pleuler: Fixed to Fluid (2024)</a:t>
            </a:r>
          </a:p>
        </p:txBody>
      </p:sp>
      <p:sp>
        <p:nvSpPr>
          <p:cNvPr id="15" name="">
            <a:extLst>
              <a:ext uri="{FF2B5EF4-FFF2-40B4-BE49-F238E27FC236}">
                <ns2:creationId id="{53F84C8D-B52E-4AC9-9941-943412D36273}"/>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12</a:t>
            </a:r>
          </a:p>
        </p:txBody>
      </p:sp>
    </p:spTree>
    <p:extLst>
      <p:ext uri="{BB962C8B-B14F-4D97-AF65-F5344CB8AC3E}">
        <p14:creationId val="326321649"/>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BFCF8"/>
        </a:solidFill>
      </p:bgPr>
    </p:bg>
    <p:spTree>
      <p:nvGrpSpPr>
        <p:cNvPr id="1" name=""/>
        <p:cNvGrpSpPr/>
        <p:nvPr/>
      </p:nvGrpSpPr>
      <p:grpSpPr>
        <a:xfrm/>
      </p:grpSpPr>
      <p:sp>
        <p:nvSpPr>
          <p:cNvPr id="14" name="">
            <a:extLst>
              <a:ext uri="{FF2B5EF4-FFF2-40B4-BE49-F238E27FC236}">
                <ns2:creationId id="{C65EB817-8284-44DE-9605-B34E9F3FBE9C}"/>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C39BEDF0-23E7-42DD-8CA5-F83B658C6E1D}"/>
              </a:ext>
            </a:extLst>
          </p:cNvPr>
          <p:cNvSpPr>
            <a:spLocks noGrp="1"/>
          </p:cNvSpPr>
          <p:nvPr/>
        </p:nvSpPr>
        <p:spPr>
          <a:xfrm>
            <a:off x="476250" y="419100"/>
            <a:ext cx="10953750" cy="28575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ANALYTICAL AVENUE</a:t>
            </a:r>
          </a:p>
        </p:txBody>
      </p:sp>
      <p:sp>
        <p:nvSpPr>
          <p:cNvPr id="3" name="">
            <a:extLst>
              <a:ext uri="{FF2B5EF4-FFF2-40B4-BE49-F238E27FC236}">
                <ns2:creationId id="{CC037E0B-8C0B-43E7-B9DA-C62C5140599D}"/>
              </a:ext>
            </a:extLst>
          </p:cNvPr>
          <p:cNvSpPr>
            <a:spLocks noGrp="1"/>
          </p:cNvSpPr>
          <p:nvPr/>
        </p:nvSpPr>
        <p:spPr>
          <a:xfrm>
            <a:off x="476250" y="1066800"/>
            <a:ext cx="11049000" cy="809625"/>
          </a:xfrm>
          <a:prstGeom prst="rect">
            <a:avLst/>
          </a:prstGeom>
          <a:noFill/>
          <a:ln w="0">
            <a:noFill/>
          </a:ln>
        </p:spPr>
        <p:txBody>
          <a:bodyPr/>
          <a:lstStyle>
            <a:defPPr>
              <a:defRPr sz="3900" b="1">
                <a:solidFill>
                  <a:srgbClr val="183A35"/>
                </a:solidFill>
                <a:latin typeface="Arial"/>
                <a:ea typeface="Arial"/>
                <a:cs typeface="Arial"/>
              </a:defRPr>
            </a:defPPr>
            <a:lvl1pPr>
              <a:defRPr sz="3900" b="1">
                <a:solidFill>
                  <a:srgbClr val="183A35"/>
                </a:solidFill>
                <a:latin typeface="Arial"/>
                <a:ea typeface="Arial"/>
                <a:cs typeface="Arial"/>
              </a:defRPr>
            </a:lvl1pPr>
            <a:lvl2pPr>
              <a:defRPr sz="3900" b="1">
                <a:solidFill>
                  <a:srgbClr val="183A35"/>
                </a:solidFill>
                <a:latin typeface="Arial"/>
                <a:ea typeface="Arial"/>
                <a:cs typeface="Arial"/>
              </a:defRPr>
            </a:lvl2pPr>
            <a:lvl3pPr>
              <a:defRPr sz="3900" b="1">
                <a:solidFill>
                  <a:srgbClr val="183A35"/>
                </a:solidFill>
                <a:latin typeface="Arial"/>
                <a:ea typeface="Arial"/>
                <a:cs typeface="Arial"/>
              </a:defRPr>
            </a:lvl3pPr>
            <a:lvl4pPr>
              <a:defRPr sz="3900" b="1">
                <a:solidFill>
                  <a:srgbClr val="183A35"/>
                </a:solidFill>
                <a:latin typeface="Arial"/>
                <a:ea typeface="Arial"/>
                <a:cs typeface="Arial"/>
              </a:defRPr>
            </a:lvl4pPr>
            <a:lvl5pPr>
              <a:defRPr sz="3900" b="1">
                <a:solidFill>
                  <a:srgbClr val="183A35"/>
                </a:solidFill>
                <a:latin typeface="Arial"/>
                <a:ea typeface="Arial"/>
                <a:cs typeface="Arial"/>
              </a:defRPr>
            </a:lvl5pPr>
            <a:lvl6pPr>
              <a:defRPr sz="3900" b="1">
                <a:solidFill>
                  <a:srgbClr val="183A35"/>
                </a:solidFill>
                <a:latin typeface="Arial"/>
                <a:ea typeface="Arial"/>
                <a:cs typeface="Arial"/>
              </a:defRPr>
            </a:lvl6pPr>
            <a:lvl7pPr>
              <a:defRPr sz="3900" b="1">
                <a:solidFill>
                  <a:srgbClr val="183A35"/>
                </a:solidFill>
                <a:latin typeface="Arial"/>
                <a:ea typeface="Arial"/>
                <a:cs typeface="Arial"/>
              </a:defRPr>
            </a:lvl7pPr>
            <a:lvl8pPr>
              <a:defRPr sz="3900" b="1">
                <a:solidFill>
                  <a:srgbClr val="183A35"/>
                </a:solidFill>
                <a:latin typeface="Arial"/>
                <a:ea typeface="Arial"/>
                <a:cs typeface="Arial"/>
              </a:defRPr>
            </a:lvl8pPr>
            <a:lvl9pPr>
              <a:defRPr sz="3900" b="1">
                <a:solidFill>
                  <a:srgbClr val="183A35"/>
                </a:solidFill>
                <a:latin typeface="Arial"/>
                <a:ea typeface="Arial"/>
                <a:cs typeface="Arial"/>
              </a:defRPr>
            </a:lvl9pPr>
          </a:lstStyle>
          <a:p>
            <a:pPr>
              <a:defRPr sz="3900" b="1">
                <a:solidFill>
                  <a:srgbClr val="183A35"/>
                </a:solidFill>
                <a:latin typeface="Arial"/>
                <a:ea typeface="Arial"/>
                <a:cs typeface="Arial"/>
              </a:defRPr>
            </a:pPr>
            <a:r>
              <a:rPr sz="3900" b="1">
                <a:solidFill>
                  <a:srgbClr val="183A35"/>
                </a:solidFill>
                <a:latin typeface="Arial"/>
                <a:ea typeface="Arial"/>
                <a:cs typeface="Arial"/>
              </a:rPr>
              <a:t>Match segmentation and phases</a:t>
            </a:r>
          </a:p>
        </p:txBody>
      </p:sp>
      <p:sp>
        <p:nvSpPr>
          <p:cNvPr id="4" name="">
            <a:extLst>
              <a:ext uri="{FF2B5EF4-FFF2-40B4-BE49-F238E27FC236}">
                <ns2:creationId id="{661B0E0E-41E5-485A-B9B6-0AF2647C7FF9}"/>
              </a:ext>
            </a:extLst>
          </p:cNvPr>
          <p:cNvSpPr>
            <a:spLocks noGrp="1"/>
          </p:cNvSpPr>
          <p:nvPr/>
        </p:nvSpPr>
        <p:spPr>
          <a:xfrm>
            <a:off x="476250" y="2076450"/>
            <a:ext cx="10763250" cy="876300"/>
          </a:xfrm>
          <a:prstGeom prst="rect">
            <a:avLst/>
          </a:prstGeom>
          <a:noFill/>
          <a:ln w="0">
            <a:noFill/>
          </a:ln>
        </p:spPr>
        <p:txBody>
          <a:bodyPr/>
          <a:lstStyle>
            <a:defPPr>
              <a:defRPr sz="2250" b="0">
                <a:solidFill>
                  <a:srgbClr val="183A35"/>
                </a:solidFill>
                <a:latin typeface="Arial"/>
                <a:ea typeface="Arial"/>
                <a:cs typeface="Arial"/>
              </a:defRPr>
            </a:defPPr>
            <a:lvl1pPr>
              <a:defRPr sz="2250" b="0">
                <a:solidFill>
                  <a:srgbClr val="183A35"/>
                </a:solidFill>
                <a:latin typeface="Arial"/>
                <a:ea typeface="Arial"/>
                <a:cs typeface="Arial"/>
              </a:defRPr>
            </a:lvl1pPr>
            <a:lvl2pPr>
              <a:defRPr sz="2250" b="0">
                <a:solidFill>
                  <a:srgbClr val="183A35"/>
                </a:solidFill>
                <a:latin typeface="Arial"/>
                <a:ea typeface="Arial"/>
                <a:cs typeface="Arial"/>
              </a:defRPr>
            </a:lvl2pPr>
            <a:lvl3pPr>
              <a:defRPr sz="2250" b="0">
                <a:solidFill>
                  <a:srgbClr val="183A35"/>
                </a:solidFill>
                <a:latin typeface="Arial"/>
                <a:ea typeface="Arial"/>
                <a:cs typeface="Arial"/>
              </a:defRPr>
            </a:lvl3pPr>
            <a:lvl4pPr>
              <a:defRPr sz="2250" b="0">
                <a:solidFill>
                  <a:srgbClr val="183A35"/>
                </a:solidFill>
                <a:latin typeface="Arial"/>
                <a:ea typeface="Arial"/>
                <a:cs typeface="Arial"/>
              </a:defRPr>
            </a:lvl4pPr>
            <a:lvl5pPr>
              <a:defRPr sz="2250" b="0">
                <a:solidFill>
                  <a:srgbClr val="183A35"/>
                </a:solidFill>
                <a:latin typeface="Arial"/>
                <a:ea typeface="Arial"/>
                <a:cs typeface="Arial"/>
              </a:defRPr>
            </a:lvl5pPr>
            <a:lvl6pPr>
              <a:defRPr sz="2250" b="0">
                <a:solidFill>
                  <a:srgbClr val="183A35"/>
                </a:solidFill>
                <a:latin typeface="Arial"/>
                <a:ea typeface="Arial"/>
                <a:cs typeface="Arial"/>
              </a:defRPr>
            </a:lvl6pPr>
            <a:lvl7pPr>
              <a:defRPr sz="2250" b="0">
                <a:solidFill>
                  <a:srgbClr val="183A35"/>
                </a:solidFill>
                <a:latin typeface="Arial"/>
                <a:ea typeface="Arial"/>
                <a:cs typeface="Arial"/>
              </a:defRPr>
            </a:lvl7pPr>
            <a:lvl8pPr>
              <a:defRPr sz="2250" b="0">
                <a:solidFill>
                  <a:srgbClr val="183A35"/>
                </a:solidFill>
                <a:latin typeface="Arial"/>
                <a:ea typeface="Arial"/>
                <a:cs typeface="Arial"/>
              </a:defRPr>
            </a:lvl8pPr>
            <a:lvl9pPr>
              <a:defRPr sz="2250" b="0">
                <a:solidFill>
                  <a:srgbClr val="183A35"/>
                </a:solidFill>
                <a:latin typeface="Arial"/>
                <a:ea typeface="Arial"/>
                <a:cs typeface="Arial"/>
              </a:defRPr>
            </a:lvl9pPr>
          </a:lstStyle>
          <a:p>
            <a:pPr>
              <a:defRPr sz="2250" b="0">
                <a:solidFill>
                  <a:srgbClr val="183A35"/>
                </a:solidFill>
                <a:latin typeface="Arial"/>
                <a:ea typeface="Arial"/>
                <a:cs typeface="Arial"/>
              </a:defRPr>
            </a:pPr>
            <a:r>
              <a:rPr sz="2250" b="0">
                <a:solidFill>
                  <a:srgbClr val="183A35"/>
                </a:solidFill>
                <a:latin typeface="Arial"/>
                <a:ea typeface="Arial"/>
                <a:cs typeface="Arial"/>
              </a:rPr>
              <a:t>What tactical context should an event, shape or workload be compared within?</a:t>
            </a:r>
          </a:p>
        </p:txBody>
      </p:sp>
      <p:sp>
        <p:nvSpPr>
          <p:cNvPr id="5" name="">
            <a:extLst>
              <a:ext uri="{FF2B5EF4-FFF2-40B4-BE49-F238E27FC236}">
                <ns2:creationId id="{470D0320-B5CC-4F3D-A735-0A9270372046}"/>
              </a:ext>
            </a:extLst>
          </p:cNvPr>
          <p:cNvSpPr>
            <a:spLocks noGrp="1"/>
          </p:cNvSpPr>
          <p:nvPr/>
        </p:nvSpPr>
        <p:spPr>
          <a:xfrm>
            <a:off x="476250" y="3352800"/>
            <a:ext cx="3810000" cy="342900"/>
          </a:xfrm>
          <a:prstGeom prst="rect">
            <a:avLst/>
          </a:prstGeom>
          <a:noFill/>
          <a:ln w="0">
            <a:noFill/>
          </a:ln>
        </p:spPr>
        <p:txBody>
          <a:bodyPr/>
          <a:lstStyle>
            <a:defPPr>
              <a:defRPr sz="1500" b="1">
                <a:solidFill>
                  <a:srgbClr val="147D68"/>
                </a:solidFill>
                <a:latin typeface="Arial"/>
                <a:ea typeface="Arial"/>
                <a:cs typeface="Arial"/>
              </a:defRPr>
            </a:defPPr>
            <a:lvl1pPr>
              <a:defRPr sz="1500" b="1">
                <a:solidFill>
                  <a:srgbClr val="147D68"/>
                </a:solidFill>
                <a:latin typeface="Arial"/>
                <a:ea typeface="Arial"/>
                <a:cs typeface="Arial"/>
              </a:defRPr>
            </a:lvl1pPr>
            <a:lvl2pPr>
              <a:defRPr sz="1500" b="1">
                <a:solidFill>
                  <a:srgbClr val="147D68"/>
                </a:solidFill>
                <a:latin typeface="Arial"/>
                <a:ea typeface="Arial"/>
                <a:cs typeface="Arial"/>
              </a:defRPr>
            </a:lvl2pPr>
            <a:lvl3pPr>
              <a:defRPr sz="1500" b="1">
                <a:solidFill>
                  <a:srgbClr val="147D68"/>
                </a:solidFill>
                <a:latin typeface="Arial"/>
                <a:ea typeface="Arial"/>
                <a:cs typeface="Arial"/>
              </a:defRPr>
            </a:lvl3pPr>
            <a:lvl4pPr>
              <a:defRPr sz="1500" b="1">
                <a:solidFill>
                  <a:srgbClr val="147D68"/>
                </a:solidFill>
                <a:latin typeface="Arial"/>
                <a:ea typeface="Arial"/>
                <a:cs typeface="Arial"/>
              </a:defRPr>
            </a:lvl4pPr>
            <a:lvl5pPr>
              <a:defRPr sz="1500" b="1">
                <a:solidFill>
                  <a:srgbClr val="147D68"/>
                </a:solidFill>
                <a:latin typeface="Arial"/>
                <a:ea typeface="Arial"/>
                <a:cs typeface="Arial"/>
              </a:defRPr>
            </a:lvl5pPr>
            <a:lvl6pPr>
              <a:defRPr sz="1500" b="1">
                <a:solidFill>
                  <a:srgbClr val="147D68"/>
                </a:solidFill>
                <a:latin typeface="Arial"/>
                <a:ea typeface="Arial"/>
                <a:cs typeface="Arial"/>
              </a:defRPr>
            </a:lvl6pPr>
            <a:lvl7pPr>
              <a:defRPr sz="1500" b="1">
                <a:solidFill>
                  <a:srgbClr val="147D68"/>
                </a:solidFill>
                <a:latin typeface="Arial"/>
                <a:ea typeface="Arial"/>
                <a:cs typeface="Arial"/>
              </a:defRPr>
            </a:lvl7pPr>
            <a:lvl8pPr>
              <a:defRPr sz="1500" b="1">
                <a:solidFill>
                  <a:srgbClr val="147D68"/>
                </a:solidFill>
                <a:latin typeface="Arial"/>
                <a:ea typeface="Arial"/>
                <a:cs typeface="Arial"/>
              </a:defRPr>
            </a:lvl8pPr>
            <a:lvl9pPr>
              <a:defRPr sz="1500" b="1">
                <a:solidFill>
                  <a:srgbClr val="147D68"/>
                </a:solidFill>
                <a:latin typeface="Arial"/>
                <a:ea typeface="Arial"/>
                <a:cs typeface="Arial"/>
              </a:defRPr>
            </a:lvl9pPr>
          </a:lstStyle>
          <a:p>
            <a:pPr>
              <a:defRPr sz="1500" b="1">
                <a:solidFill>
                  <a:srgbClr val="147D68"/>
                </a:solidFill>
                <a:latin typeface="Arial"/>
                <a:ea typeface="Arial"/>
                <a:cs typeface="Arial"/>
              </a:defRPr>
            </a:pPr>
            <a:r>
              <a:rPr sz="1500" b="1">
                <a:solidFill>
                  <a:srgbClr val="147D68"/>
                </a:solidFill>
                <a:latin typeface="Arial"/>
                <a:ea typeface="Arial"/>
                <a:cs typeface="Arial"/>
              </a:rPr>
              <a:t>Questions to explore</a:t>
            </a:r>
          </a:p>
        </p:txBody>
      </p:sp>
      <p:sp>
        <p:nvSpPr>
          <p:cNvPr id="6" name="">
            <a:extLst>
              <a:ext uri="{FF2B5EF4-FFF2-40B4-BE49-F238E27FC236}">
                <ns2:creationId id="{3CB83880-E017-4883-9D0F-3FE73F43128C}"/>
              </a:ext>
            </a:extLst>
          </p:cNvPr>
          <p:cNvSpPr>
            <a:spLocks noGrp="1"/>
          </p:cNvSpPr>
          <p:nvPr/>
        </p:nvSpPr>
        <p:spPr>
          <a:xfrm>
            <a:off x="476250" y="389572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Possession and transition phases</a:t>
            </a:r>
          </a:p>
        </p:txBody>
      </p:sp>
      <p:sp>
        <p:nvSpPr>
          <p:cNvPr id="7" name="">
            <a:extLst>
              <a:ext uri="{FF2B5EF4-FFF2-40B4-BE49-F238E27FC236}">
                <ns2:creationId id="{911649DF-9E97-4B85-AD61-0FC575739376}"/>
              </a:ext>
            </a:extLst>
          </p:cNvPr>
          <p:cNvSpPr>
            <a:spLocks noGrp="1"/>
          </p:cNvSpPr>
          <p:nvPr/>
        </p:nvSpPr>
        <p:spPr>
          <a:xfrm>
            <a:off x="6096000" y="389572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Build-up, progression and advanced play</a:t>
            </a:r>
          </a:p>
        </p:txBody>
      </p:sp>
      <p:sp>
        <p:nvSpPr>
          <p:cNvPr id="8" name="">
            <a:extLst>
              <a:ext uri="{FF2B5EF4-FFF2-40B4-BE49-F238E27FC236}">
                <ns2:creationId id="{5033985C-AA9F-4722-ADDA-BEEE1C286FF0}"/>
              </a:ext>
            </a:extLst>
          </p:cNvPr>
          <p:cNvSpPr>
            <a:spLocks noGrp="1"/>
          </p:cNvSpPr>
          <p:nvPr/>
        </p:nvSpPr>
        <p:spPr>
          <a:xfrm>
            <a:off x="476250" y="4514850"/>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Defensive blocks and pressing phases</a:t>
            </a:r>
          </a:p>
        </p:txBody>
      </p:sp>
      <p:sp>
        <p:nvSpPr>
          <p:cNvPr id="9" name="">
            <a:extLst>
              <a:ext uri="{FF2B5EF4-FFF2-40B4-BE49-F238E27FC236}">
                <ns2:creationId id="{E7E09742-B8CE-47B5-840B-D4E564998A5E}"/>
              </a:ext>
            </a:extLst>
          </p:cNvPr>
          <p:cNvSpPr>
            <a:spLocks noGrp="1"/>
          </p:cNvSpPr>
          <p:nvPr/>
        </p:nvSpPr>
        <p:spPr>
          <a:xfrm>
            <a:off x="6096000" y="4514850"/>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Set pieces and interruptions</a:t>
            </a:r>
          </a:p>
        </p:txBody>
      </p:sp>
      <p:sp>
        <p:nvSpPr>
          <p:cNvPr id="10" name="">
            <a:extLst>
              <a:ext uri="{FF2B5EF4-FFF2-40B4-BE49-F238E27FC236}">
                <ns2:creationId id="{FFF7F828-41D1-4C08-9FA8-9779D402AB06}"/>
              </a:ext>
            </a:extLst>
          </p:cNvPr>
          <p:cNvSpPr>
            <a:spLocks noGrp="1"/>
          </p:cNvSpPr>
          <p:nvPr/>
        </p:nvSpPr>
        <p:spPr>
          <a:xfrm>
            <a:off x="476250" y="513397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Phase duration and boundary detection</a:t>
            </a:r>
          </a:p>
        </p:txBody>
      </p:sp>
      <p:sp>
        <p:nvSpPr>
          <p:cNvPr id="11" name="">
            <a:extLst>
              <a:ext uri="{FF2B5EF4-FFF2-40B4-BE49-F238E27FC236}">
                <ns2:creationId id="{6A7ECF04-341F-4E23-9D85-BB399BDDA0E7}"/>
              </a:ext>
            </a:extLst>
          </p:cNvPr>
          <p:cNvSpPr>
            <a:spLocks noGrp="1"/>
          </p:cNvSpPr>
          <p:nvPr/>
        </p:nvSpPr>
        <p:spPr>
          <a:xfrm>
            <a:off x="6096000" y="513397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Context-conditioned physical/tactical summaries</a:t>
            </a:r>
          </a:p>
        </p:txBody>
      </p:sp>
      <p:sp>
        <p:nvSpPr>
          <p:cNvPr id="12" name="">
            <a:extLst>
              <a:ext uri="{FF2B5EF4-FFF2-40B4-BE49-F238E27FC236}">
                <ns2:creationId id="{F44DBC58-0EE1-4A98-B73A-FEDF53BB3853}"/>
              </a:ext>
            </a:extLst>
          </p:cNvPr>
          <p:cNvSpPr>
            <a:spLocks noGrp="1"/>
          </p:cNvSpPr>
          <p:nvPr/>
        </p:nvSpPr>
        <p:spPr>
          <a:xfrm>
            <a:off x="476250" y="5829300"/>
            <a:ext cx="11049000" cy="428625"/>
          </a:xfrm>
          <a:prstGeom prst="rect">
            <a:avLst/>
          </a:prstGeom>
          <a:noFill/>
          <a:ln w="0">
            <a:noFill/>
          </a:ln>
        </p:spPr>
        <p:txBody>
          <a:bodyPr/>
          <a:lstStyle>
            <a:defPPr>
              <a:defRPr sz="1575" b="1">
                <a:solidFill>
                  <a:srgbClr val="147D68"/>
                </a:solidFill>
                <a:latin typeface="Arial"/>
                <a:ea typeface="Arial"/>
                <a:cs typeface="Arial"/>
              </a:defRPr>
            </a:defPPr>
            <a:lvl1pPr>
              <a:defRPr sz="1575" b="1">
                <a:solidFill>
                  <a:srgbClr val="147D68"/>
                </a:solidFill>
                <a:latin typeface="Arial"/>
                <a:ea typeface="Arial"/>
                <a:cs typeface="Arial"/>
              </a:defRPr>
            </a:lvl1pPr>
            <a:lvl2pPr>
              <a:defRPr sz="1575" b="1">
                <a:solidFill>
                  <a:srgbClr val="147D68"/>
                </a:solidFill>
                <a:latin typeface="Arial"/>
                <a:ea typeface="Arial"/>
                <a:cs typeface="Arial"/>
              </a:defRPr>
            </a:lvl2pPr>
            <a:lvl3pPr>
              <a:defRPr sz="1575" b="1">
                <a:solidFill>
                  <a:srgbClr val="147D68"/>
                </a:solidFill>
                <a:latin typeface="Arial"/>
                <a:ea typeface="Arial"/>
                <a:cs typeface="Arial"/>
              </a:defRPr>
            </a:lvl3pPr>
            <a:lvl4pPr>
              <a:defRPr sz="1575" b="1">
                <a:solidFill>
                  <a:srgbClr val="147D68"/>
                </a:solidFill>
                <a:latin typeface="Arial"/>
                <a:ea typeface="Arial"/>
                <a:cs typeface="Arial"/>
              </a:defRPr>
            </a:lvl4pPr>
            <a:lvl5pPr>
              <a:defRPr sz="1575" b="1">
                <a:solidFill>
                  <a:srgbClr val="147D68"/>
                </a:solidFill>
                <a:latin typeface="Arial"/>
                <a:ea typeface="Arial"/>
                <a:cs typeface="Arial"/>
              </a:defRPr>
            </a:lvl5pPr>
            <a:lvl6pPr>
              <a:defRPr sz="1575" b="1">
                <a:solidFill>
                  <a:srgbClr val="147D68"/>
                </a:solidFill>
                <a:latin typeface="Arial"/>
                <a:ea typeface="Arial"/>
                <a:cs typeface="Arial"/>
              </a:defRPr>
            </a:lvl6pPr>
            <a:lvl7pPr>
              <a:defRPr sz="1575" b="1">
                <a:solidFill>
                  <a:srgbClr val="147D68"/>
                </a:solidFill>
                <a:latin typeface="Arial"/>
                <a:ea typeface="Arial"/>
                <a:cs typeface="Arial"/>
              </a:defRPr>
            </a:lvl7pPr>
            <a:lvl8pPr>
              <a:defRPr sz="1575" b="1">
                <a:solidFill>
                  <a:srgbClr val="147D68"/>
                </a:solidFill>
                <a:latin typeface="Arial"/>
                <a:ea typeface="Arial"/>
                <a:cs typeface="Arial"/>
              </a:defRPr>
            </a:lvl8pPr>
            <a:lvl9pPr>
              <a:defRPr sz="1575" b="1">
                <a:solidFill>
                  <a:srgbClr val="147D68"/>
                </a:solidFill>
                <a:latin typeface="Arial"/>
                <a:ea typeface="Arial"/>
                <a:cs typeface="Arial"/>
              </a:defRPr>
            </a:lvl9pPr>
          </a:lstStyle>
          <a:p>
            <a:pPr>
              <a:defRPr sz="1575" b="1">
                <a:solidFill>
                  <a:srgbClr val="147D68"/>
                </a:solidFill>
                <a:latin typeface="Arial"/>
                <a:ea typeface="Arial"/>
                <a:cs typeface="Arial"/>
              </a:defRPr>
            </a:pPr>
            <a:r>
              <a:rPr sz="1575" b="1">
                <a:solidFill>
                  <a:srgbClr val="147D68"/>
                </a:solidFill>
                <a:latin typeface="Arial"/>
                <a:ea typeface="Arial"/>
                <a:cs typeface="Arial"/>
              </a:rPr>
              <a:t>Example: rule-based estimates alongside supplied SkillCorner phases</a:t>
            </a:r>
          </a:p>
        </p:txBody>
      </p:sp>
      <p:sp>
        <p:nvSpPr>
          <p:cNvPr id="13" name="">
            <a:extLst>
              <a:ext uri="{FF2B5EF4-FFF2-40B4-BE49-F238E27FC236}">
                <ns2:creationId id="{5030255B-BBED-4EE5-AE1F-F0E7EBBE9A36}"/>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13</a:t>
            </a:r>
          </a:p>
        </p:txBody>
      </p:sp>
    </p:spTree>
    <p:extLst>
      <p:ext uri="{BB962C8B-B14F-4D97-AF65-F5344CB8AC3E}">
        <p14:creationId val="1050859737"/>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198064E5-DF5E-40C0-8EB5-3649BCC6D624}"/>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8539A932-0C01-4D43-AB5B-C646B1B78A53}"/>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Match segmentation and phases</a:t>
            </a:r>
          </a:p>
        </p:txBody>
      </p:sp>
      <p:sp>
        <p:nvSpPr>
          <p:cNvPr id="3" name="">
            <a:extLst>
              <a:ext uri="{FF2B5EF4-FFF2-40B4-BE49-F238E27FC236}">
                <ns2:creationId id="{F8F18E8B-49C1-480E-82BC-55FBC5B6261E}"/>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Phase rules and predictions over time</a:t>
            </a:r>
          </a:p>
        </p:txBody>
      </p:sp>
      <p:sp>
        <p:nvSpPr>
          <p:cNvPr id="4" name="">
            <a:extLst>
              <a:ext uri="{FF2B5EF4-FFF2-40B4-BE49-F238E27FC236}">
                <ns2:creationId id="{C2E633B3-4D0E-44FE-AFD9-538801C2CD38}"/>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2A0C8A33-6E8B-46A6-8AB7-30D1B89F13BE}"/>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Segment continuous play into tactical states without brief label flickers.</a:t>
            </a:r>
          </a:p>
        </p:txBody>
      </p:sp>
      <p:sp>
        <p:nvSpPr>
          <p:cNvPr id="6" name="">
            <a:extLst>
              <a:ext uri="{FF2B5EF4-FFF2-40B4-BE49-F238E27FC236}">
                <ns2:creationId id="{35BA2DDC-8618-4DDA-B4DB-9A3CAFE4F26B}"/>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253E7495-3A8E-47AF-AF4A-EFC0DA2C1610}"/>
              </a:ext>
            </a:extLst>
          </p:cNvPr>
          <p:cNvSpPr>
            <a:spLocks noGrp="1"/>
          </p:cNvSpPr>
          <p:nvPr/>
        </p:nvSpPr>
        <p:spPr>
          <a:xfrm>
            <a:off x="457200" y="3619500"/>
            <a:ext cx="2209800" cy="1428750"/>
          </a:xfrm>
          <a:prstGeom prst="rect">
            <a:avLst/>
          </a:prstGeom>
          <a:noFill/>
          <a:ln w="0">
            <a:noFill/>
          </a:ln>
        </p:spPr>
        <p:txBody>
          <a:bodyPr/>
          <a:lstStyle>
            <a:defPPr>
              <a:defRPr sz="1350" b="0">
                <a:solidFill>
                  <a:srgbClr val="183A35"/>
                </a:solidFill>
                <a:latin typeface="Arial"/>
                <a:ea typeface="Arial"/>
                <a:cs typeface="Arial"/>
              </a:defRPr>
            </a:defPPr>
            <a:lvl1pPr>
              <a:defRPr sz="1350" b="0">
                <a:solidFill>
                  <a:srgbClr val="183A35"/>
                </a:solidFill>
                <a:latin typeface="Arial"/>
                <a:ea typeface="Arial"/>
                <a:cs typeface="Arial"/>
              </a:defRPr>
            </a:lvl1pPr>
            <a:lvl2pPr>
              <a:defRPr sz="1350" b="0">
                <a:solidFill>
                  <a:srgbClr val="183A35"/>
                </a:solidFill>
                <a:latin typeface="Arial"/>
                <a:ea typeface="Arial"/>
                <a:cs typeface="Arial"/>
              </a:defRPr>
            </a:lvl2pPr>
            <a:lvl3pPr>
              <a:defRPr sz="1350" b="0">
                <a:solidFill>
                  <a:srgbClr val="183A35"/>
                </a:solidFill>
                <a:latin typeface="Arial"/>
                <a:ea typeface="Arial"/>
                <a:cs typeface="Arial"/>
              </a:defRPr>
            </a:lvl3pPr>
            <a:lvl4pPr>
              <a:defRPr sz="1350" b="0">
                <a:solidFill>
                  <a:srgbClr val="183A35"/>
                </a:solidFill>
                <a:latin typeface="Arial"/>
                <a:ea typeface="Arial"/>
                <a:cs typeface="Arial"/>
              </a:defRPr>
            </a:lvl4pPr>
            <a:lvl5pPr>
              <a:defRPr sz="1350" b="0">
                <a:solidFill>
                  <a:srgbClr val="183A35"/>
                </a:solidFill>
                <a:latin typeface="Arial"/>
                <a:ea typeface="Arial"/>
                <a:cs typeface="Arial"/>
              </a:defRPr>
            </a:lvl5pPr>
            <a:lvl6pPr>
              <a:defRPr sz="1350" b="0">
                <a:solidFill>
                  <a:srgbClr val="183A35"/>
                </a:solidFill>
                <a:latin typeface="Arial"/>
                <a:ea typeface="Arial"/>
                <a:cs typeface="Arial"/>
              </a:defRPr>
            </a:lvl6pPr>
            <a:lvl7pPr>
              <a:defRPr sz="1350" b="0">
                <a:solidFill>
                  <a:srgbClr val="183A35"/>
                </a:solidFill>
                <a:latin typeface="Arial"/>
                <a:ea typeface="Arial"/>
                <a:cs typeface="Arial"/>
              </a:defRPr>
            </a:lvl7pPr>
            <a:lvl8pPr>
              <a:defRPr sz="1350" b="0">
                <a:solidFill>
                  <a:srgbClr val="183A35"/>
                </a:solidFill>
                <a:latin typeface="Arial"/>
                <a:ea typeface="Arial"/>
                <a:cs typeface="Arial"/>
              </a:defRPr>
            </a:lvl8pPr>
            <a:lvl9pPr>
              <a:defRPr sz="1350" b="0">
                <a:solidFill>
                  <a:srgbClr val="183A35"/>
                </a:solidFill>
                <a:latin typeface="Arial"/>
                <a:ea typeface="Arial"/>
                <a:cs typeface="Arial"/>
              </a:defRPr>
            </a:lvl9pPr>
          </a:lstStyle>
          <a:p>
            <a:pPr>
              <a:defRPr sz="1350" b="0">
                <a:solidFill>
                  <a:srgbClr val="183A35"/>
                </a:solidFill>
                <a:latin typeface="Arial"/>
                <a:ea typeface="Arial"/>
                <a:cs typeface="Arial"/>
              </a:defRPr>
            </a:pPr>
            <a:r>
              <a:rPr sz="1350" b="0">
                <a:solidFill>
                  <a:srgbClr val="183A35"/>
                </a:solidFill>
                <a:latin typeface="Arial"/>
                <a:ea typeface="Arial"/>
                <a:cs typeface="Arial"/>
              </a:rPr>
              <a:t>Transition: age &lt;8 s and speed &gt;3 m/s.</a:t>
            </a:r>
          </a:p>
          <a:p>
            <a:pPr>
              <a:defRPr sz="1350" b="0">
                <a:solidFill>
                  <a:srgbClr val="183A35"/>
                </a:solidFill>
                <a:latin typeface="Arial"/>
                <a:ea typeface="Arial"/>
                <a:cs typeface="Arial"/>
              </a:defRPr>
            </a:pPr>
            <a:r>
              <a:rPr sz="1350" b="0">
                <a:solidFill>
                  <a:srgbClr val="183A35"/>
                </a:solidFill>
                <a:latin typeface="Arial"/>
                <a:ea typeface="Arial"/>
                <a:cs typeface="Arial"/>
              </a:rPr>
              <a:t>Otherwise x &lt;−17.5: deep; x &lt;17.5: middle; else advanced.</a:t>
            </a:r>
          </a:p>
          <a:p>
            <a:pPr>
              <a:defRPr sz="1350" b="0">
                <a:solidFill>
                  <a:srgbClr val="183A35"/>
                </a:solidFill>
                <a:latin typeface="Arial"/>
                <a:ea typeface="Arial"/>
                <a:cs typeface="Arial"/>
              </a:defRPr>
            </a:pPr>
            <a:r>
              <a:rPr sz="1350" b="0">
                <a:solidFill>
                  <a:srgbClr val="183A35"/>
                </a:solidFill>
                <a:latin typeface="Arial"/>
                <a:ea typeface="Arial"/>
                <a:cs typeface="Arial"/>
              </a:rPr>
              <a:t>Suppress runs &lt;1 s.</a:t>
            </a:r>
          </a:p>
        </p:txBody>
      </p:sp>
      <p:sp>
        <p:nvSpPr>
          <p:cNvPr id="8" name="">
            <a:extLst>
              <a:ext uri="{FF2B5EF4-FFF2-40B4-BE49-F238E27FC236}">
                <ns2:creationId id="{8D68EBBD-F6C4-44A8-93AD-B67B69C2FFA6}"/>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Attack-normalized x; offline smoothing.</a:t>
            </a:r>
          </a:p>
        </p:txBody>
      </p:sp>
      <p:pic>
        <p:nvPicPr>
          <p:cNvPr id="9" name="Video: Phase rules and predictions over time" descr="Embedded MP4. Click to play. Rules apply in priority order. Unknown when ball x is missing or possession team is unknown. Transition candidate when possession age &lt;8 s and trailing 1 s mean forward ball speed &gt;3 m/s (minimum five valid 10 Hz intervals). Otherwise use attack-normalized ball x: deep circulation below -17.5 m, middle progression from -17.5 to below 17.5 m, advanced possession at or above 17.5 m. Offline smoothing accepts raw runs lasting at least 1 s in each known-data block within an uninterrupted possession. Shorter runs inherit the last accepted label; leading short runs inherit the first accepted label, and a block with no accepted run remains unknown. Unknown measurements, possession/team changes, periods and tracking/frame gaps prevent smoothing across boundaries. Changes are backdated to their raw onset after future evidence confirms duration. The video shows our raw and smoothed predictions only, with the rules on screen. Thresholds are teaching assumptions; smoothing can hide genuine short transitions. No accuracy claim.">
            <a:hlinkClick action="ppaction://media"/>
            <a:extLst>
              <a:ext uri="{FF2B5EF4-FFF2-40B4-BE49-F238E27FC236}">
                <ns2:creationId id="{DBC7172E-521E-4076-8192-9DA5A21E1D59}"/>
              </a:ext>
            </a:extLst>
          </p:cNvPr>
          <p:cNvPicPr>
            <a:picLocks noChangeAspect="1"/>
          </p:cNvPicPr>
          <p:nvPr>
            <a:videoFile r:link="rIdWorkshopVideo"/>
            <p:extLst>
              <p:ext uri="{DAA4B4D4-6D71-4841-9C94-3DE7FCFB9230}">
                <p14:media r:embed="rIdWorkshopMedia"/>
              </p:ext>
            </p:extLst>
          </p:nvPr>
        </p:nvPicPr>
        <p:blipFill>
          <a:blip r:embed="R1c6cdc3d9b8b4040"/>
          <a:stretch/>
        </p:blipFill>
        <p:spPr>
          <a:xfrm>
            <a:off x="3724275" y="1428750"/>
            <a:ext cx="7315200" cy="4114800"/>
          </a:xfrm>
          <a:prstGeom prst="rect">
            <a:avLst/>
          </a:prstGeom>
        </p:spPr>
      </p:pic>
      <p:sp>
        <p:nvSpPr>
          <p:cNvPr id="10" name="">
            <a:extLst>
              <a:ext uri="{FF2B5EF4-FFF2-40B4-BE49-F238E27FC236}">
                <ns2:creationId id="{D2D897F1-7D3E-4FE9-8145-F831ADE14149}"/>
              </a:ext>
            </a:extLst>
          </p:cNvPr>
          <p:cNvSpPr>
            <a:spLocks noGrp="1"/>
          </p:cNvSpPr>
          <p:nvPr/>
        </p:nvSpPr>
        <p:spPr>
          <a:xfrm>
            <a:off x="3143250" y="5591175"/>
            <a:ext cx="8286750" cy="22860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 Click video to play</a:t>
            </a:r>
          </a:p>
        </p:txBody>
      </p:sp>
      <p:sp>
        <p:nvSpPr>
          <p:cNvPr id="11" name="">
            <a:extLst>
              <a:ext uri="{FF2B5EF4-FFF2-40B4-BE49-F238E27FC236}">
                <ns2:creationId id="{F841313D-FFE7-4CB8-8ACC-99DE804D1410}"/>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Brief phase jumps disappear while sustained changes remain visible.</a:t>
            </a:r>
          </a:p>
        </p:txBody>
      </p:sp>
      <p:sp>
        <p:nvSpPr>
          <p:cNvPr id="12" name="">
            <a:extLst>
              <a:ext uri="{FF2B5EF4-FFF2-40B4-BE49-F238E27FC236}">
                <ns2:creationId id="{B96BA87E-A52E-4FE6-983A-11F05E9B1639}"/>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05_match_segmentation.ipynb</a:t>
            </a:r>
          </a:p>
        </p:txBody>
      </p:sp>
      <p:sp>
        <p:nvSpPr>
          <p:cNvPr id="13" name="">
            <a:extLst>
              <a:ext uri="{FF2B5EF4-FFF2-40B4-BE49-F238E27FC236}">
                <ns2:creationId id="{F0BBF6D0-D194-44CF-9960-21314FA99E41}"/>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Augmented possession and phases framework (2025)</a:t>
            </a:r>
          </a:p>
        </p:txBody>
      </p:sp>
      <p:sp>
        <p:nvSpPr>
          <p:cNvPr id="14" name="">
            <a:extLst>
              <a:ext uri="{FF2B5EF4-FFF2-40B4-BE49-F238E27FC236}">
                <ns2:creationId id="{DFE5AD10-9791-4392-8272-F19DF17A0D7F}"/>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SkillCorner open data and schema</a:t>
            </a:r>
          </a:p>
        </p:txBody>
      </p:sp>
      <p:sp>
        <p:nvSpPr>
          <p:cNvPr id="15" name="">
            <a:extLst>
              <a:ext uri="{FF2B5EF4-FFF2-40B4-BE49-F238E27FC236}">
                <ns2:creationId id="{840183C4-039E-4770-9CCE-75AA8A5977A4}"/>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14</a:t>
            </a:r>
          </a:p>
        </p:txBody>
      </p:sp>
    </p:spTree>
    <p:extLst>
      <p:ext uri="{BB962C8B-B14F-4D97-AF65-F5344CB8AC3E}">
        <p14:creationId val="1232512200"/>
      </p:ext>
    </p:extLst>
  </p:cSld>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BFCF8"/>
        </a:solidFill>
      </p:bgPr>
    </p:bg>
    <p:spTree>
      <p:nvGrpSpPr>
        <p:cNvPr id="1" name=""/>
        <p:cNvGrpSpPr/>
        <p:nvPr/>
      </p:nvGrpSpPr>
      <p:grpSpPr>
        <a:xfrm/>
      </p:grpSpPr>
      <p:sp>
        <p:nvSpPr>
          <p:cNvPr id="14" name="">
            <a:extLst>
              <a:ext uri="{FF2B5EF4-FFF2-40B4-BE49-F238E27FC236}">
                <ns2:creationId id="{16ABCF17-2101-406A-B6A0-5F6158197608}"/>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2325826F-DC3D-4773-A45C-E2051329E14D}"/>
              </a:ext>
            </a:extLst>
          </p:cNvPr>
          <p:cNvSpPr>
            <a:spLocks noGrp="1"/>
          </p:cNvSpPr>
          <p:nvPr/>
        </p:nvSpPr>
        <p:spPr>
          <a:xfrm>
            <a:off x="476250" y="419100"/>
            <a:ext cx="10953750" cy="28575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ANALYTICAL AVENUE</a:t>
            </a:r>
          </a:p>
        </p:txBody>
      </p:sp>
      <p:sp>
        <p:nvSpPr>
          <p:cNvPr id="3" name="">
            <a:extLst>
              <a:ext uri="{FF2B5EF4-FFF2-40B4-BE49-F238E27FC236}">
                <ns2:creationId id="{C6F151EC-5E4F-4AD5-AA05-A3C6B3734AFA}"/>
              </a:ext>
            </a:extLst>
          </p:cNvPr>
          <p:cNvSpPr>
            <a:spLocks noGrp="1"/>
          </p:cNvSpPr>
          <p:nvPr/>
        </p:nvSpPr>
        <p:spPr>
          <a:xfrm>
            <a:off x="476250" y="1066800"/>
            <a:ext cx="11049000" cy="809625"/>
          </a:xfrm>
          <a:prstGeom prst="rect">
            <a:avLst/>
          </a:prstGeom>
          <a:noFill/>
          <a:ln w="0">
            <a:noFill/>
          </a:ln>
        </p:spPr>
        <p:txBody>
          <a:bodyPr/>
          <a:lstStyle>
            <a:defPPr>
              <a:defRPr sz="3900" b="1">
                <a:solidFill>
                  <a:srgbClr val="183A35"/>
                </a:solidFill>
                <a:latin typeface="Arial"/>
                <a:ea typeface="Arial"/>
                <a:cs typeface="Arial"/>
              </a:defRPr>
            </a:defPPr>
            <a:lvl1pPr>
              <a:defRPr sz="3900" b="1">
                <a:solidFill>
                  <a:srgbClr val="183A35"/>
                </a:solidFill>
                <a:latin typeface="Arial"/>
                <a:ea typeface="Arial"/>
                <a:cs typeface="Arial"/>
              </a:defRPr>
            </a:lvl1pPr>
            <a:lvl2pPr>
              <a:defRPr sz="3900" b="1">
                <a:solidFill>
                  <a:srgbClr val="183A35"/>
                </a:solidFill>
                <a:latin typeface="Arial"/>
                <a:ea typeface="Arial"/>
                <a:cs typeface="Arial"/>
              </a:defRPr>
            </a:lvl2pPr>
            <a:lvl3pPr>
              <a:defRPr sz="3900" b="1">
                <a:solidFill>
                  <a:srgbClr val="183A35"/>
                </a:solidFill>
                <a:latin typeface="Arial"/>
                <a:ea typeface="Arial"/>
                <a:cs typeface="Arial"/>
              </a:defRPr>
            </a:lvl3pPr>
            <a:lvl4pPr>
              <a:defRPr sz="3900" b="1">
                <a:solidFill>
                  <a:srgbClr val="183A35"/>
                </a:solidFill>
                <a:latin typeface="Arial"/>
                <a:ea typeface="Arial"/>
                <a:cs typeface="Arial"/>
              </a:defRPr>
            </a:lvl4pPr>
            <a:lvl5pPr>
              <a:defRPr sz="3900" b="1">
                <a:solidFill>
                  <a:srgbClr val="183A35"/>
                </a:solidFill>
                <a:latin typeface="Arial"/>
                <a:ea typeface="Arial"/>
                <a:cs typeface="Arial"/>
              </a:defRPr>
            </a:lvl5pPr>
            <a:lvl6pPr>
              <a:defRPr sz="3900" b="1">
                <a:solidFill>
                  <a:srgbClr val="183A35"/>
                </a:solidFill>
                <a:latin typeface="Arial"/>
                <a:ea typeface="Arial"/>
                <a:cs typeface="Arial"/>
              </a:defRPr>
            </a:lvl6pPr>
            <a:lvl7pPr>
              <a:defRPr sz="3900" b="1">
                <a:solidFill>
                  <a:srgbClr val="183A35"/>
                </a:solidFill>
                <a:latin typeface="Arial"/>
                <a:ea typeface="Arial"/>
                <a:cs typeface="Arial"/>
              </a:defRPr>
            </a:lvl7pPr>
            <a:lvl8pPr>
              <a:defRPr sz="3900" b="1">
                <a:solidFill>
                  <a:srgbClr val="183A35"/>
                </a:solidFill>
                <a:latin typeface="Arial"/>
                <a:ea typeface="Arial"/>
                <a:cs typeface="Arial"/>
              </a:defRPr>
            </a:lvl8pPr>
            <a:lvl9pPr>
              <a:defRPr sz="3900" b="1">
                <a:solidFill>
                  <a:srgbClr val="183A35"/>
                </a:solidFill>
                <a:latin typeface="Arial"/>
                <a:ea typeface="Arial"/>
                <a:cs typeface="Arial"/>
              </a:defRPr>
            </a:lvl9pPr>
          </a:lstStyle>
          <a:p>
            <a:pPr>
              <a:defRPr sz="3900" b="1">
                <a:solidFill>
                  <a:srgbClr val="183A35"/>
                </a:solidFill>
                <a:latin typeface="Arial"/>
                <a:ea typeface="Arial"/>
                <a:cs typeface="Arial"/>
              </a:defRPr>
            </a:pPr>
            <a:r>
              <a:rPr sz="3900" b="1">
                <a:solidFill>
                  <a:srgbClr val="183A35"/>
                </a:solidFill>
                <a:latin typeface="Arial"/>
                <a:ea typeface="Arial"/>
                <a:cs typeface="Arial"/>
              </a:rPr>
              <a:t>Physical metrics</a:t>
            </a:r>
          </a:p>
        </p:txBody>
      </p:sp>
      <p:sp>
        <p:nvSpPr>
          <p:cNvPr id="4" name="">
            <a:extLst>
              <a:ext uri="{FF2B5EF4-FFF2-40B4-BE49-F238E27FC236}">
                <ns2:creationId id="{6CD3ADDE-47F3-49E3-A7A3-59225EEC4822}"/>
              </a:ext>
            </a:extLst>
          </p:cNvPr>
          <p:cNvSpPr>
            <a:spLocks noGrp="1"/>
          </p:cNvSpPr>
          <p:nvPr/>
        </p:nvSpPr>
        <p:spPr>
          <a:xfrm>
            <a:off x="476250" y="2076450"/>
            <a:ext cx="10763250" cy="876300"/>
          </a:xfrm>
          <a:prstGeom prst="rect">
            <a:avLst/>
          </a:prstGeom>
          <a:noFill/>
          <a:ln w="0">
            <a:noFill/>
          </a:ln>
        </p:spPr>
        <p:txBody>
          <a:bodyPr/>
          <a:lstStyle>
            <a:defPPr>
              <a:defRPr sz="2250" b="0">
                <a:solidFill>
                  <a:srgbClr val="183A35"/>
                </a:solidFill>
                <a:latin typeface="Arial"/>
                <a:ea typeface="Arial"/>
                <a:cs typeface="Arial"/>
              </a:defRPr>
            </a:defPPr>
            <a:lvl1pPr>
              <a:defRPr sz="2250" b="0">
                <a:solidFill>
                  <a:srgbClr val="183A35"/>
                </a:solidFill>
                <a:latin typeface="Arial"/>
                <a:ea typeface="Arial"/>
                <a:cs typeface="Arial"/>
              </a:defRPr>
            </a:lvl1pPr>
            <a:lvl2pPr>
              <a:defRPr sz="2250" b="0">
                <a:solidFill>
                  <a:srgbClr val="183A35"/>
                </a:solidFill>
                <a:latin typeface="Arial"/>
                <a:ea typeface="Arial"/>
                <a:cs typeface="Arial"/>
              </a:defRPr>
            </a:lvl2pPr>
            <a:lvl3pPr>
              <a:defRPr sz="2250" b="0">
                <a:solidFill>
                  <a:srgbClr val="183A35"/>
                </a:solidFill>
                <a:latin typeface="Arial"/>
                <a:ea typeface="Arial"/>
                <a:cs typeface="Arial"/>
              </a:defRPr>
            </a:lvl3pPr>
            <a:lvl4pPr>
              <a:defRPr sz="2250" b="0">
                <a:solidFill>
                  <a:srgbClr val="183A35"/>
                </a:solidFill>
                <a:latin typeface="Arial"/>
                <a:ea typeface="Arial"/>
                <a:cs typeface="Arial"/>
              </a:defRPr>
            </a:lvl4pPr>
            <a:lvl5pPr>
              <a:defRPr sz="2250" b="0">
                <a:solidFill>
                  <a:srgbClr val="183A35"/>
                </a:solidFill>
                <a:latin typeface="Arial"/>
                <a:ea typeface="Arial"/>
                <a:cs typeface="Arial"/>
              </a:defRPr>
            </a:lvl5pPr>
            <a:lvl6pPr>
              <a:defRPr sz="2250" b="0">
                <a:solidFill>
                  <a:srgbClr val="183A35"/>
                </a:solidFill>
                <a:latin typeface="Arial"/>
                <a:ea typeface="Arial"/>
                <a:cs typeface="Arial"/>
              </a:defRPr>
            </a:lvl6pPr>
            <a:lvl7pPr>
              <a:defRPr sz="2250" b="0">
                <a:solidFill>
                  <a:srgbClr val="183A35"/>
                </a:solidFill>
                <a:latin typeface="Arial"/>
                <a:ea typeface="Arial"/>
                <a:cs typeface="Arial"/>
              </a:defRPr>
            </a:lvl7pPr>
            <a:lvl8pPr>
              <a:defRPr sz="2250" b="0">
                <a:solidFill>
                  <a:srgbClr val="183A35"/>
                </a:solidFill>
                <a:latin typeface="Arial"/>
                <a:ea typeface="Arial"/>
                <a:cs typeface="Arial"/>
              </a:defRPr>
            </a:lvl8pPr>
            <a:lvl9pPr>
              <a:defRPr sz="2250" b="0">
                <a:solidFill>
                  <a:srgbClr val="183A35"/>
                </a:solidFill>
                <a:latin typeface="Arial"/>
                <a:ea typeface="Arial"/>
                <a:cs typeface="Arial"/>
              </a:defRPr>
            </a:lvl9pPr>
          </a:lstStyle>
          <a:p>
            <a:pPr>
              <a:defRPr sz="2250" b="0">
                <a:solidFill>
                  <a:srgbClr val="183A35"/>
                </a:solidFill>
                <a:latin typeface="Arial"/>
                <a:ea typeface="Arial"/>
                <a:cs typeface="Arial"/>
              </a:defRPr>
            </a:pPr>
            <a:r>
              <a:rPr sz="2250" b="0">
                <a:solidFill>
                  <a:srgbClr val="183A35"/>
                </a:solidFill>
                <a:latin typeface="Arial"/>
                <a:ea typeface="Arial"/>
                <a:cs typeface="Arial"/>
              </a:rPr>
              <a:t>How much did players move, and what physical capacities did they demonstrate?</a:t>
            </a:r>
          </a:p>
        </p:txBody>
      </p:sp>
      <p:sp>
        <p:nvSpPr>
          <p:cNvPr id="5" name="">
            <a:extLst>
              <a:ext uri="{FF2B5EF4-FFF2-40B4-BE49-F238E27FC236}">
                <ns2:creationId id="{6E7E3BBD-D9E1-47DE-9ED2-8A22CB8B37D6}"/>
              </a:ext>
            </a:extLst>
          </p:cNvPr>
          <p:cNvSpPr>
            <a:spLocks noGrp="1"/>
          </p:cNvSpPr>
          <p:nvPr/>
        </p:nvSpPr>
        <p:spPr>
          <a:xfrm>
            <a:off x="476250" y="3352800"/>
            <a:ext cx="3810000" cy="342900"/>
          </a:xfrm>
          <a:prstGeom prst="rect">
            <a:avLst/>
          </a:prstGeom>
          <a:noFill/>
          <a:ln w="0">
            <a:noFill/>
          </a:ln>
        </p:spPr>
        <p:txBody>
          <a:bodyPr/>
          <a:lstStyle>
            <a:defPPr>
              <a:defRPr sz="1500" b="1">
                <a:solidFill>
                  <a:srgbClr val="147D68"/>
                </a:solidFill>
                <a:latin typeface="Arial"/>
                <a:ea typeface="Arial"/>
                <a:cs typeface="Arial"/>
              </a:defRPr>
            </a:defPPr>
            <a:lvl1pPr>
              <a:defRPr sz="1500" b="1">
                <a:solidFill>
                  <a:srgbClr val="147D68"/>
                </a:solidFill>
                <a:latin typeface="Arial"/>
                <a:ea typeface="Arial"/>
                <a:cs typeface="Arial"/>
              </a:defRPr>
            </a:lvl1pPr>
            <a:lvl2pPr>
              <a:defRPr sz="1500" b="1">
                <a:solidFill>
                  <a:srgbClr val="147D68"/>
                </a:solidFill>
                <a:latin typeface="Arial"/>
                <a:ea typeface="Arial"/>
                <a:cs typeface="Arial"/>
              </a:defRPr>
            </a:lvl2pPr>
            <a:lvl3pPr>
              <a:defRPr sz="1500" b="1">
                <a:solidFill>
                  <a:srgbClr val="147D68"/>
                </a:solidFill>
                <a:latin typeface="Arial"/>
                <a:ea typeface="Arial"/>
                <a:cs typeface="Arial"/>
              </a:defRPr>
            </a:lvl3pPr>
            <a:lvl4pPr>
              <a:defRPr sz="1500" b="1">
                <a:solidFill>
                  <a:srgbClr val="147D68"/>
                </a:solidFill>
                <a:latin typeface="Arial"/>
                <a:ea typeface="Arial"/>
                <a:cs typeface="Arial"/>
              </a:defRPr>
            </a:lvl4pPr>
            <a:lvl5pPr>
              <a:defRPr sz="1500" b="1">
                <a:solidFill>
                  <a:srgbClr val="147D68"/>
                </a:solidFill>
                <a:latin typeface="Arial"/>
                <a:ea typeface="Arial"/>
                <a:cs typeface="Arial"/>
              </a:defRPr>
            </a:lvl5pPr>
            <a:lvl6pPr>
              <a:defRPr sz="1500" b="1">
                <a:solidFill>
                  <a:srgbClr val="147D68"/>
                </a:solidFill>
                <a:latin typeface="Arial"/>
                <a:ea typeface="Arial"/>
                <a:cs typeface="Arial"/>
              </a:defRPr>
            </a:lvl6pPr>
            <a:lvl7pPr>
              <a:defRPr sz="1500" b="1">
                <a:solidFill>
                  <a:srgbClr val="147D68"/>
                </a:solidFill>
                <a:latin typeface="Arial"/>
                <a:ea typeface="Arial"/>
                <a:cs typeface="Arial"/>
              </a:defRPr>
            </a:lvl7pPr>
            <a:lvl8pPr>
              <a:defRPr sz="1500" b="1">
                <a:solidFill>
                  <a:srgbClr val="147D68"/>
                </a:solidFill>
                <a:latin typeface="Arial"/>
                <a:ea typeface="Arial"/>
                <a:cs typeface="Arial"/>
              </a:defRPr>
            </a:lvl8pPr>
            <a:lvl9pPr>
              <a:defRPr sz="1500" b="1">
                <a:solidFill>
                  <a:srgbClr val="147D68"/>
                </a:solidFill>
                <a:latin typeface="Arial"/>
                <a:ea typeface="Arial"/>
                <a:cs typeface="Arial"/>
              </a:defRPr>
            </a:lvl9pPr>
          </a:lstStyle>
          <a:p>
            <a:pPr>
              <a:defRPr sz="1500" b="1">
                <a:solidFill>
                  <a:srgbClr val="147D68"/>
                </a:solidFill>
                <a:latin typeface="Arial"/>
                <a:ea typeface="Arial"/>
                <a:cs typeface="Arial"/>
              </a:defRPr>
            </a:pPr>
            <a:r>
              <a:rPr sz="1500" b="1">
                <a:solidFill>
                  <a:srgbClr val="147D68"/>
                </a:solidFill>
                <a:latin typeface="Arial"/>
                <a:ea typeface="Arial"/>
                <a:cs typeface="Arial"/>
              </a:rPr>
              <a:t>Questions to explore</a:t>
            </a:r>
          </a:p>
        </p:txBody>
      </p:sp>
      <p:sp>
        <p:nvSpPr>
          <p:cNvPr id="6" name="">
            <a:extLst>
              <a:ext uri="{FF2B5EF4-FFF2-40B4-BE49-F238E27FC236}">
                <ns2:creationId id="{9CA482DB-9E9F-4087-B1D6-266057209B47}"/>
              </a:ext>
            </a:extLst>
          </p:cNvPr>
          <p:cNvSpPr>
            <a:spLocks noGrp="1"/>
          </p:cNvSpPr>
          <p:nvPr/>
        </p:nvSpPr>
        <p:spPr>
          <a:xfrm>
            <a:off x="476250" y="389572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Distance and valid tracking exposure</a:t>
            </a:r>
          </a:p>
        </p:txBody>
      </p:sp>
      <p:sp>
        <p:nvSpPr>
          <p:cNvPr id="7" name="">
            <a:extLst>
              <a:ext uri="{FF2B5EF4-FFF2-40B4-BE49-F238E27FC236}">
                <ns2:creationId id="{BF89DD70-50F6-4636-800B-DF20A6AA94AB}"/>
              </a:ext>
            </a:extLst>
          </p:cNvPr>
          <p:cNvSpPr>
            <a:spLocks noGrp="1"/>
          </p:cNvSpPr>
          <p:nvPr/>
        </p:nvSpPr>
        <p:spPr>
          <a:xfrm>
            <a:off x="6096000" y="389572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High-speed and sprint distance</a:t>
            </a:r>
          </a:p>
        </p:txBody>
      </p:sp>
      <p:sp>
        <p:nvSpPr>
          <p:cNvPr id="8" name="">
            <a:extLst>
              <a:ext uri="{FF2B5EF4-FFF2-40B4-BE49-F238E27FC236}">
                <ns2:creationId id="{47C4C7CB-4200-4EB5-9055-236EF862BE74}"/>
              </a:ext>
            </a:extLst>
          </p:cNvPr>
          <p:cNvSpPr>
            <a:spLocks noGrp="1"/>
          </p:cNvSpPr>
          <p:nvPr/>
        </p:nvSpPr>
        <p:spPr>
          <a:xfrm>
            <a:off x="476250" y="4514850"/>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Sprint efforts and repeated intensity</a:t>
            </a:r>
          </a:p>
        </p:txBody>
      </p:sp>
      <p:sp>
        <p:nvSpPr>
          <p:cNvPr id="9" name="">
            <a:extLst>
              <a:ext uri="{FF2B5EF4-FFF2-40B4-BE49-F238E27FC236}">
                <ns2:creationId id="{85427D6F-4154-4A67-9071-20E2F09F6AC4}"/>
              </a:ext>
            </a:extLst>
          </p:cNvPr>
          <p:cNvSpPr>
            <a:spLocks noGrp="1"/>
          </p:cNvSpPr>
          <p:nvPr/>
        </p:nvSpPr>
        <p:spPr>
          <a:xfrm>
            <a:off x="6096000" y="4514850"/>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Acceleration and braking</a:t>
            </a:r>
          </a:p>
        </p:txBody>
      </p:sp>
      <p:sp>
        <p:nvSpPr>
          <p:cNvPr id="10" name="">
            <a:extLst>
              <a:ext uri="{FF2B5EF4-FFF2-40B4-BE49-F238E27FC236}">
                <ns2:creationId id="{F2112DEA-33C5-4A1A-A497-247200C8FD3B}"/>
              </a:ext>
            </a:extLst>
          </p:cNvPr>
          <p:cNvSpPr>
            <a:spLocks noGrp="1"/>
          </p:cNvSpPr>
          <p:nvPr/>
        </p:nvSpPr>
        <p:spPr>
          <a:xfrm>
            <a:off x="476250" y="513397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Time to high-speed running / sprint</a:t>
            </a:r>
          </a:p>
        </p:txBody>
      </p:sp>
      <p:sp>
        <p:nvSpPr>
          <p:cNvPr id="11" name="">
            <a:extLst>
              <a:ext uri="{FF2B5EF4-FFF2-40B4-BE49-F238E27FC236}">
                <ns2:creationId id="{EE3FD1B9-146D-4BD4-8281-489EF4780EB8}"/>
              </a:ext>
            </a:extLst>
          </p:cNvPr>
          <p:cNvSpPr>
            <a:spLocks noGrp="1"/>
          </p:cNvSpPr>
          <p:nvPr/>
        </p:nvSpPr>
        <p:spPr>
          <a:xfrm>
            <a:off x="6096000" y="513397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PSV-99 and Peak Velocity</a:t>
            </a:r>
          </a:p>
        </p:txBody>
      </p:sp>
      <p:sp>
        <p:nvSpPr>
          <p:cNvPr id="12" name="">
            <a:extLst>
              <a:ext uri="{FF2B5EF4-FFF2-40B4-BE49-F238E27FC236}">
                <ns2:creationId id="{B1845789-9188-49E9-A6FB-94C038EC69AB}"/>
              </a:ext>
            </a:extLst>
          </p:cNvPr>
          <p:cNvSpPr>
            <a:spLocks noGrp="1"/>
          </p:cNvSpPr>
          <p:nvPr/>
        </p:nvSpPr>
        <p:spPr>
          <a:xfrm>
            <a:off x="476250" y="5829300"/>
            <a:ext cx="11049000" cy="428625"/>
          </a:xfrm>
          <a:prstGeom prst="rect">
            <a:avLst/>
          </a:prstGeom>
          <a:noFill/>
          <a:ln w="0">
            <a:noFill/>
          </a:ln>
        </p:spPr>
        <p:txBody>
          <a:bodyPr/>
          <a:lstStyle>
            <a:defPPr>
              <a:defRPr sz="1575" b="1">
                <a:solidFill>
                  <a:srgbClr val="147D68"/>
                </a:solidFill>
                <a:latin typeface="Arial"/>
                <a:ea typeface="Arial"/>
                <a:cs typeface="Arial"/>
              </a:defRPr>
            </a:defPPr>
            <a:lvl1pPr>
              <a:defRPr sz="1575" b="1">
                <a:solidFill>
                  <a:srgbClr val="147D68"/>
                </a:solidFill>
                <a:latin typeface="Arial"/>
                <a:ea typeface="Arial"/>
                <a:cs typeface="Arial"/>
              </a:defRPr>
            </a:lvl1pPr>
            <a:lvl2pPr>
              <a:defRPr sz="1575" b="1">
                <a:solidFill>
                  <a:srgbClr val="147D68"/>
                </a:solidFill>
                <a:latin typeface="Arial"/>
                <a:ea typeface="Arial"/>
                <a:cs typeface="Arial"/>
              </a:defRPr>
            </a:lvl2pPr>
            <a:lvl3pPr>
              <a:defRPr sz="1575" b="1">
                <a:solidFill>
                  <a:srgbClr val="147D68"/>
                </a:solidFill>
                <a:latin typeface="Arial"/>
                <a:ea typeface="Arial"/>
                <a:cs typeface="Arial"/>
              </a:defRPr>
            </a:lvl3pPr>
            <a:lvl4pPr>
              <a:defRPr sz="1575" b="1">
                <a:solidFill>
                  <a:srgbClr val="147D68"/>
                </a:solidFill>
                <a:latin typeface="Arial"/>
                <a:ea typeface="Arial"/>
                <a:cs typeface="Arial"/>
              </a:defRPr>
            </a:lvl4pPr>
            <a:lvl5pPr>
              <a:defRPr sz="1575" b="1">
                <a:solidFill>
                  <a:srgbClr val="147D68"/>
                </a:solidFill>
                <a:latin typeface="Arial"/>
                <a:ea typeface="Arial"/>
                <a:cs typeface="Arial"/>
              </a:defRPr>
            </a:lvl5pPr>
            <a:lvl6pPr>
              <a:defRPr sz="1575" b="1">
                <a:solidFill>
                  <a:srgbClr val="147D68"/>
                </a:solidFill>
                <a:latin typeface="Arial"/>
                <a:ea typeface="Arial"/>
                <a:cs typeface="Arial"/>
              </a:defRPr>
            </a:lvl6pPr>
            <a:lvl7pPr>
              <a:defRPr sz="1575" b="1">
                <a:solidFill>
                  <a:srgbClr val="147D68"/>
                </a:solidFill>
                <a:latin typeface="Arial"/>
                <a:ea typeface="Arial"/>
                <a:cs typeface="Arial"/>
              </a:defRPr>
            </a:lvl7pPr>
            <a:lvl8pPr>
              <a:defRPr sz="1575" b="1">
                <a:solidFill>
                  <a:srgbClr val="147D68"/>
                </a:solidFill>
                <a:latin typeface="Arial"/>
                <a:ea typeface="Arial"/>
                <a:cs typeface="Arial"/>
              </a:defRPr>
            </a:lvl8pPr>
            <a:lvl9pPr>
              <a:defRPr sz="1575" b="1">
                <a:solidFill>
                  <a:srgbClr val="147D68"/>
                </a:solidFill>
                <a:latin typeface="Arial"/>
                <a:ea typeface="Arial"/>
                <a:cs typeface="Arial"/>
              </a:defRPr>
            </a:lvl9pPr>
          </a:lstStyle>
          <a:p>
            <a:pPr>
              <a:defRPr sz="1575" b="1">
                <a:solidFill>
                  <a:srgbClr val="147D68"/>
                </a:solidFill>
                <a:latin typeface="Arial"/>
                <a:ea typeface="Arial"/>
                <a:cs typeface="Arial"/>
              </a:defRPr>
            </a:pPr>
            <a:r>
              <a:rPr sz="1575" b="1">
                <a:solidFill>
                  <a:srgbClr val="147D68"/>
                </a:solidFill>
                <a:latin typeface="Arial"/>
                <a:ea typeface="Arial"/>
                <a:cs typeface="Arial"/>
              </a:rPr>
              <a:t>Sample calculations and official provider definitions are labeled separately</a:t>
            </a:r>
          </a:p>
        </p:txBody>
      </p:sp>
      <p:sp>
        <p:nvSpPr>
          <p:cNvPr id="13" name="">
            <a:extLst>
              <a:ext uri="{FF2B5EF4-FFF2-40B4-BE49-F238E27FC236}">
                <ns2:creationId id="{F01DA80D-2A1B-40F1-882A-AF9E04FCE222}"/>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15</a:t>
            </a:r>
          </a:p>
        </p:txBody>
      </p:sp>
    </p:spTree>
    <p:extLst>
      <p:ext uri="{BB962C8B-B14F-4D97-AF65-F5344CB8AC3E}">
        <p14:creationId val="1050973842"/>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70FB01A6-A3E1-4173-A209-E0EEE6C167E3}"/>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060F5BB4-29DB-442E-BC65-4EBDE26697F0}"/>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Physical metrics</a:t>
            </a:r>
          </a:p>
        </p:txBody>
      </p:sp>
      <p:sp>
        <p:nvSpPr>
          <p:cNvPr id="3" name="">
            <a:extLst>
              <a:ext uri="{FF2B5EF4-FFF2-40B4-BE49-F238E27FC236}">
                <ns2:creationId id="{C85D8FAB-EE2A-4185-9FDD-F35DA9D5AA01}"/>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How much ground did one player cover?</a:t>
            </a:r>
          </a:p>
        </p:txBody>
      </p:sp>
      <p:sp>
        <p:nvSpPr>
          <p:cNvPr id="4" name="">
            <a:extLst>
              <a:ext uri="{FF2B5EF4-FFF2-40B4-BE49-F238E27FC236}">
                <ns2:creationId id="{0E469BEC-206F-4618-AF3F-4EA632CE688B}"/>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E57FB8BD-8560-4780-A778-064374880B85}"/>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Measure movement volume without hiding missing intervals.</a:t>
            </a:r>
          </a:p>
        </p:txBody>
      </p:sp>
      <p:sp>
        <p:nvSpPr>
          <p:cNvPr id="6" name="">
            <a:extLst>
              <a:ext uri="{FF2B5EF4-FFF2-40B4-BE49-F238E27FC236}">
                <ns2:creationId id="{7DB9500D-4839-4982-BD88-2E65B0B6DA5D}"/>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A79C9EB6-4DD0-4614-A104-4388223295FB}"/>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Integrate speed only across valid consecutive intervals.</a:t>
            </a:r>
          </a:p>
        </p:txBody>
      </p:sp>
      <p:sp>
        <p:nvSpPr>
          <p:cNvPr id="8" name="">
            <a:extLst>
              <a:ext uri="{FF2B5EF4-FFF2-40B4-BE49-F238E27FC236}">
                <ns2:creationId id="{57CE4741-C5EF-4246-91E4-3B6CE6A2102F}"/>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Smoothed sample estimate</a:t>
            </a:r>
          </a:p>
        </p:txBody>
      </p:sp>
      <p:pic>
        <p:nvPicPr>
          <p:cNvPr id="9" name="">
            <a:extLst>
              <a:ext uri="{FF2B5EF4-FFF2-40B4-BE49-F238E27FC236}">
                <ns2:creationId id="{3DBFE4B0-7BA0-4D77-9A42-4BBCF0B3406C}"/>
              </a:ext>
            </a:extLst>
          </p:cNvPr>
          <p:cNvPicPr>
            <a:picLocks noChangeAspect="1"/>
          </p:cNvPicPr>
          <p:nvPr/>
        </p:nvPicPr>
        <p:blipFill>
          <a:blip r:embed="R3a833026d5d446f9"/>
          <a:stretch/>
        </p:blipFill>
        <p:spPr>
          <a:xfrm>
            <a:off x="3048000" y="1428750"/>
            <a:ext cx="8667750" cy="4333875"/>
          </a:xfrm>
          <a:prstGeom prst="rect">
            <a:avLst/>
          </a:prstGeom>
        </p:spPr>
      </p:pic>
      <p:sp>
        <p:nvSpPr>
          <p:cNvPr id="10" name="">
            <a:extLst>
              <a:ext uri="{FF2B5EF4-FFF2-40B4-BE49-F238E27FC236}">
                <ns2:creationId id="{679482C4-2401-43E8-B85D-6E578ADD7FB2}"/>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Cumulative distance is reported alongside the valid sample coverage.</a:t>
            </a:r>
          </a:p>
        </p:txBody>
      </p:sp>
      <p:sp>
        <p:nvSpPr>
          <p:cNvPr id="11" name="">
            <a:extLst>
              <a:ext uri="{FF2B5EF4-FFF2-40B4-BE49-F238E27FC236}">
                <ns2:creationId id="{F6EB0B7B-CE3F-43E9-84B7-804BE3828723}"/>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06_physical_metrics.ipynb</a:t>
            </a:r>
          </a:p>
        </p:txBody>
      </p:sp>
      <p:sp>
        <p:nvSpPr>
          <p:cNvPr id="12" name="">
            <a:extLst>
              <a:ext uri="{FF2B5EF4-FFF2-40B4-BE49-F238E27FC236}">
                <ns2:creationId id="{CDB06EDD-17D5-4C18-B689-CEDDAEFB92D0}"/>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DataBallPy covered distance</a:t>
            </a:r>
          </a:p>
        </p:txBody>
      </p:sp>
      <p:sp>
        <p:nvSpPr>
          <p:cNvPr id="13" name="">
            <a:extLst>
              <a:ext uri="{FF2B5EF4-FFF2-40B4-BE49-F238E27FC236}">
                <ns2:creationId id="{DD2C43D4-43D1-4B50-815B-A527B538B68B}"/>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DataBallPy preprocessing</a:t>
            </a:r>
          </a:p>
        </p:txBody>
      </p:sp>
      <p:sp>
        <p:nvSpPr>
          <p:cNvPr id="14" name="">
            <a:extLst>
              <a:ext uri="{FF2B5EF4-FFF2-40B4-BE49-F238E27FC236}">
                <ns2:creationId id="{7CA11067-ED19-43E8-8A85-23C1D66D8F31}"/>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16</a:t>
            </a:r>
          </a:p>
        </p:txBody>
      </p:sp>
    </p:spTree>
    <p:extLst>
      <p:ext uri="{BB962C8B-B14F-4D97-AF65-F5344CB8AC3E}">
        <p14:creationId val="1766602739"/>
      </p:ext>
    </p:extLst>
  </p:cSld>
</p:sld>
</file>

<file path=ppt/slides/slide1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9AD00424-907A-4E09-A289-113A3360956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08235772-0C24-4584-8673-D4C6E6E00487}"/>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Physical metrics</a:t>
            </a:r>
          </a:p>
        </p:txBody>
      </p:sp>
      <p:sp>
        <p:nvSpPr>
          <p:cNvPr id="3" name="">
            <a:extLst>
              <a:ext uri="{FF2B5EF4-FFF2-40B4-BE49-F238E27FC236}">
                <ns2:creationId id="{32B5F49B-814D-45FB-AA39-974DE389B67E}"/>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Who accumulated high-intensity distance?</a:t>
            </a:r>
          </a:p>
        </p:txBody>
      </p:sp>
      <p:sp>
        <p:nvSpPr>
          <p:cNvPr id="4" name="">
            <a:extLst>
              <a:ext uri="{FF2B5EF4-FFF2-40B4-BE49-F238E27FC236}">
                <ns2:creationId id="{EBC649A5-BA92-4719-A247-ECAF736D2454}"/>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49310995-CB19-4436-A555-831DD9BF97D8}"/>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Separate high-speed running from total movement volume.</a:t>
            </a:r>
          </a:p>
        </p:txBody>
      </p:sp>
      <p:sp>
        <p:nvSpPr>
          <p:cNvPr id="6" name="">
            <a:extLst>
              <a:ext uri="{FF2B5EF4-FFF2-40B4-BE49-F238E27FC236}">
                <ns2:creationId id="{AC3A0AC0-2FD8-409C-B673-00485CD1C540}"/>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AD2AA6CD-F9CE-4ECA-92DA-4D922C80CDA3}"/>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Integrate distances within explicitly defined speed bands.</a:t>
            </a:r>
          </a:p>
        </p:txBody>
      </p:sp>
      <p:sp>
        <p:nvSpPr>
          <p:cNvPr id="8" name="">
            <a:extLst>
              <a:ext uri="{FF2B5EF4-FFF2-40B4-BE49-F238E27FC236}">
                <ns2:creationId id="{CBAAF482-F378-4BD5-8609-9779B0EF849F}"/>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Bounded-sample player comparison</a:t>
            </a:r>
          </a:p>
        </p:txBody>
      </p:sp>
      <p:pic>
        <p:nvPicPr>
          <p:cNvPr id="9" name="">
            <a:extLst>
              <a:ext uri="{FF2B5EF4-FFF2-40B4-BE49-F238E27FC236}">
                <ns2:creationId id="{11177557-12F1-425A-AC13-53C0FD12133C}"/>
              </a:ext>
            </a:extLst>
          </p:cNvPr>
          <p:cNvPicPr>
            <a:picLocks noChangeAspect="1"/>
          </p:cNvPicPr>
          <p:nvPr/>
        </p:nvPicPr>
        <p:blipFill>
          <a:blip r:embed="R2500293d04e84c07"/>
          <a:stretch/>
        </p:blipFill>
        <p:spPr>
          <a:xfrm>
            <a:off x="2952750" y="1539308"/>
            <a:ext cx="8858250" cy="4112759"/>
          </a:xfrm>
          <a:prstGeom prst="rect">
            <a:avLst/>
          </a:prstGeom>
        </p:spPr>
      </p:pic>
      <p:sp>
        <p:nvSpPr>
          <p:cNvPr id="10" name="">
            <a:extLst>
              <a:ext uri="{FF2B5EF4-FFF2-40B4-BE49-F238E27FC236}">
                <ns2:creationId id="{9EE5938A-4F71-47AA-B3E8-004206CCB726}"/>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Player comparison bars show HSR and sprint contributions.</a:t>
            </a:r>
          </a:p>
        </p:txBody>
      </p:sp>
      <p:sp>
        <p:nvSpPr>
          <p:cNvPr id="11" name="">
            <a:extLst>
              <a:ext uri="{FF2B5EF4-FFF2-40B4-BE49-F238E27FC236}">
                <ns2:creationId id="{0A6EEF17-86EA-4C1D-BF41-D75BDD239F1F}"/>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06_physical_metrics.ipynb</a:t>
            </a:r>
          </a:p>
        </p:txBody>
      </p:sp>
      <p:sp>
        <p:nvSpPr>
          <p:cNvPr id="12" name="">
            <a:extLst>
              <a:ext uri="{FF2B5EF4-FFF2-40B4-BE49-F238E27FC236}">
                <ns2:creationId id="{6B32DF8C-50BB-4E79-812F-B534F9B24366}"/>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physical thresholds and time-to metrics</a:t>
            </a:r>
          </a:p>
        </p:txBody>
      </p:sp>
      <p:sp>
        <p:nvSpPr>
          <p:cNvPr id="13" name="">
            <a:extLst>
              <a:ext uri="{FF2B5EF4-FFF2-40B4-BE49-F238E27FC236}">
                <ns2:creationId id="{F8CDFCB6-6C3F-4755-8F42-94ACD51497AC}"/>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DataBallPy covered distance</a:t>
            </a:r>
          </a:p>
        </p:txBody>
      </p:sp>
      <p:sp>
        <p:nvSpPr>
          <p:cNvPr id="14" name="">
            <a:extLst>
              <a:ext uri="{FF2B5EF4-FFF2-40B4-BE49-F238E27FC236}">
                <ns2:creationId id="{6B42D714-27C9-479B-9AD5-F32E0B8F3E33}"/>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17</a:t>
            </a:r>
          </a:p>
        </p:txBody>
      </p:sp>
    </p:spTree>
    <p:extLst>
      <p:ext uri="{BB962C8B-B14F-4D97-AF65-F5344CB8AC3E}">
        <p14:creationId val="2122384517"/>
      </p:ext>
    </p:extLst>
  </p:cSld>
</p:sld>
</file>

<file path=ppt/slides/slide18.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54803EAA-4DA8-4E7D-9A18-FF2FAB6E31E8}"/>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E4C0B0F8-229B-40EA-AEB3-16CE2AE28C73}"/>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Physical metrics</a:t>
            </a:r>
          </a:p>
        </p:txBody>
      </p:sp>
      <p:sp>
        <p:nvSpPr>
          <p:cNvPr id="3" name="">
            <a:extLst>
              <a:ext uri="{FF2B5EF4-FFF2-40B4-BE49-F238E27FC236}">
                <ns2:creationId id="{6FFE8367-F704-4519-8481-5697ACF5A671}"/>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How many sprint efforts qualified?</a:t>
            </a:r>
          </a:p>
        </p:txBody>
      </p:sp>
      <p:sp>
        <p:nvSpPr>
          <p:cNvPr id="4" name="">
            <a:extLst>
              <a:ext uri="{FF2B5EF4-FFF2-40B4-BE49-F238E27FC236}">
                <ns2:creationId id="{AAF408AA-F376-4F49-BA94-646314F84243}"/>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27255EBA-47C0-4DCC-B06D-429A2ECA8CC6}"/>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Distinguish sustained sprint efforts from brief speed spikes.</a:t>
            </a:r>
          </a:p>
        </p:txBody>
      </p:sp>
      <p:sp>
        <p:nvSpPr>
          <p:cNvPr id="6" name="">
            <a:extLst>
              <a:ext uri="{FF2B5EF4-FFF2-40B4-BE49-F238E27FC236}">
                <ns2:creationId id="{B55DB524-122D-4B7F-B4AC-D8B663D33BE5}"/>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C9B207C9-F2CD-419E-BA6C-26BE810CCDAA}"/>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Threshold speed, minimum duration and an explicit gap rule.</a:t>
            </a:r>
          </a:p>
        </p:txBody>
      </p:sp>
      <p:sp>
        <p:nvSpPr>
          <p:cNvPr id="8" name="">
            <a:extLst>
              <a:ext uri="{FF2B5EF4-FFF2-40B4-BE49-F238E27FC236}">
                <ns2:creationId id="{07013C01-8461-46C6-9D85-B03AC64D7ED5}"/>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Teaching effort definition</a:t>
            </a:r>
          </a:p>
        </p:txBody>
      </p:sp>
      <p:pic>
        <p:nvPicPr>
          <p:cNvPr id="9" name="">
            <a:extLst>
              <a:ext uri="{FF2B5EF4-FFF2-40B4-BE49-F238E27FC236}">
                <ns2:creationId id="{BADFF3E8-4D1C-4FB9-866A-08B33A0A26CE}"/>
              </a:ext>
            </a:extLst>
          </p:cNvPr>
          <p:cNvPicPr>
            <a:picLocks noChangeAspect="1"/>
          </p:cNvPicPr>
          <p:nvPr/>
        </p:nvPicPr>
        <p:blipFill>
          <a:blip r:embed="R367e5585f0c749aa"/>
          <a:stretch/>
        </p:blipFill>
        <p:spPr>
          <a:xfrm>
            <a:off x="3048000" y="1428750"/>
            <a:ext cx="8667750" cy="4333875"/>
          </a:xfrm>
          <a:prstGeom prst="rect">
            <a:avLst/>
          </a:prstGeom>
        </p:spPr>
      </p:pic>
      <p:sp>
        <p:nvSpPr>
          <p:cNvPr id="10" name="">
            <a:extLst>
              <a:ext uri="{FF2B5EF4-FFF2-40B4-BE49-F238E27FC236}">
                <ns2:creationId id="{8C33E734-10E7-4B60-8FE1-FB9AB67D33AF}"/>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Qualifying efforts are shaded and counted on the speed trace.</a:t>
            </a:r>
          </a:p>
        </p:txBody>
      </p:sp>
      <p:sp>
        <p:nvSpPr>
          <p:cNvPr id="11" name="">
            <a:extLst>
              <a:ext uri="{FF2B5EF4-FFF2-40B4-BE49-F238E27FC236}">
                <ns2:creationId id="{6980AE73-1632-435F-BA40-D0DEC4D95AB7}"/>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06_physical_metrics.ipynb</a:t>
            </a:r>
          </a:p>
        </p:txBody>
      </p:sp>
      <p:sp>
        <p:nvSpPr>
          <p:cNvPr id="12" name="">
            <a:extLst>
              <a:ext uri="{FF2B5EF4-FFF2-40B4-BE49-F238E27FC236}">
                <ns2:creationId id="{4297E715-AC37-4F40-BE0B-6853993D9DAD}"/>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physical thresholds and time-to metrics</a:t>
            </a:r>
          </a:p>
        </p:txBody>
      </p:sp>
      <p:sp>
        <p:nvSpPr>
          <p:cNvPr id="13" name="">
            <a:extLst>
              <a:ext uri="{FF2B5EF4-FFF2-40B4-BE49-F238E27FC236}">
                <ns2:creationId id="{456B3DDC-3492-4409-873B-599FA85082DB}"/>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DataBallPy preprocessing</a:t>
            </a:r>
          </a:p>
        </p:txBody>
      </p:sp>
      <p:sp>
        <p:nvSpPr>
          <p:cNvPr id="14" name="">
            <a:extLst>
              <a:ext uri="{FF2B5EF4-FFF2-40B4-BE49-F238E27FC236}">
                <ns2:creationId id="{26B84044-4B43-4A3F-A726-A74ACF0CC3F5}"/>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18</a:t>
            </a:r>
          </a:p>
        </p:txBody>
      </p:sp>
    </p:spTree>
    <p:extLst>
      <p:ext uri="{BB962C8B-B14F-4D97-AF65-F5344CB8AC3E}">
        <p14:creationId val="1894940365"/>
      </p:ext>
    </p:extLst>
  </p:cSld>
</p:sld>
</file>

<file path=ppt/slides/slide1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C8209A5A-7087-49E1-815A-797611BE8F93}"/>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3B1795E-F384-4889-8A3C-FFE8D43EAD6C}"/>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Physical metrics</a:t>
            </a:r>
          </a:p>
        </p:txBody>
      </p:sp>
      <p:sp>
        <p:nvSpPr>
          <p:cNvPr id="3" name="">
            <a:extLst>
              <a:ext uri="{FF2B5EF4-FFF2-40B4-BE49-F238E27FC236}">
                <ns2:creationId id="{FEDDE8E1-0A40-42D3-92D3-4EB7A81500D8}"/>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When does the player accelerate or brake?</a:t>
            </a:r>
          </a:p>
        </p:txBody>
      </p:sp>
      <p:sp>
        <p:nvSpPr>
          <p:cNvPr id="4" name="">
            <a:extLst>
              <a:ext uri="{FF2B5EF4-FFF2-40B4-BE49-F238E27FC236}">
                <ns2:creationId id="{285798BF-84E3-4771-8679-9D78E4EC006C}"/>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3A5C9AA5-2854-47DA-9782-9AE7A67F53FC}"/>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Describe speeding up and slowing down around an effort.</a:t>
            </a:r>
          </a:p>
        </p:txBody>
      </p:sp>
      <p:sp>
        <p:nvSpPr>
          <p:cNvPr id="6" name="">
            <a:extLst>
              <a:ext uri="{FF2B5EF4-FFF2-40B4-BE49-F238E27FC236}">
                <ns2:creationId id="{CDD0FD7C-7515-46B0-B5B2-B010E7F5533D}"/>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03D210D4-957B-4552-844C-130751FABB88}"/>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Differentiate smoothed scalar speed within valid segments.</a:t>
            </a:r>
          </a:p>
        </p:txBody>
      </p:sp>
      <p:sp>
        <p:nvSpPr>
          <p:cNvPr id="8" name="">
            <a:extLst>
              <a:ext uri="{FF2B5EF4-FFF2-40B4-BE49-F238E27FC236}">
                <ns2:creationId id="{BA4F734B-7293-45A1-BA21-F97FB10B441E}"/>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Signed acceleration · m/s²</a:t>
            </a:r>
          </a:p>
        </p:txBody>
      </p:sp>
      <p:pic>
        <p:nvPicPr>
          <p:cNvPr id="9" name="">
            <a:extLst>
              <a:ext uri="{FF2B5EF4-FFF2-40B4-BE49-F238E27FC236}">
                <ns2:creationId id="{CE1D68B7-75CA-4B18-9A09-18819141D48C}"/>
              </a:ext>
            </a:extLst>
          </p:cNvPr>
          <p:cNvPicPr>
            <a:picLocks noChangeAspect="1"/>
          </p:cNvPicPr>
          <p:nvPr/>
        </p:nvPicPr>
        <p:blipFill>
          <a:blip r:embed="Rfda6a68bea004ae4"/>
          <a:stretch/>
        </p:blipFill>
        <p:spPr>
          <a:xfrm>
            <a:off x="3048000" y="1428750"/>
            <a:ext cx="8667750" cy="4333875"/>
          </a:xfrm>
          <a:prstGeom prst="rect">
            <a:avLst/>
          </a:prstGeom>
        </p:spPr>
      </p:pic>
      <p:sp>
        <p:nvSpPr>
          <p:cNvPr id="10" name="">
            <a:extLst>
              <a:ext uri="{FF2B5EF4-FFF2-40B4-BE49-F238E27FC236}">
                <ns2:creationId id="{AFE02096-E65E-441C-AA77-26F6C299FE2F}"/>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Positive bursts and braking intervals align with the speed trace.</a:t>
            </a:r>
          </a:p>
        </p:txBody>
      </p:sp>
      <p:sp>
        <p:nvSpPr>
          <p:cNvPr id="11" name="">
            <a:extLst>
              <a:ext uri="{FF2B5EF4-FFF2-40B4-BE49-F238E27FC236}">
                <ns2:creationId id="{4EB1C7F3-EC4D-46A5-9834-1A08A4C86889}"/>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06_physical_metrics.ipynb</a:t>
            </a:r>
          </a:p>
        </p:txBody>
      </p:sp>
      <p:sp>
        <p:nvSpPr>
          <p:cNvPr id="12" name="">
            <a:extLst>
              <a:ext uri="{FF2B5EF4-FFF2-40B4-BE49-F238E27FC236}">
                <ns2:creationId id="{4B12122B-57C5-4551-8936-F988124BFA46}"/>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explosive accelerations</a:t>
            </a:r>
          </a:p>
        </p:txBody>
      </p:sp>
      <p:sp>
        <p:nvSpPr>
          <p:cNvPr id="13" name="">
            <a:extLst>
              <a:ext uri="{FF2B5EF4-FFF2-40B4-BE49-F238E27FC236}">
                <ns2:creationId id="{BEEEF94F-90C3-4B8B-B0AA-3B04D32F544D}"/>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DataBallPy preprocessing</a:t>
            </a:r>
          </a:p>
        </p:txBody>
      </p:sp>
      <p:sp>
        <p:nvSpPr>
          <p:cNvPr id="14" name="">
            <a:extLst>
              <a:ext uri="{FF2B5EF4-FFF2-40B4-BE49-F238E27FC236}">
                <ns2:creationId id="{7BA64F17-1E06-4E7E-84D8-80B8511FE633}"/>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19</a:t>
            </a:r>
          </a:p>
        </p:txBody>
      </p:sp>
    </p:spTree>
    <p:extLst>
      <p:ext uri="{BB962C8B-B14F-4D97-AF65-F5344CB8AC3E}">
        <p14:creationId val="232850695"/>
      </p:ext>
    </p:extLst>
  </p:cSld>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EC8BE5ED-B15F-4418-A6AB-C55CE479F13F}"/>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8D578844-01FC-45ED-9BB2-B1AAD7FF9934}"/>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Physical metrics</a:t>
            </a:r>
          </a:p>
        </p:txBody>
      </p:sp>
      <p:sp>
        <p:nvSpPr>
          <p:cNvPr id="3" name="">
            <a:extLst>
              <a:ext uri="{FF2B5EF4-FFF2-40B4-BE49-F238E27FC236}">
                <ns2:creationId id="{0D22D217-8D15-40F7-BF6B-CDFACDCB9B78}"/>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How quickly does the player reach HSR?</a:t>
            </a:r>
          </a:p>
        </p:txBody>
      </p:sp>
      <p:sp>
        <p:nvSpPr>
          <p:cNvPr id="4" name="">
            <a:extLst>
              <a:ext uri="{FF2B5EF4-FFF2-40B4-BE49-F238E27FC236}">
                <ns2:creationId id="{A7B87417-45BF-49AF-B97B-4E271240500B}"/>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7C888F29-AE9D-40CF-89B4-F4726ECF1E35}"/>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Measure the elapsed time from 9 to 20 km/h.</a:t>
            </a:r>
          </a:p>
        </p:txBody>
      </p:sp>
      <p:sp>
        <p:nvSpPr>
          <p:cNvPr id="6" name="">
            <a:extLst>
              <a:ext uri="{FF2B5EF4-FFF2-40B4-BE49-F238E27FC236}">
                <ns2:creationId id="{18DFBC7A-65EA-444F-8F1F-15DD8823F5F0}"/>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2B128D4F-6F85-4B5F-87A4-98D8984474B0}"/>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Inspect and interpolate one continuous rising-speed trajectory.</a:t>
            </a:r>
          </a:p>
        </p:txBody>
      </p:sp>
      <p:sp>
        <p:nvSpPr>
          <p:cNvPr id="8" name="">
            <a:extLst>
              <a:ext uri="{FF2B5EF4-FFF2-40B4-BE49-F238E27FC236}">
                <ns2:creationId id="{83DF25FF-99C0-4C6B-9C7B-EBDE8C508BC9}"/>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Illustrative sample crossing</a:t>
            </a:r>
          </a:p>
        </p:txBody>
      </p:sp>
      <p:pic>
        <p:nvPicPr>
          <p:cNvPr id="9" name="">
            <a:extLst>
              <a:ext uri="{FF2B5EF4-FFF2-40B4-BE49-F238E27FC236}">
                <ns2:creationId id="{555CF599-651F-46A1-B1F2-64069FD69803}"/>
              </a:ext>
            </a:extLst>
          </p:cNvPr>
          <p:cNvPicPr>
            <a:picLocks noChangeAspect="1"/>
          </p:cNvPicPr>
          <p:nvPr/>
        </p:nvPicPr>
        <p:blipFill>
          <a:blip r:embed="R22c9963b596d40f6"/>
          <a:stretch/>
        </p:blipFill>
        <p:spPr>
          <a:xfrm>
            <a:off x="3048000" y="1428750"/>
            <a:ext cx="8667750" cy="4333875"/>
          </a:xfrm>
          <a:prstGeom prst="rect">
            <a:avLst/>
          </a:prstGeom>
        </p:spPr>
      </p:pic>
      <p:sp>
        <p:nvSpPr>
          <p:cNvPr id="10" name="">
            <a:extLst>
              <a:ext uri="{FF2B5EF4-FFF2-40B4-BE49-F238E27FC236}">
                <ns2:creationId id="{C7039864-4B65-492D-B93F-A320B20C7A3B}"/>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observed threshold-crossing interval is visible and labeled.</a:t>
            </a:r>
          </a:p>
        </p:txBody>
      </p:sp>
      <p:sp>
        <p:nvSpPr>
          <p:cNvPr id="11" name="">
            <a:extLst>
              <a:ext uri="{FF2B5EF4-FFF2-40B4-BE49-F238E27FC236}">
                <ns2:creationId id="{6259BB7D-C138-48B9-972B-2EEDB29D7C91}"/>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06_physical_metrics.ipynb</a:t>
            </a:r>
          </a:p>
        </p:txBody>
      </p:sp>
      <p:sp>
        <p:nvSpPr>
          <p:cNvPr id="12" name="">
            <a:extLst>
              <a:ext uri="{FF2B5EF4-FFF2-40B4-BE49-F238E27FC236}">
                <ns2:creationId id="{261A1AA4-E001-442B-8EDF-14DCE8AFB8A0}"/>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physical thresholds and time-to metrics</a:t>
            </a:r>
          </a:p>
        </p:txBody>
      </p:sp>
      <p:sp>
        <p:nvSpPr>
          <p:cNvPr id="13" name="">
            <a:extLst>
              <a:ext uri="{FF2B5EF4-FFF2-40B4-BE49-F238E27FC236}">
                <ns2:creationId id="{9872C2A9-588B-4268-9A9E-60AFD241548F}"/>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SkillCorner explosive accelerations</a:t>
            </a:r>
          </a:p>
        </p:txBody>
      </p:sp>
      <p:sp>
        <p:nvSpPr>
          <p:cNvPr id="14" name="">
            <a:extLst>
              <a:ext uri="{FF2B5EF4-FFF2-40B4-BE49-F238E27FC236}">
                <ns2:creationId id="{0AA7258C-F5FB-4AE7-B321-B11D120E7641}"/>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20</a:t>
            </a:r>
          </a:p>
        </p:txBody>
      </p:sp>
    </p:spTree>
    <p:extLst>
      <p:ext uri="{BB962C8B-B14F-4D97-AF65-F5344CB8AC3E}">
        <p14:creationId val="1801251627"/>
      </p:ext>
    </p:extLst>
  </p:cSld>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3A49337A-0B3F-4C42-808C-FDF35657CA07}"/>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6B44E14F-3E34-4807-B1D9-70D635FA3E2C}"/>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Physical metrics</a:t>
            </a:r>
          </a:p>
        </p:txBody>
      </p:sp>
      <p:sp>
        <p:nvSpPr>
          <p:cNvPr id="3" name="">
            <a:extLst>
              <a:ext uri="{FF2B5EF4-FFF2-40B4-BE49-F238E27FC236}">
                <ns2:creationId id="{95DA91A9-7F5B-430F-93E2-5B123179F961}"/>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How quickly does the player reach sprint speed?</a:t>
            </a:r>
          </a:p>
        </p:txBody>
      </p:sp>
      <p:sp>
        <p:nvSpPr>
          <p:cNvPr id="4" name="">
            <a:extLst>
              <a:ext uri="{FF2B5EF4-FFF2-40B4-BE49-F238E27FC236}">
                <ns2:creationId id="{BB80A2A2-9ACD-4BC3-B28D-ACFC7684EF00}"/>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A3213E39-FEE6-4B09-B11B-63430BC19B98}"/>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Measure the elapsed time from 9 to 25 km/h.</a:t>
            </a:r>
          </a:p>
        </p:txBody>
      </p:sp>
      <p:sp>
        <p:nvSpPr>
          <p:cNvPr id="6" name="">
            <a:extLst>
              <a:ext uri="{FF2B5EF4-FFF2-40B4-BE49-F238E27FC236}">
                <ns2:creationId id="{7F9DCF13-2381-40E4-9CCA-5454F471A45E}"/>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9963909E-AF9C-45D8-BB83-9D5CD58175EE}"/>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Inspect and interpolate one continuous rising-speed trajectory.</a:t>
            </a:r>
          </a:p>
        </p:txBody>
      </p:sp>
      <p:sp>
        <p:nvSpPr>
          <p:cNvPr id="8" name="">
            <a:extLst>
              <a:ext uri="{FF2B5EF4-FFF2-40B4-BE49-F238E27FC236}">
                <ns2:creationId id="{D865B758-919B-4664-8EFB-57DCEA185596}"/>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Illustrative sample crossing</a:t>
            </a:r>
          </a:p>
        </p:txBody>
      </p:sp>
      <p:pic>
        <p:nvPicPr>
          <p:cNvPr id="9" name="">
            <a:extLst>
              <a:ext uri="{FF2B5EF4-FFF2-40B4-BE49-F238E27FC236}">
                <ns2:creationId id="{966A4A55-C017-4158-945D-EB1EFCBA8516}"/>
              </a:ext>
            </a:extLst>
          </p:cNvPr>
          <p:cNvPicPr>
            <a:picLocks noChangeAspect="1"/>
          </p:cNvPicPr>
          <p:nvPr/>
        </p:nvPicPr>
        <p:blipFill>
          <a:blip r:embed="R25867451834a4f38"/>
          <a:stretch/>
        </p:blipFill>
        <p:spPr>
          <a:xfrm>
            <a:off x="3048000" y="1428750"/>
            <a:ext cx="8667750" cy="4333875"/>
          </a:xfrm>
          <a:prstGeom prst="rect">
            <a:avLst/>
          </a:prstGeom>
        </p:spPr>
      </p:pic>
      <p:sp>
        <p:nvSpPr>
          <p:cNvPr id="10" name="">
            <a:extLst>
              <a:ext uri="{FF2B5EF4-FFF2-40B4-BE49-F238E27FC236}">
                <ns2:creationId id="{D76484CD-BD8C-4F18-8226-9AB48136279F}"/>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Time to sprint is distinct from the maximum speed reached.</a:t>
            </a:r>
          </a:p>
        </p:txBody>
      </p:sp>
      <p:sp>
        <p:nvSpPr>
          <p:cNvPr id="11" name="">
            <a:extLst>
              <a:ext uri="{FF2B5EF4-FFF2-40B4-BE49-F238E27FC236}">
                <ns2:creationId id="{468CA190-58C1-49A9-AA7B-497B4B71B2AD}"/>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06_physical_metrics.ipynb</a:t>
            </a:r>
          </a:p>
        </p:txBody>
      </p:sp>
      <p:sp>
        <p:nvSpPr>
          <p:cNvPr id="12" name="">
            <a:extLst>
              <a:ext uri="{FF2B5EF4-FFF2-40B4-BE49-F238E27FC236}">
                <ns2:creationId id="{57B72F64-2E75-4761-B066-77B04F80236B}"/>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physical thresholds and time-to metrics</a:t>
            </a:r>
          </a:p>
        </p:txBody>
      </p:sp>
      <p:sp>
        <p:nvSpPr>
          <p:cNvPr id="13" name="">
            <a:extLst>
              <a:ext uri="{FF2B5EF4-FFF2-40B4-BE49-F238E27FC236}">
                <ns2:creationId id="{65FF97ED-5EB0-4F39-B979-36DDF289AF4E}"/>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SkillCorner explosive accelerations</a:t>
            </a:r>
          </a:p>
        </p:txBody>
      </p:sp>
      <p:sp>
        <p:nvSpPr>
          <p:cNvPr id="14" name="">
            <a:extLst>
              <a:ext uri="{FF2B5EF4-FFF2-40B4-BE49-F238E27FC236}">
                <ns2:creationId id="{3436D8A3-76C0-4CE9-83F8-D600DC45A7AC}"/>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21</a:t>
            </a:r>
          </a:p>
        </p:txBody>
      </p:sp>
    </p:spTree>
    <p:extLst>
      <p:ext uri="{BB962C8B-B14F-4D97-AF65-F5344CB8AC3E}">
        <p14:creationId val="292720111"/>
      </p:ext>
    </p:extLst>
  </p:cSld>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CF7521C6-8568-4DF3-8287-31EBEA1A21F5}"/>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7CB3AA9F-FC71-4B17-9515-FC48057FECC3}"/>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Physical metrics</a:t>
            </a:r>
          </a:p>
        </p:txBody>
      </p:sp>
      <p:sp>
        <p:nvSpPr>
          <p:cNvPr id="3" name="">
            <a:extLst>
              <a:ext uri="{FF2B5EF4-FFF2-40B4-BE49-F238E27FC236}">
                <ns2:creationId id="{41EFD80B-66EC-469B-9748-7B3D41549EB0}"/>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PSV-99: a robust speed-capacity proxy</a:t>
            </a:r>
          </a:p>
        </p:txBody>
      </p:sp>
      <p:sp>
        <p:nvSpPr>
          <p:cNvPr id="4" name="">
            <a:extLst>
              <a:ext uri="{FF2B5EF4-FFF2-40B4-BE49-F238E27FC236}">
                <ns2:creationId id="{E29FD6C1-76E3-419B-AF23-CE3974B4DB05}"/>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A38D1185-D585-47FE-9D1F-AEB98693247A}"/>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How can speed capacity be summarized without one noisy maximum?</a:t>
            </a:r>
          </a:p>
        </p:txBody>
      </p:sp>
      <p:sp>
        <p:nvSpPr>
          <p:cNvPr id="6" name="">
            <a:extLst>
              <a:ext uri="{FF2B5EF4-FFF2-40B4-BE49-F238E27FC236}">
                <ns2:creationId id="{A6DAE615-1411-4788-97AD-F1C1156EF5AC}"/>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8A098322-0E51-406B-943B-F0B57D892FCE}"/>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SkillCorner’s 99th percentile of physical activities above 15 km/h.</a:t>
            </a:r>
          </a:p>
        </p:txBody>
      </p:sp>
      <p:sp>
        <p:nvSpPr>
          <p:cNvPr id="8" name="">
            <a:extLst>
              <a:ext uri="{FF2B5EF4-FFF2-40B4-BE49-F238E27FC236}">
                <ns2:creationId id="{948724F7-51F0-48B6-8D7C-5524E6F6D968}"/>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Published SkillCorner example</a:t>
            </a:r>
          </a:p>
        </p:txBody>
      </p:sp>
      <p:pic>
        <p:nvPicPr>
          <p:cNvPr id="9" name="">
            <a:extLst>
              <a:ext uri="{FF2B5EF4-FFF2-40B4-BE49-F238E27FC236}">
                <ns2:creationId id="{4DCC489D-C248-4A1F-ABC8-8D13E68798DD}"/>
              </a:ext>
            </a:extLst>
          </p:cNvPr>
          <p:cNvPicPr>
            <a:picLocks noChangeAspect="1"/>
          </p:cNvPicPr>
          <p:nvPr/>
        </p:nvPicPr>
        <p:blipFill>
          <a:blip r:embed="R1ef56bf608dd4bbe"/>
          <a:stretch/>
        </p:blipFill>
        <p:spPr>
          <a:xfrm>
            <a:off x="4445728" y="1428750"/>
            <a:ext cx="5872294" cy="4333875"/>
          </a:xfrm>
          <a:prstGeom prst="rect">
            <a:avLst/>
          </a:prstGeom>
        </p:spPr>
      </p:pic>
      <p:sp>
        <p:nvSpPr>
          <p:cNvPr id="10" name="">
            <a:extLst>
              <a:ext uri="{FF2B5EF4-FFF2-40B4-BE49-F238E27FC236}">
                <ns2:creationId id="{0F43E720-12B4-4C7C-BF5C-839DB442FE60}"/>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published example contrasts an activity-based proxy with peak speed.</a:t>
            </a:r>
          </a:p>
        </p:txBody>
      </p:sp>
      <p:sp>
        <p:nvSpPr>
          <p:cNvPr id="11" name="">
            <a:extLst>
              <a:ext uri="{FF2B5EF4-FFF2-40B4-BE49-F238E27FC236}">
                <ns2:creationId id="{8D89E7AB-6DBE-4537-B368-BAD3DA5A2D13}"/>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4"/>
              </a:rPr>
              <a:t>SkillCorner PSV-99 and Peak Velocity</a:t>
            </a:r>
          </a:p>
        </p:txBody>
      </p:sp>
      <p:sp>
        <p:nvSpPr>
          <p:cNvPr id="12" name="">
            <a:extLst>
              <a:ext uri="{FF2B5EF4-FFF2-40B4-BE49-F238E27FC236}">
                <ns2:creationId id="{936583D0-D4E7-4DB9-98E1-2996B444BC03}"/>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22</a:t>
            </a:r>
          </a:p>
        </p:txBody>
      </p:sp>
    </p:spTree>
    <p:extLst>
      <p:ext uri="{BB962C8B-B14F-4D97-AF65-F5344CB8AC3E}">
        <p14:creationId val="897089694"/>
      </p:ext>
    </p:extLst>
  </p:cSld>
</p:sld>
</file>

<file path=ppt/slides/slide2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26F03373-0978-4776-8284-C23991752FC6}"/>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B20EE495-4594-41B2-9F77-1E4621391446}"/>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Physical metrics</a:t>
            </a:r>
          </a:p>
        </p:txBody>
      </p:sp>
      <p:sp>
        <p:nvSpPr>
          <p:cNvPr id="3" name="">
            <a:extLst>
              <a:ext uri="{FF2B5EF4-FFF2-40B4-BE49-F238E27FC236}">
                <ns2:creationId id="{C668358D-5427-4D0B-AFD0-D75F15813FA7}"/>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Peak Velocity: absolute top-end speed</a:t>
            </a:r>
          </a:p>
        </p:txBody>
      </p:sp>
      <p:sp>
        <p:nvSpPr>
          <p:cNvPr id="4" name="">
            <a:extLst>
              <a:ext uri="{FF2B5EF4-FFF2-40B4-BE49-F238E27FC236}">
                <ns2:creationId id="{36F424EC-5C16-4877-93DD-D26E5AEBA0FB}"/>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E906252B-2F05-4A8B-88B2-B72C0D4E2828}"/>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What is the highest speed a player reliably reaches?</a:t>
            </a:r>
          </a:p>
        </p:txBody>
      </p:sp>
      <p:sp>
        <p:nvSpPr>
          <p:cNvPr id="6" name="">
            <a:extLst>
              <a:ext uri="{FF2B5EF4-FFF2-40B4-BE49-F238E27FC236}">
                <ns2:creationId id="{3E7F8651-C612-41D7-92EE-BC237DF8CA5B}"/>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021F7327-F7DA-4403-A5E0-29740905EAA0}"/>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SkillCorner’s validated maximum-speed processing.</a:t>
            </a:r>
          </a:p>
        </p:txBody>
      </p:sp>
      <p:sp>
        <p:nvSpPr>
          <p:cNvPr id="8" name="">
            <a:extLst>
              <a:ext uri="{FF2B5EF4-FFF2-40B4-BE49-F238E27FC236}">
                <ns2:creationId id="{4E9C8EF0-016D-4FC4-B5EC-6E5581E2FA65}"/>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Published provider validation</a:t>
            </a:r>
          </a:p>
        </p:txBody>
      </p:sp>
      <p:pic>
        <p:nvPicPr>
          <p:cNvPr id="9" name="">
            <a:extLst>
              <a:ext uri="{FF2B5EF4-FFF2-40B4-BE49-F238E27FC236}">
                <ns2:creationId id="{60CB1B58-AC4D-4A42-A9CD-BB23F109BB1C}"/>
              </a:ext>
            </a:extLst>
          </p:cNvPr>
          <p:cNvPicPr>
            <a:picLocks noChangeAspect="1"/>
          </p:cNvPicPr>
          <p:nvPr/>
        </p:nvPicPr>
        <p:blipFill>
          <a:blip r:embed="R90eb3d5c56b043fa"/>
          <a:stretch/>
        </p:blipFill>
        <p:spPr>
          <a:xfrm>
            <a:off x="4095524" y="1428750"/>
            <a:ext cx="6572701" cy="4333875"/>
          </a:xfrm>
          <a:prstGeom prst="rect">
            <a:avLst/>
          </a:prstGeom>
        </p:spPr>
      </p:pic>
      <p:sp>
        <p:nvSpPr>
          <p:cNvPr id="10" name="">
            <a:extLst>
              <a:ext uri="{FF2B5EF4-FFF2-40B4-BE49-F238E27FC236}">
                <ns2:creationId id="{5E1953DE-2452-4609-94E3-9977BAC19CC0}"/>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provider’s published validation compares Peak Velocity with ground truth.</a:t>
            </a:r>
          </a:p>
        </p:txBody>
      </p:sp>
      <p:sp>
        <p:nvSpPr>
          <p:cNvPr id="11" name="">
            <a:extLst>
              <a:ext uri="{FF2B5EF4-FFF2-40B4-BE49-F238E27FC236}">
                <ns2:creationId id="{83913948-F488-4842-B403-0AC84C34E3D6}"/>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4"/>
              </a:rPr>
              <a:t>SkillCorner PSV-99 and Peak Velocity</a:t>
            </a:r>
          </a:p>
        </p:txBody>
      </p:sp>
      <p:sp>
        <p:nvSpPr>
          <p:cNvPr id="12" name="">
            <a:extLst>
              <a:ext uri="{FF2B5EF4-FFF2-40B4-BE49-F238E27FC236}">
                <ns2:creationId id="{C5614F0B-DF77-4A5D-A5B1-A346AC4609BB}"/>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23</a:t>
            </a:r>
          </a:p>
        </p:txBody>
      </p:sp>
    </p:spTree>
    <p:extLst>
      <p:ext uri="{BB962C8B-B14F-4D97-AF65-F5344CB8AC3E}">
        <p14:creationId val="1516255996"/>
      </p:ext>
    </p:extLst>
  </p:cSld>
</p:sld>
</file>

<file path=ppt/slides/slide2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BFCF8"/>
        </a:solidFill>
      </p:bgPr>
    </p:bg>
    <p:spTree>
      <p:nvGrpSpPr>
        <p:cNvPr id="1" name=""/>
        <p:cNvGrpSpPr/>
        <p:nvPr/>
      </p:nvGrpSpPr>
      <p:grpSpPr>
        <a:xfrm/>
      </p:grpSpPr>
      <p:sp>
        <p:nvSpPr>
          <p:cNvPr id="14" name="">
            <a:extLst>
              <a:ext uri="{FF2B5EF4-FFF2-40B4-BE49-F238E27FC236}">
                <ns2:creationId id="{83676ED9-3DFF-43AD-A0B5-92F82BDA097A}"/>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B97ADC4B-FFD5-4230-8160-00324B0C8D0F}"/>
              </a:ext>
            </a:extLst>
          </p:cNvPr>
          <p:cNvSpPr>
            <a:spLocks noGrp="1"/>
          </p:cNvSpPr>
          <p:nvPr/>
        </p:nvSpPr>
        <p:spPr>
          <a:xfrm>
            <a:off x="476250" y="419100"/>
            <a:ext cx="10953750" cy="28575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ANALYTICAL AVENUE</a:t>
            </a:r>
          </a:p>
        </p:txBody>
      </p:sp>
      <p:sp>
        <p:nvSpPr>
          <p:cNvPr id="3" name="">
            <a:extLst>
              <a:ext uri="{FF2B5EF4-FFF2-40B4-BE49-F238E27FC236}">
                <ns2:creationId id="{E336F5CD-5D2C-41E9-B239-408B05269CA7}"/>
              </a:ext>
            </a:extLst>
          </p:cNvPr>
          <p:cNvSpPr>
            <a:spLocks noGrp="1"/>
          </p:cNvSpPr>
          <p:nvPr/>
        </p:nvSpPr>
        <p:spPr>
          <a:xfrm>
            <a:off x="476250" y="1066800"/>
            <a:ext cx="11049000" cy="809625"/>
          </a:xfrm>
          <a:prstGeom prst="rect">
            <a:avLst/>
          </a:prstGeom>
          <a:noFill/>
          <a:ln w="0">
            <a:noFill/>
          </a:ln>
        </p:spPr>
        <p:txBody>
          <a:bodyPr/>
          <a:lstStyle>
            <a:defPPr>
              <a:defRPr sz="3900" b="1">
                <a:solidFill>
                  <a:srgbClr val="183A35"/>
                </a:solidFill>
                <a:latin typeface="Arial"/>
                <a:ea typeface="Arial"/>
                <a:cs typeface="Arial"/>
              </a:defRPr>
            </a:defPPr>
            <a:lvl1pPr>
              <a:defRPr sz="3900" b="1">
                <a:solidFill>
                  <a:srgbClr val="183A35"/>
                </a:solidFill>
                <a:latin typeface="Arial"/>
                <a:ea typeface="Arial"/>
                <a:cs typeface="Arial"/>
              </a:defRPr>
            </a:lvl1pPr>
            <a:lvl2pPr>
              <a:defRPr sz="3900" b="1">
                <a:solidFill>
                  <a:srgbClr val="183A35"/>
                </a:solidFill>
                <a:latin typeface="Arial"/>
                <a:ea typeface="Arial"/>
                <a:cs typeface="Arial"/>
              </a:defRPr>
            </a:lvl2pPr>
            <a:lvl3pPr>
              <a:defRPr sz="3900" b="1">
                <a:solidFill>
                  <a:srgbClr val="183A35"/>
                </a:solidFill>
                <a:latin typeface="Arial"/>
                <a:ea typeface="Arial"/>
                <a:cs typeface="Arial"/>
              </a:defRPr>
            </a:lvl3pPr>
            <a:lvl4pPr>
              <a:defRPr sz="3900" b="1">
                <a:solidFill>
                  <a:srgbClr val="183A35"/>
                </a:solidFill>
                <a:latin typeface="Arial"/>
                <a:ea typeface="Arial"/>
                <a:cs typeface="Arial"/>
              </a:defRPr>
            </a:lvl4pPr>
            <a:lvl5pPr>
              <a:defRPr sz="3900" b="1">
                <a:solidFill>
                  <a:srgbClr val="183A35"/>
                </a:solidFill>
                <a:latin typeface="Arial"/>
                <a:ea typeface="Arial"/>
                <a:cs typeface="Arial"/>
              </a:defRPr>
            </a:lvl5pPr>
            <a:lvl6pPr>
              <a:defRPr sz="3900" b="1">
                <a:solidFill>
                  <a:srgbClr val="183A35"/>
                </a:solidFill>
                <a:latin typeface="Arial"/>
                <a:ea typeface="Arial"/>
                <a:cs typeface="Arial"/>
              </a:defRPr>
            </a:lvl6pPr>
            <a:lvl7pPr>
              <a:defRPr sz="3900" b="1">
                <a:solidFill>
                  <a:srgbClr val="183A35"/>
                </a:solidFill>
                <a:latin typeface="Arial"/>
                <a:ea typeface="Arial"/>
                <a:cs typeface="Arial"/>
              </a:defRPr>
            </a:lvl7pPr>
            <a:lvl8pPr>
              <a:defRPr sz="3900" b="1">
                <a:solidFill>
                  <a:srgbClr val="183A35"/>
                </a:solidFill>
                <a:latin typeface="Arial"/>
                <a:ea typeface="Arial"/>
                <a:cs typeface="Arial"/>
              </a:defRPr>
            </a:lvl8pPr>
            <a:lvl9pPr>
              <a:defRPr sz="3900" b="1">
                <a:solidFill>
                  <a:srgbClr val="183A35"/>
                </a:solidFill>
                <a:latin typeface="Arial"/>
                <a:ea typeface="Arial"/>
                <a:cs typeface="Arial"/>
              </a:defRPr>
            </a:lvl9pPr>
          </a:lstStyle>
          <a:p>
            <a:pPr>
              <a:defRPr sz="3900" b="1">
                <a:solidFill>
                  <a:srgbClr val="183A35"/>
                </a:solidFill>
                <a:latin typeface="Arial"/>
                <a:ea typeface="Arial"/>
                <a:cs typeface="Arial"/>
              </a:defRPr>
            </a:pPr>
            <a:r>
              <a:rPr sz="3900" b="1">
                <a:solidFill>
                  <a:srgbClr val="183A35"/>
                </a:solidFill>
                <a:latin typeface="Arial"/>
                <a:ea typeface="Arial"/>
                <a:cs typeface="Arial"/>
              </a:rPr>
              <a:t>Game modeling</a:t>
            </a:r>
          </a:p>
        </p:txBody>
      </p:sp>
      <p:sp>
        <p:nvSpPr>
          <p:cNvPr id="4" name="">
            <a:extLst>
              <a:ext uri="{FF2B5EF4-FFF2-40B4-BE49-F238E27FC236}">
                <ns2:creationId id="{770A1112-4324-4663-861F-D008474620E4}"/>
              </a:ext>
            </a:extLst>
          </p:cNvPr>
          <p:cNvSpPr>
            <a:spLocks noGrp="1"/>
          </p:cNvSpPr>
          <p:nvPr/>
        </p:nvSpPr>
        <p:spPr>
          <a:xfrm>
            <a:off x="476250" y="2076450"/>
            <a:ext cx="10763250" cy="876300"/>
          </a:xfrm>
          <a:prstGeom prst="rect">
            <a:avLst/>
          </a:prstGeom>
          <a:noFill/>
          <a:ln w="0">
            <a:noFill/>
          </a:ln>
        </p:spPr>
        <p:txBody>
          <a:bodyPr/>
          <a:lstStyle>
            <a:defPPr>
              <a:defRPr sz="2250" b="0">
                <a:solidFill>
                  <a:srgbClr val="183A35"/>
                </a:solidFill>
                <a:latin typeface="Arial"/>
                <a:ea typeface="Arial"/>
                <a:cs typeface="Arial"/>
              </a:defRPr>
            </a:defPPr>
            <a:lvl1pPr>
              <a:defRPr sz="2250" b="0">
                <a:solidFill>
                  <a:srgbClr val="183A35"/>
                </a:solidFill>
                <a:latin typeface="Arial"/>
                <a:ea typeface="Arial"/>
                <a:cs typeface="Arial"/>
              </a:defRPr>
            </a:lvl1pPr>
            <a:lvl2pPr>
              <a:defRPr sz="2250" b="0">
                <a:solidFill>
                  <a:srgbClr val="183A35"/>
                </a:solidFill>
                <a:latin typeface="Arial"/>
                <a:ea typeface="Arial"/>
                <a:cs typeface="Arial"/>
              </a:defRPr>
            </a:lvl2pPr>
            <a:lvl3pPr>
              <a:defRPr sz="2250" b="0">
                <a:solidFill>
                  <a:srgbClr val="183A35"/>
                </a:solidFill>
                <a:latin typeface="Arial"/>
                <a:ea typeface="Arial"/>
                <a:cs typeface="Arial"/>
              </a:defRPr>
            </a:lvl3pPr>
            <a:lvl4pPr>
              <a:defRPr sz="2250" b="0">
                <a:solidFill>
                  <a:srgbClr val="183A35"/>
                </a:solidFill>
                <a:latin typeface="Arial"/>
                <a:ea typeface="Arial"/>
                <a:cs typeface="Arial"/>
              </a:defRPr>
            </a:lvl4pPr>
            <a:lvl5pPr>
              <a:defRPr sz="2250" b="0">
                <a:solidFill>
                  <a:srgbClr val="183A35"/>
                </a:solidFill>
                <a:latin typeface="Arial"/>
                <a:ea typeface="Arial"/>
                <a:cs typeface="Arial"/>
              </a:defRPr>
            </a:lvl5pPr>
            <a:lvl6pPr>
              <a:defRPr sz="2250" b="0">
                <a:solidFill>
                  <a:srgbClr val="183A35"/>
                </a:solidFill>
                <a:latin typeface="Arial"/>
                <a:ea typeface="Arial"/>
                <a:cs typeface="Arial"/>
              </a:defRPr>
            </a:lvl6pPr>
            <a:lvl7pPr>
              <a:defRPr sz="2250" b="0">
                <a:solidFill>
                  <a:srgbClr val="183A35"/>
                </a:solidFill>
                <a:latin typeface="Arial"/>
                <a:ea typeface="Arial"/>
                <a:cs typeface="Arial"/>
              </a:defRPr>
            </a:lvl7pPr>
            <a:lvl8pPr>
              <a:defRPr sz="2250" b="0">
                <a:solidFill>
                  <a:srgbClr val="183A35"/>
                </a:solidFill>
                <a:latin typeface="Arial"/>
                <a:ea typeface="Arial"/>
                <a:cs typeface="Arial"/>
              </a:defRPr>
            </a:lvl8pPr>
            <a:lvl9pPr>
              <a:defRPr sz="2250" b="0">
                <a:solidFill>
                  <a:srgbClr val="183A35"/>
                </a:solidFill>
                <a:latin typeface="Arial"/>
                <a:ea typeface="Arial"/>
                <a:cs typeface="Arial"/>
              </a:defRPr>
            </a:lvl9pPr>
          </a:lstStyle>
          <a:p>
            <a:pPr>
              <a:defRPr sz="2250" b="0">
                <a:solidFill>
                  <a:srgbClr val="183A35"/>
                </a:solidFill>
                <a:latin typeface="Arial"/>
                <a:ea typeface="Arial"/>
                <a:cs typeface="Arial"/>
              </a:defRPr>
            </a:pPr>
            <a:r>
              <a:rPr sz="2250" b="0">
                <a:solidFill>
                  <a:srgbClr val="183A35"/>
                </a:solidFill>
                <a:latin typeface="Arial"/>
                <a:ea typeface="Arial"/>
                <a:cs typeface="Arial"/>
              </a:rPr>
              <a:t>Which locations, options and game states create or prevent scoring opportunities?</a:t>
            </a:r>
          </a:p>
        </p:txBody>
      </p:sp>
      <p:sp>
        <p:nvSpPr>
          <p:cNvPr id="5" name="">
            <a:extLst>
              <a:ext uri="{FF2B5EF4-FFF2-40B4-BE49-F238E27FC236}">
                <ns2:creationId id="{208F58F1-ACB5-4659-ADE6-7CEFCE56330B}"/>
              </a:ext>
            </a:extLst>
          </p:cNvPr>
          <p:cNvSpPr>
            <a:spLocks noGrp="1"/>
          </p:cNvSpPr>
          <p:nvPr/>
        </p:nvSpPr>
        <p:spPr>
          <a:xfrm>
            <a:off x="476250" y="3352800"/>
            <a:ext cx="3810000" cy="342900"/>
          </a:xfrm>
          <a:prstGeom prst="rect">
            <a:avLst/>
          </a:prstGeom>
          <a:noFill/>
          <a:ln w="0">
            <a:noFill/>
          </a:ln>
        </p:spPr>
        <p:txBody>
          <a:bodyPr/>
          <a:lstStyle>
            <a:defPPr>
              <a:defRPr sz="1500" b="1">
                <a:solidFill>
                  <a:srgbClr val="147D68"/>
                </a:solidFill>
                <a:latin typeface="Arial"/>
                <a:ea typeface="Arial"/>
                <a:cs typeface="Arial"/>
              </a:defRPr>
            </a:defPPr>
            <a:lvl1pPr>
              <a:defRPr sz="1500" b="1">
                <a:solidFill>
                  <a:srgbClr val="147D68"/>
                </a:solidFill>
                <a:latin typeface="Arial"/>
                <a:ea typeface="Arial"/>
                <a:cs typeface="Arial"/>
              </a:defRPr>
            </a:lvl1pPr>
            <a:lvl2pPr>
              <a:defRPr sz="1500" b="1">
                <a:solidFill>
                  <a:srgbClr val="147D68"/>
                </a:solidFill>
                <a:latin typeface="Arial"/>
                <a:ea typeface="Arial"/>
                <a:cs typeface="Arial"/>
              </a:defRPr>
            </a:lvl2pPr>
            <a:lvl3pPr>
              <a:defRPr sz="1500" b="1">
                <a:solidFill>
                  <a:srgbClr val="147D68"/>
                </a:solidFill>
                <a:latin typeface="Arial"/>
                <a:ea typeface="Arial"/>
                <a:cs typeface="Arial"/>
              </a:defRPr>
            </a:lvl3pPr>
            <a:lvl4pPr>
              <a:defRPr sz="1500" b="1">
                <a:solidFill>
                  <a:srgbClr val="147D68"/>
                </a:solidFill>
                <a:latin typeface="Arial"/>
                <a:ea typeface="Arial"/>
                <a:cs typeface="Arial"/>
              </a:defRPr>
            </a:lvl4pPr>
            <a:lvl5pPr>
              <a:defRPr sz="1500" b="1">
                <a:solidFill>
                  <a:srgbClr val="147D68"/>
                </a:solidFill>
                <a:latin typeface="Arial"/>
                <a:ea typeface="Arial"/>
                <a:cs typeface="Arial"/>
              </a:defRPr>
            </a:lvl5pPr>
            <a:lvl6pPr>
              <a:defRPr sz="1500" b="1">
                <a:solidFill>
                  <a:srgbClr val="147D68"/>
                </a:solidFill>
                <a:latin typeface="Arial"/>
                <a:ea typeface="Arial"/>
                <a:cs typeface="Arial"/>
              </a:defRPr>
            </a:lvl6pPr>
            <a:lvl7pPr>
              <a:defRPr sz="1500" b="1">
                <a:solidFill>
                  <a:srgbClr val="147D68"/>
                </a:solidFill>
                <a:latin typeface="Arial"/>
                <a:ea typeface="Arial"/>
                <a:cs typeface="Arial"/>
              </a:defRPr>
            </a:lvl7pPr>
            <a:lvl8pPr>
              <a:defRPr sz="1500" b="1">
                <a:solidFill>
                  <a:srgbClr val="147D68"/>
                </a:solidFill>
                <a:latin typeface="Arial"/>
                <a:ea typeface="Arial"/>
                <a:cs typeface="Arial"/>
              </a:defRPr>
            </a:lvl8pPr>
            <a:lvl9pPr>
              <a:defRPr sz="1500" b="1">
                <a:solidFill>
                  <a:srgbClr val="147D68"/>
                </a:solidFill>
                <a:latin typeface="Arial"/>
                <a:ea typeface="Arial"/>
                <a:cs typeface="Arial"/>
              </a:defRPr>
            </a:lvl9pPr>
          </a:lstStyle>
          <a:p>
            <a:pPr>
              <a:defRPr sz="1500" b="1">
                <a:solidFill>
                  <a:srgbClr val="147D68"/>
                </a:solidFill>
                <a:latin typeface="Arial"/>
                <a:ea typeface="Arial"/>
                <a:cs typeface="Arial"/>
              </a:defRPr>
            </a:pPr>
            <a:r>
              <a:rPr sz="1500" b="1">
                <a:solidFill>
                  <a:srgbClr val="147D68"/>
                </a:solidFill>
                <a:latin typeface="Arial"/>
                <a:ea typeface="Arial"/>
                <a:cs typeface="Arial"/>
              </a:rPr>
              <a:t>Questions to explore</a:t>
            </a:r>
          </a:p>
        </p:txBody>
      </p:sp>
      <p:sp>
        <p:nvSpPr>
          <p:cNvPr id="6" name="">
            <a:extLst>
              <a:ext uri="{FF2B5EF4-FFF2-40B4-BE49-F238E27FC236}">
                <ns2:creationId id="{DB237D55-9FBE-4DCD-B95E-2C1FD2F4BFAB}"/>
              </a:ext>
            </a:extLst>
          </p:cNvPr>
          <p:cNvSpPr>
            <a:spLocks noGrp="1"/>
          </p:cNvSpPr>
          <p:nvPr/>
        </p:nvSpPr>
        <p:spPr>
          <a:xfrm>
            <a:off x="476250" y="389572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Shot quality and location value</a:t>
            </a:r>
          </a:p>
        </p:txBody>
      </p:sp>
      <p:sp>
        <p:nvSpPr>
          <p:cNvPr id="7" name="">
            <a:extLst>
              <a:ext uri="{FF2B5EF4-FFF2-40B4-BE49-F238E27FC236}">
                <ns2:creationId id="{BD83D683-F0A6-4F3B-A2D1-24C1BCAEAB7A}"/>
              </a:ext>
            </a:extLst>
          </p:cNvPr>
          <p:cNvSpPr>
            <a:spLocks noGrp="1"/>
          </p:cNvSpPr>
          <p:nvPr/>
        </p:nvSpPr>
        <p:spPr>
          <a:xfrm>
            <a:off x="6096000" y="389572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Control, interception and completion</a:t>
            </a:r>
          </a:p>
        </p:txBody>
      </p:sp>
      <p:sp>
        <p:nvSpPr>
          <p:cNvPr id="8" name="">
            <a:extLst>
              <a:ext uri="{FF2B5EF4-FFF2-40B4-BE49-F238E27FC236}">
                <ns2:creationId id="{5038914E-BD5B-48AD-86A5-86D48E5D7169}"/>
              </a:ext>
            </a:extLst>
          </p:cNvPr>
          <p:cNvSpPr>
            <a:spLocks noGrp="1"/>
          </p:cNvSpPr>
          <p:nvPr/>
        </p:nvSpPr>
        <p:spPr>
          <a:xfrm>
            <a:off x="476250" y="4514850"/>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Accessible and dangerous space</a:t>
            </a:r>
          </a:p>
        </p:txBody>
      </p:sp>
      <p:sp>
        <p:nvSpPr>
          <p:cNvPr id="9" name="">
            <a:extLst>
              <a:ext uri="{FF2B5EF4-FFF2-40B4-BE49-F238E27FC236}">
                <ns2:creationId id="{1612298B-C1C7-419D-BEFC-4CA9428FBF4E}"/>
              </a:ext>
            </a:extLst>
          </p:cNvPr>
          <p:cNvSpPr>
            <a:spLocks noGrp="1"/>
          </p:cNvSpPr>
          <p:nvPr/>
        </p:nvSpPr>
        <p:spPr>
          <a:xfrm>
            <a:off x="6096000" y="4514850"/>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Off-ball options and run threat</a:t>
            </a:r>
          </a:p>
        </p:txBody>
      </p:sp>
      <p:sp>
        <p:nvSpPr>
          <p:cNvPr id="10" name="">
            <a:extLst>
              <a:ext uri="{FF2B5EF4-FFF2-40B4-BE49-F238E27FC236}">
                <ns2:creationId id="{5BD9E621-6226-418F-BD60-D31DAFBE8787}"/>
              </a:ext>
            </a:extLst>
          </p:cNvPr>
          <p:cNvSpPr>
            <a:spLocks noGrp="1"/>
          </p:cNvSpPr>
          <p:nvPr/>
        </p:nvSpPr>
        <p:spPr>
          <a:xfrm>
            <a:off x="476250" y="513397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Graphs and learned relational models</a:t>
            </a:r>
          </a:p>
        </p:txBody>
      </p:sp>
      <p:sp>
        <p:nvSpPr>
          <p:cNvPr id="11" name="">
            <a:extLst>
              <a:ext uri="{FF2B5EF4-FFF2-40B4-BE49-F238E27FC236}">
                <ns2:creationId id="{051061F8-1240-4632-852C-08E7E1324596}"/>
              </a:ext>
            </a:extLst>
          </p:cNvPr>
          <p:cNvSpPr>
            <a:spLocks noGrp="1"/>
          </p:cNvSpPr>
          <p:nvPr/>
        </p:nvSpPr>
        <p:spPr>
          <a:xfrm>
            <a:off x="6096000" y="5133975"/>
            <a:ext cx="5238750" cy="571500"/>
          </a:xfrm>
          <a:prstGeom prst="rect">
            <a:avLst/>
          </a:prstGeom>
          <a:noFill/>
          <a:ln w="0">
            <a:noFill/>
          </a:ln>
        </p:spPr>
        <p:txBody>
          <a:bodyPr/>
          <a:lstStyle>
            <a:defPPr>
              <a:defRPr sz="1800" b="0">
                <a:solidFill>
                  <a:srgbClr val="183A35"/>
                </a:solidFill>
                <a:latin typeface="Arial"/>
                <a:ea typeface="Arial"/>
                <a:cs typeface="Arial"/>
              </a:defRPr>
            </a:defPPr>
            <a:lvl1pPr>
              <a:defRPr sz="1800" b="0">
                <a:solidFill>
                  <a:srgbClr val="183A35"/>
                </a:solidFill>
                <a:latin typeface="Arial"/>
                <a:ea typeface="Arial"/>
                <a:cs typeface="Arial"/>
              </a:defRPr>
            </a:lvl1pPr>
            <a:lvl2pPr>
              <a:defRPr sz="1800" b="0">
                <a:solidFill>
                  <a:srgbClr val="183A35"/>
                </a:solidFill>
                <a:latin typeface="Arial"/>
                <a:ea typeface="Arial"/>
                <a:cs typeface="Arial"/>
              </a:defRPr>
            </a:lvl2pPr>
            <a:lvl3pPr>
              <a:defRPr sz="1800" b="0">
                <a:solidFill>
                  <a:srgbClr val="183A35"/>
                </a:solidFill>
                <a:latin typeface="Arial"/>
                <a:ea typeface="Arial"/>
                <a:cs typeface="Arial"/>
              </a:defRPr>
            </a:lvl3pPr>
            <a:lvl4pPr>
              <a:defRPr sz="1800" b="0">
                <a:solidFill>
                  <a:srgbClr val="183A35"/>
                </a:solidFill>
                <a:latin typeface="Arial"/>
                <a:ea typeface="Arial"/>
                <a:cs typeface="Arial"/>
              </a:defRPr>
            </a:lvl4pPr>
            <a:lvl5pPr>
              <a:defRPr sz="1800" b="0">
                <a:solidFill>
                  <a:srgbClr val="183A35"/>
                </a:solidFill>
                <a:latin typeface="Arial"/>
                <a:ea typeface="Arial"/>
                <a:cs typeface="Arial"/>
              </a:defRPr>
            </a:lvl5pPr>
            <a:lvl6pPr>
              <a:defRPr sz="1800" b="0">
                <a:solidFill>
                  <a:srgbClr val="183A35"/>
                </a:solidFill>
                <a:latin typeface="Arial"/>
                <a:ea typeface="Arial"/>
                <a:cs typeface="Arial"/>
              </a:defRPr>
            </a:lvl6pPr>
            <a:lvl7pPr>
              <a:defRPr sz="1800" b="0">
                <a:solidFill>
                  <a:srgbClr val="183A35"/>
                </a:solidFill>
                <a:latin typeface="Arial"/>
                <a:ea typeface="Arial"/>
                <a:cs typeface="Arial"/>
              </a:defRPr>
            </a:lvl7pPr>
            <a:lvl8pPr>
              <a:defRPr sz="1800" b="0">
                <a:solidFill>
                  <a:srgbClr val="183A35"/>
                </a:solidFill>
                <a:latin typeface="Arial"/>
                <a:ea typeface="Arial"/>
                <a:cs typeface="Arial"/>
              </a:defRPr>
            </a:lvl8pPr>
            <a:lvl9pPr>
              <a:defRPr sz="1800" b="0">
                <a:solidFill>
                  <a:srgbClr val="183A35"/>
                </a:solidFill>
                <a:latin typeface="Arial"/>
                <a:ea typeface="Arial"/>
                <a:cs typeface="Arial"/>
              </a:defRPr>
            </a:lvl9pPr>
          </a:lstStyle>
          <a:p>
            <a:pPr>
              <a:defRPr sz="1800" b="0">
                <a:solidFill>
                  <a:srgbClr val="183A35"/>
                </a:solidFill>
                <a:latin typeface="Arial"/>
                <a:ea typeface="Arial"/>
                <a:cs typeface="Arial"/>
              </a:defRPr>
            </a:pPr>
            <a:r>
              <a:rPr sz="1800" b="0">
                <a:solidFill>
                  <a:srgbClr val="183A35"/>
                </a:solidFill>
                <a:latin typeface="Arial"/>
                <a:ea typeface="Arial"/>
                <a:cs typeface="Arial"/>
              </a:rPr>
              <a:t>• Possession value and tactical applications</a:t>
            </a:r>
          </a:p>
        </p:txBody>
      </p:sp>
      <p:sp>
        <p:nvSpPr>
          <p:cNvPr id="12" name="">
            <a:extLst>
              <a:ext uri="{FF2B5EF4-FFF2-40B4-BE49-F238E27FC236}">
                <ns2:creationId id="{099E6539-3F3C-48A1-86A5-8EB91BC24595}"/>
              </a:ext>
            </a:extLst>
          </p:cNvPr>
          <p:cNvSpPr>
            <a:spLocks noGrp="1"/>
          </p:cNvSpPr>
          <p:nvPr/>
        </p:nvSpPr>
        <p:spPr>
          <a:xfrm>
            <a:off x="476250" y="5829300"/>
            <a:ext cx="11049000" cy="428625"/>
          </a:xfrm>
          <a:prstGeom prst="rect">
            <a:avLst/>
          </a:prstGeom>
          <a:noFill/>
          <a:ln w="0">
            <a:noFill/>
          </a:ln>
        </p:spPr>
        <p:txBody>
          <a:bodyPr/>
          <a:lstStyle>
            <a:defPPr>
              <a:defRPr sz="1575" b="1">
                <a:solidFill>
                  <a:srgbClr val="147D68"/>
                </a:solidFill>
                <a:latin typeface="Arial"/>
                <a:ea typeface="Arial"/>
                <a:cs typeface="Arial"/>
              </a:defRPr>
            </a:defPPr>
            <a:lvl1pPr>
              <a:defRPr sz="1575" b="1">
                <a:solidFill>
                  <a:srgbClr val="147D68"/>
                </a:solidFill>
                <a:latin typeface="Arial"/>
                <a:ea typeface="Arial"/>
                <a:cs typeface="Arial"/>
              </a:defRPr>
            </a:lvl1pPr>
            <a:lvl2pPr>
              <a:defRPr sz="1575" b="1">
                <a:solidFill>
                  <a:srgbClr val="147D68"/>
                </a:solidFill>
                <a:latin typeface="Arial"/>
                <a:ea typeface="Arial"/>
                <a:cs typeface="Arial"/>
              </a:defRPr>
            </a:lvl2pPr>
            <a:lvl3pPr>
              <a:defRPr sz="1575" b="1">
                <a:solidFill>
                  <a:srgbClr val="147D68"/>
                </a:solidFill>
                <a:latin typeface="Arial"/>
                <a:ea typeface="Arial"/>
                <a:cs typeface="Arial"/>
              </a:defRPr>
            </a:lvl3pPr>
            <a:lvl4pPr>
              <a:defRPr sz="1575" b="1">
                <a:solidFill>
                  <a:srgbClr val="147D68"/>
                </a:solidFill>
                <a:latin typeface="Arial"/>
                <a:ea typeface="Arial"/>
                <a:cs typeface="Arial"/>
              </a:defRPr>
            </a:lvl4pPr>
            <a:lvl5pPr>
              <a:defRPr sz="1575" b="1">
                <a:solidFill>
                  <a:srgbClr val="147D68"/>
                </a:solidFill>
                <a:latin typeface="Arial"/>
                <a:ea typeface="Arial"/>
                <a:cs typeface="Arial"/>
              </a:defRPr>
            </a:lvl5pPr>
            <a:lvl6pPr>
              <a:defRPr sz="1575" b="1">
                <a:solidFill>
                  <a:srgbClr val="147D68"/>
                </a:solidFill>
                <a:latin typeface="Arial"/>
                <a:ea typeface="Arial"/>
                <a:cs typeface="Arial"/>
              </a:defRPr>
            </a:lvl6pPr>
            <a:lvl7pPr>
              <a:defRPr sz="1575" b="1">
                <a:solidFill>
                  <a:srgbClr val="147D68"/>
                </a:solidFill>
                <a:latin typeface="Arial"/>
                <a:ea typeface="Arial"/>
                <a:cs typeface="Arial"/>
              </a:defRPr>
            </a:lvl7pPr>
            <a:lvl8pPr>
              <a:defRPr sz="1575" b="1">
                <a:solidFill>
                  <a:srgbClr val="147D68"/>
                </a:solidFill>
                <a:latin typeface="Arial"/>
                <a:ea typeface="Arial"/>
                <a:cs typeface="Arial"/>
              </a:defRPr>
            </a:lvl8pPr>
            <a:lvl9pPr>
              <a:defRPr sz="1575" b="1">
                <a:solidFill>
                  <a:srgbClr val="147D68"/>
                </a:solidFill>
                <a:latin typeface="Arial"/>
                <a:ea typeface="Arial"/>
                <a:cs typeface="Arial"/>
              </a:defRPr>
            </a:lvl9pPr>
          </a:lstStyle>
          <a:p>
            <a:pPr>
              <a:defRPr sz="1575" b="1">
                <a:solidFill>
                  <a:srgbClr val="147D68"/>
                </a:solidFill>
                <a:latin typeface="Arial"/>
                <a:ea typeface="Arial"/>
                <a:cs typeface="Arial"/>
              </a:defRPr>
            </a:pPr>
            <a:r>
              <a:rPr sz="1575" b="1">
                <a:solidFill>
                  <a:srgbClr val="147D68"/>
                </a:solidFill>
                <a:latin typeface="Arial"/>
                <a:ea typeface="Arial"/>
                <a:cs typeface="Arial"/>
              </a:rPr>
              <a:t>Start with simpler models, then add interactions and learned value</a:t>
            </a:r>
          </a:p>
        </p:txBody>
      </p:sp>
      <p:sp>
        <p:nvSpPr>
          <p:cNvPr id="13" name="">
            <a:extLst>
              <a:ext uri="{FF2B5EF4-FFF2-40B4-BE49-F238E27FC236}">
                <ns2:creationId id="{9FABDD60-332E-4ECD-AD25-0EC719E4185B}"/>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24</a:t>
            </a:r>
          </a:p>
        </p:txBody>
      </p:sp>
    </p:spTree>
    <p:extLst>
      <p:ext uri="{BB962C8B-B14F-4D97-AF65-F5344CB8AC3E}">
        <p14:creationId val="1305627204"/>
      </p:ext>
    </p:extLst>
  </p:cSld>
</p:sld>
</file>

<file path=ppt/slides/slide2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4" name="">
            <a:extLst>
              <a:ext uri="{FF2B5EF4-FFF2-40B4-BE49-F238E27FC236}">
                <ns2:creationId id="{53E6419C-7C8F-492F-A2DB-FD65CC37A3BC}"/>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30B4C97F-69BF-4DA6-9551-A1BB6BB740EC}"/>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58006527-7695-4294-A138-979DAD372070}"/>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How does context change a shot estimate?</a:t>
            </a:r>
          </a:p>
        </p:txBody>
      </p:sp>
      <p:sp>
        <p:nvSpPr>
          <p:cNvPr id="4" name="">
            <a:extLst>
              <a:ext uri="{FF2B5EF4-FFF2-40B4-BE49-F238E27FC236}">
                <ns2:creationId id="{97B84E8B-9D49-4E4E-A85E-7393F3ED3A68}"/>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8583FD9F-AA3C-4804-9A1B-E097138F3183}"/>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Location alone cannot describe the goalkeeper and defenders.</a:t>
            </a:r>
          </a:p>
        </p:txBody>
      </p:sp>
      <p:sp>
        <p:nvSpPr>
          <p:cNvPr id="6" name="">
            <a:extLst>
              <a:ext uri="{FF2B5EF4-FFF2-40B4-BE49-F238E27FC236}">
                <ns2:creationId id="{747461E6-60E8-45BF-A08D-49DDE96AE7EB}"/>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53EF820B-A7EF-47F9-BE11-F81924398781}"/>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Compare location-only and contextual logistic xG on the same shot.</a:t>
            </a:r>
          </a:p>
        </p:txBody>
      </p:sp>
      <p:sp>
        <p:nvSpPr>
          <p:cNvPr id="8" name="">
            <a:extLst>
              <a:ext uri="{FF2B5EF4-FFF2-40B4-BE49-F238E27FC236}">
                <ns2:creationId id="{4D98119A-DE6F-45FE-BD3B-F2D09FDA85CC}"/>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StatsBomb shot freeze frame</a:t>
            </a:r>
          </a:p>
        </p:txBody>
      </p:sp>
      <p:pic>
        <p:nvPicPr>
          <p:cNvPr id="9" name="">
            <a:extLst>
              <a:ext uri="{FF2B5EF4-FFF2-40B4-BE49-F238E27FC236}">
                <ns2:creationId id="{1CC001AC-F6BC-4766-997B-3671FD920875}"/>
              </a:ext>
            </a:extLst>
          </p:cNvPr>
          <p:cNvPicPr>
            <a:picLocks noChangeAspect="1"/>
          </p:cNvPicPr>
          <p:nvPr/>
        </p:nvPicPr>
        <p:blipFill>
          <a:blip r:embed="R0333b17b5a3942c0"/>
          <a:stretch/>
        </p:blipFill>
        <p:spPr>
          <a:xfrm>
            <a:off x="3048000" y="1428750"/>
            <a:ext cx="8667750" cy="4333875"/>
          </a:xfrm>
          <a:prstGeom prst="rect">
            <a:avLst/>
          </a:prstGeom>
        </p:spPr>
      </p:pic>
      <p:sp>
        <p:nvSpPr>
          <p:cNvPr id="10" name="">
            <a:extLst>
              <a:ext uri="{FF2B5EF4-FFF2-40B4-BE49-F238E27FC236}">
                <ns2:creationId id="{9CFAE663-F444-4068-AA5C-75C809BCF6D8}"/>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same real freeze frame receives two different held-out estimates.</a:t>
            </a:r>
          </a:p>
        </p:txBody>
      </p:sp>
      <p:sp>
        <p:nvSpPr>
          <p:cNvPr id="11" name="">
            <a:extLst>
              <a:ext uri="{FF2B5EF4-FFF2-40B4-BE49-F238E27FC236}">
                <ns2:creationId id="{0CF68260-53E2-4B30-84D3-D2F913E6750F}"/>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07_expected_goals.ipynb</a:t>
            </a:r>
          </a:p>
        </p:txBody>
      </p:sp>
      <p:sp>
        <p:nvSpPr>
          <p:cNvPr id="12" name="">
            <a:extLst>
              <a:ext uri="{FF2B5EF4-FFF2-40B4-BE49-F238E27FC236}">
                <ns2:creationId id="{4A197C2C-83C0-4CE6-9E71-FDD894C1011F}"/>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StatsBomb: Upgrading Expected Goals</a:t>
            </a:r>
          </a:p>
        </p:txBody>
      </p:sp>
      <p:sp>
        <p:nvSpPr>
          <p:cNvPr id="13" name="">
            <a:extLst>
              <a:ext uri="{FF2B5EF4-FFF2-40B4-BE49-F238E27FC236}">
                <ns2:creationId id="{342DF795-FABF-4D28-8D99-7AA6C5E0CF3C}"/>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25</a:t>
            </a:r>
          </a:p>
        </p:txBody>
      </p:sp>
    </p:spTree>
    <p:extLst>
      <p:ext uri="{BB962C8B-B14F-4D97-AF65-F5344CB8AC3E}">
        <p14:creationId val="1999670464"/>
      </p:ext>
    </p:extLst>
  </p:cSld>
</p:sld>
</file>

<file path=ppt/slides/slide2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4" name="">
            <a:extLst>
              <a:ext uri="{FF2B5EF4-FFF2-40B4-BE49-F238E27FC236}">
                <ns2:creationId id="{8D476F0B-6FAD-43CA-8041-B549FDFF6668}"/>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E23138E6-747E-4C4D-8596-9FF650EA2E6B}"/>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FCA699F2-0E83-46A0-84BD-24ECF6F79530}"/>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Does context improve xG discrimination?</a:t>
            </a:r>
          </a:p>
        </p:txBody>
      </p:sp>
      <p:sp>
        <p:nvSpPr>
          <p:cNvPr id="4" name="">
            <a:extLst>
              <a:ext uri="{FF2B5EF4-FFF2-40B4-BE49-F238E27FC236}">
                <ns2:creationId id="{7868720E-6BE1-4368-9323-83F5D1A0FFD4}"/>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0DCF17DF-71FD-4611-83FB-816A544F6542}"/>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Test contextual features across held-out matches, not one example.</a:t>
            </a:r>
          </a:p>
        </p:txBody>
      </p:sp>
      <p:sp>
        <p:nvSpPr>
          <p:cNvPr id="6" name="">
            <a:extLst>
              <a:ext uri="{FF2B5EF4-FFF2-40B4-BE49-F238E27FC236}">
                <ns2:creationId id="{FD2AA67E-EB0B-41C9-A8B3-56FEFA55CBF5}"/>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57B61B1C-FCBB-40F1-BFBF-6958DA7E4C14}"/>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Same five match-grouped folds for both logistic models.</a:t>
            </a:r>
          </a:p>
        </p:txBody>
      </p:sp>
      <p:sp>
        <p:nvSpPr>
          <p:cNvPr id="8" name="">
            <a:extLst>
              <a:ext uri="{FF2B5EF4-FFF2-40B4-BE49-F238E27FC236}">
                <ns2:creationId id="{41E1C8DB-B0D3-41DC-83E1-8E499C88F459}"/>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3,066 shots · 128 matches</a:t>
            </a:r>
          </a:p>
        </p:txBody>
      </p:sp>
      <p:pic>
        <p:nvPicPr>
          <p:cNvPr id="9" name="">
            <a:extLst>
              <a:ext uri="{FF2B5EF4-FFF2-40B4-BE49-F238E27FC236}">
                <ns2:creationId id="{CAEEE89A-B22A-4D57-AD8F-9BA2D33E3C27}"/>
              </a:ext>
            </a:extLst>
          </p:cNvPr>
          <p:cNvPicPr>
            <a:picLocks noChangeAspect="1"/>
          </p:cNvPicPr>
          <p:nvPr/>
        </p:nvPicPr>
        <p:blipFill>
          <a:blip r:embed="R3a5af50189d54312"/>
          <a:stretch/>
        </p:blipFill>
        <p:spPr>
          <a:xfrm>
            <a:off x="3667125" y="1428750"/>
            <a:ext cx="7429500" cy="4333875"/>
          </a:xfrm>
          <a:prstGeom prst="rect">
            <a:avLst/>
          </a:prstGeom>
        </p:spPr>
      </p:pic>
      <p:sp>
        <p:nvSpPr>
          <p:cNvPr id="10" name="">
            <a:extLst>
              <a:ext uri="{FF2B5EF4-FFF2-40B4-BE49-F238E27FC236}">
                <ns2:creationId id="{2DCE76EB-7D15-4F6D-8D7E-88DFDC839551}"/>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ROC AUC rises from 0.744 to 0.780 on the shared eligible cohort.</a:t>
            </a:r>
          </a:p>
        </p:txBody>
      </p:sp>
      <p:sp>
        <p:nvSpPr>
          <p:cNvPr id="11" name="">
            <a:extLst>
              <a:ext uri="{FF2B5EF4-FFF2-40B4-BE49-F238E27FC236}">
                <ns2:creationId id="{0B6C8FFE-66A1-4E11-8649-E2B4C48C91B4}"/>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07_expected_goals.ipynb</a:t>
            </a:r>
          </a:p>
        </p:txBody>
      </p:sp>
      <p:sp>
        <p:nvSpPr>
          <p:cNvPr id="12" name="">
            <a:extLst>
              <a:ext uri="{FF2B5EF4-FFF2-40B4-BE49-F238E27FC236}">
                <ns2:creationId id="{2DE173F3-6019-4E43-87C5-51AB90E6FE17}"/>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StatsBomb: Upgrading Expected Goals</a:t>
            </a:r>
          </a:p>
        </p:txBody>
      </p:sp>
      <p:sp>
        <p:nvSpPr>
          <p:cNvPr id="13" name="">
            <a:extLst>
              <a:ext uri="{FF2B5EF4-FFF2-40B4-BE49-F238E27FC236}">
                <ns2:creationId id="{EDFF6C8B-99F0-480D-8A8A-72F660A26277}"/>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26</a:t>
            </a:r>
          </a:p>
        </p:txBody>
      </p:sp>
    </p:spTree>
    <p:extLst>
      <p:ext uri="{BB962C8B-B14F-4D97-AF65-F5344CB8AC3E}">
        <p14:creationId val="54747251"/>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55D9412C-B464-422E-965E-A20BFAF7C15F}"/>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EE50D445-862A-4E6C-A573-5DE54BB44079}"/>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6764D997-114F-4EBD-8567-881EBE2F3406}"/>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Which completed moves increase location value?</a:t>
            </a:r>
          </a:p>
        </p:txBody>
      </p:sp>
      <p:sp>
        <p:nvSpPr>
          <p:cNvPr id="4" name="">
            <a:extLst>
              <a:ext uri="{FF2B5EF4-FFF2-40B4-BE49-F238E27FC236}">
                <ns2:creationId id="{4D0F8018-D657-4C51-9365-AD4FCE857D3C}"/>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2812464F-F960-4D21-9B92-697A99BB187D}"/>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Value progression before a shot is taken.</a:t>
            </a:r>
          </a:p>
        </p:txBody>
      </p:sp>
      <p:sp>
        <p:nvSpPr>
          <p:cNvPr id="6" name="">
            <a:extLst>
              <a:ext uri="{FF2B5EF4-FFF2-40B4-BE49-F238E27FC236}">
                <ns2:creationId id="{4036DB1A-2399-4400-A373-054FA309C083}"/>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04EFD46A-DCAE-422C-B6ED-05A525DD90BC}"/>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Fitted location xT; value a completed move by V(end)−V(start).</a:t>
            </a:r>
          </a:p>
        </p:txBody>
      </p:sp>
      <p:sp>
        <p:nvSpPr>
          <p:cNvPr id="8" name="">
            <a:extLst>
              <a:ext uri="{FF2B5EF4-FFF2-40B4-BE49-F238E27FC236}">
                <ns2:creationId id="{97A44F0A-709E-4302-B5A1-686023B20E8A}"/>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External fitted model + supplied events</a:t>
            </a:r>
          </a:p>
        </p:txBody>
      </p:sp>
      <p:pic>
        <p:nvPicPr>
          <p:cNvPr id="9" name="">
            <a:extLst>
              <a:ext uri="{FF2B5EF4-FFF2-40B4-BE49-F238E27FC236}">
                <ns2:creationId id="{0AA39CE8-31F1-4676-A5D2-7D2255F7717A}"/>
              </a:ext>
            </a:extLst>
          </p:cNvPr>
          <p:cNvPicPr>
            <a:picLocks noChangeAspect="1"/>
          </p:cNvPicPr>
          <p:nvPr/>
        </p:nvPicPr>
        <p:blipFill>
          <a:blip r:embed="Re37958ca15414f4f"/>
          <a:stretch/>
        </p:blipFill>
        <p:spPr>
          <a:xfrm>
            <a:off x="3048000" y="1428750"/>
            <a:ext cx="8667750" cy="4333875"/>
          </a:xfrm>
          <a:prstGeom prst="rect">
            <a:avLst/>
          </a:prstGeom>
        </p:spPr>
      </p:pic>
      <p:sp>
        <p:nvSpPr>
          <p:cNvPr id="10" name="">
            <a:extLst>
              <a:ext uri="{FF2B5EF4-FFF2-40B4-BE49-F238E27FC236}">
                <ns2:creationId id="{51482AEE-0B64-48DC-92CB-53065F781E46}"/>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Actual completed passes gain or lose value on the fitted map.</a:t>
            </a:r>
          </a:p>
        </p:txBody>
      </p:sp>
      <p:sp>
        <p:nvSpPr>
          <p:cNvPr id="11" name="">
            <a:extLst>
              <a:ext uri="{FF2B5EF4-FFF2-40B4-BE49-F238E27FC236}">
                <ns2:creationId id="{B855B31D-3316-45AF-82FE-5FE0621A66C9}"/>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08_expected_threat.ipynb</a:t>
            </a:r>
          </a:p>
        </p:txBody>
      </p:sp>
      <p:sp>
        <p:nvSpPr>
          <p:cNvPr id="12" name="">
            <a:extLst>
              <a:ext uri="{FF2B5EF4-FFF2-40B4-BE49-F238E27FC236}">
                <ns2:creationId id="{D9B80067-E6D6-4D7A-9D07-FB02154B6CFD}"/>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Karun Singh: Expected Threat</a:t>
            </a:r>
          </a:p>
        </p:txBody>
      </p:sp>
      <p:sp>
        <p:nvSpPr>
          <p:cNvPr id="13" name="">
            <a:extLst>
              <a:ext uri="{FF2B5EF4-FFF2-40B4-BE49-F238E27FC236}">
                <ns2:creationId id="{BEA54555-0558-4C7B-8842-644C9775D201}"/>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DataBallPy fitted xT methodology</a:t>
            </a:r>
          </a:p>
        </p:txBody>
      </p:sp>
      <p:sp>
        <p:nvSpPr>
          <p:cNvPr id="14" name="">
            <a:extLst>
              <a:ext uri="{FF2B5EF4-FFF2-40B4-BE49-F238E27FC236}">
                <ns2:creationId id="{86E6B392-86F8-464D-BB91-E5463B4DE7B6}"/>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27</a:t>
            </a:r>
          </a:p>
        </p:txBody>
      </p:sp>
    </p:spTree>
    <p:extLst>
      <p:ext uri="{BB962C8B-B14F-4D97-AF65-F5344CB8AC3E}">
        <p14:creationId val="1306932338"/>
      </p:ext>
    </p:extLst>
  </p:cSld>
</p:sld>
</file>

<file path=ppt/slides/slide28.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01553A31-F857-44F9-98EB-D6FF2F24DD5C}"/>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F0C95DED-76D0-444E-A056-C828F7E075BF}"/>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D7772DF9-B067-4903-8115-2D0C5DC6CF58}"/>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Who is closest to each patch of space?</a:t>
            </a:r>
          </a:p>
        </p:txBody>
      </p:sp>
      <p:sp>
        <p:nvSpPr>
          <p:cNvPr id="4" name="">
            <a:extLst>
              <a:ext uri="{FF2B5EF4-FFF2-40B4-BE49-F238E27FC236}">
                <ns2:creationId id="{21FFDC8A-897B-4C09-8593-3995A2663D12}"/>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3F9B2301-62A8-4493-A862-9C170469CB86}"/>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Build a transparent geometric control baseline.</a:t>
            </a:r>
          </a:p>
        </p:txBody>
      </p:sp>
      <p:sp>
        <p:nvSpPr>
          <p:cNvPr id="6" name="">
            <a:extLst>
              <a:ext uri="{FF2B5EF4-FFF2-40B4-BE49-F238E27FC236}">
                <ns2:creationId id="{D0F5C772-15A7-4DE1-A443-4527B42A6C59}"/>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25742847-1700-4C04-953D-28BD88F9F076}"/>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Voronoi regions from nearest-player distance.</a:t>
            </a:r>
          </a:p>
        </p:txBody>
      </p:sp>
      <p:sp>
        <p:nvSpPr>
          <p:cNvPr id="8" name="">
            <a:extLst>
              <a:ext uri="{FF2B5EF4-FFF2-40B4-BE49-F238E27FC236}">
                <ns2:creationId id="{D094AD22-2567-45F0-812B-C4AAD9106345}"/>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Geometric baseline</a:t>
            </a:r>
          </a:p>
        </p:txBody>
      </p:sp>
      <p:pic>
        <p:nvPicPr>
          <p:cNvPr id="9" name="">
            <a:extLst>
              <a:ext uri="{FF2B5EF4-FFF2-40B4-BE49-F238E27FC236}">
                <ns2:creationId id="{A8CD397D-D366-466A-B5D3-437E72EA677D}"/>
              </a:ext>
            </a:extLst>
          </p:cNvPr>
          <p:cNvPicPr>
            <a:picLocks noChangeAspect="1"/>
          </p:cNvPicPr>
          <p:nvPr/>
        </p:nvPicPr>
        <p:blipFill>
          <a:blip r:embed="R9a49e3e6e9fb443a"/>
          <a:stretch/>
        </p:blipFill>
        <p:spPr>
          <a:xfrm>
            <a:off x="4262035" y="1428750"/>
            <a:ext cx="6239680" cy="4333875"/>
          </a:xfrm>
          <a:prstGeom prst="rect">
            <a:avLst/>
          </a:prstGeom>
        </p:spPr>
      </p:pic>
      <p:sp>
        <p:nvSpPr>
          <p:cNvPr id="10" name="">
            <a:extLst>
              <a:ext uri="{FF2B5EF4-FFF2-40B4-BE49-F238E27FC236}">
                <ns2:creationId id="{CBF50B4D-E4FC-41FE-95BE-A90095CF2425}"/>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Hard boundaries partition the pitch into nearest-player regions.</a:t>
            </a:r>
          </a:p>
        </p:txBody>
      </p:sp>
      <p:sp>
        <p:nvSpPr>
          <p:cNvPr id="11" name="">
            <a:extLst>
              <a:ext uri="{FF2B5EF4-FFF2-40B4-BE49-F238E27FC236}">
                <ns2:creationId id="{38FA0003-5E3B-4D9F-833F-3FFC7C1BD7C5}"/>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09_voronoi_control.ipynb</a:t>
            </a:r>
          </a:p>
        </p:txBody>
      </p:sp>
      <p:sp>
        <p:nvSpPr>
          <p:cNvPr id="12" name="">
            <a:extLst>
              <a:ext uri="{FF2B5EF4-FFF2-40B4-BE49-F238E27FC236}">
                <ns2:creationId id="{8A63A5DD-F09A-429D-AD79-E5B19901E3F4}"/>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Space and Control in Soccer (2021)</a:t>
            </a:r>
          </a:p>
        </p:txBody>
      </p:sp>
      <p:sp>
        <p:nvSpPr>
          <p:cNvPr id="13" name="">
            <a:extLst>
              <a:ext uri="{FF2B5EF4-FFF2-40B4-BE49-F238E27FC236}">
                <ns2:creationId id="{2A9E59D3-34A0-4DB0-BDCE-60B98293F45E}"/>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Wide Open Spaces, Fernández &amp; Bornn (2018)</a:t>
            </a:r>
          </a:p>
        </p:txBody>
      </p:sp>
      <p:sp>
        <p:nvSpPr>
          <p:cNvPr id="14" name="">
            <a:extLst>
              <a:ext uri="{FF2B5EF4-FFF2-40B4-BE49-F238E27FC236}">
                <ns2:creationId id="{BE07492D-9407-4C58-89DA-D682DA2BB604}"/>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28</a:t>
            </a:r>
          </a:p>
        </p:txBody>
      </p:sp>
    </p:spTree>
    <p:extLst>
      <p:ext uri="{BB962C8B-B14F-4D97-AF65-F5344CB8AC3E}">
        <p14:creationId val="767720646"/>
      </p:ext>
    </p:extLst>
  </p:cSld>
</p:sld>
</file>

<file path=ppt/slides/slide2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4" name="">
            <a:extLst>
              <a:ext uri="{FF2B5EF4-FFF2-40B4-BE49-F238E27FC236}">
                <ns2:creationId id="{30EB109C-D01B-44FA-A975-4E711E79FF0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29747957-C0FC-48A4-93BD-878A9241E6FF}"/>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6189959C-6A4F-4896-AA0C-9E1F89841200}"/>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How does movement shape spatial influence?</a:t>
            </a:r>
          </a:p>
        </p:txBody>
      </p:sp>
      <p:sp>
        <p:nvSpPr>
          <p:cNvPr id="4" name="">
            <a:extLst>
              <a:ext uri="{FF2B5EF4-FFF2-40B4-BE49-F238E27FC236}">
                <ns2:creationId id="{AC4E964F-B486-480F-BBE2-F83F0CC34373}"/>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66C224D9-D4C5-4AFE-BC5D-76D2ABD4B989}"/>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Replace hard boundaries with smooth directional influence.</a:t>
            </a:r>
          </a:p>
        </p:txBody>
      </p:sp>
      <p:sp>
        <p:nvSpPr>
          <p:cNvPr id="6" name="">
            <a:extLst>
              <a:ext uri="{FF2B5EF4-FFF2-40B4-BE49-F238E27FC236}">
                <ns2:creationId id="{3089A3A7-743A-404C-8786-331CBC960BCD}"/>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1C9FAC3B-AD5A-44FC-9CDB-4F92CF7D2F70}"/>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Projected Gaussian player influence, aggregated by team.</a:t>
            </a:r>
          </a:p>
        </p:txBody>
      </p:sp>
      <p:sp>
        <p:nvSpPr>
          <p:cNvPr id="8" name="">
            <a:extLst>
              <a:ext uri="{FF2B5EF4-FFF2-40B4-BE49-F238E27FC236}">
                <ns2:creationId id="{374FA14A-1E10-487F-97ED-A5F7E95E5ACD}"/>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Uncalibrated influence score</a:t>
            </a:r>
          </a:p>
        </p:txBody>
      </p:sp>
      <p:pic>
        <p:nvPicPr>
          <p:cNvPr id="9" name="">
            <a:extLst>
              <a:ext uri="{FF2B5EF4-FFF2-40B4-BE49-F238E27FC236}">
                <ns2:creationId id="{FD36F524-E750-4292-B83D-89EADACF1D8B}"/>
              </a:ext>
            </a:extLst>
          </p:cNvPr>
          <p:cNvPicPr>
            <a:picLocks noChangeAspect="1"/>
          </p:cNvPicPr>
          <p:nvPr/>
        </p:nvPicPr>
        <p:blipFill>
          <a:blip r:embed="R14b86f4a335f43a8"/>
          <a:stretch/>
        </p:blipFill>
        <p:spPr>
          <a:xfrm>
            <a:off x="4262035" y="1428750"/>
            <a:ext cx="6239680" cy="4333875"/>
          </a:xfrm>
          <a:prstGeom prst="rect">
            <a:avLst/>
          </a:prstGeom>
        </p:spPr>
      </p:pic>
      <p:sp>
        <p:nvSpPr>
          <p:cNvPr id="10" name="">
            <a:extLst>
              <a:ext uri="{FF2B5EF4-FFF2-40B4-BE49-F238E27FC236}">
                <ns2:creationId id="{970F0DF5-404A-414D-BBD9-5EE804FF10DB}"/>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A continuous team-influence surface reflects movement direction.</a:t>
            </a:r>
          </a:p>
        </p:txBody>
      </p:sp>
      <p:sp>
        <p:nvSpPr>
          <p:cNvPr id="11" name="">
            <a:extLst>
              <a:ext uri="{FF2B5EF4-FFF2-40B4-BE49-F238E27FC236}">
                <ns2:creationId id="{4C7F7EA8-D1DF-491C-85B6-26EF9914453B}"/>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10_gaussian_control.ipynb</a:t>
            </a:r>
          </a:p>
        </p:txBody>
      </p:sp>
      <p:sp>
        <p:nvSpPr>
          <p:cNvPr id="12" name="">
            <a:extLst>
              <a:ext uri="{FF2B5EF4-FFF2-40B4-BE49-F238E27FC236}">
                <ns2:creationId id="{67E05C95-58A6-4FD6-AAD9-4802AD407D2A}"/>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Wide Open Spaces, Fernández &amp; Bornn (2018)</a:t>
            </a:r>
          </a:p>
        </p:txBody>
      </p:sp>
      <p:sp>
        <p:nvSpPr>
          <p:cNvPr id="13" name="">
            <a:extLst>
              <a:ext uri="{FF2B5EF4-FFF2-40B4-BE49-F238E27FC236}">
                <ns2:creationId id="{ACD97564-C7A9-42FB-9015-E28750AFADAB}"/>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29</a:t>
            </a:r>
          </a:p>
        </p:txBody>
      </p:sp>
    </p:spTree>
    <p:extLst>
      <p:ext uri="{BB962C8B-B14F-4D97-AF65-F5344CB8AC3E}">
        <p14:creationId val="1353077088"/>
      </p:ext>
    </p:extLst>
  </p:cSld>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ED4BA7DE-FAC7-4B89-A9FC-35CDEED277F6}"/>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EB372C50-F93C-4D67-9479-805D980DAE83}"/>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BAA49A08-ACDC-4037-BF8D-EB5CB08E8829}"/>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Which team reaches a target sooner?</a:t>
            </a:r>
          </a:p>
        </p:txBody>
      </p:sp>
      <p:sp>
        <p:nvSpPr>
          <p:cNvPr id="4" name="">
            <a:extLst>
              <a:ext uri="{FF2B5EF4-FFF2-40B4-BE49-F238E27FC236}">
                <ns2:creationId id="{00386BFD-16EC-418F-AB53-5F05C6DAC3A6}"/>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12731E65-BFA9-4136-9368-1EA8BD71EF3D}"/>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Model the race to space rather than only proximity.</a:t>
            </a:r>
          </a:p>
        </p:txBody>
      </p:sp>
      <p:sp>
        <p:nvSpPr>
          <p:cNvPr id="6" name="">
            <a:extLst>
              <a:ext uri="{FF2B5EF4-FFF2-40B4-BE49-F238E27FC236}">
                <ns2:creationId id="{8A7B21A6-1166-45D9-9205-69F207883ACC}"/>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8CEE77F1-B9E5-4E9F-83DE-06222CECA6BB}"/>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Reaction/projection time and earliest team travel time.</a:t>
            </a:r>
          </a:p>
        </p:txBody>
      </p:sp>
      <p:sp>
        <p:nvSpPr>
          <p:cNvPr id="8" name="">
            <a:extLst>
              <a:ext uri="{FF2B5EF4-FFF2-40B4-BE49-F238E27FC236}">
                <ns2:creationId id="{3091CB67-F389-46E1-86D0-A1E67EC5A236}"/>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Simplified timing model</a:t>
            </a:r>
          </a:p>
        </p:txBody>
      </p:sp>
      <p:pic>
        <p:nvPicPr>
          <p:cNvPr id="9" name="">
            <a:extLst>
              <a:ext uri="{FF2B5EF4-FFF2-40B4-BE49-F238E27FC236}">
                <ns2:creationId id="{9075883C-83AD-4DEF-943D-CFF906AAD7CB}"/>
              </a:ext>
            </a:extLst>
          </p:cNvPr>
          <p:cNvPicPr>
            <a:picLocks noChangeAspect="1"/>
          </p:cNvPicPr>
          <p:nvPr/>
        </p:nvPicPr>
        <p:blipFill>
          <a:blip r:embed="R2514bdcf707447d2"/>
          <a:stretch/>
        </p:blipFill>
        <p:spPr>
          <a:xfrm>
            <a:off x="4262035" y="1428750"/>
            <a:ext cx="6239680" cy="4333875"/>
          </a:xfrm>
          <a:prstGeom prst="rect">
            <a:avLst/>
          </a:prstGeom>
        </p:spPr>
      </p:pic>
      <p:sp>
        <p:nvSpPr>
          <p:cNvPr id="10" name="">
            <a:extLst>
              <a:ext uri="{FF2B5EF4-FFF2-40B4-BE49-F238E27FC236}">
                <ns2:creationId id="{2EB0EA39-4036-4D91-8D97-3B44BF808622}"/>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arrival-time score exposes contested and reachable regions.</a:t>
            </a:r>
          </a:p>
        </p:txBody>
      </p:sp>
      <p:sp>
        <p:nvSpPr>
          <p:cNvPr id="11" name="">
            <a:extLst>
              <a:ext uri="{FF2B5EF4-FFF2-40B4-BE49-F238E27FC236}">
                <ns2:creationId id="{7356F38E-7867-4268-898E-F3C0628A61E5}"/>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11_arrival_time_control.ipynb</a:t>
            </a:r>
          </a:p>
        </p:txBody>
      </p:sp>
      <p:sp>
        <p:nvSpPr>
          <p:cNvPr id="12" name="">
            <a:extLst>
              <a:ext uri="{FF2B5EF4-FFF2-40B4-BE49-F238E27FC236}">
                <ns2:creationId id="{8C8BF52B-A20E-4D02-BDE9-3F06832D0824}"/>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Beyond Expected Goals, Spearman (2018)</a:t>
            </a:r>
          </a:p>
        </p:txBody>
      </p:sp>
      <p:sp>
        <p:nvSpPr>
          <p:cNvPr id="13" name="">
            <a:extLst>
              <a:ext uri="{FF2B5EF4-FFF2-40B4-BE49-F238E27FC236}">
                <ns2:creationId id="{E1F7D151-B5E7-434C-90E1-191468ACDC4E}"/>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Space and Control in Soccer (2021)</a:t>
            </a:r>
          </a:p>
        </p:txBody>
      </p:sp>
      <p:sp>
        <p:nvSpPr>
          <p:cNvPr id="14" name="">
            <a:extLst>
              <a:ext uri="{FF2B5EF4-FFF2-40B4-BE49-F238E27FC236}">
                <ns2:creationId id="{61D5CBF8-0834-4895-B746-4A217F507589}"/>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30</a:t>
            </a:r>
          </a:p>
        </p:txBody>
      </p:sp>
    </p:spTree>
    <p:extLst>
      <p:ext uri="{BB962C8B-B14F-4D97-AF65-F5344CB8AC3E}">
        <p14:creationId val="1940889372"/>
      </p:ext>
    </p:extLst>
  </p:cSld>
</p:sld>
</file>

<file path=ppt/slides/slide3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19B92482-6EC3-4EB9-9D1B-22C6C215C971}"/>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820B9CA2-ED69-4FAC-9211-3DB4128C413D}"/>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A8E5C152-10D9-4057-B743-7C68FA50A463}"/>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How do the control assumptions change the answer?</a:t>
            </a:r>
          </a:p>
        </p:txBody>
      </p:sp>
      <p:sp>
        <p:nvSpPr>
          <p:cNvPr id="4" name="">
            <a:extLst>
              <a:ext uri="{FF2B5EF4-FFF2-40B4-BE49-F238E27FC236}">
                <ns2:creationId id="{8F5A6407-A945-4C90-8E9A-BF2F95471262}"/>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86860AF8-1616-4975-8206-EBABFFB15EB7}"/>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Compare methods without changing the tracking situation.</a:t>
            </a:r>
          </a:p>
        </p:txBody>
      </p:sp>
      <p:sp>
        <p:nvSpPr>
          <p:cNvPr id="6" name="">
            <a:extLst>
              <a:ext uri="{FF2B5EF4-FFF2-40B4-BE49-F238E27FC236}">
                <ns2:creationId id="{A5411F08-5338-4DCD-B5B5-EAB2A8075A98}"/>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394B146D-4788-4D0A-ADD3-C6EDB1123724}"/>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Voronoi, Gaussian and arrival-time baselines on identical frames.</a:t>
            </a:r>
          </a:p>
        </p:txBody>
      </p:sp>
      <p:sp>
        <p:nvSpPr>
          <p:cNvPr id="8" name="">
            <a:extLst>
              <a:ext uri="{FF2B5EF4-FFF2-40B4-BE49-F238E27FC236}">
                <ns2:creationId id="{F8C12EBE-9CC0-4F25-BA15-2032042B2837}"/>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Same frame · same grid</a:t>
            </a:r>
          </a:p>
        </p:txBody>
      </p:sp>
      <p:pic>
        <p:nvPicPr>
          <p:cNvPr id="9" name="Video: How do the control assumptions change the answer?" descr="Embedded MP4. Click to play. Original synchronized comparison video. Scores are teaching outputs, not calibrated possession probabilities; parameter choices are stated in assets/videos/README.md. Sampled at 5 Hz with real-time playback.">
            <a:hlinkClick action="ppaction://media"/>
            <a:extLst>
              <a:ext uri="{FF2B5EF4-FFF2-40B4-BE49-F238E27FC236}">
                <ns2:creationId id="{F8D21E92-CF5D-423C-9041-D20FC6A4CF3F}"/>
              </a:ext>
            </a:extLst>
          </p:cNvPr>
          <p:cNvPicPr>
            <a:picLocks noChangeAspect="1"/>
          </p:cNvPicPr>
          <p:nvPr>
            <a:videoFile r:link="rIdWorkshopVideo"/>
            <p:extLst>
              <p:ext uri="{DAA4B4D4-6D71-4841-9C94-3DE7FCFB9230}">
                <p14:media r:embed="rIdWorkshopMedia"/>
              </p:ext>
            </p:extLst>
          </p:nvPr>
        </p:nvPicPr>
        <p:blipFill>
          <a:blip r:embed="R1673582395b34807"/>
          <a:stretch/>
        </p:blipFill>
        <p:spPr>
          <a:xfrm>
            <a:off x="3724275" y="1428750"/>
            <a:ext cx="7315200" cy="4114800"/>
          </a:xfrm>
          <a:prstGeom prst="rect">
            <a:avLst/>
          </a:prstGeom>
        </p:spPr>
      </p:pic>
      <p:sp>
        <p:nvSpPr>
          <p:cNvPr id="10" name="">
            <a:extLst>
              <a:ext uri="{FF2B5EF4-FFF2-40B4-BE49-F238E27FC236}">
                <ns2:creationId id="{AB264317-94A3-4337-9754-35725D219EE9}"/>
              </a:ext>
            </a:extLst>
          </p:cNvPr>
          <p:cNvSpPr>
            <a:spLocks noGrp="1"/>
          </p:cNvSpPr>
          <p:nvPr/>
        </p:nvSpPr>
        <p:spPr>
          <a:xfrm>
            <a:off x="3143250" y="5591175"/>
            <a:ext cx="8286750" cy="22860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 Click video to play</a:t>
            </a:r>
          </a:p>
        </p:txBody>
      </p:sp>
      <p:sp>
        <p:nvSpPr>
          <p:cNvPr id="11" name="">
            <a:extLst>
              <a:ext uri="{FF2B5EF4-FFF2-40B4-BE49-F238E27FC236}">
                <ns2:creationId id="{BB80E2FE-2A63-4930-953D-1BE6D6CB4E9B}"/>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moving comparison makes each model’s different boundaries visible.</a:t>
            </a:r>
          </a:p>
        </p:txBody>
      </p:sp>
      <p:sp>
        <p:nvSpPr>
          <p:cNvPr id="12" name="">
            <a:extLst>
              <a:ext uri="{FF2B5EF4-FFF2-40B4-BE49-F238E27FC236}">
                <ns2:creationId id="{71866613-195E-402F-99F7-85FFDDD990D1}"/>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11_arrival_time_control.ipynb</a:t>
            </a:r>
          </a:p>
        </p:txBody>
      </p:sp>
      <p:sp>
        <p:nvSpPr>
          <p:cNvPr id="13" name="">
            <a:extLst>
              <a:ext uri="{FF2B5EF4-FFF2-40B4-BE49-F238E27FC236}">
                <ns2:creationId id="{CE7A61DB-1166-43BD-94C0-30109AD047D3}"/>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Wide Open Spaces, Fernández &amp; Bornn (2018)</a:t>
            </a:r>
          </a:p>
        </p:txBody>
      </p:sp>
      <p:sp>
        <p:nvSpPr>
          <p:cNvPr id="14" name="">
            <a:extLst>
              <a:ext uri="{FF2B5EF4-FFF2-40B4-BE49-F238E27FC236}">
                <ns2:creationId id="{3B0FA2E8-8C98-475A-9F96-29587A6A3586}"/>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Beyond Expected Goals, Spearman (2018)</a:t>
            </a:r>
          </a:p>
        </p:txBody>
      </p:sp>
      <p:sp>
        <p:nvSpPr>
          <p:cNvPr id="15" name="">
            <a:extLst>
              <a:ext uri="{FF2B5EF4-FFF2-40B4-BE49-F238E27FC236}">
                <ns2:creationId id="{F5D9547F-DB5E-4E30-9D94-C4E2B9603F9B}"/>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31</a:t>
            </a:r>
          </a:p>
        </p:txBody>
      </p:sp>
    </p:spTree>
    <p:extLst>
      <p:ext uri="{BB962C8B-B14F-4D97-AF65-F5344CB8AC3E}">
        <p14:creationId val="1519964402"/>
      </p:ext>
    </p:extLst>
  </p:cSld>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3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A7CCC30E-4A1B-44A0-A31D-8C8A6F87DCF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1D4C28F2-418D-4065-93CB-5B6F415168FE}"/>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58E7C26E-05A4-4C86-B0AF-079596C74E51}"/>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Which passes survive interception?</a:t>
            </a:r>
          </a:p>
        </p:txBody>
      </p:sp>
      <p:sp>
        <p:nvSpPr>
          <p:cNvPr id="4" name="">
            <a:extLst>
              <a:ext uri="{FF2B5EF4-FFF2-40B4-BE49-F238E27FC236}">
                <ns2:creationId id="{791B5477-824E-4FA1-AC76-3C8268451525}"/>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A4B7C484-A539-4D62-820A-963D9AA5C30B}"/>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Compare passing options and identify where defenders threaten a ball path.</a:t>
            </a:r>
          </a:p>
        </p:txBody>
      </p:sp>
      <p:sp>
        <p:nvSpPr>
          <p:cNvPr id="6" name="">
            <a:extLst>
              <a:ext uri="{FF2B5EF4-FFF2-40B4-BE49-F238E27FC236}">
                <ns2:creationId id="{30E25C73-C456-4E14-BEA3-7B9790DFB0C1}"/>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0BE7D7EE-0962-40B9-995E-3FD08F9EE578}"/>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Simulate ball travel, estimate defender arrival, then integrate interception risk.</a:t>
            </a:r>
          </a:p>
        </p:txBody>
      </p:sp>
      <p:sp>
        <p:nvSpPr>
          <p:cNvPr id="8" name="">
            <a:extLst>
              <a:ext uri="{FF2B5EF4-FFF2-40B4-BE49-F238E27FC236}">
                <ns2:creationId id="{504BE00D-3700-4C11-9D9B-6FCE2D68113B}"/>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Uncalibrated teaching model; hypothetical ground passes.</a:t>
            </a:r>
          </a:p>
        </p:txBody>
      </p:sp>
      <p:pic>
        <p:nvPicPr>
          <p:cNvPr id="9" name="Video: Which passes survive interception?" descr="Embedded MP4. Click to play. Same interception_components as notebook 12, not the accessible-space main map previously used here. Real frame with known nearby carrier and 22 players; ten teammate options excluding carrier. Constant ball speed 15 m/s, player arrival 0.7 s + distance/5 m/s, hazard 2*sigmoid((ball_time-arrival)/0.15), 40 path points, trapezoidal integration and exp(-cumulative hazard). Selected pass has 15–80% survival and at least two potential interceptors under the assumed model. Dashed defender-to-path links and table compare ball and defender ETAs at three points. Per-defender local P over 0.2 s = 1-exp(-hazard*0.2), conditional on a free ball and constant local hazard; these are not whole-pass completion probabilities and cannot be added. Percentages on teammate rays are endpoint ball-survival estimates. Receivers do not move or need to control the ball; offside, pass execution error and height are not modeled. No calibration or accuracy claim. The model is an independent teaching construction, not an exact Spearman implementation.">
            <a:hlinkClick action="ppaction://media"/>
            <a:extLst>
              <a:ext uri="{FF2B5EF4-FFF2-40B4-BE49-F238E27FC236}">
                <ns2:creationId id="{FFB20B99-7105-476D-82A7-60597CE3FB48}"/>
              </a:ext>
            </a:extLst>
          </p:cNvPr>
          <p:cNvPicPr>
            <a:picLocks noChangeAspect="1"/>
          </p:cNvPicPr>
          <p:nvPr>
            <a:videoFile r:link="rIdWorkshopVideo"/>
            <p:extLst>
              <p:ext uri="{DAA4B4D4-6D71-4841-9C94-3DE7FCFB9230}">
                <p14:media r:embed="rIdWorkshopMedia"/>
              </p:ext>
            </p:extLst>
          </p:nvPr>
        </p:nvPicPr>
        <p:blipFill>
          <a:blip r:embed="R920d72e23cc24439"/>
          <a:stretch/>
        </p:blipFill>
        <p:spPr>
          <a:xfrm>
            <a:off x="3724275" y="1428750"/>
            <a:ext cx="7315200" cy="4114800"/>
          </a:xfrm>
          <a:prstGeom prst="rect">
            <a:avLst/>
          </a:prstGeom>
        </p:spPr>
      </p:pic>
      <p:sp>
        <p:nvSpPr>
          <p:cNvPr id="10" name="">
            <a:extLst>
              <a:ext uri="{FF2B5EF4-FFF2-40B4-BE49-F238E27FC236}">
                <ns2:creationId id="{33C2F774-21CA-4280-95CC-00E362BCFA2D}"/>
              </a:ext>
            </a:extLst>
          </p:cNvPr>
          <p:cNvSpPr>
            <a:spLocks noGrp="1"/>
          </p:cNvSpPr>
          <p:nvPr/>
        </p:nvSpPr>
        <p:spPr>
          <a:xfrm>
            <a:off x="3143250" y="5591175"/>
            <a:ext cx="8286750" cy="22860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 Click video to play</a:t>
            </a:r>
          </a:p>
        </p:txBody>
      </p:sp>
      <p:sp>
        <p:nvSpPr>
          <p:cNvPr id="11" name="">
            <a:extLst>
              <a:ext uri="{FF2B5EF4-FFF2-40B4-BE49-F238E27FC236}">
                <ns2:creationId id="{495B7D28-4430-4145-8075-F8E29DE7EC9F}"/>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Passing scores and defender probes come from the same survival model.</a:t>
            </a:r>
          </a:p>
        </p:txBody>
      </p:sp>
      <p:sp>
        <p:nvSpPr>
          <p:cNvPr id="12" name="">
            <a:extLst>
              <a:ext uri="{FF2B5EF4-FFF2-40B4-BE49-F238E27FC236}">
                <ns2:creationId id="{020806A7-44FA-4C7C-9966-63E0A318E80E}"/>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12_pass_completion.ipynb</a:t>
            </a:r>
          </a:p>
        </p:txBody>
      </p:sp>
      <p:sp>
        <p:nvSpPr>
          <p:cNvPr id="13" name="">
            <a:extLst>
              <a:ext uri="{FF2B5EF4-FFF2-40B4-BE49-F238E27FC236}">
                <ns2:creationId id="{79DD8775-2885-42C6-84E0-1A3910F389C8}"/>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Beyond Expected Goals, Spearman (2018)</a:t>
            </a:r>
          </a:p>
        </p:txBody>
      </p:sp>
      <p:sp>
        <p:nvSpPr>
          <p:cNvPr id="14" name="">
            <a:extLst>
              <a:ext uri="{FF2B5EF4-FFF2-40B4-BE49-F238E27FC236}">
                <ns2:creationId id="{C9356DEC-2902-4827-828B-20136632D8ED}"/>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32</a:t>
            </a:r>
          </a:p>
        </p:txBody>
      </p:sp>
    </p:spTree>
    <p:extLst>
      <p:ext uri="{BB962C8B-B14F-4D97-AF65-F5344CB8AC3E}">
        <p14:creationId val="1710119576"/>
      </p:ext>
    </p:extLst>
  </p:cSld>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3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3C8DFEC5-49DB-4294-B9AD-12C5BD9266F6}"/>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305C31BB-141B-464D-A74A-9657817DCC81}"/>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6915699D-F575-4D67-BF67-C908FE352D42}"/>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Where can the attacking team receive?</a:t>
            </a:r>
          </a:p>
        </p:txBody>
      </p:sp>
      <p:sp>
        <p:nvSpPr>
          <p:cNvPr id="4" name="">
            <a:extLst>
              <a:ext uri="{FF2B5EF4-FFF2-40B4-BE49-F238E27FC236}">
                <ns2:creationId id="{82C10906-607A-4C71-B9DA-9E7691F58BB0}"/>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8537385A-AB79-42F3-B16D-686AE65CB1AA}"/>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Measure space that is accessible through potential passes.</a:t>
            </a:r>
          </a:p>
        </p:txBody>
      </p:sp>
      <p:sp>
        <p:nvSpPr>
          <p:cNvPr id="6" name="">
            <a:extLst>
              <a:ext uri="{FF2B5EF4-FFF2-40B4-BE49-F238E27FC236}">
                <ns2:creationId id="{54D3C794-1283-4E92-853E-4494023FB093}"/>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65A8D2C1-AE1A-42EA-A8A7-7B5A694100E4}"/>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Published pass-flight and player-interception simulation.</a:t>
            </a:r>
          </a:p>
        </p:txBody>
      </p:sp>
      <p:sp>
        <p:nvSpPr>
          <p:cNvPr id="8" name="">
            <a:extLst>
              <a:ext uri="{FF2B5EF4-FFF2-40B4-BE49-F238E27FC236}">
                <ns2:creationId id="{9B154887-6018-4C31-93A5-D4D40D063350}"/>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Published implementation output</a:t>
            </a:r>
          </a:p>
        </p:txBody>
      </p:sp>
      <p:pic>
        <p:nvPicPr>
          <p:cNvPr id="9" name="">
            <a:extLst>
              <a:ext uri="{FF2B5EF4-FFF2-40B4-BE49-F238E27FC236}">
                <ns2:creationId id="{A3FC8FF7-CD63-4BA4-9AFC-2D6A24CBD935}"/>
              </a:ext>
            </a:extLst>
          </p:cNvPr>
          <p:cNvPicPr>
            <a:picLocks noChangeAspect="1"/>
          </p:cNvPicPr>
          <p:nvPr/>
        </p:nvPicPr>
        <p:blipFill>
          <a:blip r:embed="R72e0fbd881b7476d"/>
          <a:stretch/>
        </p:blipFill>
        <p:spPr>
          <a:xfrm>
            <a:off x="3357563" y="1428750"/>
            <a:ext cx="8048625" cy="4333875"/>
          </a:xfrm>
          <a:prstGeom prst="rect">
            <a:avLst/>
          </a:prstGeom>
        </p:spPr>
      </p:pic>
      <p:sp>
        <p:nvSpPr>
          <p:cNvPr id="10" name="">
            <a:extLst>
              <a:ext uri="{FF2B5EF4-FFF2-40B4-BE49-F238E27FC236}">
                <ns2:creationId id="{C5FD8195-0DBB-4201-ABCC-192997B580E0}"/>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accessible-space surface identifies receiving opportunity.</a:t>
            </a:r>
          </a:p>
        </p:txBody>
      </p:sp>
      <p:sp>
        <p:nvSpPr>
          <p:cNvPr id="11" name="">
            <a:extLst>
              <a:ext uri="{FF2B5EF4-FFF2-40B4-BE49-F238E27FC236}">
                <ns2:creationId id="{05FA6BD2-B717-492C-8093-FFCA9C29866A}"/>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13_space_and_danger.ipynb</a:t>
            </a:r>
          </a:p>
        </p:txBody>
      </p:sp>
      <p:sp>
        <p:nvSpPr>
          <p:cNvPr id="12" name="">
            <a:extLst>
              <a:ext uri="{FF2B5EF4-FFF2-40B4-BE49-F238E27FC236}">
                <ns2:creationId id="{59C3F172-65F9-4D7F-B83D-7341649EC2DC}"/>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Dangerous Accessible Space: paper and implementation</a:t>
            </a:r>
          </a:p>
        </p:txBody>
      </p:sp>
      <p:sp>
        <p:nvSpPr>
          <p:cNvPr id="13" name="">
            <a:extLst>
              <a:ext uri="{FF2B5EF4-FFF2-40B4-BE49-F238E27FC236}">
                <ns2:creationId id="{C6B9762A-D0FE-4DDD-AEF7-7CE19823F03C}"/>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DataBallPy DAS and expected completion</a:t>
            </a:r>
          </a:p>
        </p:txBody>
      </p:sp>
      <p:sp>
        <p:nvSpPr>
          <p:cNvPr id="14" name="">
            <a:extLst>
              <a:ext uri="{FF2B5EF4-FFF2-40B4-BE49-F238E27FC236}">
                <ns2:creationId id="{C7336701-0E44-4DEA-8620-3DD343CDDFD8}"/>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33</a:t>
            </a:r>
          </a:p>
        </p:txBody>
      </p:sp>
    </p:spTree>
    <p:extLst>
      <p:ext uri="{BB962C8B-B14F-4D97-AF65-F5344CB8AC3E}">
        <p14:creationId val="273416798"/>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430E9720-F389-4D4F-9433-4EB52A32427A}"/>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6C37FB17-FDDA-4EE8-974A-04D7C7CA8E72}"/>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79E32A89-9625-402D-B0A7-CB2B77011509}"/>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Which accessible space is dangerous?</a:t>
            </a:r>
          </a:p>
        </p:txBody>
      </p:sp>
      <p:sp>
        <p:nvSpPr>
          <p:cNvPr id="4" name="">
            <a:extLst>
              <a:ext uri="{FF2B5EF4-FFF2-40B4-BE49-F238E27FC236}">
                <ns2:creationId id="{B77570F6-6C33-43E4-94B3-8C48C14CA127}"/>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E3315FA1-3FC0-4146-BB73-793F5FD8A748}"/>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Separate available territory from valuable territory.</a:t>
            </a:r>
          </a:p>
        </p:txBody>
      </p:sp>
      <p:sp>
        <p:nvSpPr>
          <p:cNvPr id="6" name="">
            <a:extLst>
              <a:ext uri="{FF2B5EF4-FFF2-40B4-BE49-F238E27FC236}">
                <ns2:creationId id="{5921A026-5D2E-46FD-BD4B-3AB5C666FC01}"/>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A2C5B0F3-BBA4-468E-9C75-81CD6976B7A7}"/>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Weight published accessibility by the model’s danger definition.</a:t>
            </a:r>
          </a:p>
        </p:txBody>
      </p:sp>
      <p:sp>
        <p:nvSpPr>
          <p:cNvPr id="8" name="">
            <a:extLst>
              <a:ext uri="{FF2B5EF4-FFF2-40B4-BE49-F238E27FC236}">
                <ns2:creationId id="{8ABAFB61-EDE3-4AE3-8227-7838CFF76315}"/>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Danger-weighted area, not xG</a:t>
            </a:r>
          </a:p>
        </p:txBody>
      </p:sp>
      <p:pic>
        <p:nvPicPr>
          <p:cNvPr id="9" name="">
            <a:extLst>
              <a:ext uri="{FF2B5EF4-FFF2-40B4-BE49-F238E27FC236}">
                <ns2:creationId id="{4B06E94F-C101-4FBF-BE14-08AA84653BB6}"/>
              </a:ext>
            </a:extLst>
          </p:cNvPr>
          <p:cNvPicPr>
            <a:picLocks noChangeAspect="1"/>
          </p:cNvPicPr>
          <p:nvPr/>
        </p:nvPicPr>
        <p:blipFill>
          <a:blip r:embed="R6f28719340784233"/>
          <a:stretch/>
        </p:blipFill>
        <p:spPr>
          <a:xfrm>
            <a:off x="3357563" y="1428750"/>
            <a:ext cx="8048625" cy="4333875"/>
          </a:xfrm>
          <a:prstGeom prst="rect">
            <a:avLst/>
          </a:prstGeom>
        </p:spPr>
      </p:pic>
      <p:sp>
        <p:nvSpPr>
          <p:cNvPr id="10" name="">
            <a:extLst>
              <a:ext uri="{FF2B5EF4-FFF2-40B4-BE49-F238E27FC236}">
                <ns2:creationId id="{D6374514-4090-43E4-A6E0-1B0A77B08617}"/>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Danger weighting concentrates attention on useful receiving space.</a:t>
            </a:r>
          </a:p>
        </p:txBody>
      </p:sp>
      <p:sp>
        <p:nvSpPr>
          <p:cNvPr id="11" name="">
            <a:extLst>
              <a:ext uri="{FF2B5EF4-FFF2-40B4-BE49-F238E27FC236}">
                <ns2:creationId id="{89036A6F-A602-4028-A945-3274F738F02C}"/>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13_space_and_danger.ipynb</a:t>
            </a:r>
          </a:p>
        </p:txBody>
      </p:sp>
      <p:sp>
        <p:nvSpPr>
          <p:cNvPr id="12" name="">
            <a:extLst>
              <a:ext uri="{FF2B5EF4-FFF2-40B4-BE49-F238E27FC236}">
                <ns2:creationId id="{0C4AD9B2-0735-43D2-8D31-C920B905978E}"/>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Dangerous Accessible Space: paper and implementation</a:t>
            </a:r>
          </a:p>
        </p:txBody>
      </p:sp>
      <p:sp>
        <p:nvSpPr>
          <p:cNvPr id="13" name="">
            <a:extLst>
              <a:ext uri="{FF2B5EF4-FFF2-40B4-BE49-F238E27FC236}">
                <ns2:creationId id="{83C4DB63-B2AD-4484-B343-FDE0CBB6F7E1}"/>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DataBallPy DAS and expected completion</a:t>
            </a:r>
          </a:p>
        </p:txBody>
      </p:sp>
      <p:sp>
        <p:nvSpPr>
          <p:cNvPr id="14" name="">
            <a:extLst>
              <a:ext uri="{FF2B5EF4-FFF2-40B4-BE49-F238E27FC236}">
                <ns2:creationId id="{524C5794-E2B4-4B48-88E3-55E6EA941826}"/>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34</a:t>
            </a:r>
          </a:p>
        </p:txBody>
      </p:sp>
    </p:spTree>
    <p:extLst>
      <p:ext uri="{BB962C8B-B14F-4D97-AF65-F5344CB8AC3E}">
        <p14:creationId val="872378508"/>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FD5C782D-BBE1-4D62-982B-B7EAF8E4EA5E}"/>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AEA9FE35-F909-46FC-90C1-327713B1DE3B}"/>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A9282CA9-B351-4785-9A55-284496D351C7}"/>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How does useful space change during play?</a:t>
            </a:r>
          </a:p>
        </p:txBody>
      </p:sp>
      <p:sp>
        <p:nvSpPr>
          <p:cNvPr id="4" name="">
            <a:extLst>
              <a:ext uri="{FF2B5EF4-FFF2-40B4-BE49-F238E27FC236}">
                <ns2:creationId id="{E1A41D9D-E909-4682-836D-CD0F0AB3A860}"/>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F81A7A53-E756-48A0-A0AC-47B89D99FCDB}"/>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Connect movement to changing options over time.</a:t>
            </a:r>
          </a:p>
        </p:txBody>
      </p:sp>
      <p:sp>
        <p:nvSpPr>
          <p:cNvPr id="6" name="">
            <a:extLst>
              <a:ext uri="{FF2B5EF4-FFF2-40B4-BE49-F238E27FC236}">
                <ns2:creationId id="{DBF951E6-4671-4A2B-86A2-5CBBC48D938B}"/>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494425CE-7695-4E5D-AACE-BC9F6ECF4CAA}"/>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Recompute published AS and DAS on successive real frames.</a:t>
            </a:r>
          </a:p>
        </p:txBody>
      </p:sp>
      <p:sp>
        <p:nvSpPr>
          <p:cNvPr id="8" name="">
            <a:extLst>
              <a:ext uri="{FF2B5EF4-FFF2-40B4-BE49-F238E27FC236}">
                <ns2:creationId id="{9CBB6746-FCE9-4200-A72B-5826D230DCD1}"/>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Actual model output over time</a:t>
            </a:r>
          </a:p>
        </p:txBody>
      </p:sp>
      <p:pic>
        <p:nvPicPr>
          <p:cNvPr id="9" name="Video: How does useful space change during play?" descr="Embedded MP4. Click to play. Published accessible-space outputs at 5 Hz; traces show AS m² and DAS danger-weighted m² separately. Team/possession context must be read with the clip. Before/after movement does not establish causal player credit. The black-centered white marker shows the ball in both panels.">
            <a:hlinkClick action="ppaction://media"/>
            <a:extLst>
              <a:ext uri="{FF2B5EF4-FFF2-40B4-BE49-F238E27FC236}">
                <ns2:creationId id="{1623CEBC-D3A6-4CB5-A057-F71F6E561F2E}"/>
              </a:ext>
            </a:extLst>
          </p:cNvPr>
          <p:cNvPicPr>
            <a:picLocks noChangeAspect="1"/>
          </p:cNvPicPr>
          <p:nvPr>
            <a:videoFile r:link="rIdWorkshopVideo"/>
            <p:extLst>
              <p:ext uri="{DAA4B4D4-6D71-4841-9C94-3DE7FCFB9230}">
                <p14:media r:embed="rIdWorkshopMedia"/>
              </p:ext>
            </p:extLst>
          </p:nvPr>
        </p:nvPicPr>
        <p:blipFill>
          <a:blip r:embed="Rcfa3c5a9be354ecc"/>
          <a:stretch/>
        </p:blipFill>
        <p:spPr>
          <a:xfrm>
            <a:off x="3724275" y="1428750"/>
            <a:ext cx="7315200" cy="4114800"/>
          </a:xfrm>
          <a:prstGeom prst="rect">
            <a:avLst/>
          </a:prstGeom>
        </p:spPr>
      </p:pic>
      <p:sp>
        <p:nvSpPr>
          <p:cNvPr id="10" name="">
            <a:extLst>
              <a:ext uri="{FF2B5EF4-FFF2-40B4-BE49-F238E27FC236}">
                <ns2:creationId id="{363F452B-1D4A-4135-9BDF-725A5E7411E0}"/>
              </a:ext>
            </a:extLst>
          </p:cNvPr>
          <p:cNvSpPr>
            <a:spLocks noGrp="1"/>
          </p:cNvSpPr>
          <p:nvPr/>
        </p:nvSpPr>
        <p:spPr>
          <a:xfrm>
            <a:off x="3143250" y="5591175"/>
            <a:ext cx="8286750" cy="22860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 Click video to play</a:t>
            </a:r>
          </a:p>
        </p:txBody>
      </p:sp>
      <p:sp>
        <p:nvSpPr>
          <p:cNvPr id="11" name="">
            <a:extLst>
              <a:ext uri="{FF2B5EF4-FFF2-40B4-BE49-F238E27FC236}">
                <ns2:creationId id="{0FB546A0-E56D-46C6-A540-73BE80703D75}"/>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video links changing surfaces with their own value traces.</a:t>
            </a:r>
          </a:p>
        </p:txBody>
      </p:sp>
      <p:sp>
        <p:nvSpPr>
          <p:cNvPr id="12" name="">
            <a:extLst>
              <a:ext uri="{FF2B5EF4-FFF2-40B4-BE49-F238E27FC236}">
                <ns2:creationId id="{99D00B6C-B006-4590-A5BC-75B869A7DD93}"/>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13_space_and_danger.ipynb</a:t>
            </a:r>
          </a:p>
        </p:txBody>
      </p:sp>
      <p:sp>
        <p:nvSpPr>
          <p:cNvPr id="13" name="">
            <a:extLst>
              <a:ext uri="{FF2B5EF4-FFF2-40B4-BE49-F238E27FC236}">
                <ns2:creationId id="{EACFAF48-E999-4AFC-A146-D930BD5803EF}"/>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Dangerous Accessible Space: paper and implementation</a:t>
            </a:r>
          </a:p>
        </p:txBody>
      </p:sp>
      <p:sp>
        <p:nvSpPr>
          <p:cNvPr id="14" name="">
            <a:extLst>
              <a:ext uri="{FF2B5EF4-FFF2-40B4-BE49-F238E27FC236}">
                <ns2:creationId id="{F07B9CDB-27AC-4C01-9476-0F10B2F748C0}"/>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DataBallPy DAS and expected completion</a:t>
            </a:r>
          </a:p>
        </p:txBody>
      </p:sp>
      <p:sp>
        <p:nvSpPr>
          <p:cNvPr id="15" name="">
            <a:extLst>
              <a:ext uri="{FF2B5EF4-FFF2-40B4-BE49-F238E27FC236}">
                <ns2:creationId id="{7721B889-F599-4C4F-B7AE-7322F3647005}"/>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35</a:t>
            </a:r>
          </a:p>
        </p:txBody>
      </p:sp>
    </p:spTree>
    <p:extLst>
      <p:ext uri="{BB962C8B-B14F-4D97-AF65-F5344CB8AC3E}">
        <p14:creationId val="1557621246"/>
      </p:ext>
    </p:extLst>
  </p:cSld>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20D7ABA8-953F-4EAB-9748-AC4B3DB879A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F25B7717-C099-4AB5-A798-6E1DC142091B}"/>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46AD6BB1-1709-48F0-94EB-A28049B5B261}"/>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Which off-ball run offers more threat?</a:t>
            </a:r>
          </a:p>
        </p:txBody>
      </p:sp>
      <p:sp>
        <p:nvSpPr>
          <p:cNvPr id="4" name="">
            <a:extLst>
              <a:ext uri="{FF2B5EF4-FFF2-40B4-BE49-F238E27FC236}">
                <ns2:creationId id="{07128CB1-9F3C-4B4E-9A36-5EFDAF4F035E}"/>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27CBD241-B2B6-498D-999B-36E7EDA763D3}"/>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Recognize useful runs even when a pass is not played.</a:t>
            </a:r>
          </a:p>
        </p:txBody>
      </p:sp>
      <p:sp>
        <p:nvSpPr>
          <p:cNvPr id="6" name="">
            <a:extLst>
              <a:ext uri="{FF2B5EF4-FFF2-40B4-BE49-F238E27FC236}">
                <ns2:creationId id="{60AFCA08-8DF1-436E-BDCA-ABA9E101C6C3}"/>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9829E943-BD1C-4127-AE02-7C631A74ACAB}"/>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Compare supplied SkillCorner run-threat estimates in context.</a:t>
            </a:r>
          </a:p>
        </p:txBody>
      </p:sp>
      <p:sp>
        <p:nvSpPr>
          <p:cNvPr id="8" name="">
            <a:extLst>
              <a:ext uri="{FF2B5EF4-FFF2-40B4-BE49-F238E27FC236}">
                <ns2:creationId id="{B1860351-8B7F-478D-9A8E-2C91BD3311C9}"/>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Provider outputs, not reconstructed xT</a:t>
            </a:r>
          </a:p>
        </p:txBody>
      </p:sp>
      <p:pic>
        <p:nvPicPr>
          <p:cNvPr id="9" name="Video: Which off-ball run offers more threat?" descr="Embedded MP4. Click to play. Selected low/high off-ball-run events fully covered by the sample. Each panel is synchronized to its own run start; the shorter run freezes at the end. A square marks supplied ball carrier when available; dashed lane is hypothetical. Values are supplied event-level xthreat fields, not locally fitted or controlled causal effects.">
            <a:hlinkClick action="ppaction://media"/>
            <a:extLst>
              <a:ext uri="{FF2B5EF4-FFF2-40B4-BE49-F238E27FC236}">
                <ns2:creationId id="{064D3CA9-3B28-45E8-9077-A9546666E812}"/>
              </a:ext>
            </a:extLst>
          </p:cNvPr>
          <p:cNvPicPr>
            <a:picLocks noChangeAspect="1"/>
          </p:cNvPicPr>
          <p:nvPr>
            <a:videoFile r:link="rIdWorkshopVideo"/>
            <p:extLst>
              <p:ext uri="{DAA4B4D4-6D71-4841-9C94-3DE7FCFB9230}">
                <p14:media r:embed="rIdWorkshopMedia"/>
              </p:ext>
            </p:extLst>
          </p:nvPr>
        </p:nvPicPr>
        <p:blipFill>
          <a:blip r:embed="R8a6bf55c614a446b"/>
          <a:stretch/>
        </p:blipFill>
        <p:spPr>
          <a:xfrm>
            <a:off x="3724275" y="1428750"/>
            <a:ext cx="7315200" cy="4114800"/>
          </a:xfrm>
          <a:prstGeom prst="rect">
            <a:avLst/>
          </a:prstGeom>
        </p:spPr>
      </p:pic>
      <p:sp>
        <p:nvSpPr>
          <p:cNvPr id="10" name="">
            <a:extLst>
              <a:ext uri="{FF2B5EF4-FFF2-40B4-BE49-F238E27FC236}">
                <ns2:creationId id="{0600576F-0236-421C-ADCC-1B999B51F569}"/>
              </a:ext>
            </a:extLst>
          </p:cNvPr>
          <p:cNvSpPr>
            <a:spLocks noGrp="1"/>
          </p:cNvSpPr>
          <p:nvPr/>
        </p:nvSpPr>
        <p:spPr>
          <a:xfrm>
            <a:off x="3143250" y="5591175"/>
            <a:ext cx="8286750" cy="22860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 Click video to play</a:t>
            </a:r>
          </a:p>
        </p:txBody>
      </p:sp>
      <p:sp>
        <p:nvSpPr>
          <p:cNvPr id="11" name="">
            <a:extLst>
              <a:ext uri="{FF2B5EF4-FFF2-40B4-BE49-F238E27FC236}">
                <ns2:creationId id="{4A7C43AC-1335-4D26-B2C1-306EE624DDD1}"/>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Two actual runs receive contrasting supplied threat values.</a:t>
            </a:r>
          </a:p>
        </p:txBody>
      </p:sp>
      <p:sp>
        <p:nvSpPr>
          <p:cNvPr id="12" name="">
            <a:extLst>
              <a:ext uri="{FF2B5EF4-FFF2-40B4-BE49-F238E27FC236}">
                <ns2:creationId id="{9C9B5B73-8965-4DB7-A97F-DF0A2A7D4A3E}"/>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4"/>
              </a:rPr>
              <a:t>SkillCorner: Expected Threat for off-ball runs</a:t>
            </a:r>
          </a:p>
        </p:txBody>
      </p:sp>
      <p:sp>
        <p:nvSpPr>
          <p:cNvPr id="13" name="">
            <a:extLst>
              <a:ext uri="{FF2B5EF4-FFF2-40B4-BE49-F238E27FC236}">
                <ns2:creationId id="{E1393AC7-AB98-4EBE-B6AC-9DF20FE4E43C}"/>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open data and schema</a:t>
            </a:r>
          </a:p>
        </p:txBody>
      </p:sp>
      <p:sp>
        <p:nvSpPr>
          <p:cNvPr id="14" name="">
            <a:extLst>
              <a:ext uri="{FF2B5EF4-FFF2-40B4-BE49-F238E27FC236}">
                <ns2:creationId id="{C9191FB2-D03E-4B3C-B14D-EC5C0771FC42}"/>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36</a:t>
            </a:r>
          </a:p>
        </p:txBody>
      </p:sp>
    </p:spTree>
    <p:extLst>
      <p:ext uri="{BB962C8B-B14F-4D97-AF65-F5344CB8AC3E}">
        <p14:creationId val="301303805"/>
      </p:ext>
    </p:extLst>
  </p:cSld>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4" name="">
            <a:extLst>
              <a:ext uri="{FF2B5EF4-FFF2-40B4-BE49-F238E27FC236}">
                <ns2:creationId id="{88EC01AD-0FBB-42C7-A33A-3906A4A07A46}"/>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2A06D903-89A3-4AB8-A7CF-3F8CF90D6C37}"/>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C321ACBD-FC97-41A6-9769-B80BA94DD0E1}"/>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Why represent football as a graph?</a:t>
            </a:r>
          </a:p>
        </p:txBody>
      </p:sp>
      <p:sp>
        <p:nvSpPr>
          <p:cNvPr id="4" name="">
            <a:extLst>
              <a:ext uri="{FF2B5EF4-FFF2-40B4-BE49-F238E27FC236}">
                <ns2:creationId id="{6B4B196F-3F97-48CF-B7DD-3DC035AE4159}"/>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9469AF88-3E9A-48AF-884A-CB941754516C}"/>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Positions alone hide who relates to whom.</a:t>
            </a:r>
          </a:p>
        </p:txBody>
      </p:sp>
      <p:sp>
        <p:nvSpPr>
          <p:cNvPr id="6" name="">
            <a:extLst>
              <a:ext uri="{FF2B5EF4-FFF2-40B4-BE49-F238E27FC236}">
                <ns2:creationId id="{50B47DA9-C09F-4349-9743-F64685ABBB73}"/>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EB416909-A825-4F83-AC95-35DAB75DC153}"/>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Players and ball as nodes; relationships as edges.</a:t>
            </a:r>
          </a:p>
        </p:txBody>
      </p:sp>
      <p:sp>
        <p:nvSpPr>
          <p:cNvPr id="8" name="">
            <a:extLst>
              <a:ext uri="{FF2B5EF4-FFF2-40B4-BE49-F238E27FC236}">
                <ns2:creationId id="{226C8C6A-9E0A-4D00-9EFD-E0B07473A219}"/>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Joris Bekkers · original keynote visual</a:t>
            </a:r>
          </a:p>
        </p:txBody>
      </p:sp>
      <p:pic>
        <p:nvPicPr>
          <p:cNvPr id="9" name="">
            <a:extLst>
              <a:ext uri="{FF2B5EF4-FFF2-40B4-BE49-F238E27FC236}">
                <ns2:creationId id="{23F695B0-DE72-4701-AB87-B7293FD3BA29}"/>
              </a:ext>
            </a:extLst>
          </p:cNvPr>
          <p:cNvPicPr>
            <a:picLocks noChangeAspect="1"/>
          </p:cNvPicPr>
          <p:nvPr/>
        </p:nvPicPr>
        <p:blipFill>
          <a:blip r:embed="Re9fbee3837bf4934"/>
          <a:stretch/>
        </p:blipFill>
        <p:spPr>
          <a:xfrm>
            <a:off x="3806428" y="1428750"/>
            <a:ext cx="7150894" cy="4333875"/>
          </a:xfrm>
          <a:prstGeom prst="rect">
            <a:avLst/>
          </a:prstGeom>
        </p:spPr>
      </p:pic>
      <p:sp>
        <p:nvSpPr>
          <p:cNvPr id="10" name="">
            <a:extLst>
              <a:ext uri="{FF2B5EF4-FFF2-40B4-BE49-F238E27FC236}">
                <ns2:creationId id="{924C59A9-04E9-470D-9850-C3A49E6075EC}"/>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A graph encodes interactions without relying on player row order.</a:t>
            </a:r>
          </a:p>
        </p:txBody>
      </p:sp>
      <p:sp>
        <p:nvSpPr>
          <p:cNvPr id="11" name="">
            <a:extLst>
              <a:ext uri="{FF2B5EF4-FFF2-40B4-BE49-F238E27FC236}">
                <ns2:creationId id="{379BA232-6257-4109-968F-2C3F838B956C}"/>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16_graph_epv.ipynb</a:t>
            </a:r>
          </a:p>
        </p:txBody>
      </p:sp>
      <p:sp>
        <p:nvSpPr>
          <p:cNvPr id="12" name="">
            <a:extLst>
              <a:ext uri="{FF2B5EF4-FFF2-40B4-BE49-F238E27FC236}">
                <ns2:creationId id="{7DC32EE5-C6A4-4BF4-BD8F-4704D226E7A2}"/>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Joris Bekkers: GraphEPV, PyData London 2025</a:t>
            </a:r>
          </a:p>
        </p:txBody>
      </p:sp>
      <p:sp>
        <p:nvSpPr>
          <p:cNvPr id="13" name="">
            <a:extLst>
              <a:ext uri="{FF2B5EF4-FFF2-40B4-BE49-F238E27FC236}">
                <ns2:creationId id="{2A9FC688-468E-4FC9-B31F-4C8E7BEAE70A}"/>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37</a:t>
            </a:r>
          </a:p>
        </p:txBody>
      </p:sp>
    </p:spTree>
    <p:extLst>
      <p:ext uri="{BB962C8B-B14F-4D97-AF65-F5344CB8AC3E}">
        <p14:creationId val="1313914374"/>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D84D0208-6B21-40DA-B1AC-8AAB5CBDA6C8}"/>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ED6CA6DC-2EB9-427F-BFD9-5F8BDDB05C47}"/>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CB002070-A38E-44D7-9AE6-A8A93938860A}"/>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What information should a graph carry?</a:t>
            </a:r>
          </a:p>
        </p:txBody>
      </p:sp>
      <p:sp>
        <p:nvSpPr>
          <p:cNvPr id="4" name="">
            <a:extLst>
              <a:ext uri="{FF2B5EF4-FFF2-40B4-BE49-F238E27FC236}">
                <ns2:creationId id="{32EC53EF-66EC-4A27-9434-D38B8B2CA2B5}"/>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EFC850A6-0570-4C44-AEC9-6AD9EDEE8227}"/>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Describe players and game context in machine-readable form.</a:t>
            </a:r>
          </a:p>
        </p:txBody>
      </p:sp>
      <p:sp>
        <p:nvSpPr>
          <p:cNvPr id="6" name="">
            <a:extLst>
              <a:ext uri="{FF2B5EF4-FFF2-40B4-BE49-F238E27FC236}">
                <ns2:creationId id="{709AA9A2-8FE4-4AE7-81A9-46AAE9C2FAAF}"/>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A2F4A28B-8E2F-4D64-AD65-CB47A225BF10}"/>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Node feature vectors plus global match-state features.</a:t>
            </a:r>
          </a:p>
        </p:txBody>
      </p:sp>
      <p:sp>
        <p:nvSpPr>
          <p:cNvPr id="8" name="">
            <a:extLst>
              <a:ext uri="{FF2B5EF4-FFF2-40B4-BE49-F238E27FC236}">
                <ns2:creationId id="{EA7060B9-EE3D-490F-A803-EDE501F8BCE1}"/>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Original Bekkers feature illustration</a:t>
            </a:r>
          </a:p>
        </p:txBody>
      </p:sp>
      <p:pic>
        <p:nvPicPr>
          <p:cNvPr id="9" name="">
            <a:extLst>
              <a:ext uri="{FF2B5EF4-FFF2-40B4-BE49-F238E27FC236}">
                <ns2:creationId id="{081B71A7-255C-4520-AFF9-DA533D79FA31}"/>
              </a:ext>
            </a:extLst>
          </p:cNvPr>
          <p:cNvPicPr>
            <a:picLocks noChangeAspect="1"/>
          </p:cNvPicPr>
          <p:nvPr/>
        </p:nvPicPr>
        <p:blipFill>
          <a:blip r:embed="Rad84b6c0363d4503"/>
          <a:stretch/>
        </p:blipFill>
        <p:spPr>
          <a:xfrm>
            <a:off x="5343523" y="1428750"/>
            <a:ext cx="4076703" cy="4333875"/>
          </a:xfrm>
          <a:prstGeom prst="rect">
            <a:avLst/>
          </a:prstGeom>
        </p:spPr>
      </p:pic>
      <p:sp>
        <p:nvSpPr>
          <p:cNvPr id="10" name="">
            <a:extLst>
              <a:ext uri="{FF2B5EF4-FFF2-40B4-BE49-F238E27FC236}">
                <ns2:creationId id="{F9B2D5E9-8BF6-43F7-8258-957BB269B80A}"/>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feature matrix captures geometry and context for every node.</a:t>
            </a:r>
          </a:p>
        </p:txBody>
      </p:sp>
      <p:sp>
        <p:nvSpPr>
          <p:cNvPr id="11" name="">
            <a:extLst>
              <a:ext uri="{FF2B5EF4-FFF2-40B4-BE49-F238E27FC236}">
                <ns2:creationId id="{A634245E-ABBB-4C96-A2D7-271DB2B28701}"/>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16_graph_epv.ipynb</a:t>
            </a:r>
          </a:p>
        </p:txBody>
      </p:sp>
      <p:sp>
        <p:nvSpPr>
          <p:cNvPr id="12" name="">
            <a:extLst>
              <a:ext uri="{FF2B5EF4-FFF2-40B4-BE49-F238E27FC236}">
                <ns2:creationId id="{5B1CB95B-BE34-4BCA-95E8-DE4D6E71D747}"/>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Joris Bekkers: GraphEPV, PyData London 2025</a:t>
            </a:r>
          </a:p>
        </p:txBody>
      </p:sp>
      <p:sp>
        <p:nvSpPr>
          <p:cNvPr id="13" name="">
            <a:extLst>
              <a:ext uri="{FF2B5EF4-FFF2-40B4-BE49-F238E27FC236}">
                <ns2:creationId id="{A24E1772-5C20-40E8-BAE1-E296A7453648}"/>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UnravelSports soccer GNN tutorial</a:t>
            </a:r>
          </a:p>
        </p:txBody>
      </p:sp>
      <p:sp>
        <p:nvSpPr>
          <p:cNvPr id="14" name="">
            <a:extLst>
              <a:ext uri="{FF2B5EF4-FFF2-40B4-BE49-F238E27FC236}">
                <ns2:creationId id="{0436551F-BD6C-4508-9F6C-198ECC0784FD}"/>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38</a:t>
            </a:r>
          </a:p>
        </p:txBody>
      </p:sp>
    </p:spTree>
    <p:extLst>
      <p:ext uri="{BB962C8B-B14F-4D97-AF65-F5344CB8AC3E}">
        <p14:creationId val="617091318"/>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81132938-526F-4CA2-8689-B6A26E8FF730}"/>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3159AB0F-4BAB-4C10-9948-0E3A797FD066}"/>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1490F3F7-3BB5-4D04-A97E-9B80271B5E51}"/>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Which relationships can the model exchange information over?</a:t>
            </a:r>
          </a:p>
        </p:txBody>
      </p:sp>
      <p:sp>
        <p:nvSpPr>
          <p:cNvPr id="4" name="">
            <a:extLst>
              <a:ext uri="{FF2B5EF4-FFF2-40B4-BE49-F238E27FC236}">
                <ns2:creationId id="{42F11F18-94F6-4642-A2AA-444F0FD9017F}"/>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6C2CABD9-6291-4921-8B42-7632C551A2B8}"/>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Choose which interactions a graph can represent.</a:t>
            </a:r>
          </a:p>
        </p:txBody>
      </p:sp>
      <p:sp>
        <p:nvSpPr>
          <p:cNvPr id="6" name="">
            <a:extLst>
              <a:ext uri="{FF2B5EF4-FFF2-40B4-BE49-F238E27FC236}">
                <ns2:creationId id="{DB5198BF-91BE-4B30-A4CF-C4F194597255}"/>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44DDAB76-1762-4ECF-BF46-8E61CA44B4E2}"/>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Edge attributes and an explicit adjacency structure.</a:t>
            </a:r>
          </a:p>
        </p:txBody>
      </p:sp>
      <p:sp>
        <p:nvSpPr>
          <p:cNvPr id="8" name="">
            <a:extLst>
              <a:ext uri="{FF2B5EF4-FFF2-40B4-BE49-F238E27FC236}">
                <ns2:creationId id="{F25FFF2F-2795-4DD0-87D0-0817BD0A012A}"/>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Original Bekkers adjacency example</a:t>
            </a:r>
          </a:p>
        </p:txBody>
      </p:sp>
      <p:pic>
        <p:nvPicPr>
          <p:cNvPr id="9" name="">
            <a:extLst>
              <a:ext uri="{FF2B5EF4-FFF2-40B4-BE49-F238E27FC236}">
                <ns2:creationId id="{0CFE0ED0-D158-4825-B579-58C1D77E935E}"/>
              </a:ext>
            </a:extLst>
          </p:cNvPr>
          <p:cNvPicPr>
            <a:picLocks noChangeAspect="1"/>
          </p:cNvPicPr>
          <p:nvPr/>
        </p:nvPicPr>
        <p:blipFill>
          <a:blip r:embed="Rbd7836027d484c97"/>
          <a:stretch/>
        </p:blipFill>
        <p:spPr>
          <a:xfrm>
            <a:off x="3638983" y="1428750"/>
            <a:ext cx="7485784" cy="4333875"/>
          </a:xfrm>
          <a:prstGeom prst="rect">
            <a:avLst/>
          </a:prstGeom>
        </p:spPr>
      </p:pic>
      <p:sp>
        <p:nvSpPr>
          <p:cNvPr id="10" name="">
            <a:extLst>
              <a:ext uri="{FF2B5EF4-FFF2-40B4-BE49-F238E27FC236}">
                <ns2:creationId id="{2A7EAB20-9B6A-4E62-B3E3-7ABFFD9A419E}"/>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Connectivity defines the available routes for relational information.</a:t>
            </a:r>
          </a:p>
        </p:txBody>
      </p:sp>
      <p:sp>
        <p:nvSpPr>
          <p:cNvPr id="11" name="">
            <a:extLst>
              <a:ext uri="{FF2B5EF4-FFF2-40B4-BE49-F238E27FC236}">
                <ns2:creationId id="{F127E6C8-C971-4A91-AAC9-DBEC7409CBE1}"/>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16_graph_epv.ipynb</a:t>
            </a:r>
          </a:p>
        </p:txBody>
      </p:sp>
      <p:sp>
        <p:nvSpPr>
          <p:cNvPr id="12" name="">
            <a:extLst>
              <a:ext uri="{FF2B5EF4-FFF2-40B4-BE49-F238E27FC236}">
                <ns2:creationId id="{2175F405-C38E-4A25-B0F8-2CC3A6387E69}"/>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Joris Bekkers: GraphEPV, PyData London 2025</a:t>
            </a:r>
          </a:p>
        </p:txBody>
      </p:sp>
      <p:sp>
        <p:nvSpPr>
          <p:cNvPr id="13" name="">
            <a:extLst>
              <a:ext uri="{FF2B5EF4-FFF2-40B4-BE49-F238E27FC236}">
                <ns2:creationId id="{0D6FBD4A-FDEB-4137-9BA9-4D39B0BB8CDE}"/>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UnravelSports soccer GNN tutorial</a:t>
            </a:r>
          </a:p>
        </p:txBody>
      </p:sp>
      <p:sp>
        <p:nvSpPr>
          <p:cNvPr id="14" name="">
            <a:extLst>
              <a:ext uri="{FF2B5EF4-FFF2-40B4-BE49-F238E27FC236}">
                <ns2:creationId id="{54112057-427B-45EB-B6F1-6CBF78FFE920}"/>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39</a:t>
            </a:r>
          </a:p>
        </p:txBody>
      </p:sp>
    </p:spTree>
    <p:extLst>
      <p:ext uri="{BB962C8B-B14F-4D97-AF65-F5344CB8AC3E}">
        <p14:creationId val="964191399"/>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62E6954E-D048-4D7A-94B0-3FDC6C58F016}"/>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0B75B2FF-A28A-4F59-AB35-2DC0B9A8594B}"/>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14D4520F-C87A-4300-8133-A3F039BC3944}"/>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What does a graph neural network learn?</a:t>
            </a:r>
          </a:p>
        </p:txBody>
      </p:sp>
      <p:sp>
        <p:nvSpPr>
          <p:cNvPr id="4" name="">
            <a:extLst>
              <a:ext uri="{FF2B5EF4-FFF2-40B4-BE49-F238E27FC236}">
                <ns2:creationId id="{9A623DEE-C5FE-49B0-B0F8-4323B46DABEE}"/>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0B2D3E68-2C5A-46DD-9AEA-8F5247E8966F}"/>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Use player relationships to predict a task outcome.</a:t>
            </a:r>
          </a:p>
        </p:txBody>
      </p:sp>
      <p:sp>
        <p:nvSpPr>
          <p:cNvPr id="6" name="">
            <a:extLst>
              <a:ext uri="{FF2B5EF4-FFF2-40B4-BE49-F238E27FC236}">
                <ns2:creationId id="{2E61BE7D-89D3-4329-844C-7349D48F8CAD}"/>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699454CE-E77B-40E8-A897-B279A4AF8483}"/>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Shared message passing, graph pooling and a task-specific readout.</a:t>
            </a:r>
          </a:p>
        </p:txBody>
      </p:sp>
      <p:sp>
        <p:nvSpPr>
          <p:cNvPr id="8" name="">
            <a:extLst>
              <a:ext uri="{FF2B5EF4-FFF2-40B4-BE49-F238E27FC236}">
                <ns2:creationId id="{E74D25CE-2F4F-401A-BBD6-2B7CCD1F3BA4}"/>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Published architecture illustration</a:t>
            </a:r>
          </a:p>
        </p:txBody>
      </p:sp>
      <p:pic>
        <p:nvPicPr>
          <p:cNvPr id="9" name="">
            <a:extLst>
              <a:ext uri="{FF2B5EF4-FFF2-40B4-BE49-F238E27FC236}">
                <ns2:creationId id="{A8C7EABE-577B-4E73-B475-3C1F6F582764}"/>
              </a:ext>
            </a:extLst>
          </p:cNvPr>
          <p:cNvPicPr>
            <a:picLocks noChangeAspect="1"/>
          </p:cNvPicPr>
          <p:nvPr/>
        </p:nvPicPr>
        <p:blipFill>
          <a:blip r:embed="R1f8f3746242749c6"/>
          <a:stretch/>
        </p:blipFill>
        <p:spPr>
          <a:xfrm>
            <a:off x="2952750" y="2013341"/>
            <a:ext cx="8858250" cy="3164693"/>
          </a:xfrm>
          <a:prstGeom prst="rect">
            <a:avLst/>
          </a:prstGeom>
        </p:spPr>
      </p:pic>
      <p:sp>
        <p:nvSpPr>
          <p:cNvPr id="10" name="">
            <a:extLst>
              <a:ext uri="{FF2B5EF4-FFF2-40B4-BE49-F238E27FC236}">
                <ns2:creationId id="{7CAAD9D9-C259-4926-ADB0-FA2E5F23B1E4}"/>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Relational representations become a prediction for the chosen task.</a:t>
            </a:r>
          </a:p>
        </p:txBody>
      </p:sp>
      <p:sp>
        <p:nvSpPr>
          <p:cNvPr id="11" name="">
            <a:extLst>
              <a:ext uri="{FF2B5EF4-FFF2-40B4-BE49-F238E27FC236}">
                <ns2:creationId id="{27A0ECD7-C36C-4215-B5E4-72A83DB25C4E}"/>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16_graph_epv.ipynb</a:t>
            </a:r>
          </a:p>
        </p:txBody>
      </p:sp>
      <p:sp>
        <p:nvSpPr>
          <p:cNvPr id="12" name="">
            <a:extLst>
              <a:ext uri="{FF2B5EF4-FFF2-40B4-BE49-F238E27FC236}">
                <ns2:creationId id="{0E11F01C-AE54-4A1F-818D-20B4FEDEE541}"/>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Joris Bekkers: GraphEPV, PyData London 2025</a:t>
            </a:r>
          </a:p>
        </p:txBody>
      </p:sp>
      <p:sp>
        <p:nvSpPr>
          <p:cNvPr id="13" name="">
            <a:extLst>
              <a:ext uri="{FF2B5EF4-FFF2-40B4-BE49-F238E27FC236}">
                <ns2:creationId id="{9641B6A8-D010-49EC-A7AB-7B230279CFFA}"/>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U.S. Soccer: counterattack GNNs with SkillCorner (2023)</a:t>
            </a:r>
          </a:p>
        </p:txBody>
      </p:sp>
      <p:sp>
        <p:nvSpPr>
          <p:cNvPr id="14" name="">
            <a:extLst>
              <a:ext uri="{FF2B5EF4-FFF2-40B4-BE49-F238E27FC236}">
                <ns2:creationId id="{453B8C64-CFFE-418D-9FDD-4DAC222608D8}"/>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40</a:t>
            </a:r>
          </a:p>
        </p:txBody>
      </p:sp>
    </p:spTree>
    <p:extLst>
      <p:ext uri="{BB962C8B-B14F-4D97-AF65-F5344CB8AC3E}">
        <p14:creationId val="342371859"/>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C517572B-4888-48C7-A1BB-AA1B5D728721}"/>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3C20EB00-166D-4BEC-B540-A33CA1827400}"/>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A448DDC9-C409-4035-8DF4-40CBED6E538B}"/>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How does the graph change as players move?</a:t>
            </a:r>
          </a:p>
        </p:txBody>
      </p:sp>
      <p:sp>
        <p:nvSpPr>
          <p:cNvPr id="4" name="">
            <a:extLst>
              <a:ext uri="{FF2B5EF4-FFF2-40B4-BE49-F238E27FC236}">
                <ns2:creationId id="{44D1E0B0-FE86-4C11-9916-0383F82311D8}"/>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1EACCCE0-7CC0-463F-9139-2089A8C25A67}"/>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A useful relationship at one instant may disappear at the next.</a:t>
            </a:r>
          </a:p>
        </p:txBody>
      </p:sp>
      <p:sp>
        <p:nvSpPr>
          <p:cNvPr id="6" name="">
            <a:extLst>
              <a:ext uri="{FF2B5EF4-FFF2-40B4-BE49-F238E27FC236}">
                <ns2:creationId id="{DE85688F-FE29-448B-9C8B-D508BEC7B882}"/>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4CB64EE5-E1DE-42D9-AD4D-F9D4BC5F6E8D}"/>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Recompute 20 m player-radius edges on real tracking frames.</a:t>
            </a:r>
          </a:p>
        </p:txBody>
      </p:sp>
      <p:sp>
        <p:nvSpPr>
          <p:cNvPr id="8" name="">
            <a:extLst>
              <a:ext uri="{FF2B5EF4-FFF2-40B4-BE49-F238E27FC236}">
                <ns2:creationId id="{8CEF8A50-59DE-46D0-B509-0536E1B2989E}"/>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Dynamic spatial graph · not a temporal GNN</a:t>
            </a:r>
          </a:p>
        </p:txBody>
      </p:sp>
      <p:pic>
        <p:nvPicPr>
          <p:cNvPr id="9" name="Video: How does the graph change as players move?" descr="Embedded MP4. Click to play. Player-only real radius graph at native 10 Hz. The trained workshop graph additionally includes a ball node and ball links. Recomputing spatial edges over time is not itself a trained temporal network or learned attention.">
            <a:hlinkClick action="ppaction://media"/>
            <a:extLst>
              <a:ext uri="{FF2B5EF4-FFF2-40B4-BE49-F238E27FC236}">
                <ns2:creationId id="{CD9A0DBA-79F9-40E9-8D30-8FCB913F4858}"/>
              </a:ext>
            </a:extLst>
          </p:cNvPr>
          <p:cNvPicPr>
            <a:picLocks noChangeAspect="1"/>
          </p:cNvPicPr>
          <p:nvPr>
            <a:videoFile r:link="rIdWorkshopVideo"/>
            <p:extLst>
              <p:ext uri="{DAA4B4D4-6D71-4841-9C94-3DE7FCFB9230}">
                <p14:media r:embed="rIdWorkshopMedia"/>
              </p:ext>
            </p:extLst>
          </p:nvPr>
        </p:nvPicPr>
        <p:blipFill>
          <a:blip r:embed="R3d8a7f73ff984d72"/>
          <a:stretch/>
        </p:blipFill>
        <p:spPr>
          <a:xfrm>
            <a:off x="3724275" y="1428750"/>
            <a:ext cx="7315200" cy="4114800"/>
          </a:xfrm>
          <a:prstGeom prst="rect">
            <a:avLst/>
          </a:prstGeom>
        </p:spPr>
      </p:pic>
      <p:sp>
        <p:nvSpPr>
          <p:cNvPr id="10" name="">
            <a:extLst>
              <a:ext uri="{FF2B5EF4-FFF2-40B4-BE49-F238E27FC236}">
                <ns2:creationId id="{E4149CCC-8374-4BFE-9523-8AEBAD085248}"/>
              </a:ext>
            </a:extLst>
          </p:cNvPr>
          <p:cNvSpPr>
            <a:spLocks noGrp="1"/>
          </p:cNvSpPr>
          <p:nvPr/>
        </p:nvSpPr>
        <p:spPr>
          <a:xfrm>
            <a:off x="3143250" y="5591175"/>
            <a:ext cx="8286750" cy="22860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 Click video to play</a:t>
            </a:r>
          </a:p>
        </p:txBody>
      </p:sp>
      <p:sp>
        <p:nvSpPr>
          <p:cNvPr id="11" name="">
            <a:extLst>
              <a:ext uri="{FF2B5EF4-FFF2-40B4-BE49-F238E27FC236}">
                <ns2:creationId id="{63C136BF-7B63-4417-90ED-9DE2D6448FBA}"/>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video reveals changing spatial neighborhoods in actual play.</a:t>
            </a:r>
          </a:p>
        </p:txBody>
      </p:sp>
      <p:sp>
        <p:nvSpPr>
          <p:cNvPr id="12" name="">
            <a:extLst>
              <a:ext uri="{FF2B5EF4-FFF2-40B4-BE49-F238E27FC236}">
                <ns2:creationId id="{93EEABA0-BBF8-42A9-AF29-742C824EEC14}"/>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16_graph_epv.ipynb</a:t>
            </a:r>
          </a:p>
        </p:txBody>
      </p:sp>
      <p:sp>
        <p:nvSpPr>
          <p:cNvPr id="13" name="">
            <a:extLst>
              <a:ext uri="{FF2B5EF4-FFF2-40B4-BE49-F238E27FC236}">
                <ns2:creationId id="{AEA959E9-9493-4804-B89C-0037D8EEE987}"/>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Joris Bekkers: GraphEPV, PyData London 2025</a:t>
            </a:r>
          </a:p>
        </p:txBody>
      </p:sp>
      <p:sp>
        <p:nvSpPr>
          <p:cNvPr id="14" name="">
            <a:extLst>
              <a:ext uri="{FF2B5EF4-FFF2-40B4-BE49-F238E27FC236}">
                <ns2:creationId id="{DA186D38-E7FB-4AB6-ADE9-17C86B97E0CB}"/>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UnravelSports soccer GNN tutorial</a:t>
            </a:r>
          </a:p>
        </p:txBody>
      </p:sp>
      <p:sp>
        <p:nvSpPr>
          <p:cNvPr id="15" name="">
            <a:extLst>
              <a:ext uri="{FF2B5EF4-FFF2-40B4-BE49-F238E27FC236}">
                <ns2:creationId id="{4C40707E-0562-49E0-A703-A3EA10C0B601}"/>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41</a:t>
            </a:r>
          </a:p>
        </p:txBody>
      </p:sp>
    </p:spTree>
    <p:extLst>
      <p:ext uri="{BB962C8B-B14F-4D97-AF65-F5344CB8AC3E}">
        <p14:creationId val="990223403"/>
      </p:ext>
    </p:extLst>
  </p:cSld>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4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4" name="">
            <a:extLst>
              <a:ext uri="{FF2B5EF4-FFF2-40B4-BE49-F238E27FC236}">
                <ns2:creationId id="{7B899DBA-BC97-4248-B4EA-C7EDA9A01D59}"/>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386F258-AF6E-408B-B71B-887FD6D1DB9A}"/>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AE4124C6-B559-4EED-81FA-55425C9B47D4}"/>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Graph EPV: what exactly are we predicting?</a:t>
            </a:r>
          </a:p>
        </p:txBody>
      </p:sp>
      <p:sp>
        <p:nvSpPr>
          <p:cNvPr id="4" name="">
            <a:extLst>
              <a:ext uri="{FF2B5EF4-FFF2-40B4-BE49-F238E27FC236}">
                <ns2:creationId id="{B21213F3-0204-4A5B-98B9-0106A1028E93}"/>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2D6ACDFC-AA86-4B07-BAB9-9F3DD06160E9}"/>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Turn a tracking state into a clearly defined future outcome.</a:t>
            </a:r>
          </a:p>
        </p:txBody>
      </p:sp>
      <p:sp>
        <p:nvSpPr>
          <p:cNvPr id="6" name="">
            <a:extLst>
              <a:ext uri="{FF2B5EF4-FFF2-40B4-BE49-F238E27FC236}">
                <ns2:creationId id="{B9C41B0B-9091-4C9E-9451-7E1EAB033783}"/>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7089CF20-083E-4096-B61A-7022BEBDB302}"/>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Bekkers: one frame graph; goal by the possession team within 10 s.</a:t>
            </a:r>
          </a:p>
        </p:txBody>
      </p:sp>
      <p:sp>
        <p:nvSpPr>
          <p:cNvPr id="8" name="">
            <a:extLst>
              <a:ext uri="{FF2B5EF4-FFF2-40B4-BE49-F238E27FC236}">
                <ns2:creationId id="{0AA68058-ED14-4719-B33C-D711C6A3478A}"/>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Bekkers target; independent workshop implementation</a:t>
            </a:r>
          </a:p>
        </p:txBody>
      </p:sp>
      <p:pic>
        <p:nvPicPr>
          <p:cNvPr id="9" name="">
            <a:extLst>
              <a:ext uri="{FF2B5EF4-FFF2-40B4-BE49-F238E27FC236}">
                <ns2:creationId id="{5F5A7891-4DDA-4874-9858-32DEAD4DB848}"/>
              </a:ext>
            </a:extLst>
          </p:cNvPr>
          <p:cNvPicPr>
            <a:picLocks noChangeAspect="1"/>
          </p:cNvPicPr>
          <p:nvPr/>
        </p:nvPicPr>
        <p:blipFill>
          <a:blip r:embed="Ra2a23f9fc430413a"/>
          <a:stretch/>
        </p:blipFill>
        <p:spPr>
          <a:xfrm>
            <a:off x="3455394" y="1428750"/>
            <a:ext cx="7852962" cy="4333875"/>
          </a:xfrm>
          <a:prstGeom prst="rect">
            <a:avLst/>
          </a:prstGeom>
        </p:spPr>
      </p:pic>
      <p:sp>
        <p:nvSpPr>
          <p:cNvPr id="10" name="">
            <a:extLst>
              <a:ext uri="{FF2B5EF4-FFF2-40B4-BE49-F238E27FC236}">
                <ns2:creationId id="{63F6788D-2499-48BB-8B80-5C33559A4228}"/>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A scoring probability belongs to a stated team and time horizon.</a:t>
            </a:r>
          </a:p>
        </p:txBody>
      </p:sp>
      <p:sp>
        <p:nvSpPr>
          <p:cNvPr id="11" name="">
            <a:extLst>
              <a:ext uri="{FF2B5EF4-FFF2-40B4-BE49-F238E27FC236}">
                <ns2:creationId id="{B507A725-7D70-439D-A884-3C4155EB9BA0}"/>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16_graph_epv.ipynb</a:t>
            </a:r>
          </a:p>
        </p:txBody>
      </p:sp>
      <p:sp>
        <p:nvSpPr>
          <p:cNvPr id="12" name="">
            <a:extLst>
              <a:ext uri="{FF2B5EF4-FFF2-40B4-BE49-F238E27FC236}">
                <ns2:creationId id="{472506BE-B069-4857-AF4E-B9DBA13550D3}"/>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Joris Bekkers: GraphEPV, PyData London 2025</a:t>
            </a:r>
          </a:p>
        </p:txBody>
      </p:sp>
      <p:sp>
        <p:nvSpPr>
          <p:cNvPr id="13" name="">
            <a:extLst>
              <a:ext uri="{FF2B5EF4-FFF2-40B4-BE49-F238E27FC236}">
                <ns2:creationId id="{80D4632E-5F2F-415E-9377-AE3668B5B94D}"/>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42</a:t>
            </a:r>
          </a:p>
        </p:txBody>
      </p:sp>
    </p:spTree>
    <p:extLst>
      <p:ext uri="{BB962C8B-B14F-4D97-AF65-F5344CB8AC3E}">
        <p14:creationId val="531202913"/>
      </p:ext>
    </p:extLst>
  </p:cSld>
</p:sld>
</file>

<file path=ppt/slides/slide4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5" name="">
            <a:extLst>
              <a:ext uri="{FF2B5EF4-FFF2-40B4-BE49-F238E27FC236}">
                <ns2:creationId id="{6D10998E-8E02-4BED-A258-0ACD2B9A4056}"/>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46DA2FAB-ACF5-4158-91EB-817E5E83BCDA}"/>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A930D2DD-A115-4B6D-B104-E1F97E27BA6F}"/>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Does our graph model generalize to unseen matches?</a:t>
            </a:r>
          </a:p>
        </p:txBody>
      </p:sp>
      <p:sp>
        <p:nvSpPr>
          <p:cNvPr id="4" name="">
            <a:extLst>
              <a:ext uri="{FF2B5EF4-FFF2-40B4-BE49-F238E27FC236}">
                <ns2:creationId id="{4D3FDE66-FFA5-418A-B0AB-DCB8926BC71F}"/>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1DE689D4-32A8-4FF2-B3A4-C58DBEE5E24A}"/>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Evaluate predictions beyond the training matches.</a:t>
            </a:r>
          </a:p>
        </p:txBody>
      </p:sp>
      <p:sp>
        <p:nvSpPr>
          <p:cNvPr id="6" name="">
            <a:extLst>
              <a:ext uri="{FF2B5EF4-FFF2-40B4-BE49-F238E27FC236}">
                <ns2:creationId id="{67E77A09-B591-4CFF-966A-9427D405BCA9}"/>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6BC080CA-A6EE-4F44-BA2F-B654F40C5336}"/>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Match-level holdout; validation-only model selection and calibration.</a:t>
            </a:r>
          </a:p>
        </p:txBody>
      </p:sp>
      <p:sp>
        <p:nvSpPr>
          <p:cNvPr id="8" name="">
            <a:extLst>
              <a:ext uri="{FF2B5EF4-FFF2-40B4-BE49-F238E27FC236}">
                <ns2:creationId id="{6D75E55A-D33E-44F1-885D-E2E385B65E97}"/>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Test: 3 matches, 16 positive states</a:t>
            </a:r>
          </a:p>
          <a:p>
            <a:pPr>
              <a:defRPr sz="975" b="0">
                <a:solidFill>
                  <a:srgbClr val="65756D"/>
                </a:solidFill>
                <a:latin typeface="Arial"/>
                <a:ea typeface="Arial"/>
                <a:cs typeface="Arial"/>
              </a:defRPr>
            </a:pPr>
            <a:r>
              <a:rPr sz="975" b="0">
                <a:solidFill>
                  <a:srgbClr val="65756D"/>
                </a:solidFill>
                <a:latin typeface="Arial"/>
                <a:ea typeface="Arial"/>
                <a:cs typeface="Arial"/>
              </a:rPr>
              <a:t>Brier .003335 vs .003308 baseline</a:t>
            </a:r>
          </a:p>
        </p:txBody>
      </p:sp>
      <p:pic>
        <p:nvPicPr>
          <p:cNvPr id="9" name="">
            <a:extLst>
              <a:ext uri="{FF2B5EF4-FFF2-40B4-BE49-F238E27FC236}">
                <ns2:creationId id="{FCD63D7B-6EED-4789-B53E-E0B92CA1C5B5}"/>
              </a:ext>
            </a:extLst>
          </p:cNvPr>
          <p:cNvPicPr>
            <a:picLocks noChangeAspect="1"/>
          </p:cNvPicPr>
          <p:nvPr/>
        </p:nvPicPr>
        <p:blipFill>
          <a:blip r:embed="R1b5f4683192d4dc7"/>
          <a:stretch/>
        </p:blipFill>
        <p:spPr>
          <a:xfrm>
            <a:off x="2952750" y="2142905"/>
            <a:ext cx="8858250" cy="2905566"/>
          </a:xfrm>
          <a:prstGeom prst="rect">
            <a:avLst/>
          </a:prstGeom>
        </p:spPr>
      </p:pic>
      <p:sp>
        <p:nvSpPr>
          <p:cNvPr id="10" name="">
            <a:extLst>
              <a:ext uri="{FF2B5EF4-FFF2-40B4-BE49-F238E27FC236}">
                <ns2:creationId id="{30892216-823A-40E6-B254-4854A741F874}"/>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AUC 0.843; AP 0.020—ranking improves, probability reliability is limited.</a:t>
            </a:r>
          </a:p>
        </p:txBody>
      </p:sp>
      <p:sp>
        <p:nvSpPr>
          <p:cNvPr id="11" name="">
            <a:extLst>
              <a:ext uri="{FF2B5EF4-FFF2-40B4-BE49-F238E27FC236}">
                <ns2:creationId id="{064409A2-1532-457B-B349-ADCF3E69A3EF}"/>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16_graph_epv.ipynb</a:t>
            </a:r>
          </a:p>
        </p:txBody>
      </p:sp>
      <p:sp>
        <p:nvSpPr>
          <p:cNvPr id="12" name="">
            <a:extLst>
              <a:ext uri="{FF2B5EF4-FFF2-40B4-BE49-F238E27FC236}">
                <ns2:creationId id="{DE9B4E33-68DF-4E7C-A4EE-00214CDEF8C6}"/>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open data and schema</a:t>
            </a:r>
          </a:p>
        </p:txBody>
      </p:sp>
      <p:sp>
        <p:nvSpPr>
          <p:cNvPr id="13" name="">
            <a:extLst>
              <a:ext uri="{FF2B5EF4-FFF2-40B4-BE49-F238E27FC236}">
                <ns2:creationId id="{F366F4C0-3EE2-43E7-99B4-1AC660A1591E}"/>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Joris Bekkers: GraphEPV, PyData London 2025</a:t>
            </a:r>
          </a:p>
        </p:txBody>
      </p:sp>
      <p:sp>
        <p:nvSpPr>
          <p:cNvPr id="14" name="">
            <a:extLst>
              <a:ext uri="{FF2B5EF4-FFF2-40B4-BE49-F238E27FC236}">
                <ns2:creationId id="{5BC87231-36BC-4501-B46A-0ABE302430D5}"/>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43</a:t>
            </a:r>
          </a:p>
        </p:txBody>
      </p:sp>
    </p:spTree>
    <p:extLst>
      <p:ext uri="{BB962C8B-B14F-4D97-AF65-F5344CB8AC3E}">
        <p14:creationId val="1824554127"/>
      </p:ext>
    </p:extLst>
  </p:cSld>
</p:sld>
</file>

<file path=ppt/slides/slide4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6" name="">
            <a:extLst>
              <a:ext uri="{FF2B5EF4-FFF2-40B4-BE49-F238E27FC236}">
                <ns2:creationId id="{8BA5428D-653F-4332-AA12-1BEB5BCD089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B6E30CF7-D62B-4BDE-BD68-E7EDF2EEBC3A}"/>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D9041EEA-A939-4926-84D0-3210BA88B240}"/>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What does EPV look like during a possession?</a:t>
            </a:r>
          </a:p>
        </p:txBody>
      </p:sp>
      <p:sp>
        <p:nvSpPr>
          <p:cNvPr id="4" name="">
            <a:extLst>
              <a:ext uri="{FF2B5EF4-FFF2-40B4-BE49-F238E27FC236}">
                <ns2:creationId id="{599F3886-8BB4-48D3-AC6A-CC0D550D1DF3}"/>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7679BAAB-0B83-4AAD-A941-B2F05275619A}"/>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Read a predicted scoring probability alongside the actual play.</a:t>
            </a:r>
          </a:p>
        </p:txBody>
      </p:sp>
      <p:sp>
        <p:nvSpPr>
          <p:cNvPr id="6" name="">
            <a:extLst>
              <a:ext uri="{FF2B5EF4-FFF2-40B4-BE49-F238E27FC236}">
                <ns2:creationId id="{19C8A4AD-22F7-4226-8E8C-BE0F8BCB4F30}"/>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5295A09A-57E7-41CD-97D7-C7A25678C7C1}"/>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Frozen workshop GNN evaluated frame by frame on an unseen match.</a:t>
            </a:r>
          </a:p>
        </p:txBody>
      </p:sp>
      <p:sp>
        <p:nvSpPr>
          <p:cNvPr id="8" name="">
            <a:extLst>
              <a:ext uri="{FF2B5EF4-FFF2-40B4-BE49-F238E27FC236}">
                <ns2:creationId id="{DB24D12D-37EF-41ED-9FA8-2468A4FA6C33}"/>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Actual held-out predictions</a:t>
            </a:r>
          </a:p>
        </p:txBody>
      </p:sp>
      <p:pic>
        <p:nvPicPr>
          <p:cNvPr id="9" name="Video: What does EPV look like during a possession?" descr="Embedded MP4. Click to play. Actual independent trained model output from notebook 16. Display case is selected by goal context, not high prediction; not a performance sample. Shading indicates retrospective target window, not an input. Model features use the current frame only. User requested goal buildup plus separate performance results; non-goal example stays in the notebook.">
            <a:hlinkClick action="ppaction://media"/>
            <a:extLst>
              <a:ext uri="{FF2B5EF4-FFF2-40B4-BE49-F238E27FC236}">
                <ns2:creationId id="{DA82FD49-AB01-493B-A0F7-FFC640816498}"/>
              </a:ext>
            </a:extLst>
          </p:cNvPr>
          <p:cNvPicPr>
            <a:picLocks noChangeAspect="1"/>
          </p:cNvPicPr>
          <p:nvPr>
            <a:videoFile r:link="rIdWorkshopVideo"/>
            <p:extLst>
              <p:ext uri="{DAA4B4D4-6D71-4841-9C94-3DE7FCFB9230}">
                <p14:media r:embed="rIdWorkshopMedia"/>
              </p:ext>
            </p:extLst>
          </p:nvPr>
        </p:nvPicPr>
        <p:blipFill>
          <a:blip r:embed="R280ea34e6e0b4923"/>
          <a:stretch/>
        </p:blipFill>
        <p:spPr>
          <a:xfrm>
            <a:off x="3724275" y="1428750"/>
            <a:ext cx="7315200" cy="4114800"/>
          </a:xfrm>
          <a:prstGeom prst="rect">
            <a:avLst/>
          </a:prstGeom>
        </p:spPr>
      </p:pic>
      <p:sp>
        <p:nvSpPr>
          <p:cNvPr id="10" name="">
            <a:extLst>
              <a:ext uri="{FF2B5EF4-FFF2-40B4-BE49-F238E27FC236}">
                <ns2:creationId id="{658C405C-75A2-4273-9DCE-BDB8E0B9BC9D}"/>
              </a:ext>
            </a:extLst>
          </p:cNvPr>
          <p:cNvSpPr>
            <a:spLocks noGrp="1"/>
          </p:cNvSpPr>
          <p:nvPr/>
        </p:nvSpPr>
        <p:spPr>
          <a:xfrm>
            <a:off x="3143250" y="5591175"/>
            <a:ext cx="8286750" cy="228600"/>
          </a:xfrm>
          <a:prstGeom prst="rect">
            <a:avLst/>
          </a:prstGeom>
          <a:noFill/>
          <a:ln w="0">
            <a:noFill/>
          </a:ln>
        </p:spPr>
        <p:txBody>
          <a:bodyPr/>
          <a:lstStyle>
            <a:defPPr>
              <a:defRPr sz="1050" b="1">
                <a:solidFill>
                  <a:srgbClr val="147D68"/>
                </a:solidFill>
                <a:latin typeface="Arial"/>
                <a:ea typeface="Arial"/>
                <a:cs typeface="Arial"/>
              </a:defRPr>
            </a:defPPr>
            <a:lvl1pPr>
              <a:defRPr sz="1050" b="1">
                <a:solidFill>
                  <a:srgbClr val="147D68"/>
                </a:solidFill>
                <a:latin typeface="Arial"/>
                <a:ea typeface="Arial"/>
                <a:cs typeface="Arial"/>
              </a:defRPr>
            </a:lvl1pPr>
            <a:lvl2pPr>
              <a:defRPr sz="1050" b="1">
                <a:solidFill>
                  <a:srgbClr val="147D68"/>
                </a:solidFill>
                <a:latin typeface="Arial"/>
                <a:ea typeface="Arial"/>
                <a:cs typeface="Arial"/>
              </a:defRPr>
            </a:lvl2pPr>
            <a:lvl3pPr>
              <a:defRPr sz="1050" b="1">
                <a:solidFill>
                  <a:srgbClr val="147D68"/>
                </a:solidFill>
                <a:latin typeface="Arial"/>
                <a:ea typeface="Arial"/>
                <a:cs typeface="Arial"/>
              </a:defRPr>
            </a:lvl3pPr>
            <a:lvl4pPr>
              <a:defRPr sz="1050" b="1">
                <a:solidFill>
                  <a:srgbClr val="147D68"/>
                </a:solidFill>
                <a:latin typeface="Arial"/>
                <a:ea typeface="Arial"/>
                <a:cs typeface="Arial"/>
              </a:defRPr>
            </a:lvl4pPr>
            <a:lvl5pPr>
              <a:defRPr sz="1050" b="1">
                <a:solidFill>
                  <a:srgbClr val="147D68"/>
                </a:solidFill>
                <a:latin typeface="Arial"/>
                <a:ea typeface="Arial"/>
                <a:cs typeface="Arial"/>
              </a:defRPr>
            </a:lvl5pPr>
            <a:lvl6pPr>
              <a:defRPr sz="1050" b="1">
                <a:solidFill>
                  <a:srgbClr val="147D68"/>
                </a:solidFill>
                <a:latin typeface="Arial"/>
                <a:ea typeface="Arial"/>
                <a:cs typeface="Arial"/>
              </a:defRPr>
            </a:lvl6pPr>
            <a:lvl7pPr>
              <a:defRPr sz="1050" b="1">
                <a:solidFill>
                  <a:srgbClr val="147D68"/>
                </a:solidFill>
                <a:latin typeface="Arial"/>
                <a:ea typeface="Arial"/>
                <a:cs typeface="Arial"/>
              </a:defRPr>
            </a:lvl7pPr>
            <a:lvl8pPr>
              <a:defRPr sz="1050" b="1">
                <a:solidFill>
                  <a:srgbClr val="147D68"/>
                </a:solidFill>
                <a:latin typeface="Arial"/>
                <a:ea typeface="Arial"/>
                <a:cs typeface="Arial"/>
              </a:defRPr>
            </a:lvl8pPr>
            <a:lvl9pPr>
              <a:defRPr sz="1050" b="1">
                <a:solidFill>
                  <a:srgbClr val="147D68"/>
                </a:solidFill>
                <a:latin typeface="Arial"/>
                <a:ea typeface="Arial"/>
                <a:cs typeface="Arial"/>
              </a:defRPr>
            </a:lvl9pPr>
          </a:lstStyle>
          <a:p>
            <a:pPr>
              <a:defRPr sz="1050" b="1">
                <a:solidFill>
                  <a:srgbClr val="147D68"/>
                </a:solidFill>
                <a:latin typeface="Arial"/>
                <a:ea typeface="Arial"/>
                <a:cs typeface="Arial"/>
              </a:defRPr>
            </a:pPr>
            <a:r>
              <a:rPr sz="1050" b="1">
                <a:solidFill>
                  <a:srgbClr val="147D68"/>
                </a:solidFill>
                <a:latin typeface="Arial"/>
                <a:ea typeface="Arial"/>
                <a:cs typeface="Arial"/>
              </a:rPr>
              <a:t>▶ Click video to play</a:t>
            </a:r>
          </a:p>
        </p:txBody>
      </p:sp>
      <p:sp>
        <p:nvSpPr>
          <p:cNvPr id="11" name="">
            <a:extLst>
              <a:ext uri="{FF2B5EF4-FFF2-40B4-BE49-F238E27FC236}">
                <ns2:creationId id="{BACE0441-E3A7-4A6E-9C26-2F1153EF8AA0}"/>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goal buildup’s predicted value evolves with player and ball positions.</a:t>
            </a:r>
          </a:p>
        </p:txBody>
      </p:sp>
      <p:sp>
        <p:nvSpPr>
          <p:cNvPr id="12" name="">
            <a:extLst>
              <a:ext uri="{FF2B5EF4-FFF2-40B4-BE49-F238E27FC236}">
                <ns2:creationId id="{EBAF7408-FD32-4B1B-9FB6-820DFD6991AF}"/>
              </a:ext>
            </a:extLst>
          </p:cNvPr>
          <p:cNvSpPr>
            <a:spLocks noGrp="1"/>
          </p:cNvSpPr>
          <p:nvPr/>
        </p:nvSpPr>
        <p:spPr>
          <a:xfrm>
            <a:off x="6953250" y="6429375"/>
            <a:ext cx="4381500" cy="257175"/>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hlinkClick r:id="rIdWorkshop4"/>
              </a:rPr>
              <a:t>Notebook: 16_graph_epv.ipynb</a:t>
            </a:r>
          </a:p>
        </p:txBody>
      </p:sp>
      <p:sp>
        <p:nvSpPr>
          <p:cNvPr id="13" name="">
            <a:extLst>
              <a:ext uri="{FF2B5EF4-FFF2-40B4-BE49-F238E27FC236}">
                <ns2:creationId id="{EF9A7597-F649-4773-9F0C-D97627FAE8AC}"/>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SkillCorner open data and schema</a:t>
            </a:r>
          </a:p>
        </p:txBody>
      </p:sp>
      <p:sp>
        <p:nvSpPr>
          <p:cNvPr id="14" name="">
            <a:extLst>
              <a:ext uri="{FF2B5EF4-FFF2-40B4-BE49-F238E27FC236}">
                <ns2:creationId id="{7F446407-BFAD-4D58-B345-F2FC3B1EA7C1}"/>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6"/>
              </a:rPr>
              <a:t>Joris Bekkers: GraphEPV, PyData London 2025</a:t>
            </a:r>
          </a:p>
        </p:txBody>
      </p:sp>
      <p:sp>
        <p:nvSpPr>
          <p:cNvPr id="15" name="">
            <a:extLst>
              <a:ext uri="{FF2B5EF4-FFF2-40B4-BE49-F238E27FC236}">
                <ns2:creationId id="{67CE56CF-C423-4950-90C6-D0EB0D172019}"/>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44</a:t>
            </a:r>
          </a:p>
        </p:txBody>
      </p:sp>
    </p:spTree>
    <p:extLst>
      <p:ext uri="{BB962C8B-B14F-4D97-AF65-F5344CB8AC3E}">
        <p14:creationId val="1881000198"/>
      </p:ext>
    </p:extLst>
  </p:cSld>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4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4" name="">
            <a:extLst>
              <a:ext uri="{FF2B5EF4-FFF2-40B4-BE49-F238E27FC236}">
                <ns2:creationId id="{CCC7A2AF-D7E8-4557-BF6D-13DC08A619A5}"/>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2BE151FF-BF66-44A2-8509-87DFA7A5B47B}"/>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CF1C93DA-E15F-42B5-BBC5-11E7450CA97D}"/>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How do supplied pass values differ across events?</a:t>
            </a:r>
          </a:p>
        </p:txBody>
      </p:sp>
      <p:sp>
        <p:nvSpPr>
          <p:cNvPr id="4" name="">
            <a:extLst>
              <a:ext uri="{FF2B5EF4-FFF2-40B4-BE49-F238E27FC236}">
                <ns2:creationId id="{A437F43C-01B4-4E19-92B1-91BD57BC3773}"/>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4F5E134E-C7DB-46B4-88BA-CF08B88149BF}"/>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Inspect provider estimates without mixing model definitions.</a:t>
            </a:r>
          </a:p>
        </p:txBody>
      </p:sp>
      <p:sp>
        <p:nvSpPr>
          <p:cNvPr id="6" name="">
            <a:extLst>
              <a:ext uri="{FF2B5EF4-FFF2-40B4-BE49-F238E27FC236}">
                <ns2:creationId id="{71898DEE-DE00-465A-B14A-179ABFDFAA6F}"/>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3A446F92-AF3C-4B51-BBB8-8B5AC5BA0F73}"/>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Join supplied event-value fields to their tracking context.</a:t>
            </a:r>
          </a:p>
        </p:txBody>
      </p:sp>
      <p:sp>
        <p:nvSpPr>
          <p:cNvPr id="8" name="">
            <a:extLst>
              <a:ext uri="{FF2B5EF4-FFF2-40B4-BE49-F238E27FC236}">
                <ns2:creationId id="{E85F99B1-B550-45FE-BA0A-10A1F72D88B9}"/>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Supplied SkillCorner EPV fields</a:t>
            </a:r>
          </a:p>
        </p:txBody>
      </p:sp>
      <p:pic>
        <p:nvPicPr>
          <p:cNvPr id="9" name="">
            <a:extLst>
              <a:ext uri="{FF2B5EF4-FFF2-40B4-BE49-F238E27FC236}">
                <ns2:creationId id="{E503D6BE-DEEA-4998-9672-B17A1C290B8E}"/>
              </a:ext>
            </a:extLst>
          </p:cNvPr>
          <p:cNvPicPr>
            <a:picLocks noChangeAspect="1"/>
          </p:cNvPicPr>
          <p:nvPr/>
        </p:nvPicPr>
        <p:blipFill>
          <a:blip r:embed="Rd7ac2b991d6d40b2"/>
          <a:stretch/>
        </p:blipFill>
        <p:spPr>
          <a:xfrm>
            <a:off x="3737255" y="1428750"/>
            <a:ext cx="7289241" cy="4333875"/>
          </a:xfrm>
          <a:prstGeom prst="rect">
            <a:avLst/>
          </a:prstGeom>
        </p:spPr>
      </p:pic>
      <p:sp>
        <p:nvSpPr>
          <p:cNvPr id="10" name="">
            <a:extLst>
              <a:ext uri="{FF2B5EF4-FFF2-40B4-BE49-F238E27FC236}">
                <ns2:creationId id="{FBA63917-BC05-46BF-85B0-95D3E8530807}"/>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Pass EPV changes identify events worth examining in context.</a:t>
            </a:r>
          </a:p>
        </p:txBody>
      </p:sp>
      <p:sp>
        <p:nvSpPr>
          <p:cNvPr id="11" name="">
            <a:extLst>
              <a:ext uri="{FF2B5EF4-FFF2-40B4-BE49-F238E27FC236}">
                <ns2:creationId id="{A057800A-7B88-4565-84F8-B67C49781B9C}"/>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4"/>
              </a:rPr>
              <a:t>SkillCorner open data and schema</a:t>
            </a:r>
          </a:p>
        </p:txBody>
      </p:sp>
      <p:sp>
        <p:nvSpPr>
          <p:cNvPr id="12" name="">
            <a:extLst>
              <a:ext uri="{FF2B5EF4-FFF2-40B4-BE49-F238E27FC236}">
                <ns2:creationId id="{C2A021D4-41B9-46B1-891A-65C65768AE41}"/>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Fine-grained expected possession value (2021)</a:t>
            </a:r>
          </a:p>
        </p:txBody>
      </p:sp>
      <p:sp>
        <p:nvSpPr>
          <p:cNvPr id="13" name="">
            <a:extLst>
              <a:ext uri="{FF2B5EF4-FFF2-40B4-BE49-F238E27FC236}">
                <ns2:creationId id="{5392FFDE-FB40-4492-BCC8-57B4DF14F690}"/>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45</a:t>
            </a:r>
          </a:p>
        </p:txBody>
      </p:sp>
    </p:spTree>
    <p:extLst>
      <p:ext uri="{BB962C8B-B14F-4D97-AF65-F5344CB8AC3E}">
        <p14:creationId val="167216426"/>
      </p:ext>
    </p:extLst>
  </p:cSld>
</p:sld>
</file>

<file path=ppt/slides/slide4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A473F053-D21C-4E92-8322-F62BAEE8A72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20E7F48C-0351-453A-BF80-0D1B19F98C6C}"/>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14A615E6-029F-4DE7-8094-538BFCF859A7}"/>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SoccerMap: score every possible passing location</a:t>
            </a:r>
          </a:p>
        </p:txBody>
      </p:sp>
      <p:sp>
        <p:nvSpPr>
          <p:cNvPr id="4" name="">
            <a:extLst>
              <a:ext uri="{FF2B5EF4-FFF2-40B4-BE49-F238E27FC236}">
                <ns2:creationId id="{C133BD74-94E4-490E-B1D0-0267CED0560C}"/>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683B48E6-75C0-4C46-B1EF-0F80237EFA45}"/>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Predict a surface rather than one chosen pass endpoint.</a:t>
            </a:r>
          </a:p>
        </p:txBody>
      </p:sp>
      <p:sp>
        <p:nvSpPr>
          <p:cNvPr id="6" name="">
            <a:extLst>
              <a:ext uri="{FF2B5EF4-FFF2-40B4-BE49-F238E27FC236}">
                <ns2:creationId id="{1818044C-F776-4A5D-A993-F74562868DDC}"/>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8BC0923B-5C68-4115-A704-0E805E50975F}"/>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Fully convolutional network over spatial tracking feature channels.</a:t>
            </a:r>
          </a:p>
        </p:txBody>
      </p:sp>
      <p:sp>
        <p:nvSpPr>
          <p:cNvPr id="8" name="">
            <a:extLst>
              <a:ext uri="{FF2B5EF4-FFF2-40B4-BE49-F238E27FC236}">
                <ns2:creationId id="{859532FF-1FD8-46D0-B901-61C4301211AA}"/>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Published result · Fernández &amp; Bornn</a:t>
            </a:r>
          </a:p>
        </p:txBody>
      </p:sp>
      <p:pic>
        <p:nvPicPr>
          <p:cNvPr id="9" name="">
            <a:extLst>
              <a:ext uri="{FF2B5EF4-FFF2-40B4-BE49-F238E27FC236}">
                <ns2:creationId id="{3923A4A1-A8C6-4F48-A379-2EEC1ABC92F8}"/>
              </a:ext>
            </a:extLst>
          </p:cNvPr>
          <p:cNvPicPr>
            <a:picLocks noChangeAspect="1"/>
          </p:cNvPicPr>
          <p:nvPr/>
        </p:nvPicPr>
        <p:blipFill>
          <a:blip r:embed="R8ce48e9ed2e14f42"/>
          <a:stretch/>
        </p:blipFill>
        <p:spPr>
          <a:xfrm>
            <a:off x="3823552" y="1428750"/>
            <a:ext cx="7116647" cy="4333875"/>
          </a:xfrm>
          <a:prstGeom prst="rect">
            <a:avLst/>
          </a:prstGeom>
        </p:spPr>
      </p:pic>
      <p:sp>
        <p:nvSpPr>
          <p:cNvPr id="10" name="">
            <a:extLst>
              <a:ext uri="{FF2B5EF4-FFF2-40B4-BE49-F238E27FC236}">
                <ns2:creationId id="{257A54BB-70E0-45F5-89D9-2D99E7D5D661}"/>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published model produces a field-wide pass-success surface.</a:t>
            </a:r>
          </a:p>
        </p:txBody>
      </p:sp>
      <p:sp>
        <p:nvSpPr>
          <p:cNvPr id="11" name="">
            <a:extLst>
              <a:ext uri="{FF2B5EF4-FFF2-40B4-BE49-F238E27FC236}">
                <ns2:creationId id="{4904D4C5-23CB-469A-AAEF-A0616EC69061}"/>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4"/>
              </a:rPr>
              <a:t>SoccerMap (2020)</a:t>
            </a:r>
          </a:p>
        </p:txBody>
      </p:sp>
      <p:sp>
        <p:nvSpPr>
          <p:cNvPr id="12" name="">
            <a:extLst>
              <a:ext uri="{FF2B5EF4-FFF2-40B4-BE49-F238E27FC236}">
                <ns2:creationId id="{D949319D-0CCA-4FE9-94FA-DEF9AEFA7376}"/>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46</a:t>
            </a:r>
          </a:p>
        </p:txBody>
      </p:sp>
    </p:spTree>
    <p:extLst>
      <p:ext uri="{BB962C8B-B14F-4D97-AF65-F5344CB8AC3E}">
        <p14:creationId val="1927603989"/>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2E7996F8-3575-4163-B73E-F0FB2E00C60B}"/>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B1E8E1CB-D269-49DA-A717-13B7494B10EE}"/>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78BFA9EA-8941-46C6-A64F-DFF816B3FC12}"/>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DEFCON: credit defensive positioning</a:t>
            </a:r>
          </a:p>
        </p:txBody>
      </p:sp>
      <p:sp>
        <p:nvSpPr>
          <p:cNvPr id="4" name="">
            <a:extLst>
              <a:ext uri="{FF2B5EF4-FFF2-40B4-BE49-F238E27FC236}">
                <ns2:creationId id="{E1425A5B-6C54-458D-AAD9-94257B7A204B}"/>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0A0854BD-F2EE-4E81-94EC-A0A9AD2C31DC}"/>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Value prevention beyond tackles and interceptions.</a:t>
            </a:r>
          </a:p>
        </p:txBody>
      </p:sp>
      <p:sp>
        <p:nvSpPr>
          <p:cNvPr id="6" name="">
            <a:extLst>
              <a:ext uri="{FF2B5EF4-FFF2-40B4-BE49-F238E27FC236}">
                <ns2:creationId id="{D29B1A08-6540-433B-B0EC-CA4B0DDF296A}"/>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0C407DA7-C81A-4A5A-B8A6-18288779713A}"/>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Graph-based action values and defender responsibility estimates.</a:t>
            </a:r>
          </a:p>
        </p:txBody>
      </p:sp>
      <p:sp>
        <p:nvSpPr>
          <p:cNvPr id="8" name="">
            <a:extLst>
              <a:ext uri="{FF2B5EF4-FFF2-40B4-BE49-F238E27FC236}">
                <ns2:creationId id="{EEA12317-4CA3-4C0C-BD68-A4CF4DFC48D8}"/>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Published result · Kim et al.</a:t>
            </a:r>
          </a:p>
        </p:txBody>
      </p:sp>
      <p:pic>
        <p:nvPicPr>
          <p:cNvPr id="9" name="">
            <a:extLst>
              <a:ext uri="{FF2B5EF4-FFF2-40B4-BE49-F238E27FC236}">
                <ns2:creationId id="{D034220D-836B-4D39-91B9-30369B3E5ECF}"/>
              </a:ext>
            </a:extLst>
          </p:cNvPr>
          <p:cNvPicPr>
            <a:picLocks noChangeAspect="1"/>
          </p:cNvPicPr>
          <p:nvPr/>
        </p:nvPicPr>
        <p:blipFill>
          <a:blip r:embed="Rfec02531206b49f7"/>
          <a:stretch/>
        </p:blipFill>
        <p:spPr>
          <a:xfrm>
            <a:off x="2952750" y="2120530"/>
            <a:ext cx="8858250" cy="2950316"/>
          </a:xfrm>
          <a:prstGeom prst="rect">
            <a:avLst/>
          </a:prstGeom>
        </p:spPr>
      </p:pic>
      <p:sp>
        <p:nvSpPr>
          <p:cNvPr id="10" name="">
            <a:extLst>
              <a:ext uri="{FF2B5EF4-FFF2-40B4-BE49-F238E27FC236}">
                <ns2:creationId id="{D3F7D70A-78BB-422A-8F6C-E682B44FF3E3}"/>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Published defensive credits distribute value among involved defenders.</a:t>
            </a:r>
          </a:p>
        </p:txBody>
      </p:sp>
      <p:sp>
        <p:nvSpPr>
          <p:cNvPr id="11" name="">
            <a:extLst>
              <a:ext uri="{FF2B5EF4-FFF2-40B4-BE49-F238E27FC236}">
                <ns2:creationId id="{28B3C350-1750-456B-AD65-56D6495A22C2}"/>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4"/>
              </a:rPr>
              <a:t>DEFCON: GNN-based defensive EPV (2026)</a:t>
            </a:r>
          </a:p>
        </p:txBody>
      </p:sp>
      <p:sp>
        <p:nvSpPr>
          <p:cNvPr id="12" name="">
            <a:extLst>
              <a:ext uri="{FF2B5EF4-FFF2-40B4-BE49-F238E27FC236}">
                <ns2:creationId id="{C6A65BC1-25C8-49BB-A04C-A49FC360BFD0}"/>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47</a:t>
            </a:r>
          </a:p>
        </p:txBody>
      </p:sp>
    </p:spTree>
    <p:extLst>
      <p:ext uri="{BB962C8B-B14F-4D97-AF65-F5344CB8AC3E}">
        <p14:creationId val="1955053598"/>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F8EA086D-0820-427A-9309-10F68AEFF875}"/>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78542C29-CE48-4642-ADEC-74600D3B4230}"/>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28B94B99-6F85-481C-A42C-36F6187A7617}"/>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Counterattacks: will this attack reach the box?</a:t>
            </a:r>
          </a:p>
        </p:txBody>
      </p:sp>
      <p:sp>
        <p:nvSpPr>
          <p:cNvPr id="4" name="">
            <a:extLst>
              <a:ext uri="{FF2B5EF4-FFF2-40B4-BE49-F238E27FC236}">
                <ns2:creationId id="{893E0213-4FCE-4F48-9486-D402AE288BCC}"/>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32948FEA-8E36-4048-897D-8218535CB5FA}"/>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Predict counterattack success from team interactions.</a:t>
            </a:r>
          </a:p>
        </p:txBody>
      </p:sp>
      <p:sp>
        <p:nvSpPr>
          <p:cNvPr id="6" name="">
            <a:extLst>
              <a:ext uri="{FF2B5EF4-FFF2-40B4-BE49-F238E27FC236}">
                <ns2:creationId id="{B63549BF-F7C5-4A47-A0F8-AE7223E0D8B3}"/>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0D3FB897-F189-4BEA-A7F5-3BB010FB06CE}"/>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Graph classifiers trained on synchronized tracking and events.</a:t>
            </a:r>
          </a:p>
        </p:txBody>
      </p:sp>
      <p:sp>
        <p:nvSpPr>
          <p:cNvPr id="8" name="">
            <a:extLst>
              <a:ext uri="{FF2B5EF4-FFF2-40B4-BE49-F238E27FC236}">
                <ns2:creationId id="{3A97C75E-4BF9-41CC-837A-2B2A32854311}"/>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Published example · Sahasrabudhe &amp; Bekkers</a:t>
            </a:r>
          </a:p>
        </p:txBody>
      </p:sp>
      <p:pic>
        <p:nvPicPr>
          <p:cNvPr id="9" name="">
            <a:extLst>
              <a:ext uri="{FF2B5EF4-FFF2-40B4-BE49-F238E27FC236}">
                <ns2:creationId id="{1C975AAF-61CB-464A-AE0A-7CF91CF99F00}"/>
              </a:ext>
            </a:extLst>
          </p:cNvPr>
          <p:cNvPicPr>
            <a:picLocks noChangeAspect="1"/>
          </p:cNvPicPr>
          <p:nvPr/>
        </p:nvPicPr>
        <p:blipFill>
          <a:blip r:embed="R7199a27ab902490d"/>
          <a:stretch/>
        </p:blipFill>
        <p:spPr>
          <a:xfrm>
            <a:off x="4476574" y="1428750"/>
            <a:ext cx="5810603" cy="4333875"/>
          </a:xfrm>
          <a:prstGeom prst="rect">
            <a:avLst/>
          </a:prstGeom>
        </p:spPr>
      </p:pic>
      <p:sp>
        <p:nvSpPr>
          <p:cNvPr id="10" name="">
            <a:extLst>
              <a:ext uri="{FF2B5EF4-FFF2-40B4-BE49-F238E27FC236}">
                <ns2:creationId id="{29BAE663-38FE-4AD2-897D-5DF1A86586C7}"/>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published example shows a 49.5% model estimate for box entry.</a:t>
            </a:r>
          </a:p>
        </p:txBody>
      </p:sp>
      <p:sp>
        <p:nvSpPr>
          <p:cNvPr id="11" name="">
            <a:extLst>
              <a:ext uri="{FF2B5EF4-FFF2-40B4-BE49-F238E27FC236}">
                <ns2:creationId id="{A42025C4-32A4-48F1-A2AB-2D03B6AC8306}"/>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4"/>
              </a:rPr>
              <a:t>U.S. Soccer: counterattack GNNs with SkillCorner (2023)</a:t>
            </a:r>
          </a:p>
        </p:txBody>
      </p:sp>
      <p:sp>
        <p:nvSpPr>
          <p:cNvPr id="12" name="">
            <a:extLst>
              <a:ext uri="{FF2B5EF4-FFF2-40B4-BE49-F238E27FC236}">
                <ns2:creationId id="{DF72A379-3A2C-4EF9-9EF3-44D940200650}"/>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48</a:t>
            </a:r>
          </a:p>
        </p:txBody>
      </p:sp>
    </p:spTree>
    <p:extLst>
      <p:ext uri="{BB962C8B-B14F-4D97-AF65-F5344CB8AC3E}">
        <p14:creationId val="409287995"/>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05EEEC77-BB7B-410D-B087-AE0A03FA1D12}"/>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959AD82-D02B-4991-9F9A-597E0F985F00}"/>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9DB66D1B-ED70-4A1F-970B-F5545CECF7CD}"/>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TacticAI: improve a corner-kick setup</a:t>
            </a:r>
          </a:p>
        </p:txBody>
      </p:sp>
      <p:sp>
        <p:nvSpPr>
          <p:cNvPr id="4" name="">
            <a:extLst>
              <a:ext uri="{FF2B5EF4-FFF2-40B4-BE49-F238E27FC236}">
                <ns2:creationId id="{38E7728F-F9CA-4668-BECE-A7599ECD7DA9}"/>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CE37F8E1-1113-4EA6-8C10-AE7252932900}"/>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Support decisions about receivers and player positioning.</a:t>
            </a:r>
          </a:p>
        </p:txBody>
      </p:sp>
      <p:sp>
        <p:nvSpPr>
          <p:cNvPr id="6" name="">
            <a:extLst>
              <a:ext uri="{FF2B5EF4-FFF2-40B4-BE49-F238E27FC236}">
                <ns2:creationId id="{AB93271B-C627-4895-9D0A-0C0AAD6928C4}"/>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F2AD2174-094E-421B-A07A-A74D01CE1BEB}"/>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Geometric graph learning with predictive and generative components.</a:t>
            </a:r>
          </a:p>
        </p:txBody>
      </p:sp>
      <p:sp>
        <p:nvSpPr>
          <p:cNvPr id="8" name="">
            <a:extLst>
              <a:ext uri="{FF2B5EF4-FFF2-40B4-BE49-F238E27FC236}">
                <ns2:creationId id="{1EF0E3CB-011C-4046-BA39-B3201162D9F0}"/>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Published result · Wang et al.</a:t>
            </a:r>
          </a:p>
        </p:txBody>
      </p:sp>
      <p:pic>
        <p:nvPicPr>
          <p:cNvPr id="9" name="">
            <a:extLst>
              <a:ext uri="{FF2B5EF4-FFF2-40B4-BE49-F238E27FC236}">
                <ns2:creationId id="{86E99F69-1BDB-4111-932E-4788D7C370DD}"/>
              </a:ext>
            </a:extLst>
          </p:cNvPr>
          <p:cNvPicPr>
            <a:picLocks noChangeAspect="1"/>
          </p:cNvPicPr>
          <p:nvPr/>
        </p:nvPicPr>
        <p:blipFill>
          <a:blip r:embed="Rd35326d467f94b9d"/>
          <a:stretch/>
        </p:blipFill>
        <p:spPr>
          <a:xfrm>
            <a:off x="3765916" y="1428750"/>
            <a:ext cx="7231918" cy="4333875"/>
          </a:xfrm>
          <a:prstGeom prst="rect">
            <a:avLst/>
          </a:prstGeom>
        </p:spPr>
      </p:pic>
      <p:sp>
        <p:nvSpPr>
          <p:cNvPr id="10" name="">
            <a:extLst>
              <a:ext uri="{FF2B5EF4-FFF2-40B4-BE49-F238E27FC236}">
                <ns2:creationId id="{9C570E7E-8910-4A9F-9437-1F985DA54AC5}"/>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The published example compares receiver probabilities before and after adjustment.</a:t>
            </a:r>
          </a:p>
        </p:txBody>
      </p:sp>
      <p:sp>
        <p:nvSpPr>
          <p:cNvPr id="11" name="">
            <a:extLst>
              <a:ext uri="{FF2B5EF4-FFF2-40B4-BE49-F238E27FC236}">
                <ns2:creationId id="{AEB38A2F-B176-4704-A2E3-17FFF6D4BBE9}"/>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4"/>
              </a:rPr>
              <a:t>TacticAI (2024)</a:t>
            </a:r>
          </a:p>
        </p:txBody>
      </p:sp>
      <p:sp>
        <p:nvSpPr>
          <p:cNvPr id="12" name="">
            <a:extLst>
              <a:ext uri="{FF2B5EF4-FFF2-40B4-BE49-F238E27FC236}">
                <ns2:creationId id="{936CA3AD-37BF-491C-B78B-4D327717EE89}"/>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49</a:t>
            </a:r>
          </a:p>
        </p:txBody>
      </p:sp>
    </p:spTree>
    <p:extLst>
      <p:ext uri="{BB962C8B-B14F-4D97-AF65-F5344CB8AC3E}">
        <p14:creationId val="1238196041"/>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3" name="">
            <a:extLst>
              <a:ext uri="{FF2B5EF4-FFF2-40B4-BE49-F238E27FC236}">
                <ns2:creationId id="{FDDC3ACC-E0D5-4EA3-AABD-FE826975C577}"/>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C1CC30BB-19EB-4D55-80B5-9168FB52B199}"/>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Game modeling</a:t>
            </a:r>
          </a:p>
        </p:txBody>
      </p:sp>
      <p:sp>
        <p:nvSpPr>
          <p:cNvPr id="3" name="">
            <a:extLst>
              <a:ext uri="{FF2B5EF4-FFF2-40B4-BE49-F238E27FC236}">
                <ns2:creationId id="{673E622D-A87A-43CC-96E6-8F38AA77064B}"/>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GenTac: forecast multiple plausible continuations</a:t>
            </a:r>
          </a:p>
        </p:txBody>
      </p:sp>
      <p:sp>
        <p:nvSpPr>
          <p:cNvPr id="4" name="">
            <a:extLst>
              <a:ext uri="{FF2B5EF4-FFF2-40B4-BE49-F238E27FC236}">
                <ns2:creationId id="{443192D7-500C-40FD-9796-C4AC376A4049}"/>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DEFE14E5-F3FC-4E47-8C38-0134D62A9CCD}"/>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Represent uncertainty about how play may develop.</a:t>
            </a:r>
          </a:p>
        </p:txBody>
      </p:sp>
      <p:sp>
        <p:nvSpPr>
          <p:cNvPr id="6" name="">
            <a:extLst>
              <a:ext uri="{FF2B5EF4-FFF2-40B4-BE49-F238E27FC236}">
                <ns2:creationId id="{9DA847FC-FDC9-4870-A35E-1267CFA7BB6F}"/>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D87EC5F2-051C-43A8-870C-DE318BAF176C}"/>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Diffusion-based multi-player trajectory generation and event prediction.</a:t>
            </a:r>
          </a:p>
        </p:txBody>
      </p:sp>
      <p:sp>
        <p:nvSpPr>
          <p:cNvPr id="8" name="">
            <a:extLst>
              <a:ext uri="{FF2B5EF4-FFF2-40B4-BE49-F238E27FC236}">
                <ns2:creationId id="{999F2F17-06C2-41F6-91AB-8B667288E30E}"/>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Published preprint result · Rao et al.</a:t>
            </a:r>
          </a:p>
        </p:txBody>
      </p:sp>
      <p:pic>
        <p:nvPicPr>
          <p:cNvPr id="9" name="">
            <a:extLst>
              <a:ext uri="{FF2B5EF4-FFF2-40B4-BE49-F238E27FC236}">
                <ns2:creationId id="{98B9F4C8-471E-43DD-B05A-559385F6889B}"/>
              </a:ext>
            </a:extLst>
          </p:cNvPr>
          <p:cNvPicPr>
            <a:picLocks noChangeAspect="1"/>
          </p:cNvPicPr>
          <p:nvPr/>
        </p:nvPicPr>
        <p:blipFill>
          <a:blip r:embed="Rd539e68fd7c7485a"/>
          <a:stretch/>
        </p:blipFill>
        <p:spPr>
          <a:xfrm>
            <a:off x="3696669" y="1428750"/>
            <a:ext cx="7370411" cy="4333875"/>
          </a:xfrm>
          <a:prstGeom prst="rect">
            <a:avLst/>
          </a:prstGeom>
        </p:spPr>
      </p:pic>
      <p:sp>
        <p:nvSpPr>
          <p:cNvPr id="10" name="">
            <a:extLst>
              <a:ext uri="{FF2B5EF4-FFF2-40B4-BE49-F238E27FC236}">
                <ns2:creationId id="{650A667D-ED42-48FD-B1F4-C9BF6B87DF15}"/>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Published forecast samples imply a distribution of possible tactical outcomes.</a:t>
            </a:r>
          </a:p>
        </p:txBody>
      </p:sp>
      <p:sp>
        <p:nvSpPr>
          <p:cNvPr id="11" name="">
            <a:extLst>
              <a:ext uri="{FF2B5EF4-FFF2-40B4-BE49-F238E27FC236}">
                <ns2:creationId id="{CB688B6E-964A-43EB-9229-04B674BADB3A}"/>
              </a:ext>
            </a:extLst>
          </p:cNvPr>
          <p:cNvSpPr>
            <a:spLocks noGrp="1"/>
          </p:cNvSpPr>
          <p:nvPr/>
        </p:nvSpPr>
        <p:spPr>
          <a:xfrm>
            <a:off x="457200" y="6429375"/>
            <a:ext cx="6000750"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4"/>
              </a:rPr>
              <a:t>GenTac: trajectory forecasting (2026 preprint)</a:t>
            </a:r>
          </a:p>
        </p:txBody>
      </p:sp>
      <p:sp>
        <p:nvSpPr>
          <p:cNvPr id="12" name="">
            <a:extLst>
              <a:ext uri="{FF2B5EF4-FFF2-40B4-BE49-F238E27FC236}">
                <ns2:creationId id="{965A4D44-51AF-4C41-9E63-D2844684BC52}"/>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50</a:t>
            </a:r>
          </a:p>
        </p:txBody>
      </p:sp>
    </p:spTree>
    <p:extLst>
      <p:ext uri="{BB962C8B-B14F-4D97-AF65-F5344CB8AC3E}">
        <p14:creationId val="2120941662"/>
      </p:ext>
    </p:extLst>
  </p:cSld>
</p:sld>
</file>

<file path=ppt/slides/slide5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BFCF8"/>
        </a:solidFill>
      </p:bgPr>
    </p:bg>
    <p:spTree>
      <p:nvGrpSpPr>
        <p:cNvPr id="1" name=""/>
        <p:cNvGrpSpPr/>
        <p:nvPr/>
      </p:nvGrpSpPr>
      <p:grpSpPr>
        <a:xfrm/>
      </p:grpSpPr>
      <p:sp>
        <p:nvSpPr>
          <p:cNvPr id="14" name="">
            <a:extLst>
              <a:ext uri="{FF2B5EF4-FFF2-40B4-BE49-F238E27FC236}">
                <ns2:creationId id="{B49499BB-DD20-497B-AC32-A4E114B46F26}"/>
              </a:ext>
            </a:extLst>
          </p:cNvPr>
          <p:cNvSpPr>
            <a:spLocks noGrp="1"/>
          </p:cNvSpPr>
          <p:nvPr/>
        </p:nvSpPr>
        <p:spPr>
          <a:xfrm>
            <a:off x="0" y="0"/>
            <a:ext cx="12192000" cy="114300"/>
          </a:xfrm>
          <a:prstGeom prst="rect">
            <a:avLst/>
          </a:prstGeom>
          <a:solidFill>
            <a:srgbClr val="147D68"/>
          </a:solidFill>
          <a:ln w="0">
            <a:noFill/>
          </a:ln>
        </p:spPr>
      </p:sp>
      <p:sp>
        <p:nvSpPr>
          <p:cNvPr id="2" name="">
            <a:extLst>
              <a:ext uri="{FF2B5EF4-FFF2-40B4-BE49-F238E27FC236}">
                <ns2:creationId id="{D1A13F49-DB51-418F-BE7B-DF341F500938}"/>
              </a:ext>
            </a:extLst>
          </p:cNvPr>
          <p:cNvSpPr>
            <a:spLocks noGrp="1"/>
          </p:cNvSpPr>
          <p:nvPr/>
        </p:nvSpPr>
        <p:spPr>
          <a:xfrm>
            <a:off x="457200" y="276225"/>
            <a:ext cx="11049000" cy="247650"/>
          </a:xfrm>
          <a:prstGeom prst="rect">
            <a:avLst/>
          </a:prstGeom>
          <a:noFill/>
          <a:ln w="0">
            <a:noFill/>
          </a:ln>
        </p:spPr>
        <p:txBody>
          <a:bodyPr/>
          <a:lstStyle>
            <a:defPPr>
              <a:defRPr sz="975" b="1">
                <a:solidFill>
                  <a:srgbClr val="147D68"/>
                </a:solidFill>
                <a:latin typeface="Arial"/>
                <a:ea typeface="Arial"/>
                <a:cs typeface="Arial"/>
              </a:defRPr>
            </a:defPPr>
            <a:lvl1pPr>
              <a:defRPr sz="975" b="1">
                <a:solidFill>
                  <a:srgbClr val="147D68"/>
                </a:solidFill>
                <a:latin typeface="Arial"/>
                <a:ea typeface="Arial"/>
                <a:cs typeface="Arial"/>
              </a:defRPr>
            </a:lvl1pPr>
            <a:lvl2pPr>
              <a:defRPr sz="975" b="1">
                <a:solidFill>
                  <a:srgbClr val="147D68"/>
                </a:solidFill>
                <a:latin typeface="Arial"/>
                <a:ea typeface="Arial"/>
                <a:cs typeface="Arial"/>
              </a:defRPr>
            </a:lvl2pPr>
            <a:lvl3pPr>
              <a:defRPr sz="975" b="1">
                <a:solidFill>
                  <a:srgbClr val="147D68"/>
                </a:solidFill>
                <a:latin typeface="Arial"/>
                <a:ea typeface="Arial"/>
                <a:cs typeface="Arial"/>
              </a:defRPr>
            </a:lvl3pPr>
            <a:lvl4pPr>
              <a:defRPr sz="975" b="1">
                <a:solidFill>
                  <a:srgbClr val="147D68"/>
                </a:solidFill>
                <a:latin typeface="Arial"/>
                <a:ea typeface="Arial"/>
                <a:cs typeface="Arial"/>
              </a:defRPr>
            </a:lvl4pPr>
            <a:lvl5pPr>
              <a:defRPr sz="975" b="1">
                <a:solidFill>
                  <a:srgbClr val="147D68"/>
                </a:solidFill>
                <a:latin typeface="Arial"/>
                <a:ea typeface="Arial"/>
                <a:cs typeface="Arial"/>
              </a:defRPr>
            </a:lvl5pPr>
            <a:lvl6pPr>
              <a:defRPr sz="975" b="1">
                <a:solidFill>
                  <a:srgbClr val="147D68"/>
                </a:solidFill>
                <a:latin typeface="Arial"/>
                <a:ea typeface="Arial"/>
                <a:cs typeface="Arial"/>
              </a:defRPr>
            </a:lvl6pPr>
            <a:lvl7pPr>
              <a:defRPr sz="975" b="1">
                <a:solidFill>
                  <a:srgbClr val="147D68"/>
                </a:solidFill>
                <a:latin typeface="Arial"/>
                <a:ea typeface="Arial"/>
                <a:cs typeface="Arial"/>
              </a:defRPr>
            </a:lvl7pPr>
            <a:lvl8pPr>
              <a:defRPr sz="975" b="1">
                <a:solidFill>
                  <a:srgbClr val="147D68"/>
                </a:solidFill>
                <a:latin typeface="Arial"/>
                <a:ea typeface="Arial"/>
                <a:cs typeface="Arial"/>
              </a:defRPr>
            </a:lvl8pPr>
            <a:lvl9pPr>
              <a:defRPr sz="975" b="1">
                <a:solidFill>
                  <a:srgbClr val="147D68"/>
                </a:solidFill>
                <a:latin typeface="Arial"/>
                <a:ea typeface="Arial"/>
                <a:cs typeface="Arial"/>
              </a:defRPr>
            </a:lvl9pPr>
          </a:lstStyle>
          <a:p>
            <a:pPr>
              <a:defRPr sz="975" b="1">
                <a:solidFill>
                  <a:srgbClr val="147D68"/>
                </a:solidFill>
                <a:latin typeface="Arial"/>
                <a:ea typeface="Arial"/>
                <a:cs typeface="Arial"/>
              </a:defRPr>
            </a:pPr>
            <a:r>
              <a:rPr sz="975" b="1">
                <a:solidFill>
                  <a:srgbClr val="147D68"/>
                </a:solidFill>
                <a:latin typeface="Arial"/>
                <a:ea typeface="Arial"/>
                <a:cs typeface="Arial"/>
              </a:rPr>
              <a:t>Validation</a:t>
            </a:r>
          </a:p>
        </p:txBody>
      </p:sp>
      <p:sp>
        <p:nvSpPr>
          <p:cNvPr id="3" name="">
            <a:extLst>
              <a:ext uri="{FF2B5EF4-FFF2-40B4-BE49-F238E27FC236}">
                <ns2:creationId id="{16A9F9F9-9B54-422D-A5EF-C2262FE6FF96}"/>
              </a:ext>
            </a:extLst>
          </p:cNvPr>
          <p:cNvSpPr>
            <a:spLocks noGrp="1"/>
          </p:cNvSpPr>
          <p:nvPr/>
        </p:nvSpPr>
        <p:spPr>
          <a:xfrm>
            <a:off x="457200" y="590550"/>
            <a:ext cx="11277600" cy="714375"/>
          </a:xfrm>
          <a:prstGeom prst="rect">
            <a:avLst/>
          </a:prstGeom>
          <a:noFill/>
          <a:ln w="0">
            <a:noFill/>
          </a:ln>
        </p:spPr>
        <p:txBody>
          <a:bodyPr/>
          <a:lstStyle>
            <a:defPPr>
              <a:defRPr sz="2850" b="1">
                <a:solidFill>
                  <a:srgbClr val="183A35"/>
                </a:solidFill>
                <a:latin typeface="Arial"/>
                <a:ea typeface="Arial"/>
                <a:cs typeface="Arial"/>
              </a:defRPr>
            </a:defPPr>
            <a:lvl1pPr>
              <a:defRPr sz="2850" b="1">
                <a:solidFill>
                  <a:srgbClr val="183A35"/>
                </a:solidFill>
                <a:latin typeface="Arial"/>
                <a:ea typeface="Arial"/>
                <a:cs typeface="Arial"/>
              </a:defRPr>
            </a:lvl1pPr>
            <a:lvl2pPr>
              <a:defRPr sz="2850" b="1">
                <a:solidFill>
                  <a:srgbClr val="183A35"/>
                </a:solidFill>
                <a:latin typeface="Arial"/>
                <a:ea typeface="Arial"/>
                <a:cs typeface="Arial"/>
              </a:defRPr>
            </a:lvl2pPr>
            <a:lvl3pPr>
              <a:defRPr sz="2850" b="1">
                <a:solidFill>
                  <a:srgbClr val="183A35"/>
                </a:solidFill>
                <a:latin typeface="Arial"/>
                <a:ea typeface="Arial"/>
                <a:cs typeface="Arial"/>
              </a:defRPr>
            </a:lvl3pPr>
            <a:lvl4pPr>
              <a:defRPr sz="2850" b="1">
                <a:solidFill>
                  <a:srgbClr val="183A35"/>
                </a:solidFill>
                <a:latin typeface="Arial"/>
                <a:ea typeface="Arial"/>
                <a:cs typeface="Arial"/>
              </a:defRPr>
            </a:lvl4pPr>
            <a:lvl5pPr>
              <a:defRPr sz="2850" b="1">
                <a:solidFill>
                  <a:srgbClr val="183A35"/>
                </a:solidFill>
                <a:latin typeface="Arial"/>
                <a:ea typeface="Arial"/>
                <a:cs typeface="Arial"/>
              </a:defRPr>
            </a:lvl5pPr>
            <a:lvl6pPr>
              <a:defRPr sz="2850" b="1">
                <a:solidFill>
                  <a:srgbClr val="183A35"/>
                </a:solidFill>
                <a:latin typeface="Arial"/>
                <a:ea typeface="Arial"/>
                <a:cs typeface="Arial"/>
              </a:defRPr>
            </a:lvl6pPr>
            <a:lvl7pPr>
              <a:defRPr sz="2850" b="1">
                <a:solidFill>
                  <a:srgbClr val="183A35"/>
                </a:solidFill>
                <a:latin typeface="Arial"/>
                <a:ea typeface="Arial"/>
                <a:cs typeface="Arial"/>
              </a:defRPr>
            </a:lvl7pPr>
            <a:lvl8pPr>
              <a:defRPr sz="2850" b="1">
                <a:solidFill>
                  <a:srgbClr val="183A35"/>
                </a:solidFill>
                <a:latin typeface="Arial"/>
                <a:ea typeface="Arial"/>
                <a:cs typeface="Arial"/>
              </a:defRPr>
            </a:lvl8pPr>
            <a:lvl9pPr>
              <a:defRPr sz="2850" b="1">
                <a:solidFill>
                  <a:srgbClr val="183A35"/>
                </a:solidFill>
                <a:latin typeface="Arial"/>
                <a:ea typeface="Arial"/>
                <a:cs typeface="Arial"/>
              </a:defRPr>
            </a:lvl9pPr>
          </a:lstStyle>
          <a:p>
            <a:pPr>
              <a:defRPr sz="2850" b="1">
                <a:solidFill>
                  <a:srgbClr val="183A35"/>
                </a:solidFill>
                <a:latin typeface="Arial"/>
                <a:ea typeface="Arial"/>
                <a:cs typeface="Arial"/>
              </a:defRPr>
            </a:pPr>
            <a:r>
              <a:rPr sz="2850" b="1">
                <a:solidFill>
                  <a:srgbClr val="183A35"/>
                </a:solidFill>
                <a:latin typeface="Arial"/>
                <a:ea typeface="Arial"/>
                <a:cs typeface="Arial"/>
              </a:rPr>
              <a:t>What would make these results trustworthy?</a:t>
            </a:r>
          </a:p>
        </p:txBody>
      </p:sp>
      <p:sp>
        <p:nvSpPr>
          <p:cNvPr id="4" name="">
            <a:extLst>
              <a:ext uri="{FF2B5EF4-FFF2-40B4-BE49-F238E27FC236}">
                <ns2:creationId id="{66E67F4C-CA3E-410A-8078-147928C9D6FA}"/>
              </a:ext>
            </a:extLst>
          </p:cNvPr>
          <p:cNvSpPr>
            <a:spLocks noGrp="1"/>
          </p:cNvSpPr>
          <p:nvPr/>
        </p:nvSpPr>
        <p:spPr>
          <a:xfrm>
            <a:off x="457200" y="150495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Problem</a:t>
            </a:r>
          </a:p>
        </p:txBody>
      </p:sp>
      <p:sp>
        <p:nvSpPr>
          <p:cNvPr id="5" name="">
            <a:extLst>
              <a:ext uri="{FF2B5EF4-FFF2-40B4-BE49-F238E27FC236}">
                <ns2:creationId id="{EF5085A6-8DB3-4FD2-95CC-ACDAC1025DBC}"/>
              </a:ext>
            </a:extLst>
          </p:cNvPr>
          <p:cNvSpPr>
            <a:spLocks noGrp="1"/>
          </p:cNvSpPr>
          <p:nvPr/>
        </p:nvSpPr>
        <p:spPr>
          <a:xfrm>
            <a:off x="457200" y="1809750"/>
            <a:ext cx="2209800" cy="1295400"/>
          </a:xfrm>
          <a:prstGeom prst="rect">
            <a:avLst/>
          </a:prstGeom>
          <a:noFill/>
          <a:ln w="0">
            <a:noFill/>
          </a:ln>
        </p:spPr>
        <p:txBody>
          <a:bodyPr/>
          <a:lstStyle>
            <a:defPPr>
              <a:defRPr sz="1650" b="0">
                <a:solidFill>
                  <a:srgbClr val="183A35"/>
                </a:solidFill>
                <a:latin typeface="Arial"/>
                <a:ea typeface="Arial"/>
                <a:cs typeface="Arial"/>
              </a:defRPr>
            </a:defPPr>
            <a:lvl1pPr>
              <a:defRPr sz="1650" b="0">
                <a:solidFill>
                  <a:srgbClr val="183A35"/>
                </a:solidFill>
                <a:latin typeface="Arial"/>
                <a:ea typeface="Arial"/>
                <a:cs typeface="Arial"/>
              </a:defRPr>
            </a:lvl1pPr>
            <a:lvl2pPr>
              <a:defRPr sz="1650" b="0">
                <a:solidFill>
                  <a:srgbClr val="183A35"/>
                </a:solidFill>
                <a:latin typeface="Arial"/>
                <a:ea typeface="Arial"/>
                <a:cs typeface="Arial"/>
              </a:defRPr>
            </a:lvl2pPr>
            <a:lvl3pPr>
              <a:defRPr sz="1650" b="0">
                <a:solidFill>
                  <a:srgbClr val="183A35"/>
                </a:solidFill>
                <a:latin typeface="Arial"/>
                <a:ea typeface="Arial"/>
                <a:cs typeface="Arial"/>
              </a:defRPr>
            </a:lvl3pPr>
            <a:lvl4pPr>
              <a:defRPr sz="1650" b="0">
                <a:solidFill>
                  <a:srgbClr val="183A35"/>
                </a:solidFill>
                <a:latin typeface="Arial"/>
                <a:ea typeface="Arial"/>
                <a:cs typeface="Arial"/>
              </a:defRPr>
            </a:lvl4pPr>
            <a:lvl5pPr>
              <a:defRPr sz="1650" b="0">
                <a:solidFill>
                  <a:srgbClr val="183A35"/>
                </a:solidFill>
                <a:latin typeface="Arial"/>
                <a:ea typeface="Arial"/>
                <a:cs typeface="Arial"/>
              </a:defRPr>
            </a:lvl5pPr>
            <a:lvl6pPr>
              <a:defRPr sz="1650" b="0">
                <a:solidFill>
                  <a:srgbClr val="183A35"/>
                </a:solidFill>
                <a:latin typeface="Arial"/>
                <a:ea typeface="Arial"/>
                <a:cs typeface="Arial"/>
              </a:defRPr>
            </a:lvl6pPr>
            <a:lvl7pPr>
              <a:defRPr sz="1650" b="0">
                <a:solidFill>
                  <a:srgbClr val="183A35"/>
                </a:solidFill>
                <a:latin typeface="Arial"/>
                <a:ea typeface="Arial"/>
                <a:cs typeface="Arial"/>
              </a:defRPr>
            </a:lvl7pPr>
            <a:lvl8pPr>
              <a:defRPr sz="1650" b="0">
                <a:solidFill>
                  <a:srgbClr val="183A35"/>
                </a:solidFill>
                <a:latin typeface="Arial"/>
                <a:ea typeface="Arial"/>
                <a:cs typeface="Arial"/>
              </a:defRPr>
            </a:lvl8pPr>
            <a:lvl9pPr>
              <a:defRPr sz="1650" b="0">
                <a:solidFill>
                  <a:srgbClr val="183A35"/>
                </a:solidFill>
                <a:latin typeface="Arial"/>
                <a:ea typeface="Arial"/>
                <a:cs typeface="Arial"/>
              </a:defRPr>
            </a:lvl9pPr>
          </a:lstStyle>
          <a:p>
            <a:pPr>
              <a:defRPr sz="1650" b="0">
                <a:solidFill>
                  <a:srgbClr val="183A35"/>
                </a:solidFill>
                <a:latin typeface="Arial"/>
                <a:ea typeface="Arial"/>
                <a:cs typeface="Arial"/>
              </a:defRPr>
            </a:pPr>
            <a:r>
              <a:rPr sz="1650" b="0">
                <a:solidFill>
                  <a:srgbClr val="183A35"/>
                </a:solidFill>
                <a:latin typeface="Arial"/>
                <a:ea typeface="Arial"/>
                <a:cs typeface="Arial"/>
              </a:rPr>
              <a:t>Distinguish an explanatory example from a reliable model.</a:t>
            </a:r>
          </a:p>
        </p:txBody>
      </p:sp>
      <p:sp>
        <p:nvSpPr>
          <p:cNvPr id="6" name="">
            <a:extLst>
              <a:ext uri="{FF2B5EF4-FFF2-40B4-BE49-F238E27FC236}">
                <ns2:creationId id="{D062F27B-1CDE-4B0D-8A00-C32F2E86291D}"/>
              </a:ext>
            </a:extLst>
          </p:cNvPr>
          <p:cNvSpPr>
            <a:spLocks noGrp="1"/>
          </p:cNvSpPr>
          <p:nvPr/>
        </p:nvSpPr>
        <p:spPr>
          <a:xfrm>
            <a:off x="457200" y="3314700"/>
            <a:ext cx="2209800" cy="266700"/>
          </a:xfrm>
          <a:prstGeom prst="rect">
            <a:avLst/>
          </a:prstGeom>
          <a:noFill/>
          <a:ln w="0">
            <a:noFill/>
          </a:ln>
        </p:spPr>
        <p:txBody>
          <a:bodyPr/>
          <a:lstStyle>
            <a:defPPr>
              <a:defRPr sz="1125" b="1">
                <a:solidFill>
                  <a:srgbClr val="147D68"/>
                </a:solidFill>
                <a:latin typeface="Arial"/>
                <a:ea typeface="Arial"/>
                <a:cs typeface="Arial"/>
              </a:defRPr>
            </a:defPPr>
            <a:lvl1pPr>
              <a:defRPr sz="1125" b="1">
                <a:solidFill>
                  <a:srgbClr val="147D68"/>
                </a:solidFill>
                <a:latin typeface="Arial"/>
                <a:ea typeface="Arial"/>
                <a:cs typeface="Arial"/>
              </a:defRPr>
            </a:lvl1pPr>
            <a:lvl2pPr>
              <a:defRPr sz="1125" b="1">
                <a:solidFill>
                  <a:srgbClr val="147D68"/>
                </a:solidFill>
                <a:latin typeface="Arial"/>
                <a:ea typeface="Arial"/>
                <a:cs typeface="Arial"/>
              </a:defRPr>
            </a:lvl2pPr>
            <a:lvl3pPr>
              <a:defRPr sz="1125" b="1">
                <a:solidFill>
                  <a:srgbClr val="147D68"/>
                </a:solidFill>
                <a:latin typeface="Arial"/>
                <a:ea typeface="Arial"/>
                <a:cs typeface="Arial"/>
              </a:defRPr>
            </a:lvl3pPr>
            <a:lvl4pPr>
              <a:defRPr sz="1125" b="1">
                <a:solidFill>
                  <a:srgbClr val="147D68"/>
                </a:solidFill>
                <a:latin typeface="Arial"/>
                <a:ea typeface="Arial"/>
                <a:cs typeface="Arial"/>
              </a:defRPr>
            </a:lvl4pPr>
            <a:lvl5pPr>
              <a:defRPr sz="1125" b="1">
                <a:solidFill>
                  <a:srgbClr val="147D68"/>
                </a:solidFill>
                <a:latin typeface="Arial"/>
                <a:ea typeface="Arial"/>
                <a:cs typeface="Arial"/>
              </a:defRPr>
            </a:lvl5pPr>
            <a:lvl6pPr>
              <a:defRPr sz="1125" b="1">
                <a:solidFill>
                  <a:srgbClr val="147D68"/>
                </a:solidFill>
                <a:latin typeface="Arial"/>
                <a:ea typeface="Arial"/>
                <a:cs typeface="Arial"/>
              </a:defRPr>
            </a:lvl6pPr>
            <a:lvl7pPr>
              <a:defRPr sz="1125" b="1">
                <a:solidFill>
                  <a:srgbClr val="147D68"/>
                </a:solidFill>
                <a:latin typeface="Arial"/>
                <a:ea typeface="Arial"/>
                <a:cs typeface="Arial"/>
              </a:defRPr>
            </a:lvl7pPr>
            <a:lvl8pPr>
              <a:defRPr sz="1125" b="1">
                <a:solidFill>
                  <a:srgbClr val="147D68"/>
                </a:solidFill>
                <a:latin typeface="Arial"/>
                <a:ea typeface="Arial"/>
                <a:cs typeface="Arial"/>
              </a:defRPr>
            </a:lvl8pPr>
            <a:lvl9pPr>
              <a:defRPr sz="1125" b="1">
                <a:solidFill>
                  <a:srgbClr val="147D68"/>
                </a:solidFill>
                <a:latin typeface="Arial"/>
                <a:ea typeface="Arial"/>
                <a:cs typeface="Arial"/>
              </a:defRPr>
            </a:lvl9pPr>
          </a:lstStyle>
          <a:p>
            <a:pPr>
              <a:defRPr sz="1125" b="1">
                <a:solidFill>
                  <a:srgbClr val="147D68"/>
                </a:solidFill>
                <a:latin typeface="Arial"/>
                <a:ea typeface="Arial"/>
                <a:cs typeface="Arial"/>
              </a:defRPr>
            </a:pPr>
            <a:r>
              <a:rPr sz="1125" b="1">
                <a:solidFill>
                  <a:srgbClr val="147D68"/>
                </a:solidFill>
                <a:latin typeface="Arial"/>
                <a:ea typeface="Arial"/>
                <a:cs typeface="Arial"/>
              </a:rPr>
              <a:t>Methods</a:t>
            </a:r>
          </a:p>
        </p:txBody>
      </p:sp>
      <p:sp>
        <p:nvSpPr>
          <p:cNvPr id="7" name="">
            <a:extLst>
              <a:ext uri="{FF2B5EF4-FFF2-40B4-BE49-F238E27FC236}">
                <ns2:creationId id="{C81C382A-0FF9-4F44-A842-048FF95A968E}"/>
              </a:ext>
            </a:extLst>
          </p:cNvPr>
          <p:cNvSpPr>
            <a:spLocks noGrp="1"/>
          </p:cNvSpPr>
          <p:nvPr/>
        </p:nvSpPr>
        <p:spPr>
          <a:xfrm>
            <a:off x="457200" y="3619500"/>
            <a:ext cx="2209800" cy="1428750"/>
          </a:xfrm>
          <a:prstGeom prst="rect">
            <a:avLst/>
          </a:prstGeom>
          <a:noFill/>
          <a:ln w="0">
            <a:noFill/>
          </a:ln>
        </p:spPr>
        <p:txBody>
          <a:bodyPr/>
          <a:lstStyle>
            <a:defPPr>
              <a:defRPr sz="1500" b="0">
                <a:solidFill>
                  <a:srgbClr val="183A35"/>
                </a:solidFill>
                <a:latin typeface="Arial"/>
                <a:ea typeface="Arial"/>
                <a:cs typeface="Arial"/>
              </a:defRPr>
            </a:defPPr>
            <a:lvl1pPr>
              <a:defRPr sz="1500" b="0">
                <a:solidFill>
                  <a:srgbClr val="183A35"/>
                </a:solidFill>
                <a:latin typeface="Arial"/>
                <a:ea typeface="Arial"/>
                <a:cs typeface="Arial"/>
              </a:defRPr>
            </a:lvl1pPr>
            <a:lvl2pPr>
              <a:defRPr sz="1500" b="0">
                <a:solidFill>
                  <a:srgbClr val="183A35"/>
                </a:solidFill>
                <a:latin typeface="Arial"/>
                <a:ea typeface="Arial"/>
                <a:cs typeface="Arial"/>
              </a:defRPr>
            </a:lvl2pPr>
            <a:lvl3pPr>
              <a:defRPr sz="1500" b="0">
                <a:solidFill>
                  <a:srgbClr val="183A35"/>
                </a:solidFill>
                <a:latin typeface="Arial"/>
                <a:ea typeface="Arial"/>
                <a:cs typeface="Arial"/>
              </a:defRPr>
            </a:lvl3pPr>
            <a:lvl4pPr>
              <a:defRPr sz="1500" b="0">
                <a:solidFill>
                  <a:srgbClr val="183A35"/>
                </a:solidFill>
                <a:latin typeface="Arial"/>
                <a:ea typeface="Arial"/>
                <a:cs typeface="Arial"/>
              </a:defRPr>
            </a:lvl4pPr>
            <a:lvl5pPr>
              <a:defRPr sz="1500" b="0">
                <a:solidFill>
                  <a:srgbClr val="183A35"/>
                </a:solidFill>
                <a:latin typeface="Arial"/>
                <a:ea typeface="Arial"/>
                <a:cs typeface="Arial"/>
              </a:defRPr>
            </a:lvl5pPr>
            <a:lvl6pPr>
              <a:defRPr sz="1500" b="0">
                <a:solidFill>
                  <a:srgbClr val="183A35"/>
                </a:solidFill>
                <a:latin typeface="Arial"/>
                <a:ea typeface="Arial"/>
                <a:cs typeface="Arial"/>
              </a:defRPr>
            </a:lvl6pPr>
            <a:lvl7pPr>
              <a:defRPr sz="1500" b="0">
                <a:solidFill>
                  <a:srgbClr val="183A35"/>
                </a:solidFill>
                <a:latin typeface="Arial"/>
                <a:ea typeface="Arial"/>
                <a:cs typeface="Arial"/>
              </a:defRPr>
            </a:lvl7pPr>
            <a:lvl8pPr>
              <a:defRPr sz="1500" b="0">
                <a:solidFill>
                  <a:srgbClr val="183A35"/>
                </a:solidFill>
                <a:latin typeface="Arial"/>
                <a:ea typeface="Arial"/>
                <a:cs typeface="Arial"/>
              </a:defRPr>
            </a:lvl8pPr>
            <a:lvl9pPr>
              <a:defRPr sz="1500" b="0">
                <a:solidFill>
                  <a:srgbClr val="183A35"/>
                </a:solidFill>
                <a:latin typeface="Arial"/>
                <a:ea typeface="Arial"/>
                <a:cs typeface="Arial"/>
              </a:defRPr>
            </a:lvl9pPr>
          </a:lstStyle>
          <a:p>
            <a:pPr>
              <a:defRPr sz="1500" b="0">
                <a:solidFill>
                  <a:srgbClr val="183A35"/>
                </a:solidFill>
                <a:latin typeface="Arial"/>
                <a:ea typeface="Arial"/>
                <a:cs typeface="Arial"/>
              </a:defRPr>
            </a:pPr>
            <a:r>
              <a:rPr sz="1500" b="0">
                <a:solidFill>
                  <a:srgbClr val="183A35"/>
                </a:solidFill>
                <a:latin typeface="Arial"/>
                <a:ea typeface="Arial"/>
                <a:cs typeface="Arial"/>
              </a:rPr>
              <a:t>Independent match splits; task-specific error and probability checks.</a:t>
            </a:r>
          </a:p>
        </p:txBody>
      </p:sp>
      <p:sp>
        <p:nvSpPr>
          <p:cNvPr id="8" name="">
            <a:extLst>
              <a:ext uri="{FF2B5EF4-FFF2-40B4-BE49-F238E27FC236}">
                <ns2:creationId id="{722B6212-C13A-4013-A0FF-856EF1BE2440}"/>
              </a:ext>
            </a:extLst>
          </p:cNvPr>
          <p:cNvSpPr>
            <a:spLocks noGrp="1"/>
          </p:cNvSpPr>
          <p:nvPr/>
        </p:nvSpPr>
        <p:spPr>
          <a:xfrm>
            <a:off x="457200" y="5210175"/>
            <a:ext cx="2209800" cy="619125"/>
          </a:xfrm>
          <a:prstGeom prst="rect">
            <a:avLst/>
          </a:prstGeom>
          <a:noFill/>
          <a:ln w="0">
            <a:noFill/>
          </a:ln>
        </p:spPr>
        <p:txBody>
          <a:bodyPr/>
          <a:lstStyle>
            <a:defPPr>
              <a:defRPr sz="975" b="0">
                <a:solidFill>
                  <a:srgbClr val="65756D"/>
                </a:solidFill>
                <a:latin typeface="Arial"/>
                <a:ea typeface="Arial"/>
                <a:cs typeface="Arial"/>
              </a:defRPr>
            </a:defPPr>
            <a:lvl1pPr>
              <a:defRPr sz="975" b="0">
                <a:solidFill>
                  <a:srgbClr val="65756D"/>
                </a:solidFill>
                <a:latin typeface="Arial"/>
                <a:ea typeface="Arial"/>
                <a:cs typeface="Arial"/>
              </a:defRPr>
            </a:lvl1pPr>
            <a:lvl2pPr>
              <a:defRPr sz="975" b="0">
                <a:solidFill>
                  <a:srgbClr val="65756D"/>
                </a:solidFill>
                <a:latin typeface="Arial"/>
                <a:ea typeface="Arial"/>
                <a:cs typeface="Arial"/>
              </a:defRPr>
            </a:lvl2pPr>
            <a:lvl3pPr>
              <a:defRPr sz="975" b="0">
                <a:solidFill>
                  <a:srgbClr val="65756D"/>
                </a:solidFill>
                <a:latin typeface="Arial"/>
                <a:ea typeface="Arial"/>
                <a:cs typeface="Arial"/>
              </a:defRPr>
            </a:lvl3pPr>
            <a:lvl4pPr>
              <a:defRPr sz="975" b="0">
                <a:solidFill>
                  <a:srgbClr val="65756D"/>
                </a:solidFill>
                <a:latin typeface="Arial"/>
                <a:ea typeface="Arial"/>
                <a:cs typeface="Arial"/>
              </a:defRPr>
            </a:lvl4pPr>
            <a:lvl5pPr>
              <a:defRPr sz="975" b="0">
                <a:solidFill>
                  <a:srgbClr val="65756D"/>
                </a:solidFill>
                <a:latin typeface="Arial"/>
                <a:ea typeface="Arial"/>
                <a:cs typeface="Arial"/>
              </a:defRPr>
            </a:lvl5pPr>
            <a:lvl6pPr>
              <a:defRPr sz="975" b="0">
                <a:solidFill>
                  <a:srgbClr val="65756D"/>
                </a:solidFill>
                <a:latin typeface="Arial"/>
                <a:ea typeface="Arial"/>
                <a:cs typeface="Arial"/>
              </a:defRPr>
            </a:lvl6pPr>
            <a:lvl7pPr>
              <a:defRPr sz="975" b="0">
                <a:solidFill>
                  <a:srgbClr val="65756D"/>
                </a:solidFill>
                <a:latin typeface="Arial"/>
                <a:ea typeface="Arial"/>
                <a:cs typeface="Arial"/>
              </a:defRPr>
            </a:lvl7pPr>
            <a:lvl8pPr>
              <a:defRPr sz="975" b="0">
                <a:solidFill>
                  <a:srgbClr val="65756D"/>
                </a:solidFill>
                <a:latin typeface="Arial"/>
                <a:ea typeface="Arial"/>
                <a:cs typeface="Arial"/>
              </a:defRPr>
            </a:lvl8pPr>
            <a:lvl9pPr>
              <a:defRPr sz="975" b="0">
                <a:solidFill>
                  <a:srgbClr val="65756D"/>
                </a:solidFill>
                <a:latin typeface="Arial"/>
                <a:ea typeface="Arial"/>
                <a:cs typeface="Arial"/>
              </a:defRPr>
            </a:lvl9pPr>
          </a:lstStyle>
          <a:p>
            <a:pPr>
              <a:defRPr sz="975" b="0">
                <a:solidFill>
                  <a:srgbClr val="65756D"/>
                </a:solidFill>
                <a:latin typeface="Arial"/>
                <a:ea typeface="Arial"/>
                <a:cs typeface="Arial"/>
              </a:defRPr>
            </a:pPr>
            <a:r>
              <a:rPr sz="975" b="0">
                <a:solidFill>
                  <a:srgbClr val="65756D"/>
                </a:solidFill>
                <a:latin typeface="Arial"/>
                <a:ea typeface="Arial"/>
                <a:cs typeface="Arial"/>
              </a:rPr>
              <a:t>Apply to every analytical avenue</a:t>
            </a:r>
          </a:p>
        </p:txBody>
      </p:sp>
      <p:pic>
        <p:nvPicPr>
          <p:cNvPr id="9" name="">
            <a:extLst>
              <a:ext uri="{FF2B5EF4-FFF2-40B4-BE49-F238E27FC236}">
                <ns2:creationId id="{34C571AB-966F-4D2B-9188-23FE70BB0BEB}"/>
              </a:ext>
            </a:extLst>
          </p:cNvPr>
          <p:cNvPicPr>
            <a:picLocks noChangeAspect="1"/>
          </p:cNvPicPr>
          <p:nvPr/>
        </p:nvPicPr>
        <p:blipFill>
          <a:blip r:embed="R041491716a744ea2"/>
          <a:stretch/>
        </p:blipFill>
        <p:spPr>
          <a:xfrm>
            <a:off x="3730598" y="1428750"/>
            <a:ext cx="7302555" cy="4333875"/>
          </a:xfrm>
          <a:prstGeom prst="rect">
            <a:avLst/>
          </a:prstGeom>
        </p:spPr>
      </p:pic>
      <p:sp>
        <p:nvSpPr>
          <p:cNvPr id="10" name="">
            <a:extLst>
              <a:ext uri="{FF2B5EF4-FFF2-40B4-BE49-F238E27FC236}">
                <ns2:creationId id="{98BD360E-6FAA-4E91-AA42-77C30D3925F1}"/>
              </a:ext>
            </a:extLst>
          </p:cNvPr>
          <p:cNvSpPr>
            <a:spLocks noGrp="1"/>
          </p:cNvSpPr>
          <p:nvPr/>
        </p:nvSpPr>
        <p:spPr>
          <a:xfrm>
            <a:off x="457200" y="5934075"/>
            <a:ext cx="11277600" cy="381000"/>
          </a:xfrm>
          <a:prstGeom prst="rect">
            <a:avLst/>
          </a:prstGeom>
          <a:noFill/>
          <a:ln w="0">
            <a:noFill/>
          </a:ln>
        </p:spPr>
        <p:txBody>
          <a:bodyPr/>
          <a:lstStyle>
            <a:defPPr>
              <a:defRPr sz="1650" b="1">
                <a:solidFill>
                  <a:srgbClr val="147D68"/>
                </a:solidFill>
                <a:latin typeface="Arial"/>
                <a:ea typeface="Arial"/>
                <a:cs typeface="Arial"/>
              </a:defRPr>
            </a:defPPr>
            <a:lvl1pPr>
              <a:defRPr sz="1650" b="1">
                <a:solidFill>
                  <a:srgbClr val="147D68"/>
                </a:solidFill>
                <a:latin typeface="Arial"/>
                <a:ea typeface="Arial"/>
                <a:cs typeface="Arial"/>
              </a:defRPr>
            </a:lvl1pPr>
            <a:lvl2pPr>
              <a:defRPr sz="1650" b="1">
                <a:solidFill>
                  <a:srgbClr val="147D68"/>
                </a:solidFill>
                <a:latin typeface="Arial"/>
                <a:ea typeface="Arial"/>
                <a:cs typeface="Arial"/>
              </a:defRPr>
            </a:lvl2pPr>
            <a:lvl3pPr>
              <a:defRPr sz="1650" b="1">
                <a:solidFill>
                  <a:srgbClr val="147D68"/>
                </a:solidFill>
                <a:latin typeface="Arial"/>
                <a:ea typeface="Arial"/>
                <a:cs typeface="Arial"/>
              </a:defRPr>
            </a:lvl3pPr>
            <a:lvl4pPr>
              <a:defRPr sz="1650" b="1">
                <a:solidFill>
                  <a:srgbClr val="147D68"/>
                </a:solidFill>
                <a:latin typeface="Arial"/>
                <a:ea typeface="Arial"/>
                <a:cs typeface="Arial"/>
              </a:defRPr>
            </a:lvl4pPr>
            <a:lvl5pPr>
              <a:defRPr sz="1650" b="1">
                <a:solidFill>
                  <a:srgbClr val="147D68"/>
                </a:solidFill>
                <a:latin typeface="Arial"/>
                <a:ea typeface="Arial"/>
                <a:cs typeface="Arial"/>
              </a:defRPr>
            </a:lvl5pPr>
            <a:lvl6pPr>
              <a:defRPr sz="1650" b="1">
                <a:solidFill>
                  <a:srgbClr val="147D68"/>
                </a:solidFill>
                <a:latin typeface="Arial"/>
                <a:ea typeface="Arial"/>
                <a:cs typeface="Arial"/>
              </a:defRPr>
            </a:lvl6pPr>
            <a:lvl7pPr>
              <a:defRPr sz="1650" b="1">
                <a:solidFill>
                  <a:srgbClr val="147D68"/>
                </a:solidFill>
                <a:latin typeface="Arial"/>
                <a:ea typeface="Arial"/>
                <a:cs typeface="Arial"/>
              </a:defRPr>
            </a:lvl7pPr>
            <a:lvl8pPr>
              <a:defRPr sz="1650" b="1">
                <a:solidFill>
                  <a:srgbClr val="147D68"/>
                </a:solidFill>
                <a:latin typeface="Arial"/>
                <a:ea typeface="Arial"/>
                <a:cs typeface="Arial"/>
              </a:defRPr>
            </a:lvl8pPr>
            <a:lvl9pPr>
              <a:defRPr sz="1650" b="1">
                <a:solidFill>
                  <a:srgbClr val="147D68"/>
                </a:solidFill>
                <a:latin typeface="Arial"/>
                <a:ea typeface="Arial"/>
                <a:cs typeface="Arial"/>
              </a:defRPr>
            </a:lvl9pPr>
          </a:lstStyle>
          <a:p>
            <a:pPr>
              <a:defRPr sz="1650" b="1">
                <a:solidFill>
                  <a:srgbClr val="147D68"/>
                </a:solidFill>
                <a:latin typeface="Arial"/>
                <a:ea typeface="Arial"/>
                <a:cs typeface="Arial"/>
              </a:defRPr>
            </a:pPr>
            <a:r>
              <a:rPr sz="1650" b="1">
                <a:solidFill>
                  <a:srgbClr val="147D68"/>
                </a:solidFill>
                <a:latin typeface="Arial"/>
                <a:ea typeface="Arial"/>
                <a:cs typeface="Arial"/>
              </a:rPr>
              <a:t>A useful result states its target, evidence, uncertainty and failure modes.</a:t>
            </a:r>
          </a:p>
        </p:txBody>
      </p:sp>
      <p:sp>
        <p:nvSpPr>
          <p:cNvPr id="11" name="">
            <a:extLst>
              <a:ext uri="{FF2B5EF4-FFF2-40B4-BE49-F238E27FC236}">
                <ns2:creationId id="{B14F6CCF-98C9-4955-A9A5-917255620026}"/>
              </a:ext>
            </a:extLst>
          </p:cNvPr>
          <p:cNvSpPr>
            <a:spLocks noGrp="1"/>
          </p:cNvSpPr>
          <p:nvPr/>
        </p:nvSpPr>
        <p:spPr>
          <a:xfrm>
            <a:off x="457200"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4"/>
              </a:rPr>
              <a:t>SkillCorner open data and schema</a:t>
            </a:r>
          </a:p>
        </p:txBody>
      </p:sp>
      <p:sp>
        <p:nvSpPr>
          <p:cNvPr id="12" name="">
            <a:extLst>
              <a:ext uri="{FF2B5EF4-FFF2-40B4-BE49-F238E27FC236}">
                <ns2:creationId id="{24E6DF45-27D0-40BC-8590-0DC53FA5912F}"/>
              </a:ext>
            </a:extLst>
          </p:cNvPr>
          <p:cNvSpPr>
            <a:spLocks noGrp="1"/>
          </p:cNvSpPr>
          <p:nvPr/>
        </p:nvSpPr>
        <p:spPr>
          <a:xfrm>
            <a:off x="3552825" y="6429375"/>
            <a:ext cx="3000375" cy="285750"/>
          </a:xfrm>
          <a:prstGeom prst="rect">
            <a:avLst/>
          </a:prstGeom>
          <a:noFill/>
          <a:ln w="0">
            <a:noFill/>
          </a:ln>
        </p:spPr>
        <p:txBody>
          <a:bodyPr/>
          <a:lstStyle>
            <a:defPPr>
              <a:defRPr sz="750" b="0">
                <a:solidFill>
                  <a:srgbClr val="51645C"/>
                </a:solidFill>
                <a:latin typeface="Arial"/>
                <a:ea typeface="Arial"/>
                <a:cs typeface="Arial"/>
              </a:defRPr>
            </a:defPPr>
            <a:lvl1pPr>
              <a:defRPr sz="750" b="0">
                <a:solidFill>
                  <a:srgbClr val="51645C"/>
                </a:solidFill>
                <a:latin typeface="Arial"/>
                <a:ea typeface="Arial"/>
                <a:cs typeface="Arial"/>
              </a:defRPr>
            </a:lvl1pPr>
            <a:lvl2pPr>
              <a:defRPr sz="750" b="0">
                <a:solidFill>
                  <a:srgbClr val="51645C"/>
                </a:solidFill>
                <a:latin typeface="Arial"/>
                <a:ea typeface="Arial"/>
                <a:cs typeface="Arial"/>
              </a:defRPr>
            </a:lvl2pPr>
            <a:lvl3pPr>
              <a:defRPr sz="750" b="0">
                <a:solidFill>
                  <a:srgbClr val="51645C"/>
                </a:solidFill>
                <a:latin typeface="Arial"/>
                <a:ea typeface="Arial"/>
                <a:cs typeface="Arial"/>
              </a:defRPr>
            </a:lvl3pPr>
            <a:lvl4pPr>
              <a:defRPr sz="750" b="0">
                <a:solidFill>
                  <a:srgbClr val="51645C"/>
                </a:solidFill>
                <a:latin typeface="Arial"/>
                <a:ea typeface="Arial"/>
                <a:cs typeface="Arial"/>
              </a:defRPr>
            </a:lvl4pPr>
            <a:lvl5pPr>
              <a:defRPr sz="750" b="0">
                <a:solidFill>
                  <a:srgbClr val="51645C"/>
                </a:solidFill>
                <a:latin typeface="Arial"/>
                <a:ea typeface="Arial"/>
                <a:cs typeface="Arial"/>
              </a:defRPr>
            </a:lvl5pPr>
            <a:lvl6pPr>
              <a:defRPr sz="750" b="0">
                <a:solidFill>
                  <a:srgbClr val="51645C"/>
                </a:solidFill>
                <a:latin typeface="Arial"/>
                <a:ea typeface="Arial"/>
                <a:cs typeface="Arial"/>
              </a:defRPr>
            </a:lvl6pPr>
            <a:lvl7pPr>
              <a:defRPr sz="750" b="0">
                <a:solidFill>
                  <a:srgbClr val="51645C"/>
                </a:solidFill>
                <a:latin typeface="Arial"/>
                <a:ea typeface="Arial"/>
                <a:cs typeface="Arial"/>
              </a:defRPr>
            </a:lvl7pPr>
            <a:lvl8pPr>
              <a:defRPr sz="750" b="0">
                <a:solidFill>
                  <a:srgbClr val="51645C"/>
                </a:solidFill>
                <a:latin typeface="Arial"/>
                <a:ea typeface="Arial"/>
                <a:cs typeface="Arial"/>
              </a:defRPr>
            </a:lvl8pPr>
            <a:lvl9pPr>
              <a:defRPr sz="750" b="0">
                <a:solidFill>
                  <a:srgbClr val="51645C"/>
                </a:solidFill>
                <a:latin typeface="Arial"/>
                <a:ea typeface="Arial"/>
                <a:cs typeface="Arial"/>
              </a:defRPr>
            </a:lvl9pPr>
          </a:lstStyle>
          <a:p>
            <a:pPr>
              <a:defRPr sz="750" b="0">
                <a:solidFill>
                  <a:srgbClr val="51645C"/>
                </a:solidFill>
                <a:latin typeface="Arial"/>
                <a:ea typeface="Arial"/>
                <a:cs typeface="Arial"/>
              </a:defRPr>
            </a:pPr>
            <a:r>
              <a:rPr sz="750" b="0">
                <a:solidFill>
                  <a:srgbClr val="51645C"/>
                </a:solidFill>
                <a:latin typeface="Arial"/>
                <a:ea typeface="Arial"/>
                <a:cs typeface="Arial"/>
                <a:hlinkClick r:id="rIdWorkshop5"/>
              </a:rPr>
              <a:t>Fine-grained expected possession value (2021)</a:t>
            </a:r>
          </a:p>
        </p:txBody>
      </p:sp>
      <p:sp>
        <p:nvSpPr>
          <p:cNvPr id="13" name="">
            <a:extLst>
              <a:ext uri="{FF2B5EF4-FFF2-40B4-BE49-F238E27FC236}">
                <ns2:creationId id="{7B542C64-D786-4739-98B4-FCB2230004A7}"/>
              </a:ext>
            </a:extLst>
          </p:cNvPr>
          <p:cNvSpPr>
            <a:spLocks noGrp="1"/>
          </p:cNvSpPr>
          <p:nvPr/>
        </p:nvSpPr>
        <p:spPr>
          <a:xfrm>
            <a:off x="11544300" y="6429375"/>
            <a:ext cx="381000" cy="257175"/>
          </a:xfrm>
          <a:prstGeom prst="rect">
            <a:avLst/>
          </a:prstGeom>
          <a:noFill/>
          <a:ln w="0">
            <a:noFill/>
          </a:ln>
        </p:spPr>
        <p:txBody>
          <a:bodyPr/>
          <a:lstStyle>
            <a:defPPr>
              <a:defRPr sz="975" b="0">
                <a:solidFill>
                  <a:srgbClr val="51645C"/>
                </a:solidFill>
                <a:latin typeface="Arial"/>
                <a:ea typeface="Arial"/>
                <a:cs typeface="Arial"/>
              </a:defRPr>
            </a:defPPr>
            <a:lvl1pPr>
              <a:defRPr sz="975" b="0">
                <a:solidFill>
                  <a:srgbClr val="51645C"/>
                </a:solidFill>
                <a:latin typeface="Arial"/>
                <a:ea typeface="Arial"/>
                <a:cs typeface="Arial"/>
              </a:defRPr>
            </a:lvl1pPr>
            <a:lvl2pPr>
              <a:defRPr sz="975" b="0">
                <a:solidFill>
                  <a:srgbClr val="51645C"/>
                </a:solidFill>
                <a:latin typeface="Arial"/>
                <a:ea typeface="Arial"/>
                <a:cs typeface="Arial"/>
              </a:defRPr>
            </a:lvl2pPr>
            <a:lvl3pPr>
              <a:defRPr sz="975" b="0">
                <a:solidFill>
                  <a:srgbClr val="51645C"/>
                </a:solidFill>
                <a:latin typeface="Arial"/>
                <a:ea typeface="Arial"/>
                <a:cs typeface="Arial"/>
              </a:defRPr>
            </a:lvl3pPr>
            <a:lvl4pPr>
              <a:defRPr sz="975" b="0">
                <a:solidFill>
                  <a:srgbClr val="51645C"/>
                </a:solidFill>
                <a:latin typeface="Arial"/>
                <a:ea typeface="Arial"/>
                <a:cs typeface="Arial"/>
              </a:defRPr>
            </a:lvl4pPr>
            <a:lvl5pPr>
              <a:defRPr sz="975" b="0">
                <a:solidFill>
                  <a:srgbClr val="51645C"/>
                </a:solidFill>
                <a:latin typeface="Arial"/>
                <a:ea typeface="Arial"/>
                <a:cs typeface="Arial"/>
              </a:defRPr>
            </a:lvl5pPr>
            <a:lvl6pPr>
              <a:defRPr sz="975" b="0">
                <a:solidFill>
                  <a:srgbClr val="51645C"/>
                </a:solidFill>
                <a:latin typeface="Arial"/>
                <a:ea typeface="Arial"/>
                <a:cs typeface="Arial"/>
              </a:defRPr>
            </a:lvl6pPr>
            <a:lvl7pPr>
              <a:defRPr sz="975" b="0">
                <a:solidFill>
                  <a:srgbClr val="51645C"/>
                </a:solidFill>
                <a:latin typeface="Arial"/>
                <a:ea typeface="Arial"/>
                <a:cs typeface="Arial"/>
              </a:defRPr>
            </a:lvl7pPr>
            <a:lvl8pPr>
              <a:defRPr sz="975" b="0">
                <a:solidFill>
                  <a:srgbClr val="51645C"/>
                </a:solidFill>
                <a:latin typeface="Arial"/>
                <a:ea typeface="Arial"/>
                <a:cs typeface="Arial"/>
              </a:defRPr>
            </a:lvl8pPr>
            <a:lvl9pPr>
              <a:defRPr sz="975" b="0">
                <a:solidFill>
                  <a:srgbClr val="51645C"/>
                </a:solidFill>
                <a:latin typeface="Arial"/>
                <a:ea typeface="Arial"/>
                <a:cs typeface="Arial"/>
              </a:defRPr>
            </a:lvl9pPr>
          </a:lstStyle>
          <a:p>
            <a:pPr>
              <a:defRPr sz="975" b="0">
                <a:solidFill>
                  <a:srgbClr val="51645C"/>
                </a:solidFill>
                <a:latin typeface="Arial"/>
                <a:ea typeface="Arial"/>
                <a:cs typeface="Arial"/>
              </a:defRPr>
            </a:pPr>
            <a:r>
              <a:rPr sz="975" b="0">
                <a:solidFill>
                  <a:srgbClr val="51645C"/>
                </a:solidFill>
                <a:latin typeface="Arial"/>
                <a:ea typeface="Arial"/>
                <a:cs typeface="Arial"/>
              </a:rPr>
              <a:t>51</a:t>
            </a:r>
          </a:p>
        </p:txBody>
      </p:sp>
    </p:spTree>
    <p:extLst>
      <p:ext uri="{BB962C8B-B14F-4D97-AF65-F5344CB8AC3E}">
        <p14:creationId val="1687010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2026-10-21T23:37:00.4460000Z</dcterms:created>
  <dcterms:modified xsi:type="dcterms:W3CDTF">2026-10-21T23:37:00.4460000Z</dcterms:modified>
</coreProperties>
</file>
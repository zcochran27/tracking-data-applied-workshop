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bdc4b93f4ac64a2c" /><Relationship Type="http://schemas.openxmlformats.org/officeDocument/2006/relationships/extended-properties" Target="/docProps/app.xml" Id="Rd2663da25a03421d" /><Relationship Type="http://schemas.openxmlformats.org/officeDocument/2006/relationships/officeDocument" Target="/ppt/presentation.xml" Id="R0f85073694ae4a05" /></Relationships>
</file>

<file path=ppt/presentation.xml><?xml version="1.0" encoding="utf-8"?>
<p:presentation xmlns:p="http://schemas.openxmlformats.org/presentationml/2006/main">
  <p:sldMasterIdLst>
    <p:sldMasterId xmlns:r="http://schemas.openxmlformats.org/officeDocument/2006/relationships" id="2147483648" r:id="R23e78ecdb21a4bab"/>
  </p:sldMasterIdLst>
  <p:notesMasterIdLst>
    <p:notesMasterId xmlns:r="http://schemas.openxmlformats.org/officeDocument/2006/relationships" r:id="Re5a526526398439d"/>
  </p:notesMasterIdLst>
  <p:sldIdLst>
    <p:sldId xmlns:r="http://schemas.openxmlformats.org/officeDocument/2006/relationships" id="256" r:id="Rd52281174c844462"/>
    <p:sldId xmlns:r="http://schemas.openxmlformats.org/officeDocument/2006/relationships" id="257" r:id="Raf5f4d4c3a4943ab"/>
    <p:sldId xmlns:r="http://schemas.openxmlformats.org/officeDocument/2006/relationships" id="258" r:id="R8e6a826a76914f5d"/>
    <p:sldId xmlns:r="http://schemas.openxmlformats.org/officeDocument/2006/relationships" id="259" r:id="R5926898521a243fc"/>
    <p:sldId xmlns:r="http://schemas.openxmlformats.org/officeDocument/2006/relationships" id="260" r:id="R81169a1d93d84b3d"/>
    <p:sldId xmlns:r="http://schemas.openxmlformats.org/officeDocument/2006/relationships" id="261" r:id="R67ecd221b6544fe8"/>
    <p:sldId xmlns:r="http://schemas.openxmlformats.org/officeDocument/2006/relationships" id="262" r:id="Ra1d587eb842d46fc"/>
    <p:sldId xmlns:r="http://schemas.openxmlformats.org/officeDocument/2006/relationships" id="263" r:id="R5f673c6596cb47f8"/>
    <p:sldId xmlns:r="http://schemas.openxmlformats.org/officeDocument/2006/relationships" id="264" r:id="Refc4c0ae1e1048ab"/>
    <p:sldId xmlns:r="http://schemas.openxmlformats.org/officeDocument/2006/relationships" id="265" r:id="R66485ad585ce447f"/>
    <p:sldId xmlns:r="http://schemas.openxmlformats.org/officeDocument/2006/relationships" id="266" r:id="R5187df911a26419d"/>
    <p:sldId xmlns:r="http://schemas.openxmlformats.org/officeDocument/2006/relationships" id="267" r:id="R587aa99ad1eb488c"/>
    <p:sldId xmlns:r="http://schemas.openxmlformats.org/officeDocument/2006/relationships" id="268" r:id="R9c2fabc1afc643a1"/>
    <p:sldId xmlns:r="http://schemas.openxmlformats.org/officeDocument/2006/relationships" id="269" r:id="R323137a688634441"/>
    <p:sldId xmlns:r="http://schemas.openxmlformats.org/officeDocument/2006/relationships" id="270" r:id="R3fda6bed5fd64163"/>
    <p:sldId xmlns:r="http://schemas.openxmlformats.org/officeDocument/2006/relationships" id="271" r:id="R5223d9859fe44965"/>
    <p:sldId xmlns:r="http://schemas.openxmlformats.org/officeDocument/2006/relationships" id="272" r:id="Re766097b97ad4b6c"/>
    <p:sldId xmlns:r="http://schemas.openxmlformats.org/officeDocument/2006/relationships" id="273" r:id="R4f0f7bcdb8fa4d25"/>
    <p:sldId xmlns:r="http://schemas.openxmlformats.org/officeDocument/2006/relationships" id="274" r:id="Rde24c546cf8c4f80"/>
    <p:sldId xmlns:r="http://schemas.openxmlformats.org/officeDocument/2006/relationships" id="275" r:id="R5af8f77b82af471d"/>
    <p:sldId xmlns:r="http://schemas.openxmlformats.org/officeDocument/2006/relationships" id="276" r:id="Rf46b2dd75b084572"/>
    <p:sldId xmlns:r="http://schemas.openxmlformats.org/officeDocument/2006/relationships" id="277" r:id="R25a87bc151c8498e"/>
    <p:sldId xmlns:r="http://schemas.openxmlformats.org/officeDocument/2006/relationships" id="278" r:id="R28d4b2c2d787462b"/>
    <p:sldId xmlns:r="http://schemas.openxmlformats.org/officeDocument/2006/relationships" id="279" r:id="R779396b016524919"/>
    <p:sldId xmlns:r="http://schemas.openxmlformats.org/officeDocument/2006/relationships" id="280" r:id="R48b8a987664b461c"/>
    <p:sldId xmlns:r="http://schemas.openxmlformats.org/officeDocument/2006/relationships" id="281" r:id="Rc31d13f8b8f448c8"/>
    <p:sldId xmlns:r="http://schemas.openxmlformats.org/officeDocument/2006/relationships" id="282" r:id="R3e8d8af1763a4af1"/>
    <p:sldId xmlns:r="http://schemas.openxmlformats.org/officeDocument/2006/relationships" id="283" r:id="R5a24a6c2ef7f4dba"/>
    <p:sldId xmlns:r="http://schemas.openxmlformats.org/officeDocument/2006/relationships" id="284" r:id="Rd3f12cacf4db4422"/>
    <p:sldId xmlns:r="http://schemas.openxmlformats.org/officeDocument/2006/relationships" id="285" r:id="R1d1c9f251e5447da"/>
    <p:sldId xmlns:r="http://schemas.openxmlformats.org/officeDocument/2006/relationships" id="286" r:id="Rb7b9636adb1643b9"/>
    <p:sldId xmlns:r="http://schemas.openxmlformats.org/officeDocument/2006/relationships" id="287" r:id="R259541b93fdb4cce"/>
    <p:sldId xmlns:r="http://schemas.openxmlformats.org/officeDocument/2006/relationships" id="288" r:id="R0bd315e1373d4312"/>
    <p:sldId xmlns:r="http://schemas.openxmlformats.org/officeDocument/2006/relationships" id="289" r:id="R9679a402850c4c77"/>
    <p:sldId xmlns:r="http://schemas.openxmlformats.org/officeDocument/2006/relationships" id="290" r:id="R4d766ccee5b34659"/>
    <p:sldId xmlns:r="http://schemas.openxmlformats.org/officeDocument/2006/relationships" id="291" r:id="R3734db48192646d2"/>
    <p:sldId xmlns:r="http://schemas.openxmlformats.org/officeDocument/2006/relationships" id="292" r:id="Rc5d9396204bb425c"/>
    <p:sldId xmlns:r="http://schemas.openxmlformats.org/officeDocument/2006/relationships" id="293" r:id="Rc152eab6302942d5"/>
    <p:sldId xmlns:r="http://schemas.openxmlformats.org/officeDocument/2006/relationships" id="294" r:id="R0a04616867e5427f"/>
    <p:sldId xmlns:r="http://schemas.openxmlformats.org/officeDocument/2006/relationships" id="295" r:id="Rf0cc94ee4ed24ba6"/>
    <p:sldId xmlns:r="http://schemas.openxmlformats.org/officeDocument/2006/relationships" id="296" r:id="R577a247671214a26"/>
    <p:sldId xmlns:r="http://schemas.openxmlformats.org/officeDocument/2006/relationships" id="297" r:id="R5099c528a75e4f9f"/>
    <p:sldId xmlns:r="http://schemas.openxmlformats.org/officeDocument/2006/relationships" id="298" r:id="Rc8a9043d4ba14ae8"/>
    <p:sldId xmlns:r="http://schemas.openxmlformats.org/officeDocument/2006/relationships" id="299" r:id="R4914b0b6d1894975"/>
    <p:sldId xmlns:r="http://schemas.openxmlformats.org/officeDocument/2006/relationships" id="300" r:id="Rdcb3c1495dd24d2a"/>
    <p:sldId xmlns:r="http://schemas.openxmlformats.org/officeDocument/2006/relationships" id="301" r:id="Ra43e74691dfd4811"/>
    <p:sldId xmlns:r="http://schemas.openxmlformats.org/officeDocument/2006/relationships" id="302" r:id="R64c84c9155c74dbf"/>
    <p:sldId xmlns:r="http://schemas.openxmlformats.org/officeDocument/2006/relationships" id="303" r:id="R36aba1b9e04e4e4a"/>
    <p:sldId xmlns:r="http://schemas.openxmlformats.org/officeDocument/2006/relationships" id="304" r:id="Rb88fc49cf4ce43c9"/>
    <p:sldId xmlns:r="http://schemas.openxmlformats.org/officeDocument/2006/relationships" id="305" r:id="Rf22b585f41ba4d4a"/>
    <p:sldId xmlns:r="http://schemas.openxmlformats.org/officeDocument/2006/relationships" id="306" r:id="R08801158a60a46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bf33ee2d7e45c1" /><Relationship Type="http://schemas.openxmlformats.org/officeDocument/2006/relationships/slideMaster" Target="/ppt/slideMasters/slideMaster1.xml" Id="R23e78ecdb21a4bab" /><Relationship Type="http://schemas.openxmlformats.org/officeDocument/2006/relationships/notesMaster" Target="/ppt/notesMasters/notesMaster1.xml" Id="Re5a526526398439d" /><Relationship Type="http://schemas.openxmlformats.org/officeDocument/2006/relationships/presProps" Target="/ppt/presProps.xml" Id="R3990ad84dcf848fd" /><Relationship Type="http://schemas.openxmlformats.org/officeDocument/2006/relationships/tableStyles" Target="/ppt/tableStyles.xml" Id="R13a6dcc8131149d7" /><Relationship Type="http://schemas.openxmlformats.org/officeDocument/2006/relationships/slide" Target="/ppt/slides/slide1.xml" Id="Rd52281174c844462" /><Relationship Type="http://schemas.openxmlformats.org/officeDocument/2006/relationships/slide" Target="/ppt/slides/slide2.xml" Id="Raf5f4d4c3a4943ab" /><Relationship Type="http://schemas.openxmlformats.org/officeDocument/2006/relationships/slide" Target="/ppt/slides/slide3.xml" Id="R8e6a826a76914f5d" /><Relationship Type="http://schemas.openxmlformats.org/officeDocument/2006/relationships/slide" Target="/ppt/slides/slide4.xml" Id="R5926898521a243fc" /><Relationship Type="http://schemas.openxmlformats.org/officeDocument/2006/relationships/slide" Target="/ppt/slides/slide5.xml" Id="R81169a1d93d84b3d" /><Relationship Type="http://schemas.openxmlformats.org/officeDocument/2006/relationships/slide" Target="/ppt/slides/slide6.xml" Id="R67ecd221b6544fe8" /><Relationship Type="http://schemas.openxmlformats.org/officeDocument/2006/relationships/slide" Target="/ppt/slides/slide7.xml" Id="Ra1d587eb842d46fc" /><Relationship Type="http://schemas.openxmlformats.org/officeDocument/2006/relationships/slide" Target="/ppt/slides/slide8.xml" Id="R5f673c6596cb47f8" /><Relationship Type="http://schemas.openxmlformats.org/officeDocument/2006/relationships/slide" Target="/ppt/slides/slide9.xml" Id="Refc4c0ae1e1048ab" /><Relationship Type="http://schemas.openxmlformats.org/officeDocument/2006/relationships/slide" Target="/ppt/slides/slide10.xml" Id="R66485ad585ce447f" /><Relationship Type="http://schemas.openxmlformats.org/officeDocument/2006/relationships/slide" Target="/ppt/slides/slide11.xml" Id="R5187df911a26419d" /><Relationship Type="http://schemas.openxmlformats.org/officeDocument/2006/relationships/slide" Target="/ppt/slides/slide12.xml" Id="R587aa99ad1eb488c" /><Relationship Type="http://schemas.openxmlformats.org/officeDocument/2006/relationships/slide" Target="/ppt/slides/slide13.xml" Id="R9c2fabc1afc643a1" /><Relationship Type="http://schemas.openxmlformats.org/officeDocument/2006/relationships/slide" Target="/ppt/slides/slide14.xml" Id="R323137a688634441" /><Relationship Type="http://schemas.openxmlformats.org/officeDocument/2006/relationships/slide" Target="/ppt/slides/slide15.xml" Id="R3fda6bed5fd64163" /><Relationship Type="http://schemas.openxmlformats.org/officeDocument/2006/relationships/slide" Target="/ppt/slides/slide16.xml" Id="R5223d9859fe44965" /><Relationship Type="http://schemas.openxmlformats.org/officeDocument/2006/relationships/slide" Target="/ppt/slides/slide17.xml" Id="Re766097b97ad4b6c" /><Relationship Type="http://schemas.openxmlformats.org/officeDocument/2006/relationships/slide" Target="/ppt/slides/slide18.xml" Id="R4f0f7bcdb8fa4d25" /><Relationship Type="http://schemas.openxmlformats.org/officeDocument/2006/relationships/slide" Target="/ppt/slides/slide19.xml" Id="Rde24c546cf8c4f80" /><Relationship Type="http://schemas.openxmlformats.org/officeDocument/2006/relationships/slide" Target="/ppt/slides/slide20.xml" Id="R5af8f77b82af471d" /><Relationship Type="http://schemas.openxmlformats.org/officeDocument/2006/relationships/slide" Target="/ppt/slides/slide21.xml" Id="Rf46b2dd75b084572" /><Relationship Type="http://schemas.openxmlformats.org/officeDocument/2006/relationships/slide" Target="/ppt/slides/slide22.xml" Id="R25a87bc151c8498e" /><Relationship Type="http://schemas.openxmlformats.org/officeDocument/2006/relationships/slide" Target="/ppt/slides/slide23.xml" Id="R28d4b2c2d787462b" /><Relationship Type="http://schemas.openxmlformats.org/officeDocument/2006/relationships/slide" Target="/ppt/slides/slide24.xml" Id="R779396b016524919" /><Relationship Type="http://schemas.openxmlformats.org/officeDocument/2006/relationships/slide" Target="/ppt/slides/slide25.xml" Id="R48b8a987664b461c" /><Relationship Type="http://schemas.openxmlformats.org/officeDocument/2006/relationships/slide" Target="/ppt/slides/slide26.xml" Id="Rc31d13f8b8f448c8" /><Relationship Type="http://schemas.openxmlformats.org/officeDocument/2006/relationships/slide" Target="/ppt/slides/slide27.xml" Id="R3e8d8af1763a4af1" /><Relationship Type="http://schemas.openxmlformats.org/officeDocument/2006/relationships/slide" Target="/ppt/slides/slide28.xml" Id="R5a24a6c2ef7f4dba" /><Relationship Type="http://schemas.openxmlformats.org/officeDocument/2006/relationships/slide" Target="/ppt/slides/slide29.xml" Id="Rd3f12cacf4db4422" /><Relationship Type="http://schemas.openxmlformats.org/officeDocument/2006/relationships/slide" Target="/ppt/slides/slide30.xml" Id="R1d1c9f251e5447da" /><Relationship Type="http://schemas.openxmlformats.org/officeDocument/2006/relationships/slide" Target="/ppt/slides/slide31.xml" Id="Rb7b9636adb1643b9" /><Relationship Type="http://schemas.openxmlformats.org/officeDocument/2006/relationships/slide" Target="/ppt/slides/slide32.xml" Id="R259541b93fdb4cce" /><Relationship Type="http://schemas.openxmlformats.org/officeDocument/2006/relationships/slide" Target="/ppt/slides/slide33.xml" Id="R0bd315e1373d4312" /><Relationship Type="http://schemas.openxmlformats.org/officeDocument/2006/relationships/slide" Target="/ppt/slides/slide34.xml" Id="R9679a402850c4c77" /><Relationship Type="http://schemas.openxmlformats.org/officeDocument/2006/relationships/slide" Target="/ppt/slides/slide35.xml" Id="R4d766ccee5b34659" /><Relationship Type="http://schemas.openxmlformats.org/officeDocument/2006/relationships/slide" Target="/ppt/slides/slide36.xml" Id="R3734db48192646d2" /><Relationship Type="http://schemas.openxmlformats.org/officeDocument/2006/relationships/slide" Target="/ppt/slides/slide37.xml" Id="Rc5d9396204bb425c" /><Relationship Type="http://schemas.openxmlformats.org/officeDocument/2006/relationships/slide" Target="/ppt/slides/slide38.xml" Id="Rc152eab6302942d5" /><Relationship Type="http://schemas.openxmlformats.org/officeDocument/2006/relationships/slide" Target="/ppt/slides/slide39.xml" Id="R0a04616867e5427f" /><Relationship Type="http://schemas.openxmlformats.org/officeDocument/2006/relationships/slide" Target="/ppt/slides/slide40.xml" Id="Rf0cc94ee4ed24ba6" /><Relationship Type="http://schemas.openxmlformats.org/officeDocument/2006/relationships/slide" Target="/ppt/slides/slide41.xml" Id="R577a247671214a26" /><Relationship Type="http://schemas.openxmlformats.org/officeDocument/2006/relationships/slide" Target="/ppt/slides/slide42.xml" Id="R5099c528a75e4f9f" /><Relationship Type="http://schemas.openxmlformats.org/officeDocument/2006/relationships/slide" Target="/ppt/slides/slide43.xml" Id="Rc8a9043d4ba14ae8" /><Relationship Type="http://schemas.openxmlformats.org/officeDocument/2006/relationships/slide" Target="/ppt/slides/slide44.xml" Id="R4914b0b6d1894975" /><Relationship Type="http://schemas.openxmlformats.org/officeDocument/2006/relationships/slide" Target="/ppt/slides/slide45.xml" Id="Rdcb3c1495dd24d2a" /><Relationship Type="http://schemas.openxmlformats.org/officeDocument/2006/relationships/slide" Target="/ppt/slides/slide46.xml" Id="Ra43e74691dfd4811" /><Relationship Type="http://schemas.openxmlformats.org/officeDocument/2006/relationships/slide" Target="/ppt/slides/slide47.xml" Id="R64c84c9155c74dbf" /><Relationship Type="http://schemas.openxmlformats.org/officeDocument/2006/relationships/slide" Target="/ppt/slides/slide48.xml" Id="R36aba1b9e04e4e4a" /><Relationship Type="http://schemas.openxmlformats.org/officeDocument/2006/relationships/slide" Target="/ppt/slides/slide49.xml" Id="Rb88fc49cf4ce43c9" /><Relationship Type="http://schemas.openxmlformats.org/officeDocument/2006/relationships/slide" Target="/ppt/slides/slide50.xml" Id="Rf22b585f41ba4d4a" /><Relationship Type="http://schemas.openxmlformats.org/officeDocument/2006/relationships/slide" Target="/ppt/slides/slide51.xml" Id="R08801158a60a46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4d86570f7941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46db7cf348b4291" /><Relationship Type="http://schemas.openxmlformats.org/officeDocument/2006/relationships/notesMaster" Target="/ppt/notesMasters/notesMaster1.xml" Id="R3729b7b2452441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fff0bdc71d4b28" /><Relationship Type="http://schemas.openxmlformats.org/officeDocument/2006/relationships/notesMaster" Target="/ppt/notesMasters/notesMaster1.xml" Id="R2e57d1c3bfd84b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2c0bedae8e4bf3" /><Relationship Type="http://schemas.openxmlformats.org/officeDocument/2006/relationships/notesMaster" Target="/ppt/notesMasters/notesMaster1.xml" Id="R031475a911ed40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0eb4b68eb64fee" /><Relationship Type="http://schemas.openxmlformats.org/officeDocument/2006/relationships/notesMaster" Target="/ppt/notesMasters/notesMaster1.xml" Id="Rc35e23a7a8fb46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878f9a3377489a" /><Relationship Type="http://schemas.openxmlformats.org/officeDocument/2006/relationships/notesMaster" Target="/ppt/notesMasters/notesMaster1.xml" Id="R2c31644d73e041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200efc9d3a44c2" /><Relationship Type="http://schemas.openxmlformats.org/officeDocument/2006/relationships/notesMaster" Target="/ppt/notesMasters/notesMaster1.xml" Id="Rcb8bfc319e1b43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2acc9c2345488a" /><Relationship Type="http://schemas.openxmlformats.org/officeDocument/2006/relationships/notesMaster" Target="/ppt/notesMasters/notesMaster1.xml" Id="R77db7308a4be4d4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e8ef5316684dde" /><Relationship Type="http://schemas.openxmlformats.org/officeDocument/2006/relationships/notesMaster" Target="/ppt/notesMasters/notesMaster1.xml" Id="R1ca5f014fd3e4f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e5a5e02d2b445a" /><Relationship Type="http://schemas.openxmlformats.org/officeDocument/2006/relationships/notesMaster" Target="/ppt/notesMasters/notesMaster1.xml" Id="R157394f4b1984e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ff0b44099e947d4" /><Relationship Type="http://schemas.openxmlformats.org/officeDocument/2006/relationships/notesMaster" Target="/ppt/notesMasters/notesMaster1.xml" Id="R19be67d411a246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b04dc64eca45da" /><Relationship Type="http://schemas.openxmlformats.org/officeDocument/2006/relationships/notesMaster" Target="/ppt/notesMasters/notesMaster1.xml" Id="Re2b02d59ede6451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d8549859e54f94" /><Relationship Type="http://schemas.openxmlformats.org/officeDocument/2006/relationships/notesMaster" Target="/ppt/notesMasters/notesMaster1.xml" Id="Rdf0d3b42fafb43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7f4bb16f55549c1" /><Relationship Type="http://schemas.openxmlformats.org/officeDocument/2006/relationships/notesMaster" Target="/ppt/notesMasters/notesMaster1.xml" Id="R936a4c645620410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93f9cefa8384287" /><Relationship Type="http://schemas.openxmlformats.org/officeDocument/2006/relationships/notesMaster" Target="/ppt/notesMasters/notesMaster1.xml" Id="R17328af4e09e42f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b72b915e11c4ee3" /><Relationship Type="http://schemas.openxmlformats.org/officeDocument/2006/relationships/notesMaster" Target="/ppt/notesMasters/notesMaster1.xml" Id="Rc79391ea516849b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f995b2996824c7e" /><Relationship Type="http://schemas.openxmlformats.org/officeDocument/2006/relationships/notesMaster" Target="/ppt/notesMasters/notesMaster1.xml" Id="R4336dad26c2d4e3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8bf665a0fca4c9c" /><Relationship Type="http://schemas.openxmlformats.org/officeDocument/2006/relationships/notesMaster" Target="/ppt/notesMasters/notesMaster1.xml" Id="R3cc2363793ab45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b0ee19adc0c4aca" /><Relationship Type="http://schemas.openxmlformats.org/officeDocument/2006/relationships/notesMaster" Target="/ppt/notesMasters/notesMaster1.xml" Id="R81374ba05c694d3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b89877f57748a1" /><Relationship Type="http://schemas.openxmlformats.org/officeDocument/2006/relationships/notesMaster" Target="/ppt/notesMasters/notesMaster1.xml" Id="R72c9626a00044d3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bf388e381404623" /><Relationship Type="http://schemas.openxmlformats.org/officeDocument/2006/relationships/notesMaster" Target="/ppt/notesMasters/notesMaster1.xml" Id="R95621549d87b480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c95250b4f6d451c" /><Relationship Type="http://schemas.openxmlformats.org/officeDocument/2006/relationships/notesMaster" Target="/ppt/notesMasters/notesMaster1.xml" Id="R5352a80c13a74f8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a25f2326b374d04" /><Relationship Type="http://schemas.openxmlformats.org/officeDocument/2006/relationships/notesMaster" Target="/ppt/notesMasters/notesMaster1.xml" Id="R2ecc41acf91949f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c33bfc700bf44b2" /><Relationship Type="http://schemas.openxmlformats.org/officeDocument/2006/relationships/notesMaster" Target="/ppt/notesMasters/notesMaster1.xml" Id="R1154170ef2bf43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3873a78cda04d7d" /><Relationship Type="http://schemas.openxmlformats.org/officeDocument/2006/relationships/notesMaster" Target="/ppt/notesMasters/notesMaster1.xml" Id="Red2927d6c6ba460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a783232a50e4437" /><Relationship Type="http://schemas.openxmlformats.org/officeDocument/2006/relationships/notesMaster" Target="/ppt/notesMasters/notesMaster1.xml" Id="Re8bd8e50724b4d8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f6bbca25fe54ec6" /><Relationship Type="http://schemas.openxmlformats.org/officeDocument/2006/relationships/notesMaster" Target="/ppt/notesMasters/notesMaster1.xml" Id="Rcb84f2dd1b72448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c81878f97804142" /><Relationship Type="http://schemas.openxmlformats.org/officeDocument/2006/relationships/notesMaster" Target="/ppt/notesMasters/notesMaster1.xml" Id="R697e54269031473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246b932c6c54594" /><Relationship Type="http://schemas.openxmlformats.org/officeDocument/2006/relationships/notesMaster" Target="/ppt/notesMasters/notesMaster1.xml" Id="R41c85fe9b39a44a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e4174a44f0d4006" /><Relationship Type="http://schemas.openxmlformats.org/officeDocument/2006/relationships/notesMaster" Target="/ppt/notesMasters/notesMaster1.xml" Id="Rb8d8a672bb21447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1cacd5f8f954efd" /><Relationship Type="http://schemas.openxmlformats.org/officeDocument/2006/relationships/notesMaster" Target="/ppt/notesMasters/notesMaster1.xml" Id="Rfeba4b04855d40c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634c3f1c2ee463b" /><Relationship Type="http://schemas.openxmlformats.org/officeDocument/2006/relationships/notesMaster" Target="/ppt/notesMasters/notesMaster1.xml" Id="R077fa474292a404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34e9738654b48d6" /><Relationship Type="http://schemas.openxmlformats.org/officeDocument/2006/relationships/notesMaster" Target="/ppt/notesMasters/notesMaster1.xml" Id="R7ff96a014dde4e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bb53fc720624b5d" /><Relationship Type="http://schemas.openxmlformats.org/officeDocument/2006/relationships/notesMaster" Target="/ppt/notesMasters/notesMaster1.xml" Id="R9ae9cdd52f794b1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7deadf98a2244f4" /><Relationship Type="http://schemas.openxmlformats.org/officeDocument/2006/relationships/notesMaster" Target="/ppt/notesMasters/notesMaster1.xml" Id="R61695d16b179471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4e9c369bca64fe0" /><Relationship Type="http://schemas.openxmlformats.org/officeDocument/2006/relationships/notesMaster" Target="/ppt/notesMasters/notesMaster1.xml" Id="R608f4dedc08a4d2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d2df9b6eb8146a1" /><Relationship Type="http://schemas.openxmlformats.org/officeDocument/2006/relationships/notesMaster" Target="/ppt/notesMasters/notesMaster1.xml" Id="R83f6bfae176348f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23f0d037ee44eca" /><Relationship Type="http://schemas.openxmlformats.org/officeDocument/2006/relationships/notesMaster" Target="/ppt/notesMasters/notesMaster1.xml" Id="Ra2708c7313964e9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47c42cbd35749e8" /><Relationship Type="http://schemas.openxmlformats.org/officeDocument/2006/relationships/notesMaster" Target="/ppt/notesMasters/notesMaster1.xml" Id="R7904e24098f246a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8a48179db594876" /><Relationship Type="http://schemas.openxmlformats.org/officeDocument/2006/relationships/notesMaster" Target="/ppt/notesMasters/notesMaster1.xml" Id="R2202c5933cef4ae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fc6cf5fb41a44fa" /><Relationship Type="http://schemas.openxmlformats.org/officeDocument/2006/relationships/notesMaster" Target="/ppt/notesMasters/notesMaster1.xml" Id="R5930e03512494bb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15356044bcd4718" /><Relationship Type="http://schemas.openxmlformats.org/officeDocument/2006/relationships/notesMaster" Target="/ppt/notesMasters/notesMaster1.xml" Id="Rd4b1bc65c1b6455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4f9ed97e7f14b36" /><Relationship Type="http://schemas.openxmlformats.org/officeDocument/2006/relationships/notesMaster" Target="/ppt/notesMasters/notesMaster1.xml" Id="R7c2d8db9b94e450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125c1cd6ca44d4c" /><Relationship Type="http://schemas.openxmlformats.org/officeDocument/2006/relationships/notesMaster" Target="/ppt/notesMasters/notesMaster1.xml" Id="Rb4c2bb3b9eb34fc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5a96f3ca1ec4865" /><Relationship Type="http://schemas.openxmlformats.org/officeDocument/2006/relationships/notesMaster" Target="/ppt/notesMasters/notesMaster1.xml" Id="Re60ab56ee8664ac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e9d9b6ae3654fc5" /><Relationship Type="http://schemas.openxmlformats.org/officeDocument/2006/relationships/notesMaster" Target="/ppt/notesMasters/notesMaster1.xml" Id="Rd819f0c1edee485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029386706c24af0" /><Relationship Type="http://schemas.openxmlformats.org/officeDocument/2006/relationships/notesMaster" Target="/ppt/notesMasters/notesMaster1.xml" Id="Rc894314074bb4dc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49cef0edb7e4bec" /><Relationship Type="http://schemas.openxmlformats.org/officeDocument/2006/relationships/notesMaster" Target="/ppt/notesMasters/notesMaster1.xml" Id="R4cdc86282eb2449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3fed20709f14d37" /><Relationship Type="http://schemas.openxmlformats.org/officeDocument/2006/relationships/notesMaster" Target="/ppt/notesMasters/notesMaster1.xml" Id="R4670f2e26da14fb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77ad734ea97406f" /><Relationship Type="http://schemas.openxmlformats.org/officeDocument/2006/relationships/notesMaster" Target="/ppt/notesMasters/notesMaster1.xml" Id="R354d981f5f634b3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d22a9b9ee5c4d96" /><Relationship Type="http://schemas.openxmlformats.org/officeDocument/2006/relationships/notesMaster" Target="/ppt/notesMasters/notesMaster1.xml" Id="R41f2c6b4fffd4f1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853fcd2ea1c4255" /><Relationship Type="http://schemas.openxmlformats.org/officeDocument/2006/relationships/notesMaster" Target="/ppt/notesMasters/notesMaster1.xml" Id="R8ed4c06678f14f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open tracking, StatsBomb shot freeze frames, published research and independent teaching models are identified throughout.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User-requested introduction to all avenues. Graphs and GNNs are general modeling tools introduced within game modeling, with applications beyond EPV. No duration or audience-level framing.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coordinates and timestamps in metres and seconds. Player–ball distance is the Euclidean distance. Backward finite differences give velocity from displacement divided by elapsed time, speed from the velocity magnitude, and acceleration from velocity change divided by elapsed time. Compute within periods, reject gaps and missing coordinates, and inspect noise because differencing magnifies it. Combine these derived features into explicit event definitions. The control example requires the same closest player within 2 m, ball height 0–2 m, and horizontal ball speed at most 3 m/s for at least 0.3 s at 10 Hz. Pass candidates connect different same-team stable control intervals through a complete ball trajectory with at least 3 m displacement within 4 s. Acceleration is a diagnostic idea for kicks or deflections, not a gate used by the current detector. Conservative low-speed control can miss fast dribbles, aerial control or one-touch play; slow dummies can still qualify. Tune and evaluate thresholds using independent video-reviewed labels; a physical rule is not event truth.</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candidate: same nearest player within 2 m, ball height 0–2 m and horizontal ball speed ≤3 m/s for ≥0.3 s at native 10 Hz. Velocity comes from adjacent-frame displacement divided by valid elapsed time, within a period. Missing speed, height, coordinates or frame continuity break the evidence. Video synchronizes distance, speed and stable ownership. This conservative offline heuristic reduces flyovers and fast dummies but can miss fast dribbles, aerial control and one-touch play; slow dummies can still qualify. No validated accuracy claim. Half-speed playback.</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assets/videos/possession_physics.mp4</a:t>
            </a:r>
          </a:p>
          <a:p xmlns:a="http://schemas.openxmlformats.org/drawingml/2006/main">
            <a:r>
              <a:t>Control candidate: same nearest player within 2 m, ball height 0–2 m and horizontal ball speed ≤3 m/s for ≥0.3 s at native 10 Hz. Velocity comes from adjacent-frame displacement divided by valid elapsed time, within a period. Missing speed, height, coordinates or frame continuity break the evidence. Video synchronizes distance, speed and stable ownership. This conservative offline heuristic reduces flyovers and fast dummies but can miss fast dribbles, aerial control and one-touch play; slow dummies can still qualify. No validated accuracy claim. Half-speed playback.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player–ball distances, horizontal ball speed and ball height share the clip time axis. Same-player proximity within 2 m, height 0–2 m, speed ≤3 m/s and ≥0.3 s persistence define the control endpoints. Different same-team endpoints form a pass candidate only if the intervening ball trajectory is complete, crosses no period boundary, travels at least 3 m and spans no more than 4 s. Transit can exceed the control-speed threshold. Dashed arrow and endpoints are retrospective candidates, not reviewed event truth. Acceleration is not a detection gate.</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assets/videos/pass_control_physics.mp4</a:t>
            </a:r>
          </a:p>
          <a:p xmlns:a="http://schemas.openxmlformats.org/drawingml/2006/main">
            <a:r>
              <a:t>Actual player–ball distances, horizontal ball speed and ball height share the clip time axis. Same-player proximity within 2 m, height 0–2 m, speed ≤3 m/s and ≥0.3 s persistence define the control endpoints. Different same-team endpoints form a pass candidate only if the intervening ball trajectory is complete, crosses no period boundary, travels at least 3 m and spans no more than 4 s. Transit can exceed the control-speed threshold. Dashed arrow and endpoints are retrospective candidates, not reviewed event truth. Acceleration is not a detection gate.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can we describe team organization while players move and rotate?</a:t>
            </a:r>
          </a:p>
          <a:p xmlns:a="http://schemas.openxmlformats.org/drawingml/2006/main">
            <a:r>
              <a:t>Ideas: Team shape and phase-conditioned averages; Formation-template identification; Player roles and positional rotations; Role signatures from relative geometry; Persistent formation-change candidates; Substitutions and asymmetric shapes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residual example from defensive 30-second windows; ten outfield players, at least 50 qualifying frames each. Four fixed templates and Hungarian squared-distance assignment. Player labels are assigned template slots, not reviewed role truth. Raw versus centered covariance ellipses appear as a small inset. RMS error is not a formation probability; not elastic EFPI inference. Selected option C with explicit template matching. Subtract the ten outfield players’ team centroid separately in every qualifying frame, then orient attack consistently. Take coordinate-wise medians over the window. For each fixed template, the Hungarian algorithm finds a one-to-one assignment minimizing total squared Euclidean distance between the ten medians and ten template slots. Compare root mean squared assignment distance across all four candidates. Here 4-2-3-1 has 9.13 m RMS versus 10.37 m for 4-3-3. This is a geometric best fit among supplied candidates, not a validated formation label. The ellipses summarize dispersion; the dots used for matching are medians. The final board uses schematic role slots.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Twenty-four attack-normalized headings; teammates only in the comparison. Sector geometry is not observed gaze or occlusion. Metadata roles label the examples, not frame-level ground truth. No real role-classifier performance is claimed; the notebook’s classifier training check remains synthetic.</a:t>
            </a:r>
          </a:p>
          <a:p xmlns:a="http://schemas.openxmlformats.org/drawingml/2006/main">
            <a:r>
              <a:t/>
            </a:r>
          </a:p>
          <a:p xmlns:a="http://schemas.openxmlformats.org/drawingml/2006/main">
            <a:r>
              <a:t>Notebook: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Dominant timeline and before/after pitch views. Three consecutive available 30-second bins confirm a candidate; missing bins reset evidence, while the last confirmed state is retained. Gray windows are insufficient samples. No substitutions fall in this bounded sample. Differing candidates are not claimed to be verified formation changes.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tactical context should an event, shape or workload be compared within?</a:t>
            </a:r>
          </a:p>
          <a:p xmlns:a="http://schemas.openxmlformats.org/drawingml/2006/main">
            <a:r>
              <a:t>Ideas: Possession and transition phases; Build-up, progression and advanced play; Defensive blocks and pressing phases; Set pieces and interruptions; Phase duration and boundary detection; Context-conditioned physical/tactical summaries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Notebook: 05_match_segmentation.ipynb</a:t>
            </a:r>
          </a:p>
          <a:p xmlns:a="http://schemas.openxmlformats.org/drawingml/2006/main">
            <a:r>
              <a:t>https://github.com/zcochran27/tracking-data-applied-workshop/blob/main/notebooks/methods/05_match_segmentation.ipynb</a:t>
            </a:r>
          </a:p>
          <a:p xmlns:a="http://schemas.openxmlformats.org/drawingml/2006/main">
            <a:r>
              <a:t>Embedded video (click to play): assets/videos/phase_comparison.mp4</a:t>
            </a:r>
          </a:p>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Sources:</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much did players move, and what physical capacities did they demonstrate?</a:t>
            </a:r>
          </a:p>
          <a:p xmlns:a="http://schemas.openxmlformats.org/drawingml/2006/main">
            <a:r>
              <a:t>Ideas: Distance and valid tracking exposure; High-speed and sprint distance; Sprint efforts and repeated intensity; Acceleration and braking; Time to high-speed running / sprint; PSV-99 and Peak Velocity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smoothing and contiguous-segment derivative rules as notebook 06. Cumulative distance uses mean endpoint speeds and observed elapsed time. Coverage is valid integration seconds divided by bounded sample duration. Extrapolated positions may still contribute; no full-match extrapolation.</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bars: HSR [20,25) and sprint [25,infinity) km/h. Small speed trace illustrates threshold-qualified intervals. Exact equality handling is a teaching convention. Compare exposure/coverage before interpreting player rankings; these are not full-match or official production totals.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Uses ≥25 km/h for at least one second, with no merging across gaps. Efforts are numbered on the trace; count comes from notebook 06. These are not exact SkillCorner production effort counts.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Large signed acceleration trace; small synchronized speed trace. This is not acceleration-vector magnitude, and highlighted positive/negative samples are not automatically production-qualified explosive efforts. Derivatives amplify noise; smoothing changes peaks.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9→20 km/h. Shows fastest qualifying monotone crossing found by the notebook’s sample rule. Official SkillCorner Time to HSR uses additional explosive-acceleration qualification; this slide does not reproduce that production metric.</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9→25 km/h with its own actual trajectory. No official Time to Sprint or Top-3 metric is reconstructed; opportunity, qualification and filtering matter.</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chart from SkillCorner, Peak Velocity article, 11 June 2026. PSV-99 is described as the 99th percentile of physical activities over 15 km/h, not all frame speeds. This figure is supplied research/product communication, not our sample calculation. Retain original legend and axes.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SkillCorner figure. Article reports correlation 0.96 / R² 0.92 when averaging each player’s top three metric values in the displayed validation. Do not generalize this validation to our smoothed sample maxima or to every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locations, options and game states create or prevent scoring opportunities?</a:t>
            </a:r>
          </a:p>
          <a:p xmlns:a="http://schemas.openxmlformats.org/drawingml/2006/main">
            <a:r>
              <a:t>Ideas: Shot quality and location value; Control, interception and completion; Accessible and dangerous space; Off-ball options and run threat; Graphs and learned relational models; Possession value and tactical applications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out-of-fold predictions from notebook 07; no model used the example match during that fold’s training. Context includes goalkeeper distance/offset and defender geometry. Selected for model disagreement, not as evidence of aggregate improvement. Freeze-frame coverage is not continuous full tracking.</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Location AUC 0.743879, 95% match-bootstrap interval [0.713895,0.774165]; contextual 0.779870 [0.749411,0.809066]. Paired difference 0.035990 [0.021778,0.051104]. 1,000 match resamples of existing out-of-fold predictions, without refitting. Training-only scaling. ROC is discrimination, not calibration.</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map: licensed fitted DataBallPy open-play grid; SkillCorner successful player-possession passes use release coordinates x_end/y_end and supplied reception coordinates. Attack-normalized 105 m x scaled to the model 106 m convention. Two highest positive and one highest negative gains are selected examples. Small inset: synthetic two-state fitting mechanics from notebook 08; not training the full grid on this sample. Source provenance JSON stores event IDs.</a:t>
            </a:r>
          </a:p>
          <a:p xmlns:a="http://schemas.openxmlformats.org/drawingml/2006/main">
            <a:r>
              <a:t/>
            </a:r>
          </a:p>
          <a:p xmlns:a="http://schemas.openxmlformats.org/drawingml/2006/main">
            <a:r>
              <a:t>Notebook: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 approximation to Voronoi on a real frame. Strength: simple and interpretable. Limitation: ignores player movement, ball travel and uncertainty.</a:t>
            </a:r>
          </a:p>
          <a:p xmlns:a="http://schemas.openxmlformats.org/drawingml/2006/main">
            <a:r>
              <a:t/>
            </a:r>
          </a:p>
          <a:p xmlns:a="http://schemas.openxmlformats.org/drawingml/2006/main">
            <a:r>
              <a:t>Notebook: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Directional Gaussian teaching parameterization, not exact Fernández/Bornn covariance. Bounded team comparison is not calibrated possession probability. Velocity and covariance affect the surface; contribution is not causal importance.</a:t>
            </a:r>
          </a:p>
          <a:p xmlns:a="http://schemas.openxmlformats.org/drawingml/2006/main">
            <a:r>
              <a:t/>
            </a:r>
          </a:p>
          <a:p xmlns:a="http://schemas.openxmlformats.org/drawingml/2006/main">
            <a:r>
              <a:t>Notebook: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s projection/reaction and 5 m/s travel baseline. No full ball-flight, acceleration optimization or competing interception-rate integration. Not the full Spearman model.</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surface: actual accessible-space 2.0.13 expected-completion inference on real SkillCorner tracking, respecting offside. Inset: independently parameterized uncalibrated teaching survival example. Notebook 12 implements a teaching model, not the published fitted parameters. Targets are hypothetical, not observed choices; no SkillCorner-domain calibration claim.</a:t>
            </a:r>
          </a:p>
          <a:p xmlns:a="http://schemas.openxmlformats.org/drawingml/2006/main">
            <a:r>
              <a:t/>
            </a:r>
          </a:p>
          <a:p xmlns:a="http://schemas.openxmlformats.org/drawingml/2006/main">
            <a:r>
              <a:t>Notebook: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inference. Public model simulation settings and frame provenance are recorded in assets/results/space_result_provenance.json. Notebook 13 demonstrates a simpler area-integral proxy; it is not this published output. AS is an area quantity; individual accessible regions may overlap.</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dangerous-accessible-space output on the same frame as AS. DAS units are danger-weighted square metres, not scoring probability. The notebook’s chosen distance-based danger proxy is separate.</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Embedded video (click to play): assets/videos/dangerous_space_ball.mp4</a:t>
            </a:r>
          </a:p>
          <a:p xmlns:a="http://schemas.openxmlformats.org/drawingml/2006/main">
            <a:r>
              <a:t>Published accessible-space outputs at 5 Hz; traces show AS m² and DAS danger-weighted m² separately. Team/possession context must be read with the clip. Before/after movement does not establish causal player credit. The black-centered white marker shows the ball in both panels.</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
            </a:r>
          </a:p>
          <a:p xmlns:a="http://schemas.openxmlformats.org/drawingml/2006/main">
            <a:r>
              <a:t>Embedded video (click to play): assets/videos/run_comparison.mp4</a:t>
            </a:r>
          </a:p>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graph illustration from Bekkers, PyData London 2025. General representation explanation before EPV: player/ball nodes, player-player and player-ball relations, adjacency and global context. The picture is conceptual, not a trained prediction. Source URL and attribution in assets/references/bekkers/attribution.json.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node/global-feature matrix from the linked keynote. This is a general feature menu; do not imply our independent workshop GNN includes every displayed velocity, acceleration or global feature. Its actual features are current-frame geometry and identity/context indicators, specified in notebook 16.</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Keynote adjacency matrix shows one documented team/ball connection configuration, not a unique universal GraphEPV topology. Edge features can describe distance, relative geometry and team relations; the actual workshop model uses 20 m radius edges plus ball links, not this matrix. The main visual combines original edge-feature and adjacency illustrations from the same keynote; both source files are retained and credited.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Sahasrabudhe &amp; Bekkers architecture image reused in the keynote, attributed to its authors. General GNN explanation: shared updates, permutation-invariant aggregation and task-specific output. This is not our independent 353-parameter teaching architecture. No standalone temporal-network/encoder slides are included.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assets/videos/dynamic_graph.mp4</a:t>
            </a:r>
          </a:p>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PyData London 2025 target uses World Cup PFF tracking and event-aligned goals, respecting team and period. Our notebook trains an independent frame GNN on SkillCorner with reconstructed, score-audited goal timing. It is not Bekkers’ CrystalGraph architecture/weights or a full action-decomposed EPV reproduction.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included matches total: 10 train, 3 validation, 3 test. Test has 4,846 sampled states and 16 positives, not 16 independent goals. AP baseline prevalence 0.00330. Log loss improves 0.02363→0.02158; Brier worsens 0.003308→0.003335. Model mean prediction 0.00858 versus test prevalence 0.00330. Goal timing is reconstructed and not video-verified. ROC and PR are actual saved notebook results; no temporal model was trained.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event fields. Provider output is separate from our ten-second scoring model, classic location xT and Fernández’s action-decomposed EPV framework. Show original field name, target/horizon distinctions and source documentation; no reconstruction or cross-model numerical equivalence is asserted.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SoccerMap Figure 3, arXiv 2010.10202v1. Yellow/blue attacking/defending players, arrows are velocity, white circle is ball; original probability color scale retained. A CNN, not a GNN. This result is from the paper’s data/model, not our SkillCorner inference. Other heads can address pass selection and expected pass value.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DEFCON paper Figure 3, page 7. Two intercepted passes; color is defender responsibility and numeric text is assigned defensive credit. Credit follows the framework’s assumptions, not causal proof. Cropped figure only, no values changed. Not model inference on our sample; authors’ underlying club dataset is not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Figure 5a from A Graph Neural Network deep-dive into successful counterattacks. Women’s-model example predicts ending in the opponent penalty box with probability 49.5%. This is the published event-frame task; do not mix with additional all-frame goal-label datasets in the repository. Not our local model output.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TacticAI Figure 3 from arXiv 2310.10553v1. Corner adjustment and predicted receiver probabilities are authors’ results, not interventions proven to improve match outcomes. Pre/post tactical suggestions are not locally generated or trained on SkillCorner. Retain original figure labels and legend.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GenTac Figure 5 panel a, arXiv 2604.11786v1. Four-second history, 20 generated rollouts and resulting event distribution are from the paper. Cropped original panel, no probabilities changed. Not a workshop-trained forecast, not a standalone temporal-network architecture slide and not causal intervention evidence.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 detection needs reviewed timing-tolerant matching. Formation/role labels require tactical ground truth. Physical comparisons require exposure and preprocessing definitions. Probability models need calibration and rare-event baselines. Stress-test extrapolated tracking, missing data, attack direction and domain shift. Current slide diagram is conceptual, not an extra experiment.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d27660e80540d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5970075dd584af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24df1d004842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674c73535344a9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bb5836c88db4a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e1201adc2542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FAB1453-74B2-4953-A367-80DB350F2F4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69B2754-A173-49FD-9D67-486510B2202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4A57E28-C1C4-487B-BF27-0B5B6B643EE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87E8C2-6329-490E-8545-1CD195C25F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9D141B9-4994-4408-88DD-4767A98164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3CF4551-D88C-4400-8787-DB1B5396E4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94745D-55A9-425B-945B-E3FB3E5A08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9C4E89B-CAB6-4CF1-98B6-2D6A23EEE73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2507F57-54C6-40C1-8841-B7146039DB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6F10B1-CEF7-4BD9-9F21-86B58E255E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c0dc8fa6384c5c" /><Relationship Type="http://schemas.openxmlformats.org/officeDocument/2006/relationships/slideLayout" Target="/ppt/slideLayouts/slideLayout1.xml" Id="R3fca9c0be5fa4d5c" /><Relationship Type="http://schemas.openxmlformats.org/officeDocument/2006/relationships/slideLayout" Target="/ppt/slideLayouts/slideLayout2.xml" Id="R3194f20c091d40e1" /><Relationship Type="http://schemas.openxmlformats.org/officeDocument/2006/relationships/slideLayout" Target="/ppt/slideLayouts/slideLayout3.xml" Id="R3ba67fbb16474c61" /><Relationship Type="http://schemas.openxmlformats.org/officeDocument/2006/relationships/slideLayout" Target="/ppt/slideLayouts/slideLayout4.xml" Id="R19ceca5b1f3c433a" /><Relationship Type="http://schemas.openxmlformats.org/officeDocument/2006/relationships/slideLayout" Target="/ppt/slideLayouts/slideLayout5.xml" Id="R91b58562f9de4660" /><Relationship Type="http://schemas.openxmlformats.org/officeDocument/2006/relationships/slideLayout" Target="/ppt/slideLayouts/slideLayout6.xml" Id="R1b3b6dc4a5874e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ca9c0be5fa4d5c"/>
    <p:sldLayoutId xmlns:r="http://schemas.openxmlformats.org/officeDocument/2006/relationships" id="2147483650" r:id="R3194f20c091d40e1"/>
    <p:sldLayoutId xmlns:r="http://schemas.openxmlformats.org/officeDocument/2006/relationships" id="2147483651" r:id="R3ba67fbb16474c61"/>
    <p:sldLayoutId xmlns:r="http://schemas.openxmlformats.org/officeDocument/2006/relationships" id="2147483652" r:id="R19ceca5b1f3c433a"/>
    <p:sldLayoutId xmlns:r="http://schemas.openxmlformats.org/officeDocument/2006/relationships" id="2147483653" r:id="R91b58562f9de4660"/>
    <p:sldLayoutId xmlns:r="http://schemas.openxmlformats.org/officeDocument/2006/relationships" id="2147483654" r:id="R1b3b6dc4a5874e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e48a773826e544b4" /><ns0:Relationship Type="http://schemas.openxmlformats.org/officeDocument/2006/relationships/image" Target="/ppt/media/image.png" Id="Rcc3f028ffe51437a" /><ns0:Relationship Type="http://schemas.openxmlformats.org/officeDocument/2006/relationships/notesSlide" Target="/ppt/notesSlides/notesSlide1.xml" Id="R7e97f05fce964e85"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88ca8dd32c31431d" /><ns0:Relationship Type="http://schemas.openxmlformats.org/officeDocument/2006/relationships/notesSlide" Target="/ppt/notesSlides/notesSlide2.xml" Id="Rb5326776cd084705" /><ns0:Relationship Id="rIdWorkshop3"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e5ff284f9f984b73" /><ns0:Relationship Type="http://schemas.openxmlformats.org/officeDocument/2006/relationships/image" Target="/ppt/media/image2.png" Id="R17ab634de6d4420d" /><ns0:Relationship Type="http://schemas.openxmlformats.org/officeDocument/2006/relationships/notesSlide" Target="/ppt/notesSlides/notesSlide3.xml" Id="Rc3a43c0b4ee845ca"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7" Type="http://schemas.openxmlformats.org/officeDocument/2006/relationships/hyperlink" Target="https://databallpy.readthedocs.io/en/main/features/covered_distance_page.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5797c811d0934ae4" /><ns0:Relationship Type="http://schemas.openxmlformats.org/officeDocument/2006/relationships/image" Target="/ppt/media/image3.png" Id="R48ff80ec5a3946e5" /><ns0:Relationship Type="http://schemas.openxmlformats.org/officeDocument/2006/relationships/notesSlide" Target="/ppt/notesSlides/notesSlide4.xml" Id="R2c2760954a5843d9"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5adbea58cc304ce8" /><ns0:Relationship Type="http://schemas.openxmlformats.org/officeDocument/2006/relationships/image" Target="/ppt/media/image4.png" Id="R280b81a68ce0453b" /><ns0:Relationship Type="http://schemas.openxmlformats.org/officeDocument/2006/relationships/notesSlide" Target="/ppt/notesSlides/notesSlide5.xml" Id="Rdf6b9ebc00a1457b"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3a7d306427d14507" /><ns0:Relationship Type="http://schemas.openxmlformats.org/officeDocument/2006/relationships/notesSlide" Target="/ppt/notesSlides/notesSlide6.xml" Id="R07b45947681b48e8"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ed5b4c0a0f724e87" /><ns0:Relationship Type="http://schemas.openxmlformats.org/officeDocument/2006/relationships/image" Target="/ppt/media/image5.png" Id="R507d428b12654a61" /><ns0:Relationship Type="http://schemas.openxmlformats.org/officeDocument/2006/relationships/notesSlide" Target="/ppt/notesSlides/notesSlide7.xml" Id="Rd7f651a45584459d"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ossession_physics.mp4" /><ns0:Relationship Id="rIdWorkshopMedia" Type="http://schemas.microsoft.com/office/2007/relationships/media" Target="../media/workshop_possession_physics.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a7ac2bc015134f3a" /><ns0:Relationship Type="http://schemas.openxmlformats.org/officeDocument/2006/relationships/image" Target="/ppt/media/image6.png" Id="R3e3d0d9751f94196" /><ns0:Relationship Type="http://schemas.openxmlformats.org/officeDocument/2006/relationships/notesSlide" Target="/ppt/notesSlides/notesSlide8.xml" Id="R4f760c78a48e45e1"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ass_control_physics.mp4" /><ns0:Relationship Id="rIdWorkshopMedia" Type="http://schemas.microsoft.com/office/2007/relationships/media" Target="../media/workshop_pass_control_physics.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56688e4df2974026" /><ns0:Relationship Type="http://schemas.openxmlformats.org/officeDocument/2006/relationships/notesSlide" Target="/ppt/notesSlides/notesSlide9.xml" Id="R96549e5860a043b5"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4fbae3a3619047df" /><ns0:Relationship Type="http://schemas.openxmlformats.org/officeDocument/2006/relationships/image" Target="/ppt/media/image7.png" Id="Rb273c35613ea41ce" /><ns0:Relationship Type="http://schemas.openxmlformats.org/officeDocument/2006/relationships/notesSlide" Target="/ppt/notesSlides/notesSlide10.xml" Id="Rb0def23273e54f2f"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f7d63f1b220f49f9" /><ns0:Relationship Type="http://schemas.openxmlformats.org/officeDocument/2006/relationships/image" Target="/ppt/media/image8.png" Id="Rde7c5590c97c43d4" /><ns0:Relationship Type="http://schemas.openxmlformats.org/officeDocument/2006/relationships/notesSlide" Target="/ppt/notesSlides/notesSlide11.xml" Id="R4a60867424e24630"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ab85998776004f46" /><ns0:Relationship Type="http://schemas.openxmlformats.org/officeDocument/2006/relationships/image" Target="/ppt/media/image9.png" Id="R994cefdffddf4538" /><ns0:Relationship Type="http://schemas.openxmlformats.org/officeDocument/2006/relationships/notesSlide" Target="/ppt/notesSlides/notesSlide12.xml" Id="R1a1c6af00db94203"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7398786a9313443c" /><ns0:Relationship Type="http://schemas.openxmlformats.org/officeDocument/2006/relationships/notesSlide" Target="/ppt/notesSlides/notesSlide13.xml" Id="R63f96398315b4314"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c97ea76dc7344118" /><ns0:Relationship Type="http://schemas.openxmlformats.org/officeDocument/2006/relationships/image" Target="/ppt/media/image10.png" Id="Re4a908cd584341e7" /><ns0:Relationship Type="http://schemas.openxmlformats.org/officeDocument/2006/relationships/notesSlide" Target="/ppt/notesSlides/notesSlide14.xml" Id="R8b0f2d2af6694a54"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doi.org/10.1177/22150218241290988" TargetMode="External" /><ns0:Relationship Id="rIdWorkshop6" Type="http://schemas.openxmlformats.org/officeDocument/2006/relationships/hyperlink" Target="https://github.com/SkillCorner/opendata" TargetMode="External" /><ns0:Relationship Id="rIdWorkshopVideo" Type="http://schemas.openxmlformats.org/officeDocument/2006/relationships/video" Target="../media/workshop_phase_comparison.mp4" /><ns0:Relationship Id="rIdWorkshopMedia" Type="http://schemas.microsoft.com/office/2007/relationships/media" Target="../media/workshop_phase_comparison.mp4"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55ed91af0b594891" /><ns0:Relationship Type="http://schemas.openxmlformats.org/officeDocument/2006/relationships/notesSlide" Target="/ppt/notesSlides/notesSlide15.xml" Id="Rab1145fd68e84b49"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f4d4132d359849de" /><ns0:Relationship Type="http://schemas.openxmlformats.org/officeDocument/2006/relationships/image" Target="/ppt/media/image11.png" Id="R692b78553c1b4748" /><ns0:Relationship Type="http://schemas.openxmlformats.org/officeDocument/2006/relationships/notesSlide" Target="/ppt/notesSlides/notesSlide16.xml" Id="R2e6816ad02dd45d5"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databallpy.readthedocs.io/en/main/getting_started/preprocessing_options.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592d59a9916b469f" /><ns0:Relationship Type="http://schemas.openxmlformats.org/officeDocument/2006/relationships/image" Target="/ppt/media/image12.png" Id="R8cf292f99d8a49ed" /><ns0:Relationship Type="http://schemas.openxmlformats.org/officeDocument/2006/relationships/notesSlide" Target="/ppt/notesSlides/notesSlide17.xml" Id="R1f147134195c4904"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55174c19c219455f" /><ns0:Relationship Type="http://schemas.openxmlformats.org/officeDocument/2006/relationships/image" Target="/ppt/media/image13.png" Id="Rfc8ff4ff1e6b4b49" /><ns0:Relationship Type="http://schemas.openxmlformats.org/officeDocument/2006/relationships/notesSlide" Target="/ppt/notesSlides/notesSlide18.xml" Id="R5eef9542654241b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getting_started/preprocessing_options.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5e14fc0046404ec9" /><ns0:Relationship Type="http://schemas.openxmlformats.org/officeDocument/2006/relationships/image" Target="/ppt/media/image14.png" Id="R8794ee6b09424909" /><ns0:Relationship Type="http://schemas.openxmlformats.org/officeDocument/2006/relationships/notesSlide" Target="/ppt/notesSlides/notesSlide19.xml" Id="Ra75a61fd62bf4fb8"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 Id="rIdWorkshop6"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05afae86ce48453d" /><ns0:Relationship Type="http://schemas.openxmlformats.org/officeDocument/2006/relationships/image" Target="/ppt/media/image15.png" Id="R63c288de6185405b" /><ns0:Relationship Type="http://schemas.openxmlformats.org/officeDocument/2006/relationships/notesSlide" Target="/ppt/notesSlides/notesSlide20.xml" Id="R6e9e8cec0ab14a7c"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4ca2e42f38a14d22" /><ns0:Relationship Type="http://schemas.openxmlformats.org/officeDocument/2006/relationships/image" Target="/ppt/media/image16.png" Id="Rcd27d9cc6fee418e" /><ns0:Relationship Type="http://schemas.openxmlformats.org/officeDocument/2006/relationships/notesSlide" Target="/ppt/notesSlides/notesSlide21.xml" Id="Rae3df0a4a0504583"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c26a65e2606e40b1" /><ns0:Relationship Type="http://schemas.openxmlformats.org/officeDocument/2006/relationships/image" Target="/ppt/media/image17.png" Id="R30854e70a8d048dc" /><ns0:Relationship Type="http://schemas.openxmlformats.org/officeDocument/2006/relationships/notesSlide" Target="/ppt/notesSlides/notesSlide22.xml" Id="R4dd6315618a246f4" /><ns0:Relationship Id="rIdWorkshop4" Type="http://schemas.openxmlformats.org/officeDocument/2006/relationships/hyperlink" Target="https://skillcorner.com/articles/skillcorner-releases-new-peak-velocity-metric"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5440a4c0c7134689" /><ns0:Relationship Type="http://schemas.openxmlformats.org/officeDocument/2006/relationships/image" Target="/ppt/media/image18.png" Id="Rb7334e96af4e4937" /><ns0:Relationship Type="http://schemas.openxmlformats.org/officeDocument/2006/relationships/notesSlide" Target="/ppt/notesSlides/notesSlide23.xml" Id="R604e53a7da1c4e00" /><ns0:Relationship Id="rIdWorkshop4" Type="http://schemas.openxmlformats.org/officeDocument/2006/relationships/hyperlink" Target="https://skillcorner.com/articles/skillcorner-releases-new-peak-velocity-metric"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3368cabf51ec4371" /><ns0:Relationship Type="http://schemas.openxmlformats.org/officeDocument/2006/relationships/notesSlide" Target="/ppt/notesSlides/notesSlide24.xml" Id="R88001a3efed947cb"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bd30a04ea20e47db" /><ns0:Relationship Type="http://schemas.openxmlformats.org/officeDocument/2006/relationships/image" Target="/ppt/media/image19.png" Id="R703515b9459f41b5" /><ns0:Relationship Type="http://schemas.openxmlformats.org/officeDocument/2006/relationships/notesSlide" Target="/ppt/notesSlides/notesSlide25.xml" Id="Rfa35db2359d24d86"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2ea82a1a48fa42ab" /><ns0:Relationship Type="http://schemas.openxmlformats.org/officeDocument/2006/relationships/image" Target="/ppt/media/image20.png" Id="Rc94feafac8b943fc" /><ns0:Relationship Type="http://schemas.openxmlformats.org/officeDocument/2006/relationships/notesSlide" Target="/ppt/notesSlides/notesSlide26.xml" Id="R950a255d73b845a9"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901af9565c234c84" /><ns0:Relationship Type="http://schemas.openxmlformats.org/officeDocument/2006/relationships/image" Target="/ppt/media/image21.png" Id="R1bc6cc57c9f54c4a" /><ns0:Relationship Type="http://schemas.openxmlformats.org/officeDocument/2006/relationships/notesSlide" Target="/ppt/notesSlides/notesSlide27.xml" Id="Rfdc1ad4b30724d88"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a87aa8cd23ba4d9e" /><ns0:Relationship Type="http://schemas.openxmlformats.org/officeDocument/2006/relationships/image" Target="/ppt/media/image22.png" Id="R4f056000e2c743d0" /><ns0:Relationship Type="http://schemas.openxmlformats.org/officeDocument/2006/relationships/notesSlide" Target="/ppt/notesSlides/notesSlide28.xml" Id="R741187fefba24158"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capabiliaserver.com/frontend/clients/barca/wp_prod/wp-content/uploads/2018/05/Wide-Open-Spaces.pdf"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bd1aee7f7d394444" /><ns0:Relationship Type="http://schemas.openxmlformats.org/officeDocument/2006/relationships/image" Target="/ppt/media/image23.png" Id="R0683d69402284feb" /><ns0:Relationship Type="http://schemas.openxmlformats.org/officeDocument/2006/relationships/notesSlide" Target="/ppt/notesSlides/notesSlide29.xml" Id="R4b710400da2142b2"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cce0c0a4c9a74e52" /><ns0:Relationship Type="http://schemas.openxmlformats.org/officeDocument/2006/relationships/image" Target="/ppt/media/image24.png" Id="R62deda51f92e4b7d" /><ns0:Relationship Type="http://schemas.openxmlformats.org/officeDocument/2006/relationships/notesSlide" Target="/ppt/notesSlides/notesSlide30.xml" Id="R3aef40f227ec4861"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hudl.com/craft/downloads/SSAC2018_Beyond_Expected_Goals.pdf?mtime=20180327111214"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e74911f603bf4870" /><ns0:Relationship Type="http://schemas.openxmlformats.org/officeDocument/2006/relationships/image" Target="/ppt/media/image25.png" Id="R12c1213d311145e5" /><ns0:Relationship Type="http://schemas.openxmlformats.org/officeDocument/2006/relationships/notesSlide" Target="/ppt/notesSlides/notesSlide31.xml" Id="R6f419863b17f4615"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9bb8dd1bb0a243a5" /><ns0:Relationship Type="http://schemas.openxmlformats.org/officeDocument/2006/relationships/image" Target="/ppt/media/image26.png" Id="Rec7ef09195b346c9" /><ns0:Relationship Type="http://schemas.openxmlformats.org/officeDocument/2006/relationships/notesSlide" Target="/ppt/notesSlides/notesSlide32.xml" Id="Rd117d4a361854654"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7" Type="http://schemas.openxmlformats.org/officeDocument/2006/relationships/hyperlink" Target="https://static.hudl.com/craft/downloads/SSAC2018_Beyond_Expected_Goals.pdf?mtime=20180327111214"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194d0b8dede64fd9" /><ns0:Relationship Type="http://schemas.openxmlformats.org/officeDocument/2006/relationships/image" Target="/ppt/media/image27.png" Id="Ra1293ecfcc8647ac" /><ns0:Relationship Type="http://schemas.openxmlformats.org/officeDocument/2006/relationships/notesSlide" Target="/ppt/notesSlides/notesSlide33.xml" Id="Rb8c8e570541642ec"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67ac81b52316428c" /><ns0:Relationship Type="http://schemas.openxmlformats.org/officeDocument/2006/relationships/image" Target="/ppt/media/image28.png" Id="Rfdb5bcae4b804058" /><ns0:Relationship Type="http://schemas.openxmlformats.org/officeDocument/2006/relationships/notesSlide" Target="/ppt/notesSlides/notesSlide34.xml" Id="R6a165be44f90466d"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63ade2a68c9445a9" /><ns0:Relationship Type="http://schemas.openxmlformats.org/officeDocument/2006/relationships/image" Target="/ppt/media/image29.png" Id="R5e4fdbfdcd53400f" /><ns0:Relationship Type="http://schemas.openxmlformats.org/officeDocument/2006/relationships/notesSlide" Target="/ppt/notesSlides/notesSlide35.xml" Id="Re98dc9e5514946a2"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Video" Type="http://schemas.openxmlformats.org/officeDocument/2006/relationships/video" Target="../media/workshop_dangerous_space_ball.mp4" /><ns0:Relationship Id="rIdWorkshopMedia" Type="http://schemas.microsoft.com/office/2007/relationships/media" Target="../media/workshop_dangerous_space_ball.mp4"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f5df7d32fa2a44c6" /><ns0:Relationship Type="http://schemas.openxmlformats.org/officeDocument/2006/relationships/image" Target="/ppt/media/image30.png" Id="Racd529742fe444f8" /><ns0:Relationship Type="http://schemas.openxmlformats.org/officeDocument/2006/relationships/notesSlide" Target="/ppt/notesSlides/notesSlide36.xml" Id="R633ac239d31341d9"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 Id="rIdWorkshopVideo" Type="http://schemas.openxmlformats.org/officeDocument/2006/relationships/video" Target="../media/workshop_run_comparison.mp4" /><ns0:Relationship Id="rIdWorkshopMedia" Type="http://schemas.microsoft.com/office/2007/relationships/media" Target="../media/workshop_run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f0d854d94bff47aa" /><ns0:Relationship Type="http://schemas.openxmlformats.org/officeDocument/2006/relationships/image" Target="/ppt/media/image31.png" Id="R680bdf778b2c42e9" /><ns0:Relationship Type="http://schemas.openxmlformats.org/officeDocument/2006/relationships/notesSlide" Target="/ppt/notesSlides/notesSlide37.xml" Id="Rc726fd1a998045c4"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027ced08f2dc4274" /><ns0:Relationship Type="http://schemas.openxmlformats.org/officeDocument/2006/relationships/image" Target="/ppt/media/image32.png" Id="Re5974444a6764ae5" /><ns0:Relationship Type="http://schemas.openxmlformats.org/officeDocument/2006/relationships/notesSlide" Target="/ppt/notesSlides/notesSlide38.xml" Id="Re35ba8120d444782"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e58e59b3f2274283" /><ns0:Relationship Type="http://schemas.openxmlformats.org/officeDocument/2006/relationships/image" Target="/ppt/media/image33.png" Id="R8243613df72a4b36" /><ns0:Relationship Type="http://schemas.openxmlformats.org/officeDocument/2006/relationships/notesSlide" Target="/ppt/notesSlides/notesSlide39.xml" Id="R0c3e215de85a47ff"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b9ce77f1d30542ca" /><ns0:Relationship Type="http://schemas.openxmlformats.org/officeDocument/2006/relationships/image" Target="/ppt/media/image34.png" Id="R4bb062f0e87b435c" /><ns0:Relationship Type="http://schemas.openxmlformats.org/officeDocument/2006/relationships/notesSlide" Target="/ppt/notesSlides/notesSlide40.xml" Id="R0244b37a363f446b"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github.com/USSoccerFederation/ussf_ssac_23_soccer_gnn"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9a1b12849af04eeb" /><ns0:Relationship Type="http://schemas.openxmlformats.org/officeDocument/2006/relationships/image" Target="/ppt/media/image35.png" Id="Rd69dc2723f3f4e3d" /><ns0:Relationship Type="http://schemas.openxmlformats.org/officeDocument/2006/relationships/notesSlide" Target="/ppt/notesSlides/notesSlide41.xml" Id="Rac110b04fe8e45b1"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3f7de1a1c0714022" /><ns0:Relationship Type="http://schemas.openxmlformats.org/officeDocument/2006/relationships/image" Target="/ppt/media/image36.png" Id="R0af18c3e6507492d" /><ns0:Relationship Type="http://schemas.openxmlformats.org/officeDocument/2006/relationships/notesSlide" Target="/ppt/notesSlides/notesSlide42.xml" Id="R7a1870eac5ab4653"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680127abc90148c0" /><ns0:Relationship Type="http://schemas.openxmlformats.org/officeDocument/2006/relationships/image" Target="/ppt/media/image37.png" Id="R4d057a32cc6849fd" /><ns0:Relationship Type="http://schemas.openxmlformats.org/officeDocument/2006/relationships/notesSlide" Target="/ppt/notesSlides/notesSlide43.xml" Id="R0cff68db6c1c4501"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a3ad753f750f4d40" /><ns0:Relationship Type="http://schemas.openxmlformats.org/officeDocument/2006/relationships/image" Target="/ppt/media/image38.png" Id="Rceedceab4a354899" /><ns0:Relationship Type="http://schemas.openxmlformats.org/officeDocument/2006/relationships/notesSlide" Target="/ppt/notesSlides/notesSlide44.xml" Id="Rceffd2d305f54ffd"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438c8da7203d4dc3" /><ns0:Relationship Type="http://schemas.openxmlformats.org/officeDocument/2006/relationships/image" Target="/ppt/media/image39.png" Id="R7d704f6043c84e43" /><ns0:Relationship Type="http://schemas.openxmlformats.org/officeDocument/2006/relationships/notesSlide" Target="/ppt/notesSlides/notesSlide45.xml" Id="Rd11cf2af643e41f3"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55ab238d253d4a49" /><ns0:Relationship Type="http://schemas.openxmlformats.org/officeDocument/2006/relationships/image" Target="/ppt/media/image40.png" Id="Rb29c21abbe5a4486" /><ns0:Relationship Type="http://schemas.openxmlformats.org/officeDocument/2006/relationships/notesSlide" Target="/ppt/notesSlides/notesSlide46.xml" Id="Rce935727c4ee4bd1" /><ns0:Relationship Id="rIdWorkshop4" Type="http://schemas.openxmlformats.org/officeDocument/2006/relationships/hyperlink" Target="https://arxiv.org/abs/2010.10202"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99fa6980a7984804" /><ns0:Relationship Type="http://schemas.openxmlformats.org/officeDocument/2006/relationships/image" Target="/ppt/media/image41.png" Id="Re1a49d906d6a486d" /><ns0:Relationship Type="http://schemas.openxmlformats.org/officeDocument/2006/relationships/notesSlide" Target="/ppt/notesSlides/notesSlide47.xml" Id="Red2653d1a8c64aeb" /><ns0:Relationship Id="rIdWorkshop4" Type="http://schemas.openxmlformats.org/officeDocument/2006/relationships/hyperlink" Target="https://github.com/hyunsungkim-ds/defcon"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2fd1af752a444653" /><ns0:Relationship Type="http://schemas.openxmlformats.org/officeDocument/2006/relationships/image" Target="/ppt/media/image42.png" Id="R0d3df553f8a34952" /><ns0:Relationship Type="http://schemas.openxmlformats.org/officeDocument/2006/relationships/notesSlide" Target="/ppt/notesSlides/notesSlide48.xml" Id="Rd5d5189a15da4435" /><ns0:Relationship Id="rIdWorkshop4" Type="http://schemas.openxmlformats.org/officeDocument/2006/relationships/hyperlink" Target="https://github.com/USSoccerFederation/ussf_ssac_23_soccer_gnn"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628384a994f0468a" /><ns0:Relationship Type="http://schemas.openxmlformats.org/officeDocument/2006/relationships/image" Target="/ppt/media/image43.png" Id="R759b69aa9afc4f29" /><ns0:Relationship Type="http://schemas.openxmlformats.org/officeDocument/2006/relationships/notesSlide" Target="/ppt/notesSlides/notesSlide49.xml" Id="Rce9efd38078f4edd" /><ns0:Relationship Id="rIdWorkshop4" Type="http://schemas.openxmlformats.org/officeDocument/2006/relationships/hyperlink" Target="https://www.nature.com/articles/s41467-024-45965-x"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38ddbc3329b2400c" /><ns0:Relationship Type="http://schemas.openxmlformats.org/officeDocument/2006/relationships/image" Target="/ppt/media/image44.png" Id="R6b79ba0b428a453e" /><ns0:Relationship Type="http://schemas.openxmlformats.org/officeDocument/2006/relationships/notesSlide" Target="/ppt/notesSlides/notesSlide50.xml" Id="R28934cb955464128" /><ns0:Relationship Id="rIdWorkshop4" Type="http://schemas.openxmlformats.org/officeDocument/2006/relationships/hyperlink" Target="https://arxiv.org/abs/2604.11786"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a013c05d9f0a4d54" /><ns0:Relationship Type="http://schemas.openxmlformats.org/officeDocument/2006/relationships/image" Target="/ppt/media/image45.png" Id="R5d63def14841441e" /><ns0:Relationship Type="http://schemas.openxmlformats.org/officeDocument/2006/relationships/notesSlide" Target="/ppt/notesSlides/notesSlide51.xml" Id="Rb0444387910d4ccd"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065E295D-76F9-4AE8-AD90-F846C77508E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301F12F-0D06-417F-8DCE-1B3FF0C3BFCD}"/>
              </a:ext>
            </a:extLst>
          </p:cNvPr>
          <p:cNvSpPr>
            <a:spLocks noGrp="1"/>
          </p:cNvSpPr>
          <p:nvPr/>
        </p:nvSpPr>
        <p:spPr>
          <a:xfrm>
            <a:off x="476250" y="495300"/>
            <a:ext cx="11239500" cy="28575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SOCCER ANALYTICS · SKILLCORNER OPEN DATA</a:t>
            </a:r>
          </a:p>
        </p:txBody>
      </p:sp>
      <p:sp>
        <p:nvSpPr>
          <p:cNvPr id="3" name="">
            <a:extLst>
              <a:ext uri="{FF2B5EF4-FFF2-40B4-BE49-F238E27FC236}">
                <ns2:creationId id="{02C8B282-C24C-4EB0-93BB-F0AD6FDEE0BB}"/>
              </a:ext>
            </a:extLst>
          </p:cNvPr>
          <p:cNvSpPr>
            <a:spLocks noGrp="1"/>
          </p:cNvSpPr>
          <p:nvPr/>
        </p:nvSpPr>
        <p:spPr>
          <a:xfrm>
            <a:off x="476250" y="1066800"/>
            <a:ext cx="11239500" cy="952500"/>
          </a:xfrm>
          <a:prstGeom prst="rect">
            <a:avLst/>
          </a:prstGeom>
          <a:noFill/>
          <a:ln w="0">
            <a:noFill/>
          </a:ln>
        </p:spPr>
        <p:txBody>
          <a:bodyPr/>
          <a:lstStyle>
            <a:defPPr>
              <a:defRPr sz="4650" b="1">
                <a:solidFill>
                  <a:srgbClr val="183A35"/>
                </a:solidFill>
                <a:latin typeface="Arial"/>
                <a:ea typeface="Arial"/>
                <a:cs typeface="Arial"/>
              </a:defRPr>
            </a:defPPr>
            <a:lvl1pPr>
              <a:defRPr sz="4650" b="1">
                <a:solidFill>
                  <a:srgbClr val="183A35"/>
                </a:solidFill>
                <a:latin typeface="Arial"/>
                <a:ea typeface="Arial"/>
                <a:cs typeface="Arial"/>
              </a:defRPr>
            </a:lvl1pPr>
            <a:lvl2pPr>
              <a:defRPr sz="4650" b="1">
                <a:solidFill>
                  <a:srgbClr val="183A35"/>
                </a:solidFill>
                <a:latin typeface="Arial"/>
                <a:ea typeface="Arial"/>
                <a:cs typeface="Arial"/>
              </a:defRPr>
            </a:lvl2pPr>
            <a:lvl3pPr>
              <a:defRPr sz="4650" b="1">
                <a:solidFill>
                  <a:srgbClr val="183A35"/>
                </a:solidFill>
                <a:latin typeface="Arial"/>
                <a:ea typeface="Arial"/>
                <a:cs typeface="Arial"/>
              </a:defRPr>
            </a:lvl3pPr>
            <a:lvl4pPr>
              <a:defRPr sz="4650" b="1">
                <a:solidFill>
                  <a:srgbClr val="183A35"/>
                </a:solidFill>
                <a:latin typeface="Arial"/>
                <a:ea typeface="Arial"/>
                <a:cs typeface="Arial"/>
              </a:defRPr>
            </a:lvl4pPr>
            <a:lvl5pPr>
              <a:defRPr sz="4650" b="1">
                <a:solidFill>
                  <a:srgbClr val="183A35"/>
                </a:solidFill>
                <a:latin typeface="Arial"/>
                <a:ea typeface="Arial"/>
                <a:cs typeface="Arial"/>
              </a:defRPr>
            </a:lvl5pPr>
            <a:lvl6pPr>
              <a:defRPr sz="4650" b="1">
                <a:solidFill>
                  <a:srgbClr val="183A35"/>
                </a:solidFill>
                <a:latin typeface="Arial"/>
                <a:ea typeface="Arial"/>
                <a:cs typeface="Arial"/>
              </a:defRPr>
            </a:lvl6pPr>
            <a:lvl7pPr>
              <a:defRPr sz="4650" b="1">
                <a:solidFill>
                  <a:srgbClr val="183A35"/>
                </a:solidFill>
                <a:latin typeface="Arial"/>
                <a:ea typeface="Arial"/>
                <a:cs typeface="Arial"/>
              </a:defRPr>
            </a:lvl7pPr>
            <a:lvl8pPr>
              <a:defRPr sz="4650" b="1">
                <a:solidFill>
                  <a:srgbClr val="183A35"/>
                </a:solidFill>
                <a:latin typeface="Arial"/>
                <a:ea typeface="Arial"/>
                <a:cs typeface="Arial"/>
              </a:defRPr>
            </a:lvl8pPr>
            <a:lvl9pPr>
              <a:defRPr sz="4650" b="1">
                <a:solidFill>
                  <a:srgbClr val="183A35"/>
                </a:solidFill>
                <a:latin typeface="Arial"/>
                <a:ea typeface="Arial"/>
                <a:cs typeface="Arial"/>
              </a:defRPr>
            </a:lvl9pPr>
          </a:lstStyle>
          <a:p>
            <a:pPr>
              <a:defRPr sz="4650" b="1">
                <a:solidFill>
                  <a:srgbClr val="183A35"/>
                </a:solidFill>
                <a:latin typeface="Arial"/>
                <a:ea typeface="Arial"/>
                <a:cs typeface="Arial"/>
              </a:defRPr>
            </a:pPr>
            <a:r>
              <a:rPr sz="4650" b="1">
                <a:solidFill>
                  <a:srgbClr val="183A35"/>
                </a:solidFill>
                <a:latin typeface="Arial"/>
                <a:ea typeface="Arial"/>
                <a:cs typeface="Arial"/>
              </a:rPr>
              <a:t>Tracking Data Applied</a:t>
            </a:r>
          </a:p>
        </p:txBody>
      </p:sp>
      <p:sp>
        <p:nvSpPr>
          <p:cNvPr id="4" name="">
            <a:extLst>
              <a:ext uri="{FF2B5EF4-FFF2-40B4-BE49-F238E27FC236}">
                <ns2:creationId id="{5016D82F-574D-4CC0-9E76-56B2E5507637}"/>
              </a:ext>
            </a:extLst>
          </p:cNvPr>
          <p:cNvSpPr>
            <a:spLocks noGrp="1"/>
          </p:cNvSpPr>
          <p:nvPr/>
        </p:nvSpPr>
        <p:spPr>
          <a:xfrm>
            <a:off x="476250" y="2286000"/>
            <a:ext cx="4953000" cy="1428750"/>
          </a:xfrm>
          <a:prstGeom prst="rect">
            <a:avLst/>
          </a:prstGeom>
          <a:noFill/>
          <a:ln w="0">
            <a:noFill/>
          </a:ln>
        </p:spPr>
        <p:txBody>
          <a:bodyPr/>
          <a:lstStyle>
            <a:defPPr>
              <a:defRPr sz="2550" b="0">
                <a:solidFill>
                  <a:srgbClr val="183A35"/>
                </a:solidFill>
                <a:latin typeface="Arial"/>
                <a:ea typeface="Arial"/>
                <a:cs typeface="Arial"/>
              </a:defRPr>
            </a:defPPr>
            <a:lvl1pPr>
              <a:defRPr sz="2550" b="0">
                <a:solidFill>
                  <a:srgbClr val="183A35"/>
                </a:solidFill>
                <a:latin typeface="Arial"/>
                <a:ea typeface="Arial"/>
                <a:cs typeface="Arial"/>
              </a:defRPr>
            </a:lvl1pPr>
            <a:lvl2pPr>
              <a:defRPr sz="2550" b="0">
                <a:solidFill>
                  <a:srgbClr val="183A35"/>
                </a:solidFill>
                <a:latin typeface="Arial"/>
                <a:ea typeface="Arial"/>
                <a:cs typeface="Arial"/>
              </a:defRPr>
            </a:lvl2pPr>
            <a:lvl3pPr>
              <a:defRPr sz="2550" b="0">
                <a:solidFill>
                  <a:srgbClr val="183A35"/>
                </a:solidFill>
                <a:latin typeface="Arial"/>
                <a:ea typeface="Arial"/>
                <a:cs typeface="Arial"/>
              </a:defRPr>
            </a:lvl3pPr>
            <a:lvl4pPr>
              <a:defRPr sz="2550" b="0">
                <a:solidFill>
                  <a:srgbClr val="183A35"/>
                </a:solidFill>
                <a:latin typeface="Arial"/>
                <a:ea typeface="Arial"/>
                <a:cs typeface="Arial"/>
              </a:defRPr>
            </a:lvl4pPr>
            <a:lvl5pPr>
              <a:defRPr sz="2550" b="0">
                <a:solidFill>
                  <a:srgbClr val="183A35"/>
                </a:solidFill>
                <a:latin typeface="Arial"/>
                <a:ea typeface="Arial"/>
                <a:cs typeface="Arial"/>
              </a:defRPr>
            </a:lvl5pPr>
            <a:lvl6pPr>
              <a:defRPr sz="2550" b="0">
                <a:solidFill>
                  <a:srgbClr val="183A35"/>
                </a:solidFill>
                <a:latin typeface="Arial"/>
                <a:ea typeface="Arial"/>
                <a:cs typeface="Arial"/>
              </a:defRPr>
            </a:lvl6pPr>
            <a:lvl7pPr>
              <a:defRPr sz="2550" b="0">
                <a:solidFill>
                  <a:srgbClr val="183A35"/>
                </a:solidFill>
                <a:latin typeface="Arial"/>
                <a:ea typeface="Arial"/>
                <a:cs typeface="Arial"/>
              </a:defRPr>
            </a:lvl7pPr>
            <a:lvl8pPr>
              <a:defRPr sz="2550" b="0">
                <a:solidFill>
                  <a:srgbClr val="183A35"/>
                </a:solidFill>
                <a:latin typeface="Arial"/>
                <a:ea typeface="Arial"/>
                <a:cs typeface="Arial"/>
              </a:defRPr>
            </a:lvl8pPr>
            <a:lvl9pPr>
              <a:defRPr sz="2550" b="0">
                <a:solidFill>
                  <a:srgbClr val="183A35"/>
                </a:solidFill>
                <a:latin typeface="Arial"/>
                <a:ea typeface="Arial"/>
                <a:cs typeface="Arial"/>
              </a:defRPr>
            </a:lvl9pPr>
          </a:lstStyle>
          <a:p>
            <a:pPr>
              <a:defRPr sz="2550" b="0">
                <a:solidFill>
                  <a:srgbClr val="183A35"/>
                </a:solidFill>
                <a:latin typeface="Arial"/>
                <a:ea typeface="Arial"/>
                <a:cs typeface="Arial"/>
              </a:defRPr>
            </a:pPr>
            <a:r>
              <a:rPr sz="2550" b="0">
                <a:solidFill>
                  <a:srgbClr val="183A35"/>
                </a:solidFill>
                <a:latin typeface="Arial"/>
                <a:ea typeface="Arial"/>
                <a:cs typeface="Arial"/>
              </a:rPr>
              <a:t>Turn player and ball movement into football answers.</a:t>
            </a:r>
          </a:p>
        </p:txBody>
      </p:sp>
      <p:pic>
        <p:nvPicPr>
          <p:cNvPr id="5" name="">
            <a:extLst>
              <a:ext uri="{FF2B5EF4-FFF2-40B4-BE49-F238E27FC236}">
                <ns2:creationId id="{2E07F680-2DB0-44B0-AC58-93ED04A7399B}"/>
              </a:ext>
            </a:extLst>
          </p:cNvPr>
          <p:cNvPicPr>
            <a:picLocks noChangeAspect="1"/>
          </p:cNvPicPr>
          <p:nvPr/>
        </p:nvPicPr>
        <p:blipFill>
          <a:blip r:embed="Rcc3f028ffe51437a"/>
          <a:stretch/>
        </p:blipFill>
        <p:spPr>
          <a:xfrm>
            <a:off x="5667375" y="2190750"/>
            <a:ext cx="6096000" cy="3429000"/>
          </a:xfrm>
          <a:prstGeom prst="rect">
            <a:avLst/>
          </a:prstGeom>
        </p:spPr>
      </p:pic>
      <p:sp>
        <p:nvSpPr>
          <p:cNvPr id="6" name="">
            <a:extLst>
              <a:ext uri="{FF2B5EF4-FFF2-40B4-BE49-F238E27FC236}">
                <ns2:creationId id="{B7731776-CFE9-45B6-9FE4-1A36E63C1AB8}"/>
              </a:ext>
            </a:extLst>
          </p:cNvPr>
          <p:cNvSpPr>
            <a:spLocks noGrp="1"/>
          </p:cNvSpPr>
          <p:nvPr/>
        </p:nvSpPr>
        <p:spPr>
          <a:xfrm>
            <a:off x="476250" y="5124450"/>
            <a:ext cx="4476750" cy="809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Problems, methods and results</a:t>
            </a:r>
          </a:p>
          <a:p>
            <a:pPr>
              <a:defRPr sz="1875" b="1">
                <a:solidFill>
                  <a:srgbClr val="147D68"/>
                </a:solidFill>
                <a:latin typeface="Arial"/>
                <a:ea typeface="Arial"/>
                <a:cs typeface="Arial"/>
              </a:defRPr>
            </a:pPr>
            <a:r>
              <a:rPr sz="1875" b="1">
                <a:solidFill>
                  <a:srgbClr val="147D68"/>
                </a:solidFill>
                <a:latin typeface="Arial"/>
                <a:ea typeface="Arial"/>
                <a:cs typeface="Arial"/>
              </a:rPr>
              <a:t>Code and implementation live in the notebooks.</a:t>
            </a:r>
          </a:p>
        </p:txBody>
      </p:sp>
      <p:sp>
        <p:nvSpPr>
          <p:cNvPr id="7" name="">
            <a:extLst>
              <a:ext uri="{FF2B5EF4-FFF2-40B4-BE49-F238E27FC236}">
                <ns2:creationId id="{72C7002D-EFDF-48F8-913D-1DB581A05D6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8" name="">
            <a:extLst>
              <a:ext uri="{FF2B5EF4-FFF2-40B4-BE49-F238E27FC236}">
                <ns2:creationId id="{703C6DC8-BCD5-40DE-B78E-ECCE7C14704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a:t>
            </a:r>
          </a:p>
        </p:txBody>
      </p:sp>
    </p:spTree>
    <p:extLst>
      <p:ext uri="{BB962C8B-B14F-4D97-AF65-F5344CB8AC3E}">
        <p14:creationId val="359768863"/>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FCE088A-7982-4C91-863D-8F2B4D3D15E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9A9197F-469E-43D8-A79E-DE3878026454}"/>
              </a:ext>
            </a:extLst>
          </p:cNvPr>
          <p:cNvSpPr>
            <a:spLocks noGrp="1"/>
          </p:cNvSpPr>
          <p:nvPr/>
        </p:nvSpPr>
        <p:spPr>
          <a:xfrm>
            <a:off x="476250" y="523875"/>
            <a:ext cx="10953750" cy="809625"/>
          </a:xfrm>
          <a:prstGeom prst="rect">
            <a:avLst/>
          </a:prstGeom>
          <a:noFill/>
          <a:ln w="0">
            <a:noFill/>
          </a:ln>
        </p:spPr>
        <p:txBody>
          <a:bodyPr/>
          <a:lstStyle>
            <a:defPPr>
              <a:defRPr sz="3450" b="1">
                <a:solidFill>
                  <a:srgbClr val="183A35"/>
                </a:solidFill>
                <a:latin typeface="Arial"/>
                <a:ea typeface="Arial"/>
                <a:cs typeface="Arial"/>
              </a:defRPr>
            </a:defPPr>
            <a:lvl1pPr>
              <a:defRPr sz="3450" b="1">
                <a:solidFill>
                  <a:srgbClr val="183A35"/>
                </a:solidFill>
                <a:latin typeface="Arial"/>
                <a:ea typeface="Arial"/>
                <a:cs typeface="Arial"/>
              </a:defRPr>
            </a:lvl1pPr>
            <a:lvl2pPr>
              <a:defRPr sz="3450" b="1">
                <a:solidFill>
                  <a:srgbClr val="183A35"/>
                </a:solidFill>
                <a:latin typeface="Arial"/>
                <a:ea typeface="Arial"/>
                <a:cs typeface="Arial"/>
              </a:defRPr>
            </a:lvl2pPr>
            <a:lvl3pPr>
              <a:defRPr sz="3450" b="1">
                <a:solidFill>
                  <a:srgbClr val="183A35"/>
                </a:solidFill>
                <a:latin typeface="Arial"/>
                <a:ea typeface="Arial"/>
                <a:cs typeface="Arial"/>
              </a:defRPr>
            </a:lvl3pPr>
            <a:lvl4pPr>
              <a:defRPr sz="3450" b="1">
                <a:solidFill>
                  <a:srgbClr val="183A35"/>
                </a:solidFill>
                <a:latin typeface="Arial"/>
                <a:ea typeface="Arial"/>
                <a:cs typeface="Arial"/>
              </a:defRPr>
            </a:lvl4pPr>
            <a:lvl5pPr>
              <a:defRPr sz="3450" b="1">
                <a:solidFill>
                  <a:srgbClr val="183A35"/>
                </a:solidFill>
                <a:latin typeface="Arial"/>
                <a:ea typeface="Arial"/>
                <a:cs typeface="Arial"/>
              </a:defRPr>
            </a:lvl5pPr>
            <a:lvl6pPr>
              <a:defRPr sz="3450" b="1">
                <a:solidFill>
                  <a:srgbClr val="183A35"/>
                </a:solidFill>
                <a:latin typeface="Arial"/>
                <a:ea typeface="Arial"/>
                <a:cs typeface="Arial"/>
              </a:defRPr>
            </a:lvl6pPr>
            <a:lvl7pPr>
              <a:defRPr sz="3450" b="1">
                <a:solidFill>
                  <a:srgbClr val="183A35"/>
                </a:solidFill>
                <a:latin typeface="Arial"/>
                <a:ea typeface="Arial"/>
                <a:cs typeface="Arial"/>
              </a:defRPr>
            </a:lvl7pPr>
            <a:lvl8pPr>
              <a:defRPr sz="3450" b="1">
                <a:solidFill>
                  <a:srgbClr val="183A35"/>
                </a:solidFill>
                <a:latin typeface="Arial"/>
                <a:ea typeface="Arial"/>
                <a:cs typeface="Arial"/>
              </a:defRPr>
            </a:lvl8pPr>
            <a:lvl9pPr>
              <a:defRPr sz="3450" b="1">
                <a:solidFill>
                  <a:srgbClr val="183A35"/>
                </a:solidFill>
                <a:latin typeface="Arial"/>
                <a:ea typeface="Arial"/>
                <a:cs typeface="Arial"/>
              </a:defRPr>
            </a:lvl9pPr>
          </a:lstStyle>
          <a:p>
            <a:pPr>
              <a:defRPr sz="3450" b="1">
                <a:solidFill>
                  <a:srgbClr val="183A35"/>
                </a:solidFill>
                <a:latin typeface="Arial"/>
                <a:ea typeface="Arial"/>
                <a:cs typeface="Arial"/>
              </a:defRPr>
            </a:pPr>
            <a:r>
              <a:rPr sz="3450" b="1">
                <a:solidFill>
                  <a:srgbClr val="183A35"/>
                </a:solidFill>
                <a:latin typeface="Arial"/>
                <a:ea typeface="Arial"/>
                <a:cs typeface="Arial"/>
              </a:rPr>
              <a:t>What can tracking data answer?</a:t>
            </a:r>
          </a:p>
        </p:txBody>
      </p:sp>
      <p:sp>
        <p:nvSpPr>
          <p:cNvPr id="3" name="">
            <a:extLst>
              <a:ext uri="{FF2B5EF4-FFF2-40B4-BE49-F238E27FC236}">
                <ns2:creationId id="{2F2B3018-278F-4764-83CD-141257C9D8FF}"/>
              </a:ext>
            </a:extLst>
          </p:cNvPr>
          <p:cNvSpPr>
            <a:spLocks noGrp="1"/>
          </p:cNvSpPr>
          <p:nvPr/>
        </p:nvSpPr>
        <p:spPr>
          <a:xfrm>
            <a:off x="476250" y="1457325"/>
            <a:ext cx="11049000" cy="590550"/>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Five avenues connect continuous movement to analytical questions.</a:t>
            </a:r>
          </a:p>
        </p:txBody>
      </p:sp>
      <p:sp>
        <p:nvSpPr>
          <p:cNvPr id="4" name="">
            <a:extLst>
              <a:ext uri="{FF2B5EF4-FFF2-40B4-BE49-F238E27FC236}">
                <ns2:creationId id="{366DBC44-A90D-478F-88B2-DEEE51A8BFE6}"/>
              </a:ext>
            </a:extLst>
          </p:cNvPr>
          <p:cNvSpPr>
            <a:spLocks noGrp="1"/>
          </p:cNvSpPr>
          <p:nvPr/>
        </p:nvSpPr>
        <p:spPr>
          <a:xfrm>
            <a:off x="476250" y="22860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Event detection</a:t>
            </a:r>
          </a:p>
        </p:txBody>
      </p:sp>
      <p:sp>
        <p:nvSpPr>
          <p:cNvPr id="5" name="">
            <a:extLst>
              <a:ext uri="{FF2B5EF4-FFF2-40B4-BE49-F238E27FC236}">
                <ns2:creationId id="{39897A2D-4A66-4551-8F4F-3CC41C530CB5}"/>
              </a:ext>
            </a:extLst>
          </p:cNvPr>
          <p:cNvSpPr>
            <a:spLocks noGrp="1"/>
          </p:cNvSpPr>
          <p:nvPr/>
        </p:nvSpPr>
        <p:spPr>
          <a:xfrm>
            <a:off x="5048250" y="22860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Who controlled the ball, and what happened?</a:t>
            </a:r>
          </a:p>
        </p:txBody>
      </p:sp>
      <p:sp>
        <p:nvSpPr>
          <p:cNvPr id="6" name="">
            <a:extLst>
              <a:ext uri="{FF2B5EF4-FFF2-40B4-BE49-F238E27FC236}">
                <ns2:creationId id="{3DA22817-2DC5-496F-96DA-EC0C9E934AE3}"/>
              </a:ext>
            </a:extLst>
          </p:cNvPr>
          <p:cNvSpPr>
            <a:spLocks noGrp="1"/>
          </p:cNvSpPr>
          <p:nvPr/>
        </p:nvSpPr>
        <p:spPr>
          <a:xfrm>
            <a:off x="476250" y="29908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Formation and positions</a:t>
            </a:r>
          </a:p>
        </p:txBody>
      </p:sp>
      <p:sp>
        <p:nvSpPr>
          <p:cNvPr id="7" name="">
            <a:extLst>
              <a:ext uri="{FF2B5EF4-FFF2-40B4-BE49-F238E27FC236}">
                <ns2:creationId id="{1AAD71EA-616B-4636-BB33-CD1008F1A8FD}"/>
              </a:ext>
            </a:extLst>
          </p:cNvPr>
          <p:cNvSpPr>
            <a:spLocks noGrp="1"/>
          </p:cNvSpPr>
          <p:nvPr/>
        </p:nvSpPr>
        <p:spPr>
          <a:xfrm>
            <a:off x="5048250" y="29908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was the team organized, and who played which role?</a:t>
            </a:r>
          </a:p>
        </p:txBody>
      </p:sp>
      <p:sp>
        <p:nvSpPr>
          <p:cNvPr id="8" name="">
            <a:extLst>
              <a:ext uri="{FF2B5EF4-FFF2-40B4-BE49-F238E27FC236}">
                <ns2:creationId id="{C0A73ADA-9115-477E-8E4D-0A351871E98F}"/>
              </a:ext>
            </a:extLst>
          </p:cNvPr>
          <p:cNvSpPr>
            <a:spLocks noGrp="1"/>
          </p:cNvSpPr>
          <p:nvPr/>
        </p:nvSpPr>
        <p:spPr>
          <a:xfrm>
            <a:off x="476250" y="36957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Match segmentation</a:t>
            </a:r>
          </a:p>
        </p:txBody>
      </p:sp>
      <p:sp>
        <p:nvSpPr>
          <p:cNvPr id="9" name="">
            <a:extLst>
              <a:ext uri="{FF2B5EF4-FFF2-40B4-BE49-F238E27FC236}">
                <ns2:creationId id="{631DECFF-864A-4DB4-8FCB-96AB5C08366D}"/>
              </a:ext>
            </a:extLst>
          </p:cNvPr>
          <p:cNvSpPr>
            <a:spLocks noGrp="1"/>
          </p:cNvSpPr>
          <p:nvPr/>
        </p:nvSpPr>
        <p:spPr>
          <a:xfrm>
            <a:off x="5048250" y="36957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phase or tactical context was the team in?</a:t>
            </a:r>
          </a:p>
        </p:txBody>
      </p:sp>
      <p:sp>
        <p:nvSpPr>
          <p:cNvPr id="10" name="">
            <a:extLst>
              <a:ext uri="{FF2B5EF4-FFF2-40B4-BE49-F238E27FC236}">
                <ns2:creationId id="{BE1ED6BC-CFB9-4FEF-9176-0FFD81383771}"/>
              </a:ext>
            </a:extLst>
          </p:cNvPr>
          <p:cNvSpPr>
            <a:spLocks noGrp="1"/>
          </p:cNvSpPr>
          <p:nvPr/>
        </p:nvSpPr>
        <p:spPr>
          <a:xfrm>
            <a:off x="476250" y="44005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Physical metrics</a:t>
            </a:r>
          </a:p>
        </p:txBody>
      </p:sp>
      <p:sp>
        <p:nvSpPr>
          <p:cNvPr id="11" name="">
            <a:extLst>
              <a:ext uri="{FF2B5EF4-FFF2-40B4-BE49-F238E27FC236}">
                <ns2:creationId id="{E04D8B1F-5CC1-4F34-B73B-21ADD664D510}"/>
              </a:ext>
            </a:extLst>
          </p:cNvPr>
          <p:cNvSpPr>
            <a:spLocks noGrp="1"/>
          </p:cNvSpPr>
          <p:nvPr/>
        </p:nvSpPr>
        <p:spPr>
          <a:xfrm>
            <a:off x="5048250" y="44005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far, how fast and how explosively did players move?</a:t>
            </a:r>
          </a:p>
        </p:txBody>
      </p:sp>
      <p:sp>
        <p:nvSpPr>
          <p:cNvPr id="12" name="">
            <a:extLst>
              <a:ext uri="{FF2B5EF4-FFF2-40B4-BE49-F238E27FC236}">
                <ns2:creationId id="{124FD301-FB10-4C45-BD16-3BB0CBAA3994}"/>
              </a:ext>
            </a:extLst>
          </p:cNvPr>
          <p:cNvSpPr>
            <a:spLocks noGrp="1"/>
          </p:cNvSpPr>
          <p:nvPr/>
        </p:nvSpPr>
        <p:spPr>
          <a:xfrm>
            <a:off x="476250" y="51054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Game modeling</a:t>
            </a:r>
          </a:p>
        </p:txBody>
      </p:sp>
      <p:sp>
        <p:nvSpPr>
          <p:cNvPr id="13" name="">
            <a:extLst>
              <a:ext uri="{FF2B5EF4-FFF2-40B4-BE49-F238E27FC236}">
                <ns2:creationId id="{04F0DFDF-FC77-49C3-B4BD-9908C2BE5A7D}"/>
              </a:ext>
            </a:extLst>
          </p:cNvPr>
          <p:cNvSpPr>
            <a:spLocks noGrp="1"/>
          </p:cNvSpPr>
          <p:nvPr/>
        </p:nvSpPr>
        <p:spPr>
          <a:xfrm>
            <a:off x="5048250" y="51054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spaces, actions and game states create value?</a:t>
            </a:r>
          </a:p>
        </p:txBody>
      </p:sp>
      <p:sp>
        <p:nvSpPr>
          <p:cNvPr id="14" name="">
            <a:extLst>
              <a:ext uri="{FF2B5EF4-FFF2-40B4-BE49-F238E27FC236}">
                <ns2:creationId id="{EBAA332E-A88B-4866-9F34-76D0D9B7FED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3"/>
              </a:rPr>
              <a:t>SkillCorner open data and schema</a:t>
            </a:r>
          </a:p>
        </p:txBody>
      </p:sp>
      <p:sp>
        <p:nvSpPr>
          <p:cNvPr id="15" name="">
            <a:extLst>
              <a:ext uri="{FF2B5EF4-FFF2-40B4-BE49-F238E27FC236}">
                <ns2:creationId id="{282998BC-75BB-4F34-8492-A3EEAEEC197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a:t>
            </a:r>
          </a:p>
        </p:txBody>
      </p:sp>
    </p:spTree>
    <p:extLst>
      <p:ext uri="{BB962C8B-B14F-4D97-AF65-F5344CB8AC3E}">
        <p14:creationId val="1181078259"/>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A9CCD74-9517-4758-A2DA-01B2CB95DC0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70280AD-BFEF-4E5D-A3AB-BD2D89C466A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B6791D9A-6663-4295-AD84-AD887606787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Data and documentation</a:t>
            </a:r>
          </a:p>
        </p:txBody>
      </p:sp>
      <p:sp>
        <p:nvSpPr>
          <p:cNvPr id="4" name="">
            <a:extLst>
              <a:ext uri="{FF2B5EF4-FFF2-40B4-BE49-F238E27FC236}">
                <ns2:creationId id="{86077ADF-5100-4E7C-9D3A-1A1A3680E3F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6DEC139-A83F-4069-A87C-5E9690DA17F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Where do coordinates, labels and metric definitions come from?</a:t>
            </a:r>
          </a:p>
        </p:txBody>
      </p:sp>
      <p:sp>
        <p:nvSpPr>
          <p:cNvPr id="6" name="">
            <a:extLst>
              <a:ext uri="{FF2B5EF4-FFF2-40B4-BE49-F238E27FC236}">
                <ns2:creationId id="{963C0C70-4BFB-461C-8A10-6E3E81B19F8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9A9D4E2-642A-4F14-BBD8-6BFC4EA1377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 open data; kloppy ingestion; DataBallPy metric documentation.</a:t>
            </a:r>
          </a:p>
        </p:txBody>
      </p:sp>
      <p:sp>
        <p:nvSpPr>
          <p:cNvPr id="8" name="">
            <a:extLst>
              <a:ext uri="{FF2B5EF4-FFF2-40B4-BE49-F238E27FC236}">
                <ns2:creationId id="{7D356AC1-EB7A-4FDA-803D-1C4A1ABF5FE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Links and loaded data</a:t>
            </a:r>
          </a:p>
        </p:txBody>
      </p:sp>
      <p:pic>
        <p:nvPicPr>
          <p:cNvPr id="9" name="">
            <a:extLst>
              <a:ext uri="{FF2B5EF4-FFF2-40B4-BE49-F238E27FC236}">
                <ns2:creationId id="{949778DF-D2E9-4F16-BAB7-9228BBEEFAC3}"/>
              </a:ext>
            </a:extLst>
          </p:cNvPr>
          <p:cNvPicPr>
            <a:picLocks noChangeAspect="1"/>
          </p:cNvPicPr>
          <p:nvPr/>
        </p:nvPicPr>
        <p:blipFill>
          <a:blip r:embed="R17ab634de6d4420d"/>
          <a:stretch/>
        </p:blipFill>
        <p:spPr>
          <a:xfrm>
            <a:off x="3730598" y="1428750"/>
            <a:ext cx="7302555" cy="4333875"/>
          </a:xfrm>
          <a:prstGeom prst="rect">
            <a:avLst/>
          </a:prstGeom>
        </p:spPr>
      </p:pic>
      <p:sp>
        <p:nvSpPr>
          <p:cNvPr id="10" name="">
            <a:extLst>
              <a:ext uri="{FF2B5EF4-FFF2-40B4-BE49-F238E27FC236}">
                <ns2:creationId id="{BADE1B9E-7C9F-4E29-BBE5-8941AC80888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Keep coordinates, supplied labels and our derived estimates distinct.</a:t>
            </a:r>
          </a:p>
        </p:txBody>
      </p:sp>
      <p:sp>
        <p:nvSpPr>
          <p:cNvPr id="11" name="">
            <a:extLst>
              <a:ext uri="{FF2B5EF4-FFF2-40B4-BE49-F238E27FC236}">
                <ns2:creationId id="{83E6A1BA-BA40-43CB-9FF6-6940DEF7210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1F76F3F9-B483-4E79-A901-078B6D5F9005}"/>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6C920637-7235-4375-8813-6F9CCFD8953D}"/>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4" name="">
            <a:extLst>
              <a:ext uri="{FF2B5EF4-FFF2-40B4-BE49-F238E27FC236}">
                <ns2:creationId id="{9D6CB7FA-644F-4DAB-8951-73DEC7EE096C}"/>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DataBallPy covered distance</a:t>
            </a:r>
          </a:p>
        </p:txBody>
      </p:sp>
      <p:sp>
        <p:nvSpPr>
          <p:cNvPr id="15" name="">
            <a:extLst>
              <a:ext uri="{FF2B5EF4-FFF2-40B4-BE49-F238E27FC236}">
                <ns2:creationId id="{EA1F5001-3C95-4C94-95EB-EB5C20C7217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a:t>
            </a:r>
          </a:p>
        </p:txBody>
      </p:sp>
    </p:spTree>
    <p:extLst>
      <p:ext uri="{BB962C8B-B14F-4D97-AF65-F5344CB8AC3E}">
        <p14:creationId val="1558148382"/>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E425AA8-BA03-42B9-B648-ACA380BF4CD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39E1436-FEDD-46F6-A89E-4D87FBA201E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877C2316-50C6-46FD-A915-019CFC6FD65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Tracking quality and visibility</a:t>
            </a:r>
          </a:p>
        </p:txBody>
      </p:sp>
      <p:sp>
        <p:nvSpPr>
          <p:cNvPr id="4" name="">
            <a:extLst>
              <a:ext uri="{FF2B5EF4-FFF2-40B4-BE49-F238E27FC236}">
                <ns2:creationId id="{CD7AB79A-2B3D-4757-A70F-70036740B97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C2ACBDF-5EA0-45C4-A03D-4FD78392CD6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Which positions were observed on screen?</a:t>
            </a:r>
          </a:p>
        </p:txBody>
      </p:sp>
      <p:sp>
        <p:nvSpPr>
          <p:cNvPr id="6" name="">
            <a:extLst>
              <a:ext uri="{FF2B5EF4-FFF2-40B4-BE49-F238E27FC236}">
                <ns2:creationId id="{7896181D-80DD-4513-9DCD-09605D3DBE8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B748697-1F27-42CC-A371-FDAB85E93D0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 image corners; read each player’s is_detected flag.</a:t>
            </a:r>
          </a:p>
        </p:txBody>
      </p:sp>
      <p:sp>
        <p:nvSpPr>
          <p:cNvPr id="8" name="">
            <a:extLst>
              <a:ext uri="{FF2B5EF4-FFF2-40B4-BE49-F238E27FC236}">
                <ns2:creationId id="{66829386-71D1-4A3E-8A90-3B513DCA772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11 detected · 11 extrapolated</a:t>
            </a:r>
          </a:p>
        </p:txBody>
      </p:sp>
      <p:pic>
        <p:nvPicPr>
          <p:cNvPr id="9" name="">
            <a:extLst>
              <a:ext uri="{FF2B5EF4-FFF2-40B4-BE49-F238E27FC236}">
                <ns2:creationId id="{677861DE-6946-44E9-9246-41BDA0DE34F2}"/>
              </a:ext>
            </a:extLst>
          </p:cNvPr>
          <p:cNvPicPr>
            <a:picLocks noChangeAspect="1"/>
          </p:cNvPicPr>
          <p:nvPr/>
        </p:nvPicPr>
        <p:blipFill>
          <a:blip r:embed="R48ff80ec5a3946e5"/>
          <a:stretch/>
        </p:blipFill>
        <p:spPr>
          <a:xfrm>
            <a:off x="3529542" y="1428750"/>
            <a:ext cx="7704667" cy="4333875"/>
          </a:xfrm>
          <a:prstGeom prst="rect">
            <a:avLst/>
          </a:prstGeom>
        </p:spPr>
      </p:pic>
      <p:sp>
        <p:nvSpPr>
          <p:cNvPr id="10" name="">
            <a:extLst>
              <a:ext uri="{FF2B5EF4-FFF2-40B4-BE49-F238E27FC236}">
                <ns2:creationId id="{BB33BDA4-8D58-48DB-92BC-BFB26E7344F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Camera coverage and detection status are related, separate fields.</a:t>
            </a:r>
          </a:p>
        </p:txBody>
      </p:sp>
      <p:sp>
        <p:nvSpPr>
          <p:cNvPr id="11" name="">
            <a:extLst>
              <a:ext uri="{FF2B5EF4-FFF2-40B4-BE49-F238E27FC236}">
                <ns2:creationId id="{B51D5732-A84B-4EA4-9F90-4F78B90126A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4527AA06-4861-4A05-A21E-1AAFEBFA0A1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E3D98549-5077-4619-BD3E-3EFDD5A74AA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98F3D5E6-3522-45EB-BF87-952069E9F2C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a:t>
            </a:r>
          </a:p>
        </p:txBody>
      </p:sp>
    </p:spTree>
    <p:extLst>
      <p:ext uri="{BB962C8B-B14F-4D97-AF65-F5344CB8AC3E}">
        <p14:creationId val="983669567"/>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5A5190A3-20A4-4919-A6DD-0B5F5875114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4682EEE-BCF4-49DB-8492-F901B7280D4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26D13192-D805-4FA1-A03A-09D5B0C5F44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Read movement in context</a:t>
            </a:r>
          </a:p>
        </p:txBody>
      </p:sp>
      <p:sp>
        <p:nvSpPr>
          <p:cNvPr id="4" name="">
            <a:extLst>
              <a:ext uri="{FF2B5EF4-FFF2-40B4-BE49-F238E27FC236}">
                <ns2:creationId id="{142E6B66-98F3-485C-A841-6130CCD5DE8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C08445E-589E-4E2C-B465-17EDEEE7A3E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does a tracking sequence reveal that one frame misses?</a:t>
            </a:r>
          </a:p>
        </p:txBody>
      </p:sp>
      <p:sp>
        <p:nvSpPr>
          <p:cNvPr id="6" name="">
            <a:extLst>
              <a:ext uri="{FF2B5EF4-FFF2-40B4-BE49-F238E27FC236}">
                <ns2:creationId id="{85C43209-6E2C-4838-98D4-81ED5C9E805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4497486-16FD-46A8-9202-20410C53FA9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Animate the same player identities and ball through time.</a:t>
            </a:r>
          </a:p>
        </p:txBody>
      </p:sp>
      <p:sp>
        <p:nvSpPr>
          <p:cNvPr id="8" name="">
            <a:extLst>
              <a:ext uri="{FF2B5EF4-FFF2-40B4-BE49-F238E27FC236}">
                <ns2:creationId id="{73249857-A0B2-47A6-BB5E-300EDE23841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Native 10 Hz playback</a:t>
            </a:r>
          </a:p>
        </p:txBody>
      </p:sp>
      <p:pic>
        <p:nvPicPr>
          <p:cNvPr id="9" name="Video: Read movement in context" descr="Embedded MP4. Click to play. Embedded native-rate MP4 of actual SkillCorner player and ball positions with shirt numbers. Click the movie in slideshow view. Tracking visualization, not broadcast footage.">
            <a:hlinkClick action="ppaction://media"/>
            <a:extLst>
              <a:ext uri="{FF2B5EF4-FFF2-40B4-BE49-F238E27FC236}">
                <ns2:creationId id="{31F0C1EA-6CAB-405F-B3B8-86A312F87379}"/>
              </a:ext>
            </a:extLst>
          </p:cNvPr>
          <p:cNvPicPr>
            <a:picLocks noChangeAspect="1"/>
          </p:cNvPicPr>
          <p:nvPr>
            <a:videoFile r:link="rIdWorkshopVideo"/>
            <p:extLst>
              <p:ext uri="{DAA4B4D4-6D71-4841-9C94-3DE7FCFB9230}">
                <p14:media r:embed="rIdWorkshopMedia"/>
              </p:ext>
            </p:extLst>
          </p:nvPr>
        </p:nvPicPr>
        <p:blipFill>
          <a:blip r:embed="R280b81a68ce0453b"/>
          <a:stretch/>
        </p:blipFill>
        <p:spPr>
          <a:xfrm>
            <a:off x="3724275" y="1428750"/>
            <a:ext cx="7315200" cy="4114800"/>
          </a:xfrm>
          <a:prstGeom prst="rect">
            <a:avLst/>
          </a:prstGeom>
        </p:spPr>
      </p:pic>
      <p:sp>
        <p:nvSpPr>
          <p:cNvPr id="10" name="">
            <a:extLst>
              <a:ext uri="{FF2B5EF4-FFF2-40B4-BE49-F238E27FC236}">
                <ns2:creationId id="{0BB5EF16-560A-4D93-B628-EE9692D8281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7BE7BC80-930E-4583-A600-06C785E48FE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Motion, team structure and tracking uncertainty become visible.</a:t>
            </a:r>
          </a:p>
        </p:txBody>
      </p:sp>
      <p:sp>
        <p:nvSpPr>
          <p:cNvPr id="12" name="">
            <a:extLst>
              <a:ext uri="{FF2B5EF4-FFF2-40B4-BE49-F238E27FC236}">
                <ns2:creationId id="{CB5B758D-8F2C-4DE3-B678-6CB08A6BFF2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3" name="">
            <a:extLst>
              <a:ext uri="{FF2B5EF4-FFF2-40B4-BE49-F238E27FC236}">
                <ns2:creationId id="{955D2CB6-29C1-44D7-A5A6-1A5DD7186D3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4AB9E221-A936-42D8-A00F-1FD301C4031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5" name="">
            <a:extLst>
              <a:ext uri="{FF2B5EF4-FFF2-40B4-BE49-F238E27FC236}">
                <ns2:creationId id="{50D96738-E7CF-48EC-A6AC-473A135AC19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a:t>
            </a:r>
          </a:p>
        </p:txBody>
      </p:sp>
    </p:spTree>
    <p:extLst>
      <p:ext uri="{BB962C8B-B14F-4D97-AF65-F5344CB8AC3E}">
        <p14:creationId val="190267626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62B04583-9E82-4683-8318-2E424DABC7F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12C7B13-809A-4201-9F56-33BF1D6AD4C2}"/>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BE839222-87E7-4E7D-8E1D-EEC0FF84228F}"/>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Event detection</a:t>
            </a:r>
          </a:p>
        </p:txBody>
      </p:sp>
      <p:sp>
        <p:nvSpPr>
          <p:cNvPr id="4" name="">
            <a:extLst>
              <a:ext uri="{FF2B5EF4-FFF2-40B4-BE49-F238E27FC236}">
                <ns2:creationId id="{60B9907E-C8AA-42C0-802C-6A5D365B1167}"/>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Derive motion from tracking coordinates, then combine physical measurements with rules to identify event candidates.</a:t>
            </a:r>
          </a:p>
        </p:txBody>
      </p:sp>
      <p:sp>
        <p:nvSpPr>
          <p:cNvPr id="5" name="">
            <a:extLst>
              <a:ext uri="{FF2B5EF4-FFF2-40B4-BE49-F238E27FC236}">
                <ns2:creationId id="{11CF24D7-F870-45C3-A080-D130B210A7C8}"/>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Ideas and detection rules</a:t>
            </a:r>
          </a:p>
        </p:txBody>
      </p:sp>
      <p:sp>
        <p:nvSpPr>
          <p:cNvPr id="6" name="">
            <a:extLst>
              <a:ext uri="{FF2B5EF4-FFF2-40B4-BE49-F238E27FC236}">
                <ns2:creationId id="{A3E833DB-84CC-40B4-9E6D-58D254C0AEFF}"/>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close, low, slow and sustained</a:t>
            </a:r>
          </a:p>
        </p:txBody>
      </p:sp>
      <p:sp>
        <p:nvSpPr>
          <p:cNvPr id="7" name="">
            <a:extLst>
              <a:ext uri="{FF2B5EF4-FFF2-40B4-BE49-F238E27FC236}">
                <ns2:creationId id="{13A26067-4BB0-4D58-AE62-06196D3FC427}"/>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Passes: release, travel and reception</a:t>
            </a:r>
          </a:p>
        </p:txBody>
      </p:sp>
      <p:sp>
        <p:nvSpPr>
          <p:cNvPr id="8" name="">
            <a:extLst>
              <a:ext uri="{FF2B5EF4-FFF2-40B4-BE49-F238E27FC236}">
                <ns2:creationId id="{2BA8D02F-1682-4013-8CA5-0A65A8BF1CF2}"/>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Shots, carries, duels and pressure</a:t>
            </a:r>
          </a:p>
        </p:txBody>
      </p:sp>
      <p:sp>
        <p:nvSpPr>
          <p:cNvPr id="9" name="">
            <a:extLst>
              <a:ext uri="{FF2B5EF4-FFF2-40B4-BE49-F238E27FC236}">
                <ns2:creationId id="{33357E3B-B2AB-454F-A6C5-3765F0A00997}"/>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Speed = displacement / elapsed time</a:t>
            </a:r>
          </a:p>
        </p:txBody>
      </p:sp>
      <p:sp>
        <p:nvSpPr>
          <p:cNvPr id="10" name="">
            <a:extLst>
              <a:ext uri="{FF2B5EF4-FFF2-40B4-BE49-F238E27FC236}">
                <ns2:creationId id="{19845A40-DA0B-4D82-A505-6D2A04970BB2}"/>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 velocity change / time</a:t>
            </a:r>
          </a:p>
        </p:txBody>
      </p:sp>
      <p:sp>
        <p:nvSpPr>
          <p:cNvPr id="11" name="">
            <a:extLst>
              <a:ext uri="{FF2B5EF4-FFF2-40B4-BE49-F238E27FC236}">
                <ns2:creationId id="{98B36C15-A1DC-4628-9C31-51EA77B1A975}"/>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Detection rules and video validation</a:t>
            </a:r>
          </a:p>
        </p:txBody>
      </p:sp>
      <p:sp>
        <p:nvSpPr>
          <p:cNvPr id="12" name="">
            <a:extLst>
              <a:ext uri="{FF2B5EF4-FFF2-40B4-BE49-F238E27FC236}">
                <ns2:creationId id="{96C9162E-CA3A-4272-ADE6-6A1F45E8F531}"/>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Physics supplies measurements. Event definitions supply thresholds and timing rules.</a:t>
            </a:r>
          </a:p>
        </p:txBody>
      </p:sp>
      <p:sp>
        <p:nvSpPr>
          <p:cNvPr id="13" name="">
            <a:extLst>
              <a:ext uri="{FF2B5EF4-FFF2-40B4-BE49-F238E27FC236}">
                <ns2:creationId id="{31882142-646D-42D8-A595-789443D932A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6</a:t>
            </a:r>
          </a:p>
        </p:txBody>
      </p:sp>
    </p:spTree>
    <p:extLst>
      <p:ext uri="{BB962C8B-B14F-4D97-AF65-F5344CB8AC3E}">
        <p14:creationId val="432637603"/>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AED21CE-7831-4B3D-A585-F149562295A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67B3285-239C-4B71-8922-E333EC6D86A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986E843F-9AC5-4EE8-ACF5-1DDCC1C6619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controls the ball?</a:t>
            </a:r>
          </a:p>
        </p:txBody>
      </p:sp>
      <p:sp>
        <p:nvSpPr>
          <p:cNvPr id="4" name="">
            <a:extLst>
              <a:ext uri="{FF2B5EF4-FFF2-40B4-BE49-F238E27FC236}">
                <ns2:creationId id="{E382EA2E-361F-4606-B154-F3F80DF26A9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797C4A8-F6EE-4CEF-95DD-1975429215B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Identify the likely ball carrier between recorded events.</a:t>
            </a:r>
          </a:p>
        </p:txBody>
      </p:sp>
      <p:sp>
        <p:nvSpPr>
          <p:cNvPr id="6" name="">
            <a:extLst>
              <a:ext uri="{FF2B5EF4-FFF2-40B4-BE49-F238E27FC236}">
                <ns2:creationId id="{F836B9F9-F663-415A-A793-341C4C6F20F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C5557C5-B8A1-4A8D-879F-776A42B7356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Require sustained proximity, low ball speed and low ball height.</a:t>
            </a:r>
          </a:p>
        </p:txBody>
      </p:sp>
      <p:sp>
        <p:nvSpPr>
          <p:cNvPr id="8" name="">
            <a:extLst>
              <a:ext uri="{FF2B5EF4-FFF2-40B4-BE49-F238E27FC236}">
                <ns2:creationId id="{F13055B4-6C3D-49BF-85CD-16272D0E7BA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Offline teaching heuristic</a:t>
            </a:r>
          </a:p>
        </p:txBody>
      </p:sp>
      <p:pic>
        <p:nvPicPr>
          <p:cNvPr id="9" name="Video: Who controls the ball?" descr="Embedded MP4. Click to play. Control candidate: same nearest player within 2 m, ball height 0–2 m and horizontal ball speed ≤3 m/s for ≥0.3 s at native 10 Hz. Velocity comes from adjacent-frame displacement divided by valid elapsed time, within a period. Missing speed, height, coordinates or frame continuity break the evidence. Video synchronizes distance, speed and stable ownership. This conservative offline heuristic reduces flyovers and fast dummies but can miss fast dribbles, aerial control and one-touch play; slow dummies can still qualify. No validated accuracy claim. Half-speed playback.">
            <a:hlinkClick action="ppaction://media"/>
            <a:extLst>
              <a:ext uri="{FF2B5EF4-FFF2-40B4-BE49-F238E27FC236}">
                <ns2:creationId id="{989CDE4B-EA32-4C86-B037-506C863AD294}"/>
              </a:ext>
            </a:extLst>
          </p:cNvPr>
          <p:cNvPicPr>
            <a:picLocks noChangeAspect="1"/>
          </p:cNvPicPr>
          <p:nvPr>
            <a:videoFile r:link="rIdWorkshopVideo"/>
            <p:extLst>
              <p:ext uri="{DAA4B4D4-6D71-4841-9C94-3DE7FCFB9230}">
                <p14:media r:embed="rIdWorkshopMedia"/>
              </p:ext>
            </p:extLst>
          </p:nvPr>
        </p:nvPicPr>
        <p:blipFill>
          <a:blip r:embed="R507d428b12654a61"/>
          <a:stretch/>
        </p:blipFill>
        <p:spPr>
          <a:xfrm>
            <a:off x="3724275" y="1428750"/>
            <a:ext cx="7315200" cy="4114800"/>
          </a:xfrm>
          <a:prstGeom prst="rect">
            <a:avLst/>
          </a:prstGeom>
        </p:spPr>
      </p:pic>
      <p:sp>
        <p:nvSpPr>
          <p:cNvPr id="10" name="">
            <a:extLst>
              <a:ext uri="{FF2B5EF4-FFF2-40B4-BE49-F238E27FC236}">
                <ns2:creationId id="{C1439304-FCD3-4887-A592-7E66095CDD22}"/>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495C3E4-DAF0-4873-9EB7-DE1D9B2280E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Highlighted carrier states; uncertain intervals remain unassigned.</a:t>
            </a:r>
          </a:p>
        </p:txBody>
      </p:sp>
      <p:sp>
        <p:nvSpPr>
          <p:cNvPr id="12" name="">
            <a:extLst>
              <a:ext uri="{FF2B5EF4-FFF2-40B4-BE49-F238E27FC236}">
                <ns2:creationId id="{697BEE1B-603B-4887-9D96-A649B92B542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1D18329B-3067-4F08-9A00-8D144B3685E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5479C961-7F90-42A5-8886-9D14A8A7AC7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E1625EBB-5559-4C70-A471-6C1CEC82465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7</a:t>
            </a:r>
          </a:p>
        </p:txBody>
      </p:sp>
    </p:spTree>
    <p:extLst>
      <p:ext uri="{BB962C8B-B14F-4D97-AF65-F5344CB8AC3E}">
        <p14:creationId val="130028167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7ADE0EDD-98C2-4ED2-A571-51931A4F92F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C3EE101-A35D-4093-B1D8-8D000CACD9C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4452BB08-6DBC-4B72-BAB4-8AF388CE693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a pass occur?</a:t>
            </a:r>
          </a:p>
        </p:txBody>
      </p:sp>
      <p:sp>
        <p:nvSpPr>
          <p:cNvPr id="4" name="">
            <a:extLst>
              <a:ext uri="{FF2B5EF4-FFF2-40B4-BE49-F238E27FC236}">
                <ns2:creationId id="{0761A85D-4118-4B30-B418-689AB320F48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512DA1A-EA4A-441C-9675-CB6524B2091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 pass from touches, ball transit and reception.</a:t>
            </a:r>
          </a:p>
        </p:txBody>
      </p:sp>
      <p:sp>
        <p:nvSpPr>
          <p:cNvPr id="6" name="">
            <a:extLst>
              <a:ext uri="{FF2B5EF4-FFF2-40B4-BE49-F238E27FC236}">
                <ns2:creationId id="{9AA81AE3-43B6-4C17-A199-32604B94220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CBEB7B2-6243-4EF6-BFDD-A096DEF5F5D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Link same-team low-speed control intervals through continuous ball travel.</a:t>
            </a:r>
          </a:p>
        </p:txBody>
      </p:sp>
      <p:sp>
        <p:nvSpPr>
          <p:cNvPr id="8" name="">
            <a:extLst>
              <a:ext uri="{FF2B5EF4-FFF2-40B4-BE49-F238E27FC236}">
                <ns2:creationId id="{8EC8ADE5-132A-4136-A444-0FD0D5DE181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Unverified pass candidate</a:t>
            </a:r>
          </a:p>
        </p:txBody>
      </p:sp>
      <p:pic>
        <p:nvPicPr>
          <p:cNvPr id="9" name="Video: When does a pass occur?" descr="Embedded MP4. Click to play. Actual player–ball distances, horizontal ball speed and ball height share the clip time axis. Same-player proximity within 2 m, height 0–2 m, speed ≤3 m/s and ≥0.3 s persistence define the control endpoints. Different same-team endpoints form a pass candidate only if the intervening ball trajectory is complete, crosses no period boundary, travels at least 3 m and spans no more than 4 s. Transit can exceed the control-speed threshold. Dashed arrow and endpoints are retrospective candidates, not reviewed event truth. Acceleration is not a detection gate.">
            <a:hlinkClick action="ppaction://media"/>
            <a:extLst>
              <a:ext uri="{FF2B5EF4-FFF2-40B4-BE49-F238E27FC236}">
                <ns2:creationId id="{B4E5436B-B8D5-44ED-9635-CDA7FCF0CDA3}"/>
              </a:ext>
            </a:extLst>
          </p:cNvPr>
          <p:cNvPicPr>
            <a:picLocks noChangeAspect="1"/>
          </p:cNvPicPr>
          <p:nvPr>
            <a:videoFile r:link="rIdWorkshopVideo"/>
            <p:extLst>
              <p:ext uri="{DAA4B4D4-6D71-4841-9C94-3DE7FCFB9230}">
                <p14:media r:embed="rIdWorkshopMedia"/>
              </p:ext>
            </p:extLst>
          </p:nvPr>
        </p:nvPicPr>
        <p:blipFill>
          <a:blip r:embed="R3e3d0d9751f94196"/>
          <a:stretch/>
        </p:blipFill>
        <p:spPr>
          <a:xfrm>
            <a:off x="3724275" y="1428750"/>
            <a:ext cx="7315200" cy="4114800"/>
          </a:xfrm>
          <a:prstGeom prst="rect">
            <a:avLst/>
          </a:prstGeom>
        </p:spPr>
      </p:pic>
      <p:sp>
        <p:nvSpPr>
          <p:cNvPr id="10" name="">
            <a:extLst>
              <a:ext uri="{FF2B5EF4-FFF2-40B4-BE49-F238E27FC236}">
                <ns2:creationId id="{06F760B8-BF90-4758-B052-60F77BC0D082}"/>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C7F05D01-5614-4AB5-B739-921C4799678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Release and reception candidates align with the physics traces.</a:t>
            </a:r>
          </a:p>
        </p:txBody>
      </p:sp>
      <p:sp>
        <p:nvSpPr>
          <p:cNvPr id="12" name="">
            <a:extLst>
              <a:ext uri="{FF2B5EF4-FFF2-40B4-BE49-F238E27FC236}">
                <ns2:creationId id="{72265E5B-71D0-46E6-BAC5-0F4754BCA96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42AEDE53-E538-4D93-AC65-7C59DE081D8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2AFA15B9-6DBB-4E2D-B113-CD9E675096F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466463A3-43FD-4EBF-947D-30EC919F49D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8</a:t>
            </a:r>
          </a:p>
        </p:txBody>
      </p:sp>
    </p:spTree>
    <p:extLst>
      <p:ext uri="{BB962C8B-B14F-4D97-AF65-F5344CB8AC3E}">
        <p14:creationId val="125830943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B114B9C8-988C-42A6-8A7C-740C18B242D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0CD96FD-D437-4590-85B5-3B1F5C6BF1B5}"/>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F259C287-1255-4B3E-BD54-A240B05A856F}"/>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Formation and position identification</a:t>
            </a:r>
          </a:p>
        </p:txBody>
      </p:sp>
      <p:sp>
        <p:nvSpPr>
          <p:cNvPr id="4" name="">
            <a:extLst>
              <a:ext uri="{FF2B5EF4-FFF2-40B4-BE49-F238E27FC236}">
                <ns2:creationId id="{875A1275-5056-47A8-A0F9-412331893A79}"/>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can we describe team organization while players move and rotate?</a:t>
            </a:r>
          </a:p>
        </p:txBody>
      </p:sp>
      <p:sp>
        <p:nvSpPr>
          <p:cNvPr id="5" name="">
            <a:extLst>
              <a:ext uri="{FF2B5EF4-FFF2-40B4-BE49-F238E27FC236}">
                <ns2:creationId id="{3A07A4EF-8C6F-4BFF-B2B8-D03C140E0425}"/>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5D698D7C-6A11-431E-93CF-9FF20C58F0F4}"/>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Team shape and phase-conditioned averages</a:t>
            </a:r>
          </a:p>
        </p:txBody>
      </p:sp>
      <p:sp>
        <p:nvSpPr>
          <p:cNvPr id="7" name="">
            <a:extLst>
              <a:ext uri="{FF2B5EF4-FFF2-40B4-BE49-F238E27FC236}">
                <ns2:creationId id="{893AAA41-3827-487B-891D-67180B6AFFD4}"/>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Formation-template identification</a:t>
            </a:r>
          </a:p>
        </p:txBody>
      </p:sp>
      <p:sp>
        <p:nvSpPr>
          <p:cNvPr id="8" name="">
            <a:extLst>
              <a:ext uri="{FF2B5EF4-FFF2-40B4-BE49-F238E27FC236}">
                <ns2:creationId id="{44B33734-2B47-4B3E-812A-7FE7359A0095}"/>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Player roles and positional rotations</a:t>
            </a:r>
          </a:p>
        </p:txBody>
      </p:sp>
      <p:sp>
        <p:nvSpPr>
          <p:cNvPr id="9" name="">
            <a:extLst>
              <a:ext uri="{FF2B5EF4-FFF2-40B4-BE49-F238E27FC236}">
                <ns2:creationId id="{41F4E1A8-5DF0-41B6-8DDA-4921BB0F074F}"/>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Role signatures from relative geometry</a:t>
            </a:r>
          </a:p>
        </p:txBody>
      </p:sp>
      <p:sp>
        <p:nvSpPr>
          <p:cNvPr id="10" name="">
            <a:extLst>
              <a:ext uri="{FF2B5EF4-FFF2-40B4-BE49-F238E27FC236}">
                <ns2:creationId id="{3EFD90B5-B8B7-45B5-A27B-B59BB8200958}"/>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Persistent formation-change candidates</a:t>
            </a:r>
          </a:p>
        </p:txBody>
      </p:sp>
      <p:sp>
        <p:nvSpPr>
          <p:cNvPr id="11" name="">
            <a:extLst>
              <a:ext uri="{FF2B5EF4-FFF2-40B4-BE49-F238E27FC236}">
                <ns2:creationId id="{E99D3F9B-5ED5-4675-B113-5B827BF432BC}"/>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Substitutions and asymmetric shapes</a:t>
            </a:r>
          </a:p>
        </p:txBody>
      </p:sp>
      <p:sp>
        <p:nvSpPr>
          <p:cNvPr id="12" name="">
            <a:extLst>
              <a:ext uri="{FF2B5EF4-FFF2-40B4-BE49-F238E27FC236}">
                <ns2:creationId id="{6803E2D4-9E6B-4B20-A139-CEB143FAC117}"/>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formation assignments, angular signatures and change timelines</a:t>
            </a:r>
          </a:p>
        </p:txBody>
      </p:sp>
      <p:sp>
        <p:nvSpPr>
          <p:cNvPr id="13" name="">
            <a:extLst>
              <a:ext uri="{FF2B5EF4-FFF2-40B4-BE49-F238E27FC236}">
                <ns2:creationId id="{CA48788C-F5BA-4352-AA12-FFB6F663392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9</a:t>
            </a:r>
          </a:p>
        </p:txBody>
      </p:sp>
    </p:spTree>
    <p:extLst>
      <p:ext uri="{BB962C8B-B14F-4D97-AF65-F5344CB8AC3E}">
        <p14:creationId val="325561387"/>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510A9202-EEF5-4A89-84E0-27EA6900773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3DD7509-5B75-4262-A81C-105B116EEF0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9EB09AFD-433D-482C-BD0F-F477C3E73CE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formation best fits this shape?</a:t>
            </a:r>
          </a:p>
        </p:txBody>
      </p:sp>
      <p:sp>
        <p:nvSpPr>
          <p:cNvPr id="4" name="">
            <a:extLst>
              <a:ext uri="{FF2B5EF4-FFF2-40B4-BE49-F238E27FC236}">
                <ns2:creationId id="{D88FAA11-65A9-4642-AAC6-A7840571818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45F16A8-2E60-4E47-89FF-4958C67B65C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Infer organization from positions rather than the team sheet.</a:t>
            </a:r>
          </a:p>
        </p:txBody>
      </p:sp>
      <p:sp>
        <p:nvSpPr>
          <p:cNvPr id="6" name="">
            <a:extLst>
              <a:ext uri="{FF2B5EF4-FFF2-40B4-BE49-F238E27FC236}">
                <ns2:creationId id="{0D2DD4DB-64C3-4D64-B3F9-2AFBB3A846C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44D71E8-032A-4DC0-B208-A8CEF0BFB9D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Center each frame, match players to template slots, then compare RMS error.</a:t>
            </a:r>
          </a:p>
        </p:txBody>
      </p:sp>
      <p:sp>
        <p:nvSpPr>
          <p:cNvPr id="8" name="">
            <a:extLst>
              <a:ext uri="{FF2B5EF4-FFF2-40B4-BE49-F238E27FC236}">
                <ns2:creationId id="{F69D3112-C9BB-4D18-A316-95173DAE7AE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Fixed-template estimate; roles are inferred.</a:t>
            </a:r>
          </a:p>
        </p:txBody>
      </p:sp>
      <p:pic>
        <p:nvPicPr>
          <p:cNvPr id="9" name="">
            <a:extLst>
              <a:ext uri="{FF2B5EF4-FFF2-40B4-BE49-F238E27FC236}">
                <ns2:creationId id="{7FCF7337-FE03-4090-91C0-6F6D6C09A4F4}"/>
              </a:ext>
            </a:extLst>
          </p:cNvPr>
          <p:cNvPicPr>
            <a:picLocks noChangeAspect="1"/>
          </p:cNvPicPr>
          <p:nvPr/>
        </p:nvPicPr>
        <p:blipFill>
          <a:blip r:embed="Rb273c35613ea41ce"/>
          <a:stretch/>
        </p:blipFill>
        <p:spPr>
          <a:xfrm>
            <a:off x="3048000" y="1428750"/>
            <a:ext cx="8667750" cy="4333875"/>
          </a:xfrm>
          <a:prstGeom prst="rect">
            <a:avLst/>
          </a:prstGeom>
        </p:spPr>
      </p:pic>
      <p:sp>
        <p:nvSpPr>
          <p:cNvPr id="10" name="">
            <a:extLst>
              <a:ext uri="{FF2B5EF4-FFF2-40B4-BE49-F238E27FC236}">
                <ns2:creationId id="{E6BCD908-C5E8-4242-8A60-F48A256EDE3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Minimum assignment error selects 4-2-3-1 from the four candidate templates.</a:t>
            </a:r>
          </a:p>
        </p:txBody>
      </p:sp>
      <p:sp>
        <p:nvSpPr>
          <p:cNvPr id="11" name="">
            <a:extLst>
              <a:ext uri="{FF2B5EF4-FFF2-40B4-BE49-F238E27FC236}">
                <ns2:creationId id="{9FA3A566-7036-4935-8CE9-A4D7FB4864F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B95FC867-F5BE-4A96-A7D1-BE03FB73CB84}"/>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9CB90008-8312-4EC2-A403-16C8D9341387}"/>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8402426B-1F4D-464D-8962-C92A9FEB2286}"/>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DFA77BC6-CE9B-4996-855B-62DB8924EE1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10</a:t>
            </a:r>
          </a:p>
        </p:txBody>
      </p:sp>
    </p:spTree>
    <p:extLst>
      <p:ext uri="{BB962C8B-B14F-4D97-AF65-F5344CB8AC3E}">
        <p14:creationId val="845838803"/>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54740851-1008-4682-8F4D-9C3C20C9178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6DF02AA-A7D6-424E-9047-B099A3B072C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299282A8-A8FE-4F86-BE8F-6D6FD2BA20C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spatial signature describes a role?</a:t>
            </a:r>
          </a:p>
        </p:txBody>
      </p:sp>
      <p:sp>
        <p:nvSpPr>
          <p:cNvPr id="4" name="">
            <a:extLst>
              <a:ext uri="{FF2B5EF4-FFF2-40B4-BE49-F238E27FC236}">
                <ns2:creationId id="{D5FCFC2B-9339-442E-8AAE-B00C6F47D32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2692B66-01A1-4985-8E01-B18FF0F5AC8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players by where their teammates lie around them.</a:t>
            </a:r>
          </a:p>
        </p:txBody>
      </p:sp>
      <p:sp>
        <p:nvSpPr>
          <p:cNvPr id="6" name="">
            <a:extLst>
              <a:ext uri="{FF2B5EF4-FFF2-40B4-BE49-F238E27FC236}">
                <ns2:creationId id="{36D424F3-A96F-4748-AD84-973F7D10927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32F643C-B44D-4634-926C-228A296886C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Pleuler-inspired teammate counts across rotating 90° sectors.</a:t>
            </a:r>
          </a:p>
        </p:txBody>
      </p:sp>
      <p:sp>
        <p:nvSpPr>
          <p:cNvPr id="8" name="">
            <a:extLst>
              <a:ext uri="{FF2B5EF4-FFF2-40B4-BE49-F238E27FC236}">
                <ns2:creationId id="{4578CF0D-45AC-42FF-BD4E-C2507098D03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Real geometry · metadata role labels</a:t>
            </a:r>
          </a:p>
        </p:txBody>
      </p:sp>
      <p:pic>
        <p:nvPicPr>
          <p:cNvPr id="9" name="">
            <a:extLst>
              <a:ext uri="{FF2B5EF4-FFF2-40B4-BE49-F238E27FC236}">
                <ns2:creationId id="{5E670AF0-7FE2-428A-98D4-CC1D02FBFCF5}"/>
              </a:ext>
            </a:extLst>
          </p:cNvPr>
          <p:cNvPicPr>
            <a:picLocks noChangeAspect="1"/>
          </p:cNvPicPr>
          <p:nvPr/>
        </p:nvPicPr>
        <p:blipFill>
          <a:blip r:embed="Rde7c5590c97c43d4"/>
          <a:stretch/>
        </p:blipFill>
        <p:spPr>
          <a:xfrm>
            <a:off x="3048000" y="1428750"/>
            <a:ext cx="8667750" cy="4333875"/>
          </a:xfrm>
          <a:prstGeom prst="rect">
            <a:avLst/>
          </a:prstGeom>
        </p:spPr>
      </p:pic>
      <p:sp>
        <p:nvSpPr>
          <p:cNvPr id="10" name="">
            <a:extLst>
              <a:ext uri="{FF2B5EF4-FFF2-40B4-BE49-F238E27FC236}">
                <ns2:creationId id="{5388F940-2177-481C-9823-23B52C4991C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Contrasting angular signatures for wide, central and attacking roles.</a:t>
            </a:r>
          </a:p>
        </p:txBody>
      </p:sp>
      <p:sp>
        <p:nvSpPr>
          <p:cNvPr id="11" name="">
            <a:extLst>
              <a:ext uri="{FF2B5EF4-FFF2-40B4-BE49-F238E27FC236}">
                <ns2:creationId id="{F786F9E8-DC61-4032-8A8E-55B9D53E4B9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04_role_classification.ipynb</a:t>
            </a:r>
          </a:p>
        </p:txBody>
      </p:sp>
      <p:sp>
        <p:nvSpPr>
          <p:cNvPr id="12" name="">
            <a:extLst>
              <a:ext uri="{FF2B5EF4-FFF2-40B4-BE49-F238E27FC236}">
                <ns2:creationId id="{6F271E8C-4D1C-4F00-A461-298F13356E3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2D20C674-A32E-45EF-86EA-1669EE0A80E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11</a:t>
            </a:r>
          </a:p>
        </p:txBody>
      </p:sp>
    </p:spTree>
    <p:extLst>
      <p:ext uri="{BB962C8B-B14F-4D97-AF65-F5344CB8AC3E}">
        <p14:creationId val="1321973982"/>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79B105C-9CCE-4367-891B-53F4F762481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BC54F06-05B0-418E-A38C-F6E66F85ED0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799CF95F-FCC8-4480-9F94-B9785ED2141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Did the formation actually change?</a:t>
            </a:r>
          </a:p>
        </p:txBody>
      </p:sp>
      <p:sp>
        <p:nvSpPr>
          <p:cNvPr id="4" name="">
            <a:extLst>
              <a:ext uri="{FF2B5EF4-FFF2-40B4-BE49-F238E27FC236}">
                <ns2:creationId id="{0CE5F7DE-FD80-4F12-A99F-0CFAD354A3E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F97C575-6F28-4854-9B12-E8FD131D89A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persistent reorganization from transient shape changes.</a:t>
            </a:r>
          </a:p>
        </p:txBody>
      </p:sp>
      <p:sp>
        <p:nvSpPr>
          <p:cNvPr id="6" name="">
            <a:extLst>
              <a:ext uri="{FF2B5EF4-FFF2-40B4-BE49-F238E27FC236}">
                <ns2:creationId id="{E55D6AEB-3AE2-48C6-9877-66552EEE903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E7E1272-C3EA-43CE-93A6-AD83762ACFA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defensive windows; confirm only persistent candidates.</a:t>
            </a:r>
          </a:p>
        </p:txBody>
      </p:sp>
      <p:sp>
        <p:nvSpPr>
          <p:cNvPr id="8" name="">
            <a:extLst>
              <a:ext uri="{FF2B5EF4-FFF2-40B4-BE49-F238E27FC236}">
                <ns2:creationId id="{E434FEA6-3983-47D8-A38C-C9BFF2424B2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Candidates, not verified tactical changes</a:t>
            </a:r>
          </a:p>
        </p:txBody>
      </p:sp>
      <p:pic>
        <p:nvPicPr>
          <p:cNvPr id="9" name="">
            <a:extLst>
              <a:ext uri="{FF2B5EF4-FFF2-40B4-BE49-F238E27FC236}">
                <ns2:creationId id="{E895321B-7340-48B2-A7D0-BA731DE599C0}"/>
              </a:ext>
            </a:extLst>
          </p:cNvPr>
          <p:cNvPicPr>
            <a:picLocks noChangeAspect="1"/>
          </p:cNvPicPr>
          <p:nvPr/>
        </p:nvPicPr>
        <p:blipFill>
          <a:blip r:embed="R994cefdffddf4538"/>
          <a:stretch/>
        </p:blipFill>
        <p:spPr>
          <a:xfrm>
            <a:off x="3048000" y="1428750"/>
            <a:ext cx="8667750" cy="4333875"/>
          </a:xfrm>
          <a:prstGeom prst="rect">
            <a:avLst/>
          </a:prstGeom>
        </p:spPr>
      </p:pic>
      <p:sp>
        <p:nvSpPr>
          <p:cNvPr id="10" name="">
            <a:extLst>
              <a:ext uri="{FF2B5EF4-FFF2-40B4-BE49-F238E27FC236}">
                <ns2:creationId id="{2C0FAADF-0C21-491B-822E-BF20FAAC9D0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timeline distinguishes raw candidates, confirmed labels and gaps.</a:t>
            </a:r>
          </a:p>
        </p:txBody>
      </p:sp>
      <p:sp>
        <p:nvSpPr>
          <p:cNvPr id="11" name="">
            <a:extLst>
              <a:ext uri="{FF2B5EF4-FFF2-40B4-BE49-F238E27FC236}">
                <ns2:creationId id="{3D5591AB-3F85-42C9-BB60-FE3036B98BA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9DB3EEF7-5700-48E9-B458-43E0ECB653A8}"/>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F469EE4B-C9DC-4559-866B-26B85E0E2759}"/>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21D005C4-33E4-482F-B63A-93FC7A370CAF}"/>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3BA71438-FA0B-49CD-9E2F-5A915EB1388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12</a:t>
            </a:r>
          </a:p>
        </p:txBody>
      </p:sp>
    </p:spTree>
    <p:extLst>
      <p:ext uri="{BB962C8B-B14F-4D97-AF65-F5344CB8AC3E}">
        <p14:creationId val="1615059257"/>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2845BA9-E7B5-482E-84C6-BFFE2D8D6EB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0D8F1EC-5BE2-4C23-9A8A-47B20830D847}"/>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DC12DA03-4F11-4207-8AC6-AE3D9F666F85}"/>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Match segmentation and phases</a:t>
            </a:r>
          </a:p>
        </p:txBody>
      </p:sp>
      <p:sp>
        <p:nvSpPr>
          <p:cNvPr id="4" name="">
            <a:extLst>
              <a:ext uri="{FF2B5EF4-FFF2-40B4-BE49-F238E27FC236}">
                <ns2:creationId id="{52639961-82D0-460F-A332-28F44C8FFDC9}"/>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tactical context should an event, shape or workload be compared within?</a:t>
            </a:r>
          </a:p>
        </p:txBody>
      </p:sp>
      <p:sp>
        <p:nvSpPr>
          <p:cNvPr id="5" name="">
            <a:extLst>
              <a:ext uri="{FF2B5EF4-FFF2-40B4-BE49-F238E27FC236}">
                <ns2:creationId id="{E0AFC4CA-33CC-4F56-B2FE-B981DCF066B1}"/>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8777EA8D-DE78-4490-A0A6-8BB970FC6C79}"/>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and transition phases</a:t>
            </a:r>
          </a:p>
        </p:txBody>
      </p:sp>
      <p:sp>
        <p:nvSpPr>
          <p:cNvPr id="7" name="">
            <a:extLst>
              <a:ext uri="{FF2B5EF4-FFF2-40B4-BE49-F238E27FC236}">
                <ns2:creationId id="{41E16545-C7D7-4D57-A8AF-B86FE914AD67}"/>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Build-up, progression and advanced play</a:t>
            </a:r>
          </a:p>
        </p:txBody>
      </p:sp>
      <p:sp>
        <p:nvSpPr>
          <p:cNvPr id="8" name="">
            <a:extLst>
              <a:ext uri="{FF2B5EF4-FFF2-40B4-BE49-F238E27FC236}">
                <ns2:creationId id="{70D7A458-C6B5-42E6-9E25-303ACB11E680}"/>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Defensive blocks and pressing phases</a:t>
            </a:r>
          </a:p>
        </p:txBody>
      </p:sp>
      <p:sp>
        <p:nvSpPr>
          <p:cNvPr id="9" name="">
            <a:extLst>
              <a:ext uri="{FF2B5EF4-FFF2-40B4-BE49-F238E27FC236}">
                <ns2:creationId id="{0CBD2749-15D1-4151-8459-3E666BD20C87}"/>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Set pieces and interruptions</a:t>
            </a:r>
          </a:p>
        </p:txBody>
      </p:sp>
      <p:sp>
        <p:nvSpPr>
          <p:cNvPr id="10" name="">
            <a:extLst>
              <a:ext uri="{FF2B5EF4-FFF2-40B4-BE49-F238E27FC236}">
                <ns2:creationId id="{E44AEA8C-47B9-4430-80D4-29A3E539493A}"/>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Phase duration and boundary detection</a:t>
            </a:r>
          </a:p>
        </p:txBody>
      </p:sp>
      <p:sp>
        <p:nvSpPr>
          <p:cNvPr id="11" name="">
            <a:extLst>
              <a:ext uri="{FF2B5EF4-FFF2-40B4-BE49-F238E27FC236}">
                <ns2:creationId id="{4571415B-E37C-49CB-AAC7-0058EC227867}"/>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Context-conditioned physical/tactical summaries</a:t>
            </a:r>
          </a:p>
        </p:txBody>
      </p:sp>
      <p:sp>
        <p:nvSpPr>
          <p:cNvPr id="12" name="">
            <a:extLst>
              <a:ext uri="{FF2B5EF4-FFF2-40B4-BE49-F238E27FC236}">
                <ns2:creationId id="{DE9A8504-8560-4F9B-9816-CA9712F12540}"/>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 rule-based estimates alongside supplied SkillCorner phases</a:t>
            </a:r>
          </a:p>
        </p:txBody>
      </p:sp>
      <p:sp>
        <p:nvSpPr>
          <p:cNvPr id="13" name="">
            <a:extLst>
              <a:ext uri="{FF2B5EF4-FFF2-40B4-BE49-F238E27FC236}">
                <ns2:creationId id="{453B2F9B-A885-44BC-9C6D-56E33971E61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13</a:t>
            </a:r>
          </a:p>
        </p:txBody>
      </p:sp>
    </p:spTree>
    <p:extLst>
      <p:ext uri="{BB962C8B-B14F-4D97-AF65-F5344CB8AC3E}">
        <p14:creationId val="1104804062"/>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65840E9-44BB-433C-9FB1-3304A687E3D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B7D808F-A206-406C-8693-51BB0E74023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Match segmentation and phases</a:t>
            </a:r>
          </a:p>
        </p:txBody>
      </p:sp>
      <p:sp>
        <p:nvSpPr>
          <p:cNvPr id="3" name="">
            <a:extLst>
              <a:ext uri="{FF2B5EF4-FFF2-40B4-BE49-F238E27FC236}">
                <ns2:creationId id="{C8F55250-9332-472F-B465-25D74DF649A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does one phase end and another begin?</a:t>
            </a:r>
          </a:p>
        </p:txBody>
      </p:sp>
      <p:sp>
        <p:nvSpPr>
          <p:cNvPr id="4" name="">
            <a:extLst>
              <a:ext uri="{FF2B5EF4-FFF2-40B4-BE49-F238E27FC236}">
                <ns2:creationId id="{485CD813-7A2D-4024-ACF4-ABAE03702C7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5F25C34-CB00-4584-BC63-95A78D8E690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Assign context to continuous tracking intervals.</a:t>
            </a:r>
          </a:p>
        </p:txBody>
      </p:sp>
      <p:sp>
        <p:nvSpPr>
          <p:cNvPr id="6" name="">
            <a:extLst>
              <a:ext uri="{FF2B5EF4-FFF2-40B4-BE49-F238E27FC236}">
                <ns2:creationId id="{B2E80EFE-D0B3-4843-A133-BE944C419E5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42CF856-ECFF-47AA-9EA8-89B39224BC9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Causal rule estimates versus supplied SkillCorner phase intervals.</a:t>
            </a:r>
          </a:p>
        </p:txBody>
      </p:sp>
      <p:sp>
        <p:nvSpPr>
          <p:cNvPr id="8" name="">
            <a:extLst>
              <a:ext uri="{FF2B5EF4-FFF2-40B4-BE49-F238E27FC236}">
                <ns2:creationId id="{B3BC7A98-3967-4CDE-8C08-179830557DB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Different taxonomies · no accuracy claim</a:t>
            </a:r>
          </a:p>
        </p:txBody>
      </p:sp>
      <p:pic>
        <p:nvPicPr>
          <p:cNvPr id="9" name="Video: Where does one phase end and another begin?" descr="Embedded MP4. Click to play. 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
            <a:hlinkClick action="ppaction://media"/>
            <a:extLst>
              <a:ext uri="{FF2B5EF4-FFF2-40B4-BE49-F238E27FC236}">
                <ns2:creationId id="{EABCAC7D-377B-497F-B373-FCE9CA55C40E}"/>
              </a:ext>
            </a:extLst>
          </p:cNvPr>
          <p:cNvPicPr>
            <a:picLocks noChangeAspect="1"/>
          </p:cNvPicPr>
          <p:nvPr>
            <a:videoFile r:link="rIdWorkshopVideo"/>
            <p:extLst>
              <p:ext uri="{DAA4B4D4-6D71-4841-9C94-3DE7FCFB9230}">
                <p14:media r:embed="rIdWorkshopMedia"/>
              </p:ext>
            </p:extLst>
          </p:nvPr>
        </p:nvPicPr>
        <p:blipFill>
          <a:blip r:embed="Re4a908cd584341e7"/>
          <a:stretch/>
        </p:blipFill>
        <p:spPr>
          <a:xfrm>
            <a:off x="3724275" y="1428750"/>
            <a:ext cx="7315200" cy="4114800"/>
          </a:xfrm>
          <a:prstGeom prst="rect">
            <a:avLst/>
          </a:prstGeom>
        </p:spPr>
      </p:pic>
      <p:sp>
        <p:nvSpPr>
          <p:cNvPr id="10" name="">
            <a:extLst>
              <a:ext uri="{FF2B5EF4-FFF2-40B4-BE49-F238E27FC236}">
                <ns2:creationId id="{ABB70B68-9A6E-452A-9658-F3D4D2327B4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A4B37FA4-5E5D-4A25-8211-25F8FF699FE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synchronized timelines expose boundaries and disagreements.</a:t>
            </a:r>
          </a:p>
        </p:txBody>
      </p:sp>
      <p:sp>
        <p:nvSpPr>
          <p:cNvPr id="12" name="">
            <a:extLst>
              <a:ext uri="{FF2B5EF4-FFF2-40B4-BE49-F238E27FC236}">
                <ns2:creationId id="{8F5554F2-0D03-4449-A3CF-4D70279459F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05_match_segmentation.ipynb</a:t>
            </a:r>
          </a:p>
        </p:txBody>
      </p:sp>
      <p:sp>
        <p:nvSpPr>
          <p:cNvPr id="13" name="">
            <a:extLst>
              <a:ext uri="{FF2B5EF4-FFF2-40B4-BE49-F238E27FC236}">
                <ns2:creationId id="{4CD50CBB-6A34-4FAD-8B88-F88E6261443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Augmented possession and phases framework (2025)</a:t>
            </a:r>
          </a:p>
        </p:txBody>
      </p:sp>
      <p:sp>
        <p:nvSpPr>
          <p:cNvPr id="14" name="">
            <a:extLst>
              <a:ext uri="{FF2B5EF4-FFF2-40B4-BE49-F238E27FC236}">
                <ns2:creationId id="{A043F3DD-2CA5-4253-80BB-6CF6A44DD24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open data and schema</a:t>
            </a:r>
          </a:p>
        </p:txBody>
      </p:sp>
      <p:sp>
        <p:nvSpPr>
          <p:cNvPr id="15" name="">
            <a:extLst>
              <a:ext uri="{FF2B5EF4-FFF2-40B4-BE49-F238E27FC236}">
                <ns2:creationId id="{37A595E7-5CB0-4F88-8C5C-066F57184D3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14</a:t>
            </a:r>
          </a:p>
        </p:txBody>
      </p:sp>
    </p:spTree>
    <p:extLst>
      <p:ext uri="{BB962C8B-B14F-4D97-AF65-F5344CB8AC3E}">
        <p14:creationId val="205821765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60C2B9F5-3DE2-4752-8BDC-7A8C32CE143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0FA5FE7-CDB1-4259-898D-9607FD874E81}"/>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206154A3-8FC8-4BD2-9F34-EC518AD7C8F9}"/>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Physical metrics</a:t>
            </a:r>
          </a:p>
        </p:txBody>
      </p:sp>
      <p:sp>
        <p:nvSpPr>
          <p:cNvPr id="4" name="">
            <a:extLst>
              <a:ext uri="{FF2B5EF4-FFF2-40B4-BE49-F238E27FC236}">
                <ns2:creationId id="{2910B224-9FF5-4D92-8673-81BE61FC3118}"/>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much did players move, and what physical capacities did they demonstrate?</a:t>
            </a:r>
          </a:p>
        </p:txBody>
      </p:sp>
      <p:sp>
        <p:nvSpPr>
          <p:cNvPr id="5" name="">
            <a:extLst>
              <a:ext uri="{FF2B5EF4-FFF2-40B4-BE49-F238E27FC236}">
                <ns2:creationId id="{D54836B7-5DDB-435E-81F1-89DFB107EB54}"/>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80375188-023F-4F0C-ABE1-09E023BEE7B3}"/>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Distance and valid tracking exposure</a:t>
            </a:r>
          </a:p>
        </p:txBody>
      </p:sp>
      <p:sp>
        <p:nvSpPr>
          <p:cNvPr id="7" name="">
            <a:extLst>
              <a:ext uri="{FF2B5EF4-FFF2-40B4-BE49-F238E27FC236}">
                <ns2:creationId id="{E24FC61B-1F97-4FB2-A594-4E61397D2493}"/>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High-speed and sprint distance</a:t>
            </a:r>
          </a:p>
        </p:txBody>
      </p:sp>
      <p:sp>
        <p:nvSpPr>
          <p:cNvPr id="8" name="">
            <a:extLst>
              <a:ext uri="{FF2B5EF4-FFF2-40B4-BE49-F238E27FC236}">
                <ns2:creationId id="{F6DDF840-1A67-40A4-9842-0098F27E881C}"/>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Sprint efforts and repeated intensity</a:t>
            </a:r>
          </a:p>
        </p:txBody>
      </p:sp>
      <p:sp>
        <p:nvSpPr>
          <p:cNvPr id="9" name="">
            <a:extLst>
              <a:ext uri="{FF2B5EF4-FFF2-40B4-BE49-F238E27FC236}">
                <ns2:creationId id="{9E5CF4A0-1D2E-417F-9C79-7DDA4C0511FD}"/>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and braking</a:t>
            </a:r>
          </a:p>
        </p:txBody>
      </p:sp>
      <p:sp>
        <p:nvSpPr>
          <p:cNvPr id="10" name="">
            <a:extLst>
              <a:ext uri="{FF2B5EF4-FFF2-40B4-BE49-F238E27FC236}">
                <ns2:creationId id="{DF073D5C-0A26-47EA-AC9D-C5394FBCE706}"/>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Time to high-speed running / sprint</a:t>
            </a:r>
          </a:p>
        </p:txBody>
      </p:sp>
      <p:sp>
        <p:nvSpPr>
          <p:cNvPr id="11" name="">
            <a:extLst>
              <a:ext uri="{FF2B5EF4-FFF2-40B4-BE49-F238E27FC236}">
                <ns2:creationId id="{5F252F90-E45E-4AA5-99AC-30AC3644BE6F}"/>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PSV-99 and Peak Velocity</a:t>
            </a:r>
          </a:p>
        </p:txBody>
      </p:sp>
      <p:sp>
        <p:nvSpPr>
          <p:cNvPr id="12" name="">
            <a:extLst>
              <a:ext uri="{FF2B5EF4-FFF2-40B4-BE49-F238E27FC236}">
                <ns2:creationId id="{6D3C585D-D48C-4F24-A9C9-FA65D6B8C795}"/>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Sample calculations and official provider definitions are labeled separately</a:t>
            </a:r>
          </a:p>
        </p:txBody>
      </p:sp>
      <p:sp>
        <p:nvSpPr>
          <p:cNvPr id="13" name="">
            <a:extLst>
              <a:ext uri="{FF2B5EF4-FFF2-40B4-BE49-F238E27FC236}">
                <ns2:creationId id="{ACAEFB6E-D890-444B-8D56-094248E0F9A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15</a:t>
            </a:r>
          </a:p>
        </p:txBody>
      </p:sp>
    </p:spTree>
    <p:extLst>
      <p:ext uri="{BB962C8B-B14F-4D97-AF65-F5344CB8AC3E}">
        <p14:creationId val="777458729"/>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399516F-70AA-4286-8083-521DF7B59FE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379F460-D96D-4AC6-B847-6505CA7C6DD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5DDF2D87-E1B1-4B73-8E89-791E51E74CE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much ground did one player cover?</a:t>
            </a:r>
          </a:p>
        </p:txBody>
      </p:sp>
      <p:sp>
        <p:nvSpPr>
          <p:cNvPr id="4" name="">
            <a:extLst>
              <a:ext uri="{FF2B5EF4-FFF2-40B4-BE49-F238E27FC236}">
                <ns2:creationId id="{5F39ECDA-2759-4358-B74C-75CFC833B19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C4875EF-2B31-44DE-9EE8-0D688BCC5FC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movement volume without hiding missing intervals.</a:t>
            </a:r>
          </a:p>
        </p:txBody>
      </p:sp>
      <p:sp>
        <p:nvSpPr>
          <p:cNvPr id="6" name="">
            <a:extLst>
              <a:ext uri="{FF2B5EF4-FFF2-40B4-BE49-F238E27FC236}">
                <ns2:creationId id="{0C04397D-E64C-42A8-B052-248DF7FD6D1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518A4A5-3684-4606-BB00-A7585794299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speed only across valid consecutive intervals.</a:t>
            </a:r>
          </a:p>
        </p:txBody>
      </p:sp>
      <p:sp>
        <p:nvSpPr>
          <p:cNvPr id="8" name="">
            <a:extLst>
              <a:ext uri="{FF2B5EF4-FFF2-40B4-BE49-F238E27FC236}">
                <ns2:creationId id="{181115A3-306A-4C4B-9064-876F5CFE4E9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Smoothed sample estimate</a:t>
            </a:r>
          </a:p>
        </p:txBody>
      </p:sp>
      <p:pic>
        <p:nvPicPr>
          <p:cNvPr id="9" name="">
            <a:extLst>
              <a:ext uri="{FF2B5EF4-FFF2-40B4-BE49-F238E27FC236}">
                <ns2:creationId id="{A8BDDFDE-3D9B-4E9E-B469-AC39F0BCF0C6}"/>
              </a:ext>
            </a:extLst>
          </p:cNvPr>
          <p:cNvPicPr>
            <a:picLocks noChangeAspect="1"/>
          </p:cNvPicPr>
          <p:nvPr/>
        </p:nvPicPr>
        <p:blipFill>
          <a:blip r:embed="R692b78553c1b4748"/>
          <a:stretch/>
        </p:blipFill>
        <p:spPr>
          <a:xfrm>
            <a:off x="3048000" y="1428750"/>
            <a:ext cx="8667750" cy="4333875"/>
          </a:xfrm>
          <a:prstGeom prst="rect">
            <a:avLst/>
          </a:prstGeom>
        </p:spPr>
      </p:pic>
      <p:sp>
        <p:nvSpPr>
          <p:cNvPr id="10" name="">
            <a:extLst>
              <a:ext uri="{FF2B5EF4-FFF2-40B4-BE49-F238E27FC236}">
                <ns2:creationId id="{23C07645-A9EE-4C7C-92CC-EF758026985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Cumulative distance is reported alongside the valid sample coverage.</a:t>
            </a:r>
          </a:p>
        </p:txBody>
      </p:sp>
      <p:sp>
        <p:nvSpPr>
          <p:cNvPr id="11" name="">
            <a:extLst>
              <a:ext uri="{FF2B5EF4-FFF2-40B4-BE49-F238E27FC236}">
                <ns2:creationId id="{8494F7E8-1DCA-4F88-BF98-DBDD84EE9C9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E0ECD1E6-744C-4A57-938D-617033C46D2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54734F8E-D39C-4EFE-8C72-7ACC364E5D0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D9653CCA-4764-4938-9AF6-F05EFB08553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16</a:t>
            </a:r>
          </a:p>
        </p:txBody>
      </p:sp>
    </p:spTree>
    <p:extLst>
      <p:ext uri="{BB962C8B-B14F-4D97-AF65-F5344CB8AC3E}">
        <p14:creationId val="1484298841"/>
      </p:ext>
    </p:extLst>
  </p:cSld>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6CB5ECC-90AF-4D86-91B5-275EE2EA904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76ABEB1-35B6-43A2-91B0-BBE3F0B8334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30AAC22F-9C6A-4DB1-9D37-F82E9F5D406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accumulated high-intensity distance?</a:t>
            </a:r>
          </a:p>
        </p:txBody>
      </p:sp>
      <p:sp>
        <p:nvSpPr>
          <p:cNvPr id="4" name="">
            <a:extLst>
              <a:ext uri="{FF2B5EF4-FFF2-40B4-BE49-F238E27FC236}">
                <ns2:creationId id="{3ECF5869-4909-4F16-8EC6-76B5CC6E7BA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3A7506A-4D35-4AAE-920B-398E4A130BD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high-speed running from total movement volume.</a:t>
            </a:r>
          </a:p>
        </p:txBody>
      </p:sp>
      <p:sp>
        <p:nvSpPr>
          <p:cNvPr id="6" name="">
            <a:extLst>
              <a:ext uri="{FF2B5EF4-FFF2-40B4-BE49-F238E27FC236}">
                <ns2:creationId id="{4C031186-ED77-4FD0-BAAA-103BB704248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9C9AAFD-C4E6-400D-8D8F-14D04CF0E13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distances within explicitly defined speed bands.</a:t>
            </a:r>
          </a:p>
        </p:txBody>
      </p:sp>
      <p:sp>
        <p:nvSpPr>
          <p:cNvPr id="8" name="">
            <a:extLst>
              <a:ext uri="{FF2B5EF4-FFF2-40B4-BE49-F238E27FC236}">
                <ns2:creationId id="{8FBC5021-364A-4C1C-9977-E52D82E402C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Bounded-sample player comparison</a:t>
            </a:r>
          </a:p>
        </p:txBody>
      </p:sp>
      <p:pic>
        <p:nvPicPr>
          <p:cNvPr id="9" name="">
            <a:extLst>
              <a:ext uri="{FF2B5EF4-FFF2-40B4-BE49-F238E27FC236}">
                <ns2:creationId id="{DAA2C6A8-EE4C-4155-84B6-11492EAF49AC}"/>
              </a:ext>
            </a:extLst>
          </p:cNvPr>
          <p:cNvPicPr>
            <a:picLocks noChangeAspect="1"/>
          </p:cNvPicPr>
          <p:nvPr/>
        </p:nvPicPr>
        <p:blipFill>
          <a:blip r:embed="R8cf292f99d8a49ed"/>
          <a:stretch/>
        </p:blipFill>
        <p:spPr>
          <a:xfrm>
            <a:off x="2952750" y="1539308"/>
            <a:ext cx="8858250" cy="4112759"/>
          </a:xfrm>
          <a:prstGeom prst="rect">
            <a:avLst/>
          </a:prstGeom>
        </p:spPr>
      </p:pic>
      <p:sp>
        <p:nvSpPr>
          <p:cNvPr id="10" name="">
            <a:extLst>
              <a:ext uri="{FF2B5EF4-FFF2-40B4-BE49-F238E27FC236}">
                <ns2:creationId id="{F0BC83B4-1438-492A-9482-5D0D1453B66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Player comparison bars show HSR and sprint contributions.</a:t>
            </a:r>
          </a:p>
        </p:txBody>
      </p:sp>
      <p:sp>
        <p:nvSpPr>
          <p:cNvPr id="11" name="">
            <a:extLst>
              <a:ext uri="{FF2B5EF4-FFF2-40B4-BE49-F238E27FC236}">
                <ns2:creationId id="{26F1281F-90D2-4E22-9ACA-71479C5E785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89F2742F-6D12-4644-BB81-5D9309E7751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EA80B08F-020A-44C3-AB61-C7910306553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2E13950B-E330-4016-9A60-04BFC6C5875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17</a:t>
            </a:r>
          </a:p>
        </p:txBody>
      </p:sp>
    </p:spTree>
    <p:extLst>
      <p:ext uri="{BB962C8B-B14F-4D97-AF65-F5344CB8AC3E}">
        <p14:creationId val="941008647"/>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E935C88-3DEC-459A-A9E9-C2252C8D7BF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5B5D345-2D38-44CD-A8D4-855820F323D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4E484E9D-A5EA-4B80-987C-A1FBD2D5921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many sprint efforts qualified?</a:t>
            </a:r>
          </a:p>
        </p:txBody>
      </p:sp>
      <p:sp>
        <p:nvSpPr>
          <p:cNvPr id="4" name="">
            <a:extLst>
              <a:ext uri="{FF2B5EF4-FFF2-40B4-BE49-F238E27FC236}">
                <ns2:creationId id="{2EA6D71E-8069-479A-A135-31794932A21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C5A5BC1-F698-48B5-9C54-5F2BFEA12B0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sustained sprint efforts from brief speed spikes.</a:t>
            </a:r>
          </a:p>
        </p:txBody>
      </p:sp>
      <p:sp>
        <p:nvSpPr>
          <p:cNvPr id="6" name="">
            <a:extLst>
              <a:ext uri="{FF2B5EF4-FFF2-40B4-BE49-F238E27FC236}">
                <ns2:creationId id="{BD577656-1D44-42E3-A706-2E16A548727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8EACE4B-69A0-4391-9F88-EE3F2789D0B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Threshold speed, minimum duration and an explicit gap rule.</a:t>
            </a:r>
          </a:p>
        </p:txBody>
      </p:sp>
      <p:sp>
        <p:nvSpPr>
          <p:cNvPr id="8" name="">
            <a:extLst>
              <a:ext uri="{FF2B5EF4-FFF2-40B4-BE49-F238E27FC236}">
                <ns2:creationId id="{FD6C09DC-0391-4326-90F5-A84356D1634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Teaching effort definition</a:t>
            </a:r>
          </a:p>
        </p:txBody>
      </p:sp>
      <p:pic>
        <p:nvPicPr>
          <p:cNvPr id="9" name="">
            <a:extLst>
              <a:ext uri="{FF2B5EF4-FFF2-40B4-BE49-F238E27FC236}">
                <ns2:creationId id="{105116C0-4509-4F96-9F17-BEBE99D5AE64}"/>
              </a:ext>
            </a:extLst>
          </p:cNvPr>
          <p:cNvPicPr>
            <a:picLocks noChangeAspect="1"/>
          </p:cNvPicPr>
          <p:nvPr/>
        </p:nvPicPr>
        <p:blipFill>
          <a:blip r:embed="Rfc8ff4ff1e6b4b49"/>
          <a:stretch/>
        </p:blipFill>
        <p:spPr>
          <a:xfrm>
            <a:off x="3048000" y="1428750"/>
            <a:ext cx="8667750" cy="4333875"/>
          </a:xfrm>
          <a:prstGeom prst="rect">
            <a:avLst/>
          </a:prstGeom>
        </p:spPr>
      </p:pic>
      <p:sp>
        <p:nvSpPr>
          <p:cNvPr id="10" name="">
            <a:extLst>
              <a:ext uri="{FF2B5EF4-FFF2-40B4-BE49-F238E27FC236}">
                <ns2:creationId id="{6A21FFEB-1A6D-4255-853D-8C8C534FF96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Qualifying efforts are shaded and counted on the speed trace.</a:t>
            </a:r>
          </a:p>
        </p:txBody>
      </p:sp>
      <p:sp>
        <p:nvSpPr>
          <p:cNvPr id="11" name="">
            <a:extLst>
              <a:ext uri="{FF2B5EF4-FFF2-40B4-BE49-F238E27FC236}">
                <ns2:creationId id="{07DE7DD0-FA11-4DC1-B82D-AFF06D53799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AD8B218E-21F1-46C4-8808-AEFDAF64563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3FDA7326-D6C8-4EA4-824F-D254D3C9B1C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1775F596-C7BE-42D7-9A09-2820CE982E3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18</a:t>
            </a:r>
          </a:p>
        </p:txBody>
      </p:sp>
    </p:spTree>
    <p:extLst>
      <p:ext uri="{BB962C8B-B14F-4D97-AF65-F5344CB8AC3E}">
        <p14:creationId val="1003994550"/>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F29A7D6-F286-4B9E-A48D-4FB28287AE0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9621455-E24A-4FB5-BB34-E9914584456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6D9E2DD5-8D8E-45AB-89CB-215A6EC72CB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the player accelerate or brake?</a:t>
            </a:r>
          </a:p>
        </p:txBody>
      </p:sp>
      <p:sp>
        <p:nvSpPr>
          <p:cNvPr id="4" name="">
            <a:extLst>
              <a:ext uri="{FF2B5EF4-FFF2-40B4-BE49-F238E27FC236}">
                <ns2:creationId id="{27B6AA31-233F-4926-8D06-76AC51F0DF9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8E67E31-5392-428C-9EF1-DB821470D0B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speeding up and slowing down around an effort.</a:t>
            </a:r>
          </a:p>
        </p:txBody>
      </p:sp>
      <p:sp>
        <p:nvSpPr>
          <p:cNvPr id="6" name="">
            <a:extLst>
              <a:ext uri="{FF2B5EF4-FFF2-40B4-BE49-F238E27FC236}">
                <ns2:creationId id="{5CD09378-12B0-4BFC-AF1D-04691F0F481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7A07610-34C0-4889-B238-04592201E0B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Differentiate smoothed scalar speed within valid segments.</a:t>
            </a:r>
          </a:p>
        </p:txBody>
      </p:sp>
      <p:sp>
        <p:nvSpPr>
          <p:cNvPr id="8" name="">
            <a:extLst>
              <a:ext uri="{FF2B5EF4-FFF2-40B4-BE49-F238E27FC236}">
                <ns2:creationId id="{D7BB5885-74BD-454B-96D1-9821983D77C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Signed acceleration · m/s²</a:t>
            </a:r>
          </a:p>
        </p:txBody>
      </p:sp>
      <p:pic>
        <p:nvPicPr>
          <p:cNvPr id="9" name="">
            <a:extLst>
              <a:ext uri="{FF2B5EF4-FFF2-40B4-BE49-F238E27FC236}">
                <ns2:creationId id="{A4178B8E-EBDD-426D-90D6-488A92CAF1CE}"/>
              </a:ext>
            </a:extLst>
          </p:cNvPr>
          <p:cNvPicPr>
            <a:picLocks noChangeAspect="1"/>
          </p:cNvPicPr>
          <p:nvPr/>
        </p:nvPicPr>
        <p:blipFill>
          <a:blip r:embed="R8794ee6b09424909"/>
          <a:stretch/>
        </p:blipFill>
        <p:spPr>
          <a:xfrm>
            <a:off x="3048000" y="1428750"/>
            <a:ext cx="8667750" cy="4333875"/>
          </a:xfrm>
          <a:prstGeom prst="rect">
            <a:avLst/>
          </a:prstGeom>
        </p:spPr>
      </p:pic>
      <p:sp>
        <p:nvSpPr>
          <p:cNvPr id="10" name="">
            <a:extLst>
              <a:ext uri="{FF2B5EF4-FFF2-40B4-BE49-F238E27FC236}">
                <ns2:creationId id="{1348C9CF-2DB5-4EAF-A3EB-53080D71FD2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Positive bursts and braking intervals align with the speed trace.</a:t>
            </a:r>
          </a:p>
        </p:txBody>
      </p:sp>
      <p:sp>
        <p:nvSpPr>
          <p:cNvPr id="11" name="">
            <a:extLst>
              <a:ext uri="{FF2B5EF4-FFF2-40B4-BE49-F238E27FC236}">
                <ns2:creationId id="{A4FF9EBC-5BD8-4D3C-BF3E-39C794BD0CC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D45F5706-1840-4088-AD45-BE812F70555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2310C53F-C74B-4C9A-8761-A258D3916E5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5DECF588-6827-4913-9F06-64FA9971923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19</a:t>
            </a:r>
          </a:p>
        </p:txBody>
      </p:sp>
    </p:spTree>
    <p:extLst>
      <p:ext uri="{BB962C8B-B14F-4D97-AF65-F5344CB8AC3E}">
        <p14:creationId val="837713251"/>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EC8495EF-C412-4594-A468-F29A14DF21B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0D7E9DD-58B2-4FEE-857C-E3FE36F2CF2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7671323A-B01D-4E03-8552-04285BFC87C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HSR?</a:t>
            </a:r>
          </a:p>
        </p:txBody>
      </p:sp>
      <p:sp>
        <p:nvSpPr>
          <p:cNvPr id="4" name="">
            <a:extLst>
              <a:ext uri="{FF2B5EF4-FFF2-40B4-BE49-F238E27FC236}">
                <ns2:creationId id="{22AE8700-9B62-474B-B960-74A62BECAC2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4EEC963-009C-4800-9D68-32BEAECDEF7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20 km/h.</a:t>
            </a:r>
          </a:p>
        </p:txBody>
      </p:sp>
      <p:sp>
        <p:nvSpPr>
          <p:cNvPr id="6" name="">
            <a:extLst>
              <a:ext uri="{FF2B5EF4-FFF2-40B4-BE49-F238E27FC236}">
                <ns2:creationId id="{515A4A17-D923-4704-8E2E-F94F72C707C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50272ED-F796-4BCF-B42A-1136E903AAC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45142E42-84E5-4DAE-9489-77BE02ED559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6D214741-4D64-49FD-AE1A-ECA77F8F5B66}"/>
              </a:ext>
            </a:extLst>
          </p:cNvPr>
          <p:cNvPicPr>
            <a:picLocks noChangeAspect="1"/>
          </p:cNvPicPr>
          <p:nvPr/>
        </p:nvPicPr>
        <p:blipFill>
          <a:blip r:embed="R63c288de6185405b"/>
          <a:stretch/>
        </p:blipFill>
        <p:spPr>
          <a:xfrm>
            <a:off x="3048000" y="1428750"/>
            <a:ext cx="8667750" cy="4333875"/>
          </a:xfrm>
          <a:prstGeom prst="rect">
            <a:avLst/>
          </a:prstGeom>
        </p:spPr>
      </p:pic>
      <p:sp>
        <p:nvSpPr>
          <p:cNvPr id="10" name="">
            <a:extLst>
              <a:ext uri="{FF2B5EF4-FFF2-40B4-BE49-F238E27FC236}">
                <ns2:creationId id="{7210377A-25A2-4BD9-89AC-50B13B61F68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observed threshold-crossing interval is visible and labeled.</a:t>
            </a:r>
          </a:p>
        </p:txBody>
      </p:sp>
      <p:sp>
        <p:nvSpPr>
          <p:cNvPr id="11" name="">
            <a:extLst>
              <a:ext uri="{FF2B5EF4-FFF2-40B4-BE49-F238E27FC236}">
                <ns2:creationId id="{CB7A8277-74E2-4EEE-B0B6-A27FFF8DBD4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5B031CCA-3774-42A6-9683-C7F203963F2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616BC1A5-39ED-4F5B-84B8-0B6929EC6DB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42A6DB55-C308-4B99-8D4D-EFF60AE1668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20</a:t>
            </a:r>
          </a:p>
        </p:txBody>
      </p:sp>
    </p:spTree>
    <p:extLst>
      <p:ext uri="{BB962C8B-B14F-4D97-AF65-F5344CB8AC3E}">
        <p14:creationId val="1046178920"/>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326B2FC-AD93-4F24-BEB2-4C1F1E6D2AC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4FDC50C-481F-41FE-9982-6C6062B21D0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AE050600-3A61-43B6-A7E9-4A3D2DEF4F6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sprint speed?</a:t>
            </a:r>
          </a:p>
        </p:txBody>
      </p:sp>
      <p:sp>
        <p:nvSpPr>
          <p:cNvPr id="4" name="">
            <a:extLst>
              <a:ext uri="{FF2B5EF4-FFF2-40B4-BE49-F238E27FC236}">
                <ns2:creationId id="{C46E2E0D-DDCC-44AA-AF7C-AE0F7BE98C1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2B85895-6544-4106-B11C-28C60481B9C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25 km/h.</a:t>
            </a:r>
          </a:p>
        </p:txBody>
      </p:sp>
      <p:sp>
        <p:nvSpPr>
          <p:cNvPr id="6" name="">
            <a:extLst>
              <a:ext uri="{FF2B5EF4-FFF2-40B4-BE49-F238E27FC236}">
                <ns2:creationId id="{D694510F-DE93-4551-86D2-8757E664182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1B3C234-1C72-40AC-A734-2C8C2608F4F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04A2EE4B-C28E-4446-9A26-8EE642173DA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2B942E6D-489D-4EE1-8F24-784B6ADE00EF}"/>
              </a:ext>
            </a:extLst>
          </p:cNvPr>
          <p:cNvPicPr>
            <a:picLocks noChangeAspect="1"/>
          </p:cNvPicPr>
          <p:nvPr/>
        </p:nvPicPr>
        <p:blipFill>
          <a:blip r:embed="Rcd27d9cc6fee418e"/>
          <a:stretch/>
        </p:blipFill>
        <p:spPr>
          <a:xfrm>
            <a:off x="3048000" y="1428750"/>
            <a:ext cx="8667750" cy="4333875"/>
          </a:xfrm>
          <a:prstGeom prst="rect">
            <a:avLst/>
          </a:prstGeom>
        </p:spPr>
      </p:pic>
      <p:sp>
        <p:nvSpPr>
          <p:cNvPr id="10" name="">
            <a:extLst>
              <a:ext uri="{FF2B5EF4-FFF2-40B4-BE49-F238E27FC236}">
                <ns2:creationId id="{6EC389B5-F227-4775-90A8-8E82772D606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Time to sprint is distinct from the maximum speed reached.</a:t>
            </a:r>
          </a:p>
        </p:txBody>
      </p:sp>
      <p:sp>
        <p:nvSpPr>
          <p:cNvPr id="11" name="">
            <a:extLst>
              <a:ext uri="{FF2B5EF4-FFF2-40B4-BE49-F238E27FC236}">
                <ns2:creationId id="{5FB249B9-A9D2-4A13-96F6-A5DDE116776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64273413-739A-48BF-9676-229B9200361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708977B9-E6D9-4CBE-A308-9C3BF4FE963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297689D4-D702-4AE7-B12F-556309CAF70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21</a:t>
            </a:r>
          </a:p>
        </p:txBody>
      </p:sp>
    </p:spTree>
    <p:extLst>
      <p:ext uri="{BB962C8B-B14F-4D97-AF65-F5344CB8AC3E}">
        <p14:creationId val="1573986980"/>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6A1AEC7A-55C2-4873-B8AF-EFA15749748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3B68079-A669-4D8F-8DA9-CB64BE45216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ABB532FF-E57D-46FA-94D2-A2F81AB1879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PSV-99: a robust speed-capacity proxy</a:t>
            </a:r>
          </a:p>
        </p:txBody>
      </p:sp>
      <p:sp>
        <p:nvSpPr>
          <p:cNvPr id="4" name="">
            <a:extLst>
              <a:ext uri="{FF2B5EF4-FFF2-40B4-BE49-F238E27FC236}">
                <ns2:creationId id="{16356893-DFCF-4751-9348-49DB1A58D62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B72AF86-9116-4388-87CA-9F7BCE6897F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How can speed capacity be summarized without one noisy maximum?</a:t>
            </a:r>
          </a:p>
        </p:txBody>
      </p:sp>
      <p:sp>
        <p:nvSpPr>
          <p:cNvPr id="6" name="">
            <a:extLst>
              <a:ext uri="{FF2B5EF4-FFF2-40B4-BE49-F238E27FC236}">
                <ns2:creationId id="{6708441F-C454-404F-AA16-1EB6116B619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CA3D3A1-0EF2-4AF3-B573-9A266ADF7CC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99th percentile of physical activities above 15 km/h.</a:t>
            </a:r>
          </a:p>
        </p:txBody>
      </p:sp>
      <p:sp>
        <p:nvSpPr>
          <p:cNvPr id="8" name="">
            <a:extLst>
              <a:ext uri="{FF2B5EF4-FFF2-40B4-BE49-F238E27FC236}">
                <ns2:creationId id="{C5D0218C-50ED-4760-92F4-09F81693092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SkillCorner example</a:t>
            </a:r>
          </a:p>
        </p:txBody>
      </p:sp>
      <p:pic>
        <p:nvPicPr>
          <p:cNvPr id="9" name="">
            <a:extLst>
              <a:ext uri="{FF2B5EF4-FFF2-40B4-BE49-F238E27FC236}">
                <ns2:creationId id="{BF9418CD-F12F-47CA-9BC7-341133841B70}"/>
              </a:ext>
            </a:extLst>
          </p:cNvPr>
          <p:cNvPicPr>
            <a:picLocks noChangeAspect="1"/>
          </p:cNvPicPr>
          <p:nvPr/>
        </p:nvPicPr>
        <p:blipFill>
          <a:blip r:embed="R30854e70a8d048dc"/>
          <a:stretch/>
        </p:blipFill>
        <p:spPr>
          <a:xfrm>
            <a:off x="4445728" y="1428750"/>
            <a:ext cx="5872294" cy="4333875"/>
          </a:xfrm>
          <a:prstGeom prst="rect">
            <a:avLst/>
          </a:prstGeom>
        </p:spPr>
      </p:pic>
      <p:sp>
        <p:nvSpPr>
          <p:cNvPr id="10" name="">
            <a:extLst>
              <a:ext uri="{FF2B5EF4-FFF2-40B4-BE49-F238E27FC236}">
                <ns2:creationId id="{BD5878D1-AA1E-40C8-AE8D-9B5598B4EEA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contrasts an activity-based proxy with peak speed.</a:t>
            </a:r>
          </a:p>
        </p:txBody>
      </p:sp>
      <p:sp>
        <p:nvSpPr>
          <p:cNvPr id="11" name="">
            <a:extLst>
              <a:ext uri="{FF2B5EF4-FFF2-40B4-BE49-F238E27FC236}">
                <ns2:creationId id="{B3C9870F-70E9-4CCD-BCAC-80025C27530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67B234E8-72D7-4F10-A84A-597E3558519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22</a:t>
            </a:r>
          </a:p>
        </p:txBody>
      </p:sp>
    </p:spTree>
    <p:extLst>
      <p:ext uri="{BB962C8B-B14F-4D97-AF65-F5344CB8AC3E}">
        <p14:creationId val="1696981260"/>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8A22ADCB-C1D3-457E-B595-02FC50892A6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E29F0BB-CD70-4B89-A09D-49E2AED0FDC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F5CC4CE5-3C26-4E2E-AB71-8BB45F6E42C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Peak Velocity: absolute top-end speed</a:t>
            </a:r>
          </a:p>
        </p:txBody>
      </p:sp>
      <p:sp>
        <p:nvSpPr>
          <p:cNvPr id="4" name="">
            <a:extLst>
              <a:ext uri="{FF2B5EF4-FFF2-40B4-BE49-F238E27FC236}">
                <ns2:creationId id="{02D3B7E9-E00B-4300-A348-47F171A38EF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7846476-C6C7-4CC2-A61A-069F7152D90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is the highest speed a player reliably reaches?</a:t>
            </a:r>
          </a:p>
        </p:txBody>
      </p:sp>
      <p:sp>
        <p:nvSpPr>
          <p:cNvPr id="6" name="">
            <a:extLst>
              <a:ext uri="{FF2B5EF4-FFF2-40B4-BE49-F238E27FC236}">
                <ns2:creationId id="{3ECCD488-9271-4E22-B4E7-3242D9BA4DD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9C1CA89-EFCC-4131-8B09-DB0EAC96547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validated maximum-speed processing.</a:t>
            </a:r>
          </a:p>
        </p:txBody>
      </p:sp>
      <p:sp>
        <p:nvSpPr>
          <p:cNvPr id="8" name="">
            <a:extLst>
              <a:ext uri="{FF2B5EF4-FFF2-40B4-BE49-F238E27FC236}">
                <ns2:creationId id="{44AC83A4-B4A3-4327-97B9-B14AAD2E706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provider validation</a:t>
            </a:r>
          </a:p>
        </p:txBody>
      </p:sp>
      <p:pic>
        <p:nvPicPr>
          <p:cNvPr id="9" name="">
            <a:extLst>
              <a:ext uri="{FF2B5EF4-FFF2-40B4-BE49-F238E27FC236}">
                <ns2:creationId id="{91B300EB-FECA-4744-AF4B-F37F9B4501EC}"/>
              </a:ext>
            </a:extLst>
          </p:cNvPr>
          <p:cNvPicPr>
            <a:picLocks noChangeAspect="1"/>
          </p:cNvPicPr>
          <p:nvPr/>
        </p:nvPicPr>
        <p:blipFill>
          <a:blip r:embed="Rb7334e96af4e4937"/>
          <a:stretch/>
        </p:blipFill>
        <p:spPr>
          <a:xfrm>
            <a:off x="4095524" y="1428750"/>
            <a:ext cx="6572701" cy="4333875"/>
          </a:xfrm>
          <a:prstGeom prst="rect">
            <a:avLst/>
          </a:prstGeom>
        </p:spPr>
      </p:pic>
      <p:sp>
        <p:nvSpPr>
          <p:cNvPr id="10" name="">
            <a:extLst>
              <a:ext uri="{FF2B5EF4-FFF2-40B4-BE49-F238E27FC236}">
                <ns2:creationId id="{179F4EE9-1023-4E9D-8457-13A1D116803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provider’s published validation compares Peak Velocity with ground truth.</a:t>
            </a:r>
          </a:p>
        </p:txBody>
      </p:sp>
      <p:sp>
        <p:nvSpPr>
          <p:cNvPr id="11" name="">
            <a:extLst>
              <a:ext uri="{FF2B5EF4-FFF2-40B4-BE49-F238E27FC236}">
                <ns2:creationId id="{3850D98D-6A5B-4134-8BC5-FE1FB65E789A}"/>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DCA793B5-BC3F-40DD-8D21-435CA76B288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23</a:t>
            </a:r>
          </a:p>
        </p:txBody>
      </p:sp>
    </p:spTree>
    <p:extLst>
      <p:ext uri="{BB962C8B-B14F-4D97-AF65-F5344CB8AC3E}">
        <p14:creationId val="745225000"/>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572B3B9-DD01-4453-88BB-577C92B9452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C291D32-126E-48D3-985C-C603EBF5BCDE}"/>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50AA88FA-5BC3-467D-8537-76BEFADCBD3C}"/>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Game modeling</a:t>
            </a:r>
          </a:p>
        </p:txBody>
      </p:sp>
      <p:sp>
        <p:nvSpPr>
          <p:cNvPr id="4" name="">
            <a:extLst>
              <a:ext uri="{FF2B5EF4-FFF2-40B4-BE49-F238E27FC236}">
                <ns2:creationId id="{95089639-3923-43FE-BBCF-E6C361D6567F}"/>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locations, options and game states create or prevent scoring opportunities?</a:t>
            </a:r>
          </a:p>
        </p:txBody>
      </p:sp>
      <p:sp>
        <p:nvSpPr>
          <p:cNvPr id="5" name="">
            <a:extLst>
              <a:ext uri="{FF2B5EF4-FFF2-40B4-BE49-F238E27FC236}">
                <ns2:creationId id="{223B702F-589E-4B38-A08A-750554FBFE48}"/>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4B814579-05EB-447C-B89C-D848B2D6E832}"/>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 quality and location value</a:t>
            </a:r>
          </a:p>
        </p:txBody>
      </p:sp>
      <p:sp>
        <p:nvSpPr>
          <p:cNvPr id="7" name="">
            <a:extLst>
              <a:ext uri="{FF2B5EF4-FFF2-40B4-BE49-F238E27FC236}">
                <ns2:creationId id="{0937BE4C-E882-4E71-9BEA-36F2E3DAE0D7}"/>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interception and completion</a:t>
            </a:r>
          </a:p>
        </p:txBody>
      </p:sp>
      <p:sp>
        <p:nvSpPr>
          <p:cNvPr id="8" name="">
            <a:extLst>
              <a:ext uri="{FF2B5EF4-FFF2-40B4-BE49-F238E27FC236}">
                <ns2:creationId id="{DED4EEDD-97C3-4B19-ACFE-EF0CD00D2424}"/>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Accessible and dangerous space</a:t>
            </a:r>
          </a:p>
        </p:txBody>
      </p:sp>
      <p:sp>
        <p:nvSpPr>
          <p:cNvPr id="9" name="">
            <a:extLst>
              <a:ext uri="{FF2B5EF4-FFF2-40B4-BE49-F238E27FC236}">
                <ns2:creationId id="{423F2A9F-EEC5-465D-9E38-E74C4588DBC5}"/>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Off-ball options and run threat</a:t>
            </a:r>
          </a:p>
        </p:txBody>
      </p:sp>
      <p:sp>
        <p:nvSpPr>
          <p:cNvPr id="10" name="">
            <a:extLst>
              <a:ext uri="{FF2B5EF4-FFF2-40B4-BE49-F238E27FC236}">
                <ns2:creationId id="{FABCAE50-8CD4-4165-94EE-D855ACD3B666}"/>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Graphs and learned relational models</a:t>
            </a:r>
          </a:p>
        </p:txBody>
      </p:sp>
      <p:sp>
        <p:nvSpPr>
          <p:cNvPr id="11" name="">
            <a:extLst>
              <a:ext uri="{FF2B5EF4-FFF2-40B4-BE49-F238E27FC236}">
                <ns2:creationId id="{18049205-D82E-4A10-92E5-596EED84A23E}"/>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value and tactical applications</a:t>
            </a:r>
          </a:p>
        </p:txBody>
      </p:sp>
      <p:sp>
        <p:nvSpPr>
          <p:cNvPr id="12" name="">
            <a:extLst>
              <a:ext uri="{FF2B5EF4-FFF2-40B4-BE49-F238E27FC236}">
                <ns2:creationId id="{5DBB509D-38CD-4343-9508-499484342A0E}"/>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Start with simpler models, then add interactions and learned value</a:t>
            </a:r>
          </a:p>
        </p:txBody>
      </p:sp>
      <p:sp>
        <p:nvSpPr>
          <p:cNvPr id="13" name="">
            <a:extLst>
              <a:ext uri="{FF2B5EF4-FFF2-40B4-BE49-F238E27FC236}">
                <ns2:creationId id="{53101DEF-EA53-4A20-B690-2849841F97B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24</a:t>
            </a:r>
          </a:p>
        </p:txBody>
      </p:sp>
    </p:spTree>
    <p:extLst>
      <p:ext uri="{BB962C8B-B14F-4D97-AF65-F5344CB8AC3E}">
        <p14:creationId val="1195090204"/>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AADC6EB-A919-4C27-AF8B-DF37E420EF2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F826FAD-BD4D-4483-92F8-0E5E4CFEEB6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6AD5214-DD92-4D7C-9CCA-608AC16B34C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context change a shot estimate?</a:t>
            </a:r>
          </a:p>
        </p:txBody>
      </p:sp>
      <p:sp>
        <p:nvSpPr>
          <p:cNvPr id="4" name="">
            <a:extLst>
              <a:ext uri="{FF2B5EF4-FFF2-40B4-BE49-F238E27FC236}">
                <ns2:creationId id="{CBC74D04-2DD1-4E91-822D-14A827E9C26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D98107E-EEB9-472C-9F47-D69B4046C7C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Location alone cannot describe the goalkeeper and defenders.</a:t>
            </a:r>
          </a:p>
        </p:txBody>
      </p:sp>
      <p:sp>
        <p:nvSpPr>
          <p:cNvPr id="6" name="">
            <a:extLst>
              <a:ext uri="{FF2B5EF4-FFF2-40B4-BE49-F238E27FC236}">
                <ns2:creationId id="{7C51555F-5754-4D69-A22A-295E95AF681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DACF2B9-47EF-4B79-B693-B9345A6C4D5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location-only and contextual logistic xG on the same shot.</a:t>
            </a:r>
          </a:p>
        </p:txBody>
      </p:sp>
      <p:sp>
        <p:nvSpPr>
          <p:cNvPr id="8" name="">
            <a:extLst>
              <a:ext uri="{FF2B5EF4-FFF2-40B4-BE49-F238E27FC236}">
                <ns2:creationId id="{6FAEFF4A-F193-4C03-83D6-DA16927D072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StatsBomb shot freeze frame</a:t>
            </a:r>
          </a:p>
        </p:txBody>
      </p:sp>
      <p:pic>
        <p:nvPicPr>
          <p:cNvPr id="9" name="">
            <a:extLst>
              <a:ext uri="{FF2B5EF4-FFF2-40B4-BE49-F238E27FC236}">
                <ns2:creationId id="{81305410-748C-4B2A-BEC2-CC7CE9C52F45}"/>
              </a:ext>
            </a:extLst>
          </p:cNvPr>
          <p:cNvPicPr>
            <a:picLocks noChangeAspect="1"/>
          </p:cNvPicPr>
          <p:nvPr/>
        </p:nvPicPr>
        <p:blipFill>
          <a:blip r:embed="R703515b9459f41b5"/>
          <a:stretch/>
        </p:blipFill>
        <p:spPr>
          <a:xfrm>
            <a:off x="3048000" y="1428750"/>
            <a:ext cx="8667750" cy="4333875"/>
          </a:xfrm>
          <a:prstGeom prst="rect">
            <a:avLst/>
          </a:prstGeom>
        </p:spPr>
      </p:pic>
      <p:sp>
        <p:nvSpPr>
          <p:cNvPr id="10" name="">
            <a:extLst>
              <a:ext uri="{FF2B5EF4-FFF2-40B4-BE49-F238E27FC236}">
                <ns2:creationId id="{8F2773F6-CB02-4FDC-97B3-00D8B8F2AB6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same real freeze frame receives two different held-out estimates.</a:t>
            </a:r>
          </a:p>
        </p:txBody>
      </p:sp>
      <p:sp>
        <p:nvSpPr>
          <p:cNvPr id="11" name="">
            <a:extLst>
              <a:ext uri="{FF2B5EF4-FFF2-40B4-BE49-F238E27FC236}">
                <ns2:creationId id="{82D4308F-0529-4326-BAE4-F5AD91D4E58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5883D657-5214-4BCF-8061-8E4896BC4C81}"/>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3226DF17-5EB9-4A7C-87AE-5DC6BFD8D1B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25</a:t>
            </a:r>
          </a:p>
        </p:txBody>
      </p:sp>
    </p:spTree>
    <p:extLst>
      <p:ext uri="{BB962C8B-B14F-4D97-AF65-F5344CB8AC3E}">
        <p14:creationId val="243516363"/>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E85BA5B-D239-4ACD-837E-D2DD7A0B2C4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B4EB9D0-E6FE-4802-AA5D-FDF81113A10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4E627BD-B717-4785-9699-6316AFF07AA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context improve xG discrimination?</a:t>
            </a:r>
          </a:p>
        </p:txBody>
      </p:sp>
      <p:sp>
        <p:nvSpPr>
          <p:cNvPr id="4" name="">
            <a:extLst>
              <a:ext uri="{FF2B5EF4-FFF2-40B4-BE49-F238E27FC236}">
                <ns2:creationId id="{599F5DD3-3803-4F16-98AF-F9D7C625B98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F03641C-67C4-45B9-8B83-A609EDD47D1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Test contextual features across held-out matches, not one example.</a:t>
            </a:r>
          </a:p>
        </p:txBody>
      </p:sp>
      <p:sp>
        <p:nvSpPr>
          <p:cNvPr id="6" name="">
            <a:extLst>
              <a:ext uri="{FF2B5EF4-FFF2-40B4-BE49-F238E27FC236}">
                <ns2:creationId id="{EBBFDD12-EA7F-457B-BAB4-7D09B664E8D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928F504-DF35-44EE-8BA9-B766DD79036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Same five match-grouped folds for both logistic models.</a:t>
            </a:r>
          </a:p>
        </p:txBody>
      </p:sp>
      <p:sp>
        <p:nvSpPr>
          <p:cNvPr id="8" name="">
            <a:extLst>
              <a:ext uri="{FF2B5EF4-FFF2-40B4-BE49-F238E27FC236}">
                <ns2:creationId id="{FB6CE1D3-7CFB-4049-AF54-FA2B1220A2C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3,066 shots · 128 matches</a:t>
            </a:r>
          </a:p>
        </p:txBody>
      </p:sp>
      <p:pic>
        <p:nvPicPr>
          <p:cNvPr id="9" name="">
            <a:extLst>
              <a:ext uri="{FF2B5EF4-FFF2-40B4-BE49-F238E27FC236}">
                <ns2:creationId id="{8D078854-2CCB-42E2-B13A-AC455DAADA15}"/>
              </a:ext>
            </a:extLst>
          </p:cNvPr>
          <p:cNvPicPr>
            <a:picLocks noChangeAspect="1"/>
          </p:cNvPicPr>
          <p:nvPr/>
        </p:nvPicPr>
        <p:blipFill>
          <a:blip r:embed="Rc94feafac8b943fc"/>
          <a:stretch/>
        </p:blipFill>
        <p:spPr>
          <a:xfrm>
            <a:off x="3667125" y="1428750"/>
            <a:ext cx="7429500" cy="4333875"/>
          </a:xfrm>
          <a:prstGeom prst="rect">
            <a:avLst/>
          </a:prstGeom>
        </p:spPr>
      </p:pic>
      <p:sp>
        <p:nvSpPr>
          <p:cNvPr id="10" name="">
            <a:extLst>
              <a:ext uri="{FF2B5EF4-FFF2-40B4-BE49-F238E27FC236}">
                <ns2:creationId id="{A1A444CF-2450-487A-BDE3-545556766FE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ROC AUC rises from 0.744 to 0.780 on the shared eligible cohort.</a:t>
            </a:r>
          </a:p>
        </p:txBody>
      </p:sp>
      <p:sp>
        <p:nvSpPr>
          <p:cNvPr id="11" name="">
            <a:extLst>
              <a:ext uri="{FF2B5EF4-FFF2-40B4-BE49-F238E27FC236}">
                <ns2:creationId id="{0A708021-3015-4BB9-8AD2-5C306B81D60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E0EF0420-66AF-4F35-9B1F-607B962FB8C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A5D6BE68-BEF3-4A0E-8C13-6A96451195A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26</a:t>
            </a:r>
          </a:p>
        </p:txBody>
      </p:sp>
    </p:spTree>
    <p:extLst>
      <p:ext uri="{BB962C8B-B14F-4D97-AF65-F5344CB8AC3E}">
        <p14:creationId val="18165649"/>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AF8F02F-7AED-48C0-B092-CFE7592E6B0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EDAAC84-9ED1-49D1-8C13-AE6E4410861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91BBF6A-BBB9-4013-B084-DD74F9D32B1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completed moves increase location value?</a:t>
            </a:r>
          </a:p>
        </p:txBody>
      </p:sp>
      <p:sp>
        <p:nvSpPr>
          <p:cNvPr id="4" name="">
            <a:extLst>
              <a:ext uri="{FF2B5EF4-FFF2-40B4-BE49-F238E27FC236}">
                <ns2:creationId id="{7CD1FD41-E65D-4348-AA28-F319EB65DC4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8F6B743-39B3-4851-B801-89984E101B9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progression before a shot is taken.</a:t>
            </a:r>
          </a:p>
        </p:txBody>
      </p:sp>
      <p:sp>
        <p:nvSpPr>
          <p:cNvPr id="6" name="">
            <a:extLst>
              <a:ext uri="{FF2B5EF4-FFF2-40B4-BE49-F238E27FC236}">
                <ns2:creationId id="{1A0DCFBB-69A3-4FC4-BCBC-8BB01D59B73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24AA212-9208-43F0-A0B7-AAD009BAF3A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Fitted location xT; value a completed move by V(end)−V(start).</a:t>
            </a:r>
          </a:p>
        </p:txBody>
      </p:sp>
      <p:sp>
        <p:nvSpPr>
          <p:cNvPr id="8" name="">
            <a:extLst>
              <a:ext uri="{FF2B5EF4-FFF2-40B4-BE49-F238E27FC236}">
                <ns2:creationId id="{7F3B97FB-F1F3-474C-A349-58370DDDAF4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External fitted model + supplied events</a:t>
            </a:r>
          </a:p>
        </p:txBody>
      </p:sp>
      <p:pic>
        <p:nvPicPr>
          <p:cNvPr id="9" name="">
            <a:extLst>
              <a:ext uri="{FF2B5EF4-FFF2-40B4-BE49-F238E27FC236}">
                <ns2:creationId id="{3C110863-1913-4B4E-87F8-229598C24D10}"/>
              </a:ext>
            </a:extLst>
          </p:cNvPr>
          <p:cNvPicPr>
            <a:picLocks noChangeAspect="1"/>
          </p:cNvPicPr>
          <p:nvPr/>
        </p:nvPicPr>
        <p:blipFill>
          <a:blip r:embed="R1bc6cc57c9f54c4a"/>
          <a:stretch/>
        </p:blipFill>
        <p:spPr>
          <a:xfrm>
            <a:off x="3048000" y="1428750"/>
            <a:ext cx="8667750" cy="4333875"/>
          </a:xfrm>
          <a:prstGeom prst="rect">
            <a:avLst/>
          </a:prstGeom>
        </p:spPr>
      </p:pic>
      <p:sp>
        <p:nvSpPr>
          <p:cNvPr id="10" name="">
            <a:extLst>
              <a:ext uri="{FF2B5EF4-FFF2-40B4-BE49-F238E27FC236}">
                <ns2:creationId id="{420D9F7D-07B1-4A33-9900-71D253CE4D8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Actual completed passes gain or lose value on the fitted map.</a:t>
            </a:r>
          </a:p>
        </p:txBody>
      </p:sp>
      <p:sp>
        <p:nvSpPr>
          <p:cNvPr id="11" name="">
            <a:extLst>
              <a:ext uri="{FF2B5EF4-FFF2-40B4-BE49-F238E27FC236}">
                <ns2:creationId id="{5E68E22D-875A-4AA8-A245-35475BACC50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08_expected_threat.ipynb</a:t>
            </a:r>
          </a:p>
        </p:txBody>
      </p:sp>
      <p:sp>
        <p:nvSpPr>
          <p:cNvPr id="12" name="">
            <a:extLst>
              <a:ext uri="{FF2B5EF4-FFF2-40B4-BE49-F238E27FC236}">
                <ns2:creationId id="{D7F3D3DB-F454-4FA0-964F-1140E997593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A3246D7C-FB6D-45B6-AF12-B1F21972FB5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FFA8F720-9E44-40EF-9428-8EB7A7F1501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27</a:t>
            </a:r>
          </a:p>
        </p:txBody>
      </p:sp>
    </p:spTree>
    <p:extLst>
      <p:ext uri="{BB962C8B-B14F-4D97-AF65-F5344CB8AC3E}">
        <p14:creationId val="1758195661"/>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FAB2F4C-135B-468E-AEEB-19F9B88BEB4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81BDB91-47DC-47B3-B004-9CF868E6995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8F456ED-C03F-4D28-A776-DD475F9A85C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is closest to each patch of space?</a:t>
            </a:r>
          </a:p>
        </p:txBody>
      </p:sp>
      <p:sp>
        <p:nvSpPr>
          <p:cNvPr id="4" name="">
            <a:extLst>
              <a:ext uri="{FF2B5EF4-FFF2-40B4-BE49-F238E27FC236}">
                <ns2:creationId id="{D17FE98C-8E81-4C2E-8808-FEE5D14A465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D81D0FF-6B6B-4575-8FE4-B52E3DDB8DD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Build a transparent geometric control baseline.</a:t>
            </a:r>
          </a:p>
        </p:txBody>
      </p:sp>
      <p:sp>
        <p:nvSpPr>
          <p:cNvPr id="6" name="">
            <a:extLst>
              <a:ext uri="{FF2B5EF4-FFF2-40B4-BE49-F238E27FC236}">
                <ns2:creationId id="{934688D9-2BC2-4534-9B2D-AFF5EE6656B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9B09CFB-D079-4795-97BE-1CC0E205DFE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regions from nearest-player distance.</a:t>
            </a:r>
          </a:p>
        </p:txBody>
      </p:sp>
      <p:sp>
        <p:nvSpPr>
          <p:cNvPr id="8" name="">
            <a:extLst>
              <a:ext uri="{FF2B5EF4-FFF2-40B4-BE49-F238E27FC236}">
                <ns2:creationId id="{5E663561-DBF0-4F87-86D2-328B5EBB5EB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Geometric baseline</a:t>
            </a:r>
          </a:p>
        </p:txBody>
      </p:sp>
      <p:pic>
        <p:nvPicPr>
          <p:cNvPr id="9" name="">
            <a:extLst>
              <a:ext uri="{FF2B5EF4-FFF2-40B4-BE49-F238E27FC236}">
                <ns2:creationId id="{ABF5880C-3B39-4E15-B025-8F40DD573C94}"/>
              </a:ext>
            </a:extLst>
          </p:cNvPr>
          <p:cNvPicPr>
            <a:picLocks noChangeAspect="1"/>
          </p:cNvPicPr>
          <p:nvPr/>
        </p:nvPicPr>
        <p:blipFill>
          <a:blip r:embed="R4f056000e2c743d0"/>
          <a:stretch/>
        </p:blipFill>
        <p:spPr>
          <a:xfrm>
            <a:off x="4262035" y="1428750"/>
            <a:ext cx="6239680" cy="4333875"/>
          </a:xfrm>
          <a:prstGeom prst="rect">
            <a:avLst/>
          </a:prstGeom>
        </p:spPr>
      </p:pic>
      <p:sp>
        <p:nvSpPr>
          <p:cNvPr id="10" name="">
            <a:extLst>
              <a:ext uri="{FF2B5EF4-FFF2-40B4-BE49-F238E27FC236}">
                <ns2:creationId id="{53F70FB0-7912-4646-8AC7-3D2C916670D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Hard boundaries partition the pitch into nearest-player regions.</a:t>
            </a:r>
          </a:p>
        </p:txBody>
      </p:sp>
      <p:sp>
        <p:nvSpPr>
          <p:cNvPr id="11" name="">
            <a:extLst>
              <a:ext uri="{FF2B5EF4-FFF2-40B4-BE49-F238E27FC236}">
                <ns2:creationId id="{A752D87A-6AF0-41C6-BC09-C6D3BF3E8E3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09_voronoi_control.ipynb</a:t>
            </a:r>
          </a:p>
        </p:txBody>
      </p:sp>
      <p:sp>
        <p:nvSpPr>
          <p:cNvPr id="12" name="">
            <a:extLst>
              <a:ext uri="{FF2B5EF4-FFF2-40B4-BE49-F238E27FC236}">
                <ns2:creationId id="{A2828446-2591-46B6-8500-92428188570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01D3ED6F-2CBF-44F9-A8C2-F82354A7F06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Wide Open Spaces, Fernández &amp; Bornn (2018)</a:t>
            </a:r>
          </a:p>
        </p:txBody>
      </p:sp>
      <p:sp>
        <p:nvSpPr>
          <p:cNvPr id="14" name="">
            <a:extLst>
              <a:ext uri="{FF2B5EF4-FFF2-40B4-BE49-F238E27FC236}">
                <ns2:creationId id="{45528C22-9DAD-4EBA-BC7C-F37B1526B0E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28</a:t>
            </a:r>
          </a:p>
        </p:txBody>
      </p:sp>
    </p:spTree>
    <p:extLst>
      <p:ext uri="{BB962C8B-B14F-4D97-AF65-F5344CB8AC3E}">
        <p14:creationId val="1981689406"/>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2C76832E-B18D-4AA1-8C8E-BC4BC63BCD8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AE92016-D126-4223-A404-F352B24452D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45BBB28-0EA5-495C-B1EC-5B967C10C1E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movement shape spatial influence?</a:t>
            </a:r>
          </a:p>
        </p:txBody>
      </p:sp>
      <p:sp>
        <p:nvSpPr>
          <p:cNvPr id="4" name="">
            <a:extLst>
              <a:ext uri="{FF2B5EF4-FFF2-40B4-BE49-F238E27FC236}">
                <ns2:creationId id="{F3A3FA52-8588-4C58-A1A7-44E73430104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A28261F-7012-4AC9-9C99-7D9FD4EED0E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Replace hard boundaries with smooth directional influence.</a:t>
            </a:r>
          </a:p>
        </p:txBody>
      </p:sp>
      <p:sp>
        <p:nvSpPr>
          <p:cNvPr id="6" name="">
            <a:extLst>
              <a:ext uri="{FF2B5EF4-FFF2-40B4-BE49-F238E27FC236}">
                <ns2:creationId id="{382529DD-32F5-404B-AA61-CB5DA156723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5B9C197-C97B-49B0-B0C1-CFEABA8D04B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Projected Gaussian player influence, aggregated by team.</a:t>
            </a:r>
          </a:p>
        </p:txBody>
      </p:sp>
      <p:sp>
        <p:nvSpPr>
          <p:cNvPr id="8" name="">
            <a:extLst>
              <a:ext uri="{FF2B5EF4-FFF2-40B4-BE49-F238E27FC236}">
                <ns2:creationId id="{D5179F12-A2E7-4F01-B90C-BDD42062261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Uncalibrated influence score</a:t>
            </a:r>
          </a:p>
        </p:txBody>
      </p:sp>
      <p:pic>
        <p:nvPicPr>
          <p:cNvPr id="9" name="">
            <a:extLst>
              <a:ext uri="{FF2B5EF4-FFF2-40B4-BE49-F238E27FC236}">
                <ns2:creationId id="{5525D9B5-D790-48CC-8858-5BBF0760F99D}"/>
              </a:ext>
            </a:extLst>
          </p:cNvPr>
          <p:cNvPicPr>
            <a:picLocks noChangeAspect="1"/>
          </p:cNvPicPr>
          <p:nvPr/>
        </p:nvPicPr>
        <p:blipFill>
          <a:blip r:embed="R0683d69402284feb"/>
          <a:stretch/>
        </p:blipFill>
        <p:spPr>
          <a:xfrm>
            <a:off x="4262035" y="1428750"/>
            <a:ext cx="6239680" cy="4333875"/>
          </a:xfrm>
          <a:prstGeom prst="rect">
            <a:avLst/>
          </a:prstGeom>
        </p:spPr>
      </p:pic>
      <p:sp>
        <p:nvSpPr>
          <p:cNvPr id="10" name="">
            <a:extLst>
              <a:ext uri="{FF2B5EF4-FFF2-40B4-BE49-F238E27FC236}">
                <ns2:creationId id="{B82EDF4A-D3E2-4C61-BE43-F4F20C3F1F2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continuous team-influence surface reflects movement direction.</a:t>
            </a:r>
          </a:p>
        </p:txBody>
      </p:sp>
      <p:sp>
        <p:nvSpPr>
          <p:cNvPr id="11" name="">
            <a:extLst>
              <a:ext uri="{FF2B5EF4-FFF2-40B4-BE49-F238E27FC236}">
                <ns2:creationId id="{8450F86C-FE29-4177-9736-88CA5510F55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10_gaussian_control.ipynb</a:t>
            </a:r>
          </a:p>
        </p:txBody>
      </p:sp>
      <p:sp>
        <p:nvSpPr>
          <p:cNvPr id="12" name="">
            <a:extLst>
              <a:ext uri="{FF2B5EF4-FFF2-40B4-BE49-F238E27FC236}">
                <ns2:creationId id="{2E377C11-1B41-4DBA-A838-1FF6062FA95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FF2B9535-59F3-4824-8AE4-41EA7A83922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29</a:t>
            </a:r>
          </a:p>
        </p:txBody>
      </p:sp>
    </p:spTree>
    <p:extLst>
      <p:ext uri="{BB962C8B-B14F-4D97-AF65-F5344CB8AC3E}">
        <p14:creationId val="272725021"/>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BEE53BDF-9AFA-4EB8-99AE-A869D765D01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3F57823-0EE2-4C71-983B-CBF2F504A65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201C0A9-6B79-426D-B495-F38D6237FF8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team reaches a target sooner?</a:t>
            </a:r>
          </a:p>
        </p:txBody>
      </p:sp>
      <p:sp>
        <p:nvSpPr>
          <p:cNvPr id="4" name="">
            <a:extLst>
              <a:ext uri="{FF2B5EF4-FFF2-40B4-BE49-F238E27FC236}">
                <ns2:creationId id="{516AF0E1-56AA-42C8-B56D-EB62C356A63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033CD69-3DF5-4511-AEF8-956BB012B02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Model the race to space rather than only proximity.</a:t>
            </a:r>
          </a:p>
        </p:txBody>
      </p:sp>
      <p:sp>
        <p:nvSpPr>
          <p:cNvPr id="6" name="">
            <a:extLst>
              <a:ext uri="{FF2B5EF4-FFF2-40B4-BE49-F238E27FC236}">
                <ns2:creationId id="{8E248EE6-D3C6-40D1-AB5A-86F8920F05D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BB60066-372C-466C-8962-C380E7C1435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Reaction/projection time and earliest team travel time.</a:t>
            </a:r>
          </a:p>
        </p:txBody>
      </p:sp>
      <p:sp>
        <p:nvSpPr>
          <p:cNvPr id="8" name="">
            <a:extLst>
              <a:ext uri="{FF2B5EF4-FFF2-40B4-BE49-F238E27FC236}">
                <ns2:creationId id="{58DB1739-8E16-436B-A79D-4C8B9C8D076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Simplified timing model</a:t>
            </a:r>
          </a:p>
        </p:txBody>
      </p:sp>
      <p:pic>
        <p:nvPicPr>
          <p:cNvPr id="9" name="">
            <a:extLst>
              <a:ext uri="{FF2B5EF4-FFF2-40B4-BE49-F238E27FC236}">
                <ns2:creationId id="{257CD349-0EF1-4188-8716-5F82B02EC920}"/>
              </a:ext>
            </a:extLst>
          </p:cNvPr>
          <p:cNvPicPr>
            <a:picLocks noChangeAspect="1"/>
          </p:cNvPicPr>
          <p:nvPr/>
        </p:nvPicPr>
        <p:blipFill>
          <a:blip r:embed="R62deda51f92e4b7d"/>
          <a:stretch/>
        </p:blipFill>
        <p:spPr>
          <a:xfrm>
            <a:off x="4262035" y="1428750"/>
            <a:ext cx="6239680" cy="4333875"/>
          </a:xfrm>
          <a:prstGeom prst="rect">
            <a:avLst/>
          </a:prstGeom>
        </p:spPr>
      </p:pic>
      <p:sp>
        <p:nvSpPr>
          <p:cNvPr id="10" name="">
            <a:extLst>
              <a:ext uri="{FF2B5EF4-FFF2-40B4-BE49-F238E27FC236}">
                <ns2:creationId id="{85E02CD2-A04C-4425-B86F-C4EF1C74250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arrival-time score exposes contested and reachable regions.</a:t>
            </a:r>
          </a:p>
        </p:txBody>
      </p:sp>
      <p:sp>
        <p:nvSpPr>
          <p:cNvPr id="11" name="">
            <a:extLst>
              <a:ext uri="{FF2B5EF4-FFF2-40B4-BE49-F238E27FC236}">
                <ns2:creationId id="{A2FABCCC-C9A9-40C4-BA61-6044960FAD1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2" name="">
            <a:extLst>
              <a:ext uri="{FF2B5EF4-FFF2-40B4-BE49-F238E27FC236}">
                <ns2:creationId id="{D43526F6-9B09-4EC1-B6AF-DA0E8DC93EA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Beyond Expected Goals, Spearman (2018)</a:t>
            </a:r>
          </a:p>
        </p:txBody>
      </p:sp>
      <p:sp>
        <p:nvSpPr>
          <p:cNvPr id="13" name="">
            <a:extLst>
              <a:ext uri="{FF2B5EF4-FFF2-40B4-BE49-F238E27FC236}">
                <ns2:creationId id="{113D931E-5EBE-4DD5-BEFE-BF46ACCB1AD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259918AE-46B0-40F8-90CB-A5DE0D09B4E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30</a:t>
            </a:r>
          </a:p>
        </p:txBody>
      </p:sp>
    </p:spTree>
    <p:extLst>
      <p:ext uri="{BB962C8B-B14F-4D97-AF65-F5344CB8AC3E}">
        <p14:creationId val="94709191"/>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770A4A58-9E6F-48E9-BFE9-D7CDCFB6315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87D6077-6D95-42D5-BB80-3981D97383A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C389139-8DC9-4C9C-9E28-C445C646767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the control assumptions change the answer?</a:t>
            </a:r>
          </a:p>
        </p:txBody>
      </p:sp>
      <p:sp>
        <p:nvSpPr>
          <p:cNvPr id="4" name="">
            <a:extLst>
              <a:ext uri="{FF2B5EF4-FFF2-40B4-BE49-F238E27FC236}">
                <ns2:creationId id="{7130B4E3-19DF-4561-A627-273C2F90215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BDDBAEB-E0C0-4947-B15C-4C2F79DE283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Compare methods without changing the tracking situation.</a:t>
            </a:r>
          </a:p>
        </p:txBody>
      </p:sp>
      <p:sp>
        <p:nvSpPr>
          <p:cNvPr id="6" name="">
            <a:extLst>
              <a:ext uri="{FF2B5EF4-FFF2-40B4-BE49-F238E27FC236}">
                <ns2:creationId id="{D7AFE523-AA0A-4DFC-BC01-E1894357A59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1BC4048-5A30-4AEC-8024-751C180F223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Gaussian and arrival-time baselines on identical frames.</a:t>
            </a:r>
          </a:p>
        </p:txBody>
      </p:sp>
      <p:sp>
        <p:nvSpPr>
          <p:cNvPr id="8" name="">
            <a:extLst>
              <a:ext uri="{FF2B5EF4-FFF2-40B4-BE49-F238E27FC236}">
                <ns2:creationId id="{CD5359D0-372C-468D-88C0-62BCA60C573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Same frame · same grid</a:t>
            </a:r>
          </a:p>
        </p:txBody>
      </p:sp>
      <p:pic>
        <p:nvPicPr>
          <p:cNvPr id="9" name="Video: How do the control assumptions change the answer?" descr="Embedded MP4. Click to play. Original synchronized comparison video. Scores are teaching outputs, not calibrated possession probabilities; parameter choices are stated in assets/videos/README.md. Sampled at 5 Hz with real-time playback.">
            <a:hlinkClick action="ppaction://media"/>
            <a:extLst>
              <a:ext uri="{FF2B5EF4-FFF2-40B4-BE49-F238E27FC236}">
                <ns2:creationId id="{967F4428-BBCD-4DE6-B357-49CE3BAB901F}"/>
              </a:ext>
            </a:extLst>
          </p:cNvPr>
          <p:cNvPicPr>
            <a:picLocks noChangeAspect="1"/>
          </p:cNvPicPr>
          <p:nvPr>
            <a:videoFile r:link="rIdWorkshopVideo"/>
            <p:extLst>
              <p:ext uri="{DAA4B4D4-6D71-4841-9C94-3DE7FCFB9230}">
                <p14:media r:embed="rIdWorkshopMedia"/>
              </p:ext>
            </p:extLst>
          </p:nvPr>
        </p:nvPicPr>
        <p:blipFill>
          <a:blip r:embed="R12c1213d311145e5"/>
          <a:stretch/>
        </p:blipFill>
        <p:spPr>
          <a:xfrm>
            <a:off x="3724275" y="1428750"/>
            <a:ext cx="7315200" cy="4114800"/>
          </a:xfrm>
          <a:prstGeom prst="rect">
            <a:avLst/>
          </a:prstGeom>
        </p:spPr>
      </p:pic>
      <p:sp>
        <p:nvSpPr>
          <p:cNvPr id="10" name="">
            <a:extLst>
              <a:ext uri="{FF2B5EF4-FFF2-40B4-BE49-F238E27FC236}">
                <ns2:creationId id="{8FE26A3D-9EC1-4134-9E3F-5F0FDE072AC0}"/>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CAA1F03C-4DB4-4038-AED0-D03554AA451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moving comparison makes each model’s different boundaries visible.</a:t>
            </a:r>
          </a:p>
        </p:txBody>
      </p:sp>
      <p:sp>
        <p:nvSpPr>
          <p:cNvPr id="12" name="">
            <a:extLst>
              <a:ext uri="{FF2B5EF4-FFF2-40B4-BE49-F238E27FC236}">
                <ns2:creationId id="{C31FA476-C912-48C4-80D2-0D649C320FE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3" name="">
            <a:extLst>
              <a:ext uri="{FF2B5EF4-FFF2-40B4-BE49-F238E27FC236}">
                <ns2:creationId id="{B61E2088-7607-4951-9B65-B4B4F081248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E554631E-8EE1-4D9B-9EFA-3DB5CFE16CF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E354AD84-3A70-4573-B850-232C3726CFA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31</a:t>
            </a:r>
          </a:p>
        </p:txBody>
      </p:sp>
    </p:spTree>
    <p:extLst>
      <p:ext uri="{BB962C8B-B14F-4D97-AF65-F5344CB8AC3E}">
        <p14:creationId val="115270544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4B28C8B0-1B02-474F-BC01-74EEDE9096F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8AE2C49-21CA-48DD-A36E-236DD8371AF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DBC472D-06D7-4591-A5FA-DE4E02024C5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passing targets are more likely to succeed?</a:t>
            </a:r>
          </a:p>
        </p:txBody>
      </p:sp>
      <p:sp>
        <p:nvSpPr>
          <p:cNvPr id="4" name="">
            <a:extLst>
              <a:ext uri="{FF2B5EF4-FFF2-40B4-BE49-F238E27FC236}">
                <ns2:creationId id="{27EF0930-166A-4B33-BF5E-A28809AE4D8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DDE717A-DC7D-46F2-8C91-8DB1BD94005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Assess a receiver before the pass is attempted.</a:t>
            </a:r>
          </a:p>
        </p:txBody>
      </p:sp>
      <p:sp>
        <p:nvSpPr>
          <p:cNvPr id="6" name="">
            <a:extLst>
              <a:ext uri="{FF2B5EF4-FFF2-40B4-BE49-F238E27FC236}">
                <ns2:creationId id="{1E904335-0B3E-4C32-9A26-E6B4296BBE8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BE7728E-ADA0-4320-BD7A-6D4CCD65A56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accessible-space completion model; survival-proxy illustration.</a:t>
            </a:r>
          </a:p>
        </p:txBody>
      </p:sp>
      <p:sp>
        <p:nvSpPr>
          <p:cNvPr id="8" name="">
            <a:extLst>
              <a:ext uri="{FF2B5EF4-FFF2-40B4-BE49-F238E27FC236}">
                <ns2:creationId id="{1B9CC913-9077-431C-BBA5-AEC0465BECD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output; separate teaching inset</a:t>
            </a:r>
          </a:p>
        </p:txBody>
      </p:sp>
      <p:pic>
        <p:nvPicPr>
          <p:cNvPr id="9" name="">
            <a:extLst>
              <a:ext uri="{FF2B5EF4-FFF2-40B4-BE49-F238E27FC236}">
                <ns2:creationId id="{53B04CE1-0014-4ABA-B562-87213933FE11}"/>
              </a:ext>
            </a:extLst>
          </p:cNvPr>
          <p:cNvPicPr>
            <a:picLocks noChangeAspect="1"/>
          </p:cNvPicPr>
          <p:nvPr/>
        </p:nvPicPr>
        <p:blipFill>
          <a:blip r:embed="Rec7ef09195b346c9"/>
          <a:stretch/>
        </p:blipFill>
        <p:spPr>
          <a:xfrm>
            <a:off x="3048000" y="1428750"/>
            <a:ext cx="8667750" cy="4333875"/>
          </a:xfrm>
          <a:prstGeom prst="rect">
            <a:avLst/>
          </a:prstGeom>
        </p:spPr>
      </p:pic>
      <p:sp>
        <p:nvSpPr>
          <p:cNvPr id="10" name="">
            <a:extLst>
              <a:ext uri="{FF2B5EF4-FFF2-40B4-BE49-F238E27FC236}">
                <ns2:creationId id="{03A195AB-ACDF-4A59-85E8-0198D068639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field-wide completion map ranks hypothetical target locations.</a:t>
            </a:r>
          </a:p>
        </p:txBody>
      </p:sp>
      <p:sp>
        <p:nvSpPr>
          <p:cNvPr id="11" name="">
            <a:extLst>
              <a:ext uri="{FF2B5EF4-FFF2-40B4-BE49-F238E27FC236}">
                <ns2:creationId id="{3189C099-F682-4016-9223-52CD5261BCC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12_pass_completion.ipynb</a:t>
            </a:r>
          </a:p>
        </p:txBody>
      </p:sp>
      <p:sp>
        <p:nvSpPr>
          <p:cNvPr id="12" name="">
            <a:extLst>
              <a:ext uri="{FF2B5EF4-FFF2-40B4-BE49-F238E27FC236}">
                <ns2:creationId id="{C93CDE35-70D0-4294-8702-80DA9B827864}"/>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B8208636-2BD7-49EC-AD70-F25EA66E7BE5}"/>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471FA33D-CA24-4AEF-BCD8-E46956A4F73C}"/>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Beyond Expected Goals, Spearman (2018)</a:t>
            </a:r>
          </a:p>
        </p:txBody>
      </p:sp>
      <p:sp>
        <p:nvSpPr>
          <p:cNvPr id="15" name="">
            <a:extLst>
              <a:ext uri="{FF2B5EF4-FFF2-40B4-BE49-F238E27FC236}">
                <ns2:creationId id="{388EEB48-00AD-49B6-8195-3DD377BCAAE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32</a:t>
            </a:r>
          </a:p>
        </p:txBody>
      </p:sp>
    </p:spTree>
    <p:extLst>
      <p:ext uri="{BB962C8B-B14F-4D97-AF65-F5344CB8AC3E}">
        <p14:creationId val="921407983"/>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5FC0EB1-7CC0-482F-9F99-1B6FB9EA675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3F626FA-A2DA-4EBC-893C-AC1DA697498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96D9367-97CA-4391-AD44-B317F17BA89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can the attacking team receive?</a:t>
            </a:r>
          </a:p>
        </p:txBody>
      </p:sp>
      <p:sp>
        <p:nvSpPr>
          <p:cNvPr id="4" name="">
            <a:extLst>
              <a:ext uri="{FF2B5EF4-FFF2-40B4-BE49-F238E27FC236}">
                <ns2:creationId id="{0B17DF7C-57F7-4BC3-8DC1-87B989B5FC9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0556529-5D42-4AE3-8D0F-0A17D70532F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space that is accessible through potential passes.</a:t>
            </a:r>
          </a:p>
        </p:txBody>
      </p:sp>
      <p:sp>
        <p:nvSpPr>
          <p:cNvPr id="6" name="">
            <a:extLst>
              <a:ext uri="{FF2B5EF4-FFF2-40B4-BE49-F238E27FC236}">
                <ns2:creationId id="{13A91513-E883-45F2-B996-CE97E45515A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B46D398-FF19-41D4-8D9A-4C400EF3103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pass-flight and player-interception simulation.</a:t>
            </a:r>
          </a:p>
        </p:txBody>
      </p:sp>
      <p:sp>
        <p:nvSpPr>
          <p:cNvPr id="8" name="">
            <a:extLst>
              <a:ext uri="{FF2B5EF4-FFF2-40B4-BE49-F238E27FC236}">
                <ns2:creationId id="{86FD55EA-7232-4AC7-A70B-95F90F60B7E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implementation output</a:t>
            </a:r>
          </a:p>
        </p:txBody>
      </p:sp>
      <p:pic>
        <p:nvPicPr>
          <p:cNvPr id="9" name="">
            <a:extLst>
              <a:ext uri="{FF2B5EF4-FFF2-40B4-BE49-F238E27FC236}">
                <ns2:creationId id="{0A3A4A6F-6A3A-4866-986E-2B17D7F89962}"/>
              </a:ext>
            </a:extLst>
          </p:cNvPr>
          <p:cNvPicPr>
            <a:picLocks noChangeAspect="1"/>
          </p:cNvPicPr>
          <p:nvPr/>
        </p:nvPicPr>
        <p:blipFill>
          <a:blip r:embed="Ra1293ecfcc8647ac"/>
          <a:stretch/>
        </p:blipFill>
        <p:spPr>
          <a:xfrm>
            <a:off x="3357563" y="1428750"/>
            <a:ext cx="8048625" cy="4333875"/>
          </a:xfrm>
          <a:prstGeom prst="rect">
            <a:avLst/>
          </a:prstGeom>
        </p:spPr>
      </p:pic>
      <p:sp>
        <p:nvSpPr>
          <p:cNvPr id="10" name="">
            <a:extLst>
              <a:ext uri="{FF2B5EF4-FFF2-40B4-BE49-F238E27FC236}">
                <ns2:creationId id="{75BA6C96-F5F4-4CDD-B40A-21DA9CC49D5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accessible-space surface identifies receiving opportunity.</a:t>
            </a:r>
          </a:p>
        </p:txBody>
      </p:sp>
      <p:sp>
        <p:nvSpPr>
          <p:cNvPr id="11" name="">
            <a:extLst>
              <a:ext uri="{FF2B5EF4-FFF2-40B4-BE49-F238E27FC236}">
                <ns2:creationId id="{50296E32-B3F8-4D55-8E85-FDB0B7145B8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4C33C426-3EBC-450C-AA58-4544E8EED97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8D45D80C-E699-4AA2-A9B4-9003F879954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F2D8E4B8-C03B-4457-9C9F-E9814DF03DD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33</a:t>
            </a:r>
          </a:p>
        </p:txBody>
      </p:sp>
    </p:spTree>
    <p:extLst>
      <p:ext uri="{BB962C8B-B14F-4D97-AF65-F5344CB8AC3E}">
        <p14:creationId val="2122280215"/>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5CAC1FF-5B08-42A8-B9FA-DE7752520DD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D27498B-42EF-4263-83EB-30C8CDC8E98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B25934E0-3FC7-49D6-BFCD-C5262669E92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accessible space is dangerous?</a:t>
            </a:r>
          </a:p>
        </p:txBody>
      </p:sp>
      <p:sp>
        <p:nvSpPr>
          <p:cNvPr id="4" name="">
            <a:extLst>
              <a:ext uri="{FF2B5EF4-FFF2-40B4-BE49-F238E27FC236}">
                <ns2:creationId id="{DA026EAC-7CD0-4D37-84BC-A640CB08A1F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DC4DAD6-17D3-424E-BCF4-4E8E20636FC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available territory from valuable territory.</a:t>
            </a:r>
          </a:p>
        </p:txBody>
      </p:sp>
      <p:sp>
        <p:nvSpPr>
          <p:cNvPr id="6" name="">
            <a:extLst>
              <a:ext uri="{FF2B5EF4-FFF2-40B4-BE49-F238E27FC236}">
                <ns2:creationId id="{ECF5E182-7A60-41D4-8259-9C0C398F1E5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0A2C665-2170-437C-9FFF-7F7D3FC9A62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Weight published accessibility by the model’s danger definition.</a:t>
            </a:r>
          </a:p>
        </p:txBody>
      </p:sp>
      <p:sp>
        <p:nvSpPr>
          <p:cNvPr id="8" name="">
            <a:extLst>
              <a:ext uri="{FF2B5EF4-FFF2-40B4-BE49-F238E27FC236}">
                <ns2:creationId id="{1AC9EC44-1245-4063-8AAC-0BB69C218BB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Danger-weighted area, not xG</a:t>
            </a:r>
          </a:p>
        </p:txBody>
      </p:sp>
      <p:pic>
        <p:nvPicPr>
          <p:cNvPr id="9" name="">
            <a:extLst>
              <a:ext uri="{FF2B5EF4-FFF2-40B4-BE49-F238E27FC236}">
                <ns2:creationId id="{A9933211-C3A6-4D3A-BB18-F1BF42E3F440}"/>
              </a:ext>
            </a:extLst>
          </p:cNvPr>
          <p:cNvPicPr>
            <a:picLocks noChangeAspect="1"/>
          </p:cNvPicPr>
          <p:nvPr/>
        </p:nvPicPr>
        <p:blipFill>
          <a:blip r:embed="Rfdb5bcae4b804058"/>
          <a:stretch/>
        </p:blipFill>
        <p:spPr>
          <a:xfrm>
            <a:off x="3357563" y="1428750"/>
            <a:ext cx="8048625" cy="4333875"/>
          </a:xfrm>
          <a:prstGeom prst="rect">
            <a:avLst/>
          </a:prstGeom>
        </p:spPr>
      </p:pic>
      <p:sp>
        <p:nvSpPr>
          <p:cNvPr id="10" name="">
            <a:extLst>
              <a:ext uri="{FF2B5EF4-FFF2-40B4-BE49-F238E27FC236}">
                <ns2:creationId id="{975363C4-C78D-4E7D-AC70-2615441896A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Danger weighting concentrates attention on useful receiving space.</a:t>
            </a:r>
          </a:p>
        </p:txBody>
      </p:sp>
      <p:sp>
        <p:nvSpPr>
          <p:cNvPr id="11" name="">
            <a:extLst>
              <a:ext uri="{FF2B5EF4-FFF2-40B4-BE49-F238E27FC236}">
                <ns2:creationId id="{10D2EC02-3EC5-4827-9C73-71EC63DCE18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F35FAF39-EA62-45F8-9884-87224146F60E}"/>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B95DE71A-C1DD-40BC-BCDF-D7EC51B488E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924F3503-34E2-4F2D-BF2A-E4293900574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34</a:t>
            </a:r>
          </a:p>
        </p:txBody>
      </p:sp>
    </p:spTree>
    <p:extLst>
      <p:ext uri="{BB962C8B-B14F-4D97-AF65-F5344CB8AC3E}">
        <p14:creationId val="854371572"/>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559CEEB-6731-4717-8BC3-93BAA97AD7B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10919E1-6DA4-493A-AEE0-5E880579A32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6B06EEF-A3A5-477C-BC92-0DC33081887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useful space change during play?</a:t>
            </a:r>
          </a:p>
        </p:txBody>
      </p:sp>
      <p:sp>
        <p:nvSpPr>
          <p:cNvPr id="4" name="">
            <a:extLst>
              <a:ext uri="{FF2B5EF4-FFF2-40B4-BE49-F238E27FC236}">
                <ns2:creationId id="{147EBA63-4D74-4E15-B610-FE6E21AE412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0DD575E-394F-4798-988B-D837F157E2C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Connect movement to changing options over time.</a:t>
            </a:r>
          </a:p>
        </p:txBody>
      </p:sp>
      <p:sp>
        <p:nvSpPr>
          <p:cNvPr id="6" name="">
            <a:extLst>
              <a:ext uri="{FF2B5EF4-FFF2-40B4-BE49-F238E27FC236}">
                <ns2:creationId id="{C1AF4E7F-6D1D-4CE7-BF06-CDEFA40616F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5A10903-45D1-4F8D-893D-2146765587B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published AS and DAS on successive real frames.</a:t>
            </a:r>
          </a:p>
        </p:txBody>
      </p:sp>
      <p:sp>
        <p:nvSpPr>
          <p:cNvPr id="8" name="">
            <a:extLst>
              <a:ext uri="{FF2B5EF4-FFF2-40B4-BE49-F238E27FC236}">
                <ns2:creationId id="{A116BC2E-519C-4FAE-842D-15EB1B315F8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model output over time</a:t>
            </a:r>
          </a:p>
        </p:txBody>
      </p:sp>
      <p:pic>
        <p:nvPicPr>
          <p:cNvPr id="9" name="Video: How does useful space change during play?" descr="Embedded MP4. Click to play. Published accessible-space outputs at 5 Hz; traces show AS m² and DAS danger-weighted m² separately. Team/possession context must be read with the clip. Before/after movement does not establish causal player credit. The black-centered white marker shows the ball in both panels.">
            <a:hlinkClick action="ppaction://media"/>
            <a:extLst>
              <a:ext uri="{FF2B5EF4-FFF2-40B4-BE49-F238E27FC236}">
                <ns2:creationId id="{8F5D1407-C386-4506-87CE-9B80A5E83945}"/>
              </a:ext>
            </a:extLst>
          </p:cNvPr>
          <p:cNvPicPr>
            <a:picLocks noChangeAspect="1"/>
          </p:cNvPicPr>
          <p:nvPr>
            <a:videoFile r:link="rIdWorkshopVideo"/>
            <p:extLst>
              <p:ext uri="{DAA4B4D4-6D71-4841-9C94-3DE7FCFB9230}">
                <p14:media r:embed="rIdWorkshopMedia"/>
              </p:ext>
            </p:extLst>
          </p:nvPr>
        </p:nvPicPr>
        <p:blipFill>
          <a:blip r:embed="R5e4fdbfdcd53400f"/>
          <a:stretch/>
        </p:blipFill>
        <p:spPr>
          <a:xfrm>
            <a:off x="3724275" y="1428750"/>
            <a:ext cx="7315200" cy="4114800"/>
          </a:xfrm>
          <a:prstGeom prst="rect">
            <a:avLst/>
          </a:prstGeom>
        </p:spPr>
      </p:pic>
      <p:sp>
        <p:nvSpPr>
          <p:cNvPr id="10" name="">
            <a:extLst>
              <a:ext uri="{FF2B5EF4-FFF2-40B4-BE49-F238E27FC236}">
                <ns2:creationId id="{44733E36-DD29-40AE-AD74-CB566AECDB3B}"/>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3CA0EE86-D977-45BE-9BD1-370F6F4EE2E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links changing surfaces with their own value traces.</a:t>
            </a:r>
          </a:p>
        </p:txBody>
      </p:sp>
      <p:sp>
        <p:nvSpPr>
          <p:cNvPr id="12" name="">
            <a:extLst>
              <a:ext uri="{FF2B5EF4-FFF2-40B4-BE49-F238E27FC236}">
                <ns2:creationId id="{A382F92E-4A77-4C7A-B161-6441168711E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3" name="">
            <a:extLst>
              <a:ext uri="{FF2B5EF4-FFF2-40B4-BE49-F238E27FC236}">
                <ns2:creationId id="{3351D70F-5F70-4AA3-875C-421F79BE155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4" name="">
            <a:extLst>
              <a:ext uri="{FF2B5EF4-FFF2-40B4-BE49-F238E27FC236}">
                <ns2:creationId id="{FC5EDCAF-A2E1-4217-B56F-3538F941E13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5" name="">
            <a:extLst>
              <a:ext uri="{FF2B5EF4-FFF2-40B4-BE49-F238E27FC236}">
                <ns2:creationId id="{BA78FE50-DE4E-4632-B0ED-CFABB5DBEBF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35</a:t>
            </a:r>
          </a:p>
        </p:txBody>
      </p:sp>
    </p:spTree>
    <p:extLst>
      <p:ext uri="{BB962C8B-B14F-4D97-AF65-F5344CB8AC3E}">
        <p14:creationId val="202932490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3B68AED-9A86-4B9C-B3E5-2D56ED54770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E03AA6D-4139-4D70-8126-DD932087C60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4E41A8F-0BFB-4A76-AF80-CA1AD88CED2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off-ball run offers more threat?</a:t>
            </a:r>
          </a:p>
        </p:txBody>
      </p:sp>
      <p:sp>
        <p:nvSpPr>
          <p:cNvPr id="4" name="">
            <a:extLst>
              <a:ext uri="{FF2B5EF4-FFF2-40B4-BE49-F238E27FC236}">
                <ns2:creationId id="{8F953982-F072-4196-BE34-662E77EF7DE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7927868-E27B-4B39-8E4C-DF7AF4BA40A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Recognize useful runs even when a pass is not played.</a:t>
            </a:r>
          </a:p>
        </p:txBody>
      </p:sp>
      <p:sp>
        <p:nvSpPr>
          <p:cNvPr id="6" name="">
            <a:extLst>
              <a:ext uri="{FF2B5EF4-FFF2-40B4-BE49-F238E27FC236}">
                <ns2:creationId id="{F14174B9-D5BB-436A-A8D1-B89EF02352E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88F6B78-598A-4DF2-A375-8F5C915722F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supplied SkillCorner run-threat estimates in context.</a:t>
            </a:r>
          </a:p>
        </p:txBody>
      </p:sp>
      <p:sp>
        <p:nvSpPr>
          <p:cNvPr id="8" name="">
            <a:extLst>
              <a:ext uri="{FF2B5EF4-FFF2-40B4-BE49-F238E27FC236}">
                <ns2:creationId id="{CC4F85C8-90FD-4C06-A78F-25D6E2BB943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Provider outputs, not reconstructed xT</a:t>
            </a:r>
          </a:p>
        </p:txBody>
      </p:sp>
      <p:pic>
        <p:nvPicPr>
          <p:cNvPr id="9" name="Video: Which off-ball run offers more threat?" descr="Embedded MP4. Click to play. 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
            <a:hlinkClick action="ppaction://media"/>
            <a:extLst>
              <a:ext uri="{FF2B5EF4-FFF2-40B4-BE49-F238E27FC236}">
                <ns2:creationId id="{97EBE115-D76B-4799-9367-7561F95610CD}"/>
              </a:ext>
            </a:extLst>
          </p:cNvPr>
          <p:cNvPicPr>
            <a:picLocks noChangeAspect="1"/>
          </p:cNvPicPr>
          <p:nvPr>
            <a:videoFile r:link="rIdWorkshopVideo"/>
            <p:extLst>
              <p:ext uri="{DAA4B4D4-6D71-4841-9C94-3DE7FCFB9230}">
                <p14:media r:embed="rIdWorkshopMedia"/>
              </p:ext>
            </p:extLst>
          </p:nvPr>
        </p:nvPicPr>
        <p:blipFill>
          <a:blip r:embed="Racd529742fe444f8"/>
          <a:stretch/>
        </p:blipFill>
        <p:spPr>
          <a:xfrm>
            <a:off x="3724275" y="1428750"/>
            <a:ext cx="7315200" cy="4114800"/>
          </a:xfrm>
          <a:prstGeom prst="rect">
            <a:avLst/>
          </a:prstGeom>
        </p:spPr>
      </p:pic>
      <p:sp>
        <p:nvSpPr>
          <p:cNvPr id="10" name="">
            <a:extLst>
              <a:ext uri="{FF2B5EF4-FFF2-40B4-BE49-F238E27FC236}">
                <ns2:creationId id="{0738B3C1-F332-4E13-99B3-E5E39DF5893A}"/>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AD0D8FA8-86EC-4C78-8805-66474DA5531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Two actual runs receive contrasting supplied threat values.</a:t>
            </a:r>
          </a:p>
        </p:txBody>
      </p:sp>
      <p:sp>
        <p:nvSpPr>
          <p:cNvPr id="12" name="">
            <a:extLst>
              <a:ext uri="{FF2B5EF4-FFF2-40B4-BE49-F238E27FC236}">
                <ns2:creationId id="{B9A62F22-9F0B-4AA9-8D70-A9EF7948E32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Expected Threat for off-ball runs</a:t>
            </a:r>
          </a:p>
        </p:txBody>
      </p:sp>
      <p:sp>
        <p:nvSpPr>
          <p:cNvPr id="13" name="">
            <a:extLst>
              <a:ext uri="{FF2B5EF4-FFF2-40B4-BE49-F238E27FC236}">
                <ns2:creationId id="{C08E20E3-DC66-402C-BC36-25FF4D27BCE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F05DA738-676B-42C4-8E36-4E7BEF0A492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36</a:t>
            </a:r>
          </a:p>
        </p:txBody>
      </p:sp>
    </p:spTree>
    <p:extLst>
      <p:ext uri="{BB962C8B-B14F-4D97-AF65-F5344CB8AC3E}">
        <p14:creationId val="93968611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4D98157-B7F4-4909-904C-9069D6D514D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BC5D9A6-A824-4FF0-96CA-EB5F01589CA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E7D9E51-BA8E-471A-B445-8877745F39E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Why represent football as a graph?</a:t>
            </a:r>
          </a:p>
        </p:txBody>
      </p:sp>
      <p:sp>
        <p:nvSpPr>
          <p:cNvPr id="4" name="">
            <a:extLst>
              <a:ext uri="{FF2B5EF4-FFF2-40B4-BE49-F238E27FC236}">
                <ns2:creationId id="{BDA05B2A-FBE1-4DF7-A163-6DE546E39A5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1700F68-B6D1-4BAE-9F15-543E4949ECA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Positions alone hide who relates to whom.</a:t>
            </a:r>
          </a:p>
        </p:txBody>
      </p:sp>
      <p:sp>
        <p:nvSpPr>
          <p:cNvPr id="6" name="">
            <a:extLst>
              <a:ext uri="{FF2B5EF4-FFF2-40B4-BE49-F238E27FC236}">
                <ns2:creationId id="{42AF70E3-CF09-46DF-A43A-766CAE85739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E3EBE6B-4A9D-41B9-82D1-CE4CBA742F9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Players and ball as nodes; relationships as edges.</a:t>
            </a:r>
          </a:p>
        </p:txBody>
      </p:sp>
      <p:sp>
        <p:nvSpPr>
          <p:cNvPr id="8" name="">
            <a:extLst>
              <a:ext uri="{FF2B5EF4-FFF2-40B4-BE49-F238E27FC236}">
                <ns2:creationId id="{27B27C42-B684-44E0-BC1D-64340909B93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Joris Bekkers · original keynote visual</a:t>
            </a:r>
          </a:p>
        </p:txBody>
      </p:sp>
      <p:pic>
        <p:nvPicPr>
          <p:cNvPr id="9" name="">
            <a:extLst>
              <a:ext uri="{FF2B5EF4-FFF2-40B4-BE49-F238E27FC236}">
                <ns2:creationId id="{DD797FFD-06AB-46BA-931F-7E77AE04C325}"/>
              </a:ext>
            </a:extLst>
          </p:cNvPr>
          <p:cNvPicPr>
            <a:picLocks noChangeAspect="1"/>
          </p:cNvPicPr>
          <p:nvPr/>
        </p:nvPicPr>
        <p:blipFill>
          <a:blip r:embed="R680bdf778b2c42e9"/>
          <a:stretch/>
        </p:blipFill>
        <p:spPr>
          <a:xfrm>
            <a:off x="3806428" y="1428750"/>
            <a:ext cx="7150894" cy="4333875"/>
          </a:xfrm>
          <a:prstGeom prst="rect">
            <a:avLst/>
          </a:prstGeom>
        </p:spPr>
      </p:pic>
      <p:sp>
        <p:nvSpPr>
          <p:cNvPr id="10" name="">
            <a:extLst>
              <a:ext uri="{FF2B5EF4-FFF2-40B4-BE49-F238E27FC236}">
                <ns2:creationId id="{DC64876B-A3F7-4EF3-9048-77CC57982DE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graph encodes interactions without relying on player row order.</a:t>
            </a:r>
          </a:p>
        </p:txBody>
      </p:sp>
      <p:sp>
        <p:nvSpPr>
          <p:cNvPr id="11" name="">
            <a:extLst>
              <a:ext uri="{FF2B5EF4-FFF2-40B4-BE49-F238E27FC236}">
                <ns2:creationId id="{38B005E3-D3D8-46F9-A6A6-CD3F285D129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99FC3AFF-5BC1-4914-A6BE-B60BDAD8233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932FDD96-336F-47F5-B112-91243C7254D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37</a:t>
            </a:r>
          </a:p>
        </p:txBody>
      </p:sp>
    </p:spTree>
    <p:extLst>
      <p:ext uri="{BB962C8B-B14F-4D97-AF65-F5344CB8AC3E}">
        <p14:creationId val="1300616474"/>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2BFB798C-AA85-488D-8605-EE9A303FFF1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2D4A60F-A3CE-4B9D-AC85-352DDE73740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A1466BA8-9921-47C9-BD9B-826A4F0FCE5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information should a graph carry?</a:t>
            </a:r>
          </a:p>
        </p:txBody>
      </p:sp>
      <p:sp>
        <p:nvSpPr>
          <p:cNvPr id="4" name="">
            <a:extLst>
              <a:ext uri="{FF2B5EF4-FFF2-40B4-BE49-F238E27FC236}">
                <ns2:creationId id="{3B373D80-A77F-4F04-9332-2103B49D383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F150679-4990-422B-B8D9-0433997DF4A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players and game context in machine-readable form.</a:t>
            </a:r>
          </a:p>
        </p:txBody>
      </p:sp>
      <p:sp>
        <p:nvSpPr>
          <p:cNvPr id="6" name="">
            <a:extLst>
              <a:ext uri="{FF2B5EF4-FFF2-40B4-BE49-F238E27FC236}">
                <ns2:creationId id="{AEBD39B5-666D-4D0A-A6A7-C898FC70EE0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20883AE-71F1-4ACC-8C47-51E2AA04D9F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Node feature vectors plus global match-state features.</a:t>
            </a:r>
          </a:p>
        </p:txBody>
      </p:sp>
      <p:sp>
        <p:nvSpPr>
          <p:cNvPr id="8" name="">
            <a:extLst>
              <a:ext uri="{FF2B5EF4-FFF2-40B4-BE49-F238E27FC236}">
                <ns2:creationId id="{D9D4E17D-2B6D-4CDA-B311-6512E9B03CD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feature illustration</a:t>
            </a:r>
          </a:p>
        </p:txBody>
      </p:sp>
      <p:pic>
        <p:nvPicPr>
          <p:cNvPr id="9" name="">
            <a:extLst>
              <a:ext uri="{FF2B5EF4-FFF2-40B4-BE49-F238E27FC236}">
                <ns2:creationId id="{78D7478D-C40F-4606-8F5D-CBD2974D7244}"/>
              </a:ext>
            </a:extLst>
          </p:cNvPr>
          <p:cNvPicPr>
            <a:picLocks noChangeAspect="1"/>
          </p:cNvPicPr>
          <p:nvPr/>
        </p:nvPicPr>
        <p:blipFill>
          <a:blip r:embed="Re5974444a6764ae5"/>
          <a:stretch/>
        </p:blipFill>
        <p:spPr>
          <a:xfrm>
            <a:off x="5343523" y="1428750"/>
            <a:ext cx="4076703" cy="4333875"/>
          </a:xfrm>
          <a:prstGeom prst="rect">
            <a:avLst/>
          </a:prstGeom>
        </p:spPr>
      </p:pic>
      <p:sp>
        <p:nvSpPr>
          <p:cNvPr id="10" name="">
            <a:extLst>
              <a:ext uri="{FF2B5EF4-FFF2-40B4-BE49-F238E27FC236}">
                <ns2:creationId id="{76E7924E-1915-4340-B7BB-2D07FD2DBA4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feature matrix captures geometry and context for every node.</a:t>
            </a:r>
          </a:p>
        </p:txBody>
      </p:sp>
      <p:sp>
        <p:nvSpPr>
          <p:cNvPr id="11" name="">
            <a:extLst>
              <a:ext uri="{FF2B5EF4-FFF2-40B4-BE49-F238E27FC236}">
                <ns2:creationId id="{AE0D980C-4F1E-41FB-A040-68C28DAACB2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1E585664-9C65-41B6-B778-6D3DE049426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86A09DE1-B45D-4F1C-BA05-6224C1AC5A0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08CACE8D-E21E-42F5-82F0-851397958B3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38</a:t>
            </a:r>
          </a:p>
        </p:txBody>
      </p:sp>
    </p:spTree>
    <p:extLst>
      <p:ext uri="{BB962C8B-B14F-4D97-AF65-F5344CB8AC3E}">
        <p14:creationId val="951515801"/>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7DFAF2B-3274-40BC-9703-1E2A867B346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16FBD1B-6A3E-4315-BFD9-0646B30B467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BF32CC48-DE3B-4141-B245-D303C78FD6A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relationships can the model exchange information over?</a:t>
            </a:r>
          </a:p>
        </p:txBody>
      </p:sp>
      <p:sp>
        <p:nvSpPr>
          <p:cNvPr id="4" name="">
            <a:extLst>
              <a:ext uri="{FF2B5EF4-FFF2-40B4-BE49-F238E27FC236}">
                <ns2:creationId id="{8A523A8C-ED73-479C-8DA0-7D6A99767D1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A73A0DF-8604-461E-B369-8CC245671EA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Choose which interactions a graph can represent.</a:t>
            </a:r>
          </a:p>
        </p:txBody>
      </p:sp>
      <p:sp>
        <p:nvSpPr>
          <p:cNvPr id="6" name="">
            <a:extLst>
              <a:ext uri="{FF2B5EF4-FFF2-40B4-BE49-F238E27FC236}">
                <ns2:creationId id="{7B03C1FE-A5BB-430A-AFBD-6BBDD23BD5D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C4D6181-46F9-4942-BE09-0F014AEC7D1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Edge attributes and an explicit adjacency structure.</a:t>
            </a:r>
          </a:p>
        </p:txBody>
      </p:sp>
      <p:sp>
        <p:nvSpPr>
          <p:cNvPr id="8" name="">
            <a:extLst>
              <a:ext uri="{FF2B5EF4-FFF2-40B4-BE49-F238E27FC236}">
                <ns2:creationId id="{F89323B1-2529-468F-88B7-72C7A0DC914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adjacency example</a:t>
            </a:r>
          </a:p>
        </p:txBody>
      </p:sp>
      <p:pic>
        <p:nvPicPr>
          <p:cNvPr id="9" name="">
            <a:extLst>
              <a:ext uri="{FF2B5EF4-FFF2-40B4-BE49-F238E27FC236}">
                <ns2:creationId id="{468134C6-D34E-4904-B7BE-38C0417C01C4}"/>
              </a:ext>
            </a:extLst>
          </p:cNvPr>
          <p:cNvPicPr>
            <a:picLocks noChangeAspect="1"/>
          </p:cNvPicPr>
          <p:nvPr/>
        </p:nvPicPr>
        <p:blipFill>
          <a:blip r:embed="R8243613df72a4b36"/>
          <a:stretch/>
        </p:blipFill>
        <p:spPr>
          <a:xfrm>
            <a:off x="3638983" y="1428750"/>
            <a:ext cx="7485784" cy="4333875"/>
          </a:xfrm>
          <a:prstGeom prst="rect">
            <a:avLst/>
          </a:prstGeom>
        </p:spPr>
      </p:pic>
      <p:sp>
        <p:nvSpPr>
          <p:cNvPr id="10" name="">
            <a:extLst>
              <a:ext uri="{FF2B5EF4-FFF2-40B4-BE49-F238E27FC236}">
                <ns2:creationId id="{E895F05A-E726-44E9-92E6-01C152BD966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Connectivity defines the available routes for relational information.</a:t>
            </a:r>
          </a:p>
        </p:txBody>
      </p:sp>
      <p:sp>
        <p:nvSpPr>
          <p:cNvPr id="11" name="">
            <a:extLst>
              <a:ext uri="{FF2B5EF4-FFF2-40B4-BE49-F238E27FC236}">
                <ns2:creationId id="{18379A8F-92E4-4976-AAA9-A02F942386C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DAB1AFCE-ED3E-4702-A612-30CE5757362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0044B4E7-3B86-4845-8861-6FA1BCECAD5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8B7A8B15-E685-43D4-9E65-34A8F6A6211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39</a:t>
            </a:r>
          </a:p>
        </p:txBody>
      </p:sp>
    </p:spTree>
    <p:extLst>
      <p:ext uri="{BB962C8B-B14F-4D97-AF65-F5344CB8AC3E}">
        <p14:creationId val="416245211"/>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5A44C07-F10D-44B8-8FB2-2AFC4AF1F6E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B5BB8A0-6876-45EC-93FF-F291C632DCD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49CB5F1-B2DE-4049-8330-8744984B3D9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a graph neural network learn?</a:t>
            </a:r>
          </a:p>
        </p:txBody>
      </p:sp>
      <p:sp>
        <p:nvSpPr>
          <p:cNvPr id="4" name="">
            <a:extLst>
              <a:ext uri="{FF2B5EF4-FFF2-40B4-BE49-F238E27FC236}">
                <ns2:creationId id="{C654EDE2-2685-433F-970F-675B1F18892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E012A20-59A9-47DF-8863-E4F16125D20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Use player relationships to predict a task outcome.</a:t>
            </a:r>
          </a:p>
        </p:txBody>
      </p:sp>
      <p:sp>
        <p:nvSpPr>
          <p:cNvPr id="6" name="">
            <a:extLst>
              <a:ext uri="{FF2B5EF4-FFF2-40B4-BE49-F238E27FC236}">
                <ns2:creationId id="{7B640DBF-7278-4C81-B56F-29E1E297320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C43912D-9255-4930-85BE-2908563EDA9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Shared message passing, graph pooling and a task-specific readout.</a:t>
            </a:r>
          </a:p>
        </p:txBody>
      </p:sp>
      <p:sp>
        <p:nvSpPr>
          <p:cNvPr id="8" name="">
            <a:extLst>
              <a:ext uri="{FF2B5EF4-FFF2-40B4-BE49-F238E27FC236}">
                <ns2:creationId id="{F93AE254-0270-48EB-91FB-600972A9F23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architecture illustration</a:t>
            </a:r>
          </a:p>
        </p:txBody>
      </p:sp>
      <p:pic>
        <p:nvPicPr>
          <p:cNvPr id="9" name="">
            <a:extLst>
              <a:ext uri="{FF2B5EF4-FFF2-40B4-BE49-F238E27FC236}">
                <ns2:creationId id="{0975E26D-0244-4E67-A964-0609931B9956}"/>
              </a:ext>
            </a:extLst>
          </p:cNvPr>
          <p:cNvPicPr>
            <a:picLocks noChangeAspect="1"/>
          </p:cNvPicPr>
          <p:nvPr/>
        </p:nvPicPr>
        <p:blipFill>
          <a:blip r:embed="R4bb062f0e87b435c"/>
          <a:stretch/>
        </p:blipFill>
        <p:spPr>
          <a:xfrm>
            <a:off x="2952750" y="2013341"/>
            <a:ext cx="8858250" cy="3164693"/>
          </a:xfrm>
          <a:prstGeom prst="rect">
            <a:avLst/>
          </a:prstGeom>
        </p:spPr>
      </p:pic>
      <p:sp>
        <p:nvSpPr>
          <p:cNvPr id="10" name="">
            <a:extLst>
              <a:ext uri="{FF2B5EF4-FFF2-40B4-BE49-F238E27FC236}">
                <ns2:creationId id="{1460CC38-994C-42F0-8BA7-1F648D36CF7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Relational representations become a prediction for the chosen task.</a:t>
            </a:r>
          </a:p>
        </p:txBody>
      </p:sp>
      <p:sp>
        <p:nvSpPr>
          <p:cNvPr id="11" name="">
            <a:extLst>
              <a:ext uri="{FF2B5EF4-FFF2-40B4-BE49-F238E27FC236}">
                <ns2:creationId id="{95EA9307-D99A-47BB-9BD8-F6798B7A130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D3D364E1-3C0F-4943-9494-D9A85265B49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A5D2CA79-3A83-489A-B2E9-CB88EA4EA28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U.S. Soccer: counterattack GNNs with SkillCorner (2023)</a:t>
            </a:r>
          </a:p>
        </p:txBody>
      </p:sp>
      <p:sp>
        <p:nvSpPr>
          <p:cNvPr id="14" name="">
            <a:extLst>
              <a:ext uri="{FF2B5EF4-FFF2-40B4-BE49-F238E27FC236}">
                <ns2:creationId id="{86E6A11B-7E7B-4F6F-B3F7-A72C11342AF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40</a:t>
            </a:r>
          </a:p>
        </p:txBody>
      </p:sp>
    </p:spTree>
    <p:extLst>
      <p:ext uri="{BB962C8B-B14F-4D97-AF65-F5344CB8AC3E}">
        <p14:creationId val="299597923"/>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5C7CA084-C2EE-4D68-A71F-BE424E8F7C9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E262596-F1BC-4C4A-AF51-9EBD5A72735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EB69D6D-2EF1-4D3A-B509-715F9C309EE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the graph change as players move?</a:t>
            </a:r>
          </a:p>
        </p:txBody>
      </p:sp>
      <p:sp>
        <p:nvSpPr>
          <p:cNvPr id="4" name="">
            <a:extLst>
              <a:ext uri="{FF2B5EF4-FFF2-40B4-BE49-F238E27FC236}">
                <ns2:creationId id="{3D5ED797-2064-4210-A8BB-54EB16FC47E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D728621-5C5B-4DF8-A4A5-A909F053BEB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 useful relationship at one instant may disappear at the next.</a:t>
            </a:r>
          </a:p>
        </p:txBody>
      </p:sp>
      <p:sp>
        <p:nvSpPr>
          <p:cNvPr id="6" name="">
            <a:extLst>
              <a:ext uri="{FF2B5EF4-FFF2-40B4-BE49-F238E27FC236}">
                <ns2:creationId id="{559AC75A-C965-44CA-9BAC-9D179EF0FD8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779C5AF-A7DB-4E09-97BC-9F7AA8E8F72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20 m player-radius edges on real tracking frames.</a:t>
            </a:r>
          </a:p>
        </p:txBody>
      </p:sp>
      <p:sp>
        <p:nvSpPr>
          <p:cNvPr id="8" name="">
            <a:extLst>
              <a:ext uri="{FF2B5EF4-FFF2-40B4-BE49-F238E27FC236}">
                <ns2:creationId id="{C3549E3F-41A3-4A55-A45E-D76801095D5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Dynamic spatial graph · not a temporal GNN</a:t>
            </a:r>
          </a:p>
        </p:txBody>
      </p:sp>
      <p:pic>
        <p:nvPicPr>
          <p:cNvPr id="9" name="Video: How does the graph change as players move?" descr="Embedded MP4. Click to play. Player-only real radius graph at native 10 Hz. The trained workshop graph additionally includes a ball node and ball links. Recomputing spatial edges over time is not itself a trained temporal network or learned attention.">
            <a:hlinkClick action="ppaction://media"/>
            <a:extLst>
              <a:ext uri="{FF2B5EF4-FFF2-40B4-BE49-F238E27FC236}">
                <ns2:creationId id="{39A00DFB-190F-4E43-A781-BCDC5B5AA6DF}"/>
              </a:ext>
            </a:extLst>
          </p:cNvPr>
          <p:cNvPicPr>
            <a:picLocks noChangeAspect="1"/>
          </p:cNvPicPr>
          <p:nvPr>
            <a:videoFile r:link="rIdWorkshopVideo"/>
            <p:extLst>
              <p:ext uri="{DAA4B4D4-6D71-4841-9C94-3DE7FCFB9230}">
                <p14:media r:embed="rIdWorkshopMedia"/>
              </p:ext>
            </p:extLst>
          </p:nvPr>
        </p:nvPicPr>
        <p:blipFill>
          <a:blip r:embed="Rd69dc2723f3f4e3d"/>
          <a:stretch/>
        </p:blipFill>
        <p:spPr>
          <a:xfrm>
            <a:off x="3724275" y="1428750"/>
            <a:ext cx="7315200" cy="4114800"/>
          </a:xfrm>
          <a:prstGeom prst="rect">
            <a:avLst/>
          </a:prstGeom>
        </p:spPr>
      </p:pic>
      <p:sp>
        <p:nvSpPr>
          <p:cNvPr id="10" name="">
            <a:extLst>
              <a:ext uri="{FF2B5EF4-FFF2-40B4-BE49-F238E27FC236}">
                <ns2:creationId id="{06259BC1-63B7-4387-ACED-C909C24BF1AA}"/>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2AEF5736-2457-4901-8361-C258B9AF4A4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reveals changing spatial neighborhoods in actual play.</a:t>
            </a:r>
          </a:p>
        </p:txBody>
      </p:sp>
      <p:sp>
        <p:nvSpPr>
          <p:cNvPr id="12" name="">
            <a:extLst>
              <a:ext uri="{FF2B5EF4-FFF2-40B4-BE49-F238E27FC236}">
                <ns2:creationId id="{EFBFE09A-C77B-419A-9608-B75048D99C3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BF955DC8-BB35-4490-B96A-8EFDEDEA72C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4" name="">
            <a:extLst>
              <a:ext uri="{FF2B5EF4-FFF2-40B4-BE49-F238E27FC236}">
                <ns2:creationId id="{0A866525-B01E-4276-8543-74A8599A4E5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5" name="">
            <a:extLst>
              <a:ext uri="{FF2B5EF4-FFF2-40B4-BE49-F238E27FC236}">
                <ns2:creationId id="{0B58D51A-397D-40D4-BF95-E8954B92D59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41</a:t>
            </a:r>
          </a:p>
        </p:txBody>
      </p:sp>
    </p:spTree>
    <p:extLst>
      <p:ext uri="{BB962C8B-B14F-4D97-AF65-F5344CB8AC3E}">
        <p14:creationId val="693388096"/>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78A00CF7-6C72-4F21-93E3-3CB71945912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1BBA1AA-CC74-4508-BAC0-2BF453BBED8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95D5B8A-409D-4B7D-B6A1-C0A037D070B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Graph EPV: what exactly are we predicting?</a:t>
            </a:r>
          </a:p>
        </p:txBody>
      </p:sp>
      <p:sp>
        <p:nvSpPr>
          <p:cNvPr id="4" name="">
            <a:extLst>
              <a:ext uri="{FF2B5EF4-FFF2-40B4-BE49-F238E27FC236}">
                <ns2:creationId id="{CA7BAEB6-106D-4012-806B-BB075DAD69F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5DDF86D-EA5B-4367-A293-E7A54D60BBE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Turn a tracking state into a clearly defined future outcome.</a:t>
            </a:r>
          </a:p>
        </p:txBody>
      </p:sp>
      <p:sp>
        <p:nvSpPr>
          <p:cNvPr id="6" name="">
            <a:extLst>
              <a:ext uri="{FF2B5EF4-FFF2-40B4-BE49-F238E27FC236}">
                <ns2:creationId id="{50BE03EA-DFF7-4584-9BFD-285D309009F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27AB3BA-F520-4A92-B493-55BE4165420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Bekkers: one frame graph; goal by the possession team within 10 s.</a:t>
            </a:r>
          </a:p>
        </p:txBody>
      </p:sp>
      <p:sp>
        <p:nvSpPr>
          <p:cNvPr id="8" name="">
            <a:extLst>
              <a:ext uri="{FF2B5EF4-FFF2-40B4-BE49-F238E27FC236}">
                <ns2:creationId id="{EA69F06C-59EC-4CA1-8115-9A8CBEAD8F2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Bekkers target; independent workshop implementation</a:t>
            </a:r>
          </a:p>
        </p:txBody>
      </p:sp>
      <p:pic>
        <p:nvPicPr>
          <p:cNvPr id="9" name="">
            <a:extLst>
              <a:ext uri="{FF2B5EF4-FFF2-40B4-BE49-F238E27FC236}">
                <ns2:creationId id="{10892CDB-B29C-412C-A483-8C96181CF942}"/>
              </a:ext>
            </a:extLst>
          </p:cNvPr>
          <p:cNvPicPr>
            <a:picLocks noChangeAspect="1"/>
          </p:cNvPicPr>
          <p:nvPr/>
        </p:nvPicPr>
        <p:blipFill>
          <a:blip r:embed="R0af18c3e6507492d"/>
          <a:stretch/>
        </p:blipFill>
        <p:spPr>
          <a:xfrm>
            <a:off x="3455394" y="1428750"/>
            <a:ext cx="7852962" cy="4333875"/>
          </a:xfrm>
          <a:prstGeom prst="rect">
            <a:avLst/>
          </a:prstGeom>
        </p:spPr>
      </p:pic>
      <p:sp>
        <p:nvSpPr>
          <p:cNvPr id="10" name="">
            <a:extLst>
              <a:ext uri="{FF2B5EF4-FFF2-40B4-BE49-F238E27FC236}">
                <ns2:creationId id="{88869260-F4AF-4596-A481-0D7B2D53D98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scoring probability belongs to a stated team and time horizon.</a:t>
            </a:r>
          </a:p>
        </p:txBody>
      </p:sp>
      <p:sp>
        <p:nvSpPr>
          <p:cNvPr id="11" name="">
            <a:extLst>
              <a:ext uri="{FF2B5EF4-FFF2-40B4-BE49-F238E27FC236}">
                <ns2:creationId id="{206A2151-EC7D-4613-AA98-381314DB155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70B14E1E-76DE-441B-A68F-B13F4386FC6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ED0FE439-742C-4BD5-9503-760C50AB679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42</a:t>
            </a:r>
          </a:p>
        </p:txBody>
      </p:sp>
    </p:spTree>
    <p:extLst>
      <p:ext uri="{BB962C8B-B14F-4D97-AF65-F5344CB8AC3E}">
        <p14:creationId val="1129267702"/>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9E0B765D-99A2-4AD6-A930-675C1034970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9B632BF-0E3A-409B-96C7-3DCDBE64FBB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F3906D4-3EF2-4E19-AB8E-8BA9FE57EC8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our graph model generalize to unseen matches?</a:t>
            </a:r>
          </a:p>
        </p:txBody>
      </p:sp>
      <p:sp>
        <p:nvSpPr>
          <p:cNvPr id="4" name="">
            <a:extLst>
              <a:ext uri="{FF2B5EF4-FFF2-40B4-BE49-F238E27FC236}">
                <ns2:creationId id="{FCCE146D-7092-4558-B1F6-1A463991D61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DA3D685-CFFC-4525-BFFD-4DF3B067E94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Evaluate predictions beyond the training matches.</a:t>
            </a:r>
          </a:p>
        </p:txBody>
      </p:sp>
      <p:sp>
        <p:nvSpPr>
          <p:cNvPr id="6" name="">
            <a:extLst>
              <a:ext uri="{FF2B5EF4-FFF2-40B4-BE49-F238E27FC236}">
                <ns2:creationId id="{455924FF-85FE-496A-A8BA-AD67A91DEA1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1396AE9-4616-40C7-8541-9C54C981FDF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Match-level holdout; validation-only model selection and calibration.</a:t>
            </a:r>
          </a:p>
        </p:txBody>
      </p:sp>
      <p:sp>
        <p:nvSpPr>
          <p:cNvPr id="8" name="">
            <a:extLst>
              <a:ext uri="{FF2B5EF4-FFF2-40B4-BE49-F238E27FC236}">
                <ns2:creationId id="{178E74E5-EA9E-4FEC-A78C-C4D77664B34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Test: 3 matches, 16 positive states</a:t>
            </a:r>
          </a:p>
          <a:p>
            <a:pPr>
              <a:defRPr sz="975" b="0">
                <a:solidFill>
                  <a:srgbClr val="65756D"/>
                </a:solidFill>
                <a:latin typeface="Arial"/>
                <a:ea typeface="Arial"/>
                <a:cs typeface="Arial"/>
              </a:defRPr>
            </a:pPr>
            <a:r>
              <a:rPr sz="975" b="0">
                <a:solidFill>
                  <a:srgbClr val="65756D"/>
                </a:solidFill>
                <a:latin typeface="Arial"/>
                <a:ea typeface="Arial"/>
                <a:cs typeface="Arial"/>
              </a:rPr>
              <a:t>Brier .003335 vs .003308 baseline</a:t>
            </a:r>
          </a:p>
        </p:txBody>
      </p:sp>
      <p:pic>
        <p:nvPicPr>
          <p:cNvPr id="9" name="">
            <a:extLst>
              <a:ext uri="{FF2B5EF4-FFF2-40B4-BE49-F238E27FC236}">
                <ns2:creationId id="{E42BBE70-B8E5-4199-94DE-C30CEE00E0D2}"/>
              </a:ext>
            </a:extLst>
          </p:cNvPr>
          <p:cNvPicPr>
            <a:picLocks noChangeAspect="1"/>
          </p:cNvPicPr>
          <p:nvPr/>
        </p:nvPicPr>
        <p:blipFill>
          <a:blip r:embed="R4d057a32cc6849fd"/>
          <a:stretch/>
        </p:blipFill>
        <p:spPr>
          <a:xfrm>
            <a:off x="2952750" y="2142905"/>
            <a:ext cx="8858250" cy="2905566"/>
          </a:xfrm>
          <a:prstGeom prst="rect">
            <a:avLst/>
          </a:prstGeom>
        </p:spPr>
      </p:pic>
      <p:sp>
        <p:nvSpPr>
          <p:cNvPr id="10" name="">
            <a:extLst>
              <a:ext uri="{FF2B5EF4-FFF2-40B4-BE49-F238E27FC236}">
                <ns2:creationId id="{F4C9636B-8599-4AF9-901C-6DE3A27F8D9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AUC 0.843; AP 0.020—ranking improves, probability reliability is limited.</a:t>
            </a:r>
          </a:p>
        </p:txBody>
      </p:sp>
      <p:sp>
        <p:nvSpPr>
          <p:cNvPr id="11" name="">
            <a:extLst>
              <a:ext uri="{FF2B5EF4-FFF2-40B4-BE49-F238E27FC236}">
                <ns2:creationId id="{E222EA4B-7E3F-42DB-BC29-976C08F11F5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CEC95D6F-A5A9-40CA-B858-A3AA8285A57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0D97AF37-6917-4512-8741-741B5E868B9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4" name="">
            <a:extLst>
              <a:ext uri="{FF2B5EF4-FFF2-40B4-BE49-F238E27FC236}">
                <ns2:creationId id="{045DF3ED-BC59-48DD-9EE0-B09C148BFC5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43</a:t>
            </a:r>
          </a:p>
        </p:txBody>
      </p:sp>
    </p:spTree>
    <p:extLst>
      <p:ext uri="{BB962C8B-B14F-4D97-AF65-F5344CB8AC3E}">
        <p14:creationId val="514460137"/>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7C92496A-CAA0-47ED-A1CC-D9F4CAA8546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E8A5C9C-9B82-4A4E-B6D0-4B3E3AEE87B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B848D7C-2002-48F8-BBD5-99565104C96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EPV look like during a possession?</a:t>
            </a:r>
          </a:p>
        </p:txBody>
      </p:sp>
      <p:sp>
        <p:nvSpPr>
          <p:cNvPr id="4" name="">
            <a:extLst>
              <a:ext uri="{FF2B5EF4-FFF2-40B4-BE49-F238E27FC236}">
                <ns2:creationId id="{BFCD80CB-6119-409E-B8F8-EEA038F3E0D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3C8DBE7-8899-4973-AA92-3567AD02DD6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Read a predicted scoring probability alongside the actual play.</a:t>
            </a:r>
          </a:p>
        </p:txBody>
      </p:sp>
      <p:sp>
        <p:nvSpPr>
          <p:cNvPr id="6" name="">
            <a:extLst>
              <a:ext uri="{FF2B5EF4-FFF2-40B4-BE49-F238E27FC236}">
                <ns2:creationId id="{D4986C2F-9F57-400A-8DAD-D2DE0583303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6643D44-CC01-4B4D-B1D6-DCDA9E550FC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Frozen workshop GNN evaluated frame by frame on an unseen match.</a:t>
            </a:r>
          </a:p>
        </p:txBody>
      </p:sp>
      <p:sp>
        <p:nvSpPr>
          <p:cNvPr id="8" name="">
            <a:extLst>
              <a:ext uri="{FF2B5EF4-FFF2-40B4-BE49-F238E27FC236}">
                <ns2:creationId id="{50457313-CECF-481C-8077-2F66DB273A8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held-out predictions</a:t>
            </a:r>
          </a:p>
        </p:txBody>
      </p:sp>
      <p:pic>
        <p:nvPicPr>
          <p:cNvPr id="9" name="Video: What does EPV look like during a possession?" descr="Embedded MP4. Click to play. 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
            <a:hlinkClick action="ppaction://media"/>
            <a:extLst>
              <a:ext uri="{FF2B5EF4-FFF2-40B4-BE49-F238E27FC236}">
                <ns2:creationId id="{328E1CF0-4571-4DE7-993F-0E38C6248188}"/>
              </a:ext>
            </a:extLst>
          </p:cNvPr>
          <p:cNvPicPr>
            <a:picLocks noChangeAspect="1"/>
          </p:cNvPicPr>
          <p:nvPr>
            <a:videoFile r:link="rIdWorkshopVideo"/>
            <p:extLst>
              <p:ext uri="{DAA4B4D4-6D71-4841-9C94-3DE7FCFB9230}">
                <p14:media r:embed="rIdWorkshopMedia"/>
              </p:ext>
            </p:extLst>
          </p:nvPr>
        </p:nvPicPr>
        <p:blipFill>
          <a:blip r:embed="Rceedceab4a354899"/>
          <a:stretch/>
        </p:blipFill>
        <p:spPr>
          <a:xfrm>
            <a:off x="3724275" y="1428750"/>
            <a:ext cx="7315200" cy="4114800"/>
          </a:xfrm>
          <a:prstGeom prst="rect">
            <a:avLst/>
          </a:prstGeom>
        </p:spPr>
      </p:pic>
      <p:sp>
        <p:nvSpPr>
          <p:cNvPr id="10" name="">
            <a:extLst>
              <a:ext uri="{FF2B5EF4-FFF2-40B4-BE49-F238E27FC236}">
                <ns2:creationId id="{16723D2F-2B15-4F70-8B13-37B87C967862}"/>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7811A6AD-B5D7-412D-AF8F-E3A8B71C579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goal buildup’s predicted value evolves with player and ball positions.</a:t>
            </a:r>
          </a:p>
        </p:txBody>
      </p:sp>
      <p:sp>
        <p:nvSpPr>
          <p:cNvPr id="12" name="">
            <a:extLst>
              <a:ext uri="{FF2B5EF4-FFF2-40B4-BE49-F238E27FC236}">
                <ns2:creationId id="{BFA72BC1-2266-4337-B765-00E6173B32D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A98BFFBC-28EF-483B-A30D-FFC353FB633E}"/>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4AFCA745-E7B1-4BFF-B3EA-A8E4273BFEE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719E115A-A693-414A-AF0B-0158EE56402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44</a:t>
            </a:r>
          </a:p>
        </p:txBody>
      </p:sp>
    </p:spTree>
    <p:extLst>
      <p:ext uri="{BB962C8B-B14F-4D97-AF65-F5344CB8AC3E}">
        <p14:creationId val="61569381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2162C552-AF46-4058-B797-17BC688FD88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1FC4CED-AF06-459B-B808-96DA0BD925C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4A68878-0F2E-415C-86AC-DFD4CBB3A2E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supplied pass values differ across events?</a:t>
            </a:r>
          </a:p>
        </p:txBody>
      </p:sp>
      <p:sp>
        <p:nvSpPr>
          <p:cNvPr id="4" name="">
            <a:extLst>
              <a:ext uri="{FF2B5EF4-FFF2-40B4-BE49-F238E27FC236}">
                <ns2:creationId id="{A28718D7-A9D8-4E04-B1BE-774E139BF59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699A2A6-909E-4C78-BCF9-7A8FDEDB0EB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Inspect provider estimates without mixing model definitions.</a:t>
            </a:r>
          </a:p>
        </p:txBody>
      </p:sp>
      <p:sp>
        <p:nvSpPr>
          <p:cNvPr id="6" name="">
            <a:extLst>
              <a:ext uri="{FF2B5EF4-FFF2-40B4-BE49-F238E27FC236}">
                <ns2:creationId id="{26A2FD4B-8AF8-4C87-8E11-CC678C549B8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2640904-40F1-403E-BBC2-3E82C7DBFF6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Join supplied event-value fields to their tracking context.</a:t>
            </a:r>
          </a:p>
        </p:txBody>
      </p:sp>
      <p:sp>
        <p:nvSpPr>
          <p:cNvPr id="8" name="">
            <a:extLst>
              <a:ext uri="{FF2B5EF4-FFF2-40B4-BE49-F238E27FC236}">
                <ns2:creationId id="{AC750446-77D0-49A0-A561-0462193DAC8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Supplied SkillCorner EPV fields</a:t>
            </a:r>
          </a:p>
        </p:txBody>
      </p:sp>
      <p:pic>
        <p:nvPicPr>
          <p:cNvPr id="9" name="">
            <a:extLst>
              <a:ext uri="{FF2B5EF4-FFF2-40B4-BE49-F238E27FC236}">
                <ns2:creationId id="{CA071684-58E6-4D66-84E2-0113C5969CBA}"/>
              </a:ext>
            </a:extLst>
          </p:cNvPr>
          <p:cNvPicPr>
            <a:picLocks noChangeAspect="1"/>
          </p:cNvPicPr>
          <p:nvPr/>
        </p:nvPicPr>
        <p:blipFill>
          <a:blip r:embed="R7d704f6043c84e43"/>
          <a:stretch/>
        </p:blipFill>
        <p:spPr>
          <a:xfrm>
            <a:off x="3737255" y="1428750"/>
            <a:ext cx="7289241" cy="4333875"/>
          </a:xfrm>
          <a:prstGeom prst="rect">
            <a:avLst/>
          </a:prstGeom>
        </p:spPr>
      </p:pic>
      <p:sp>
        <p:nvSpPr>
          <p:cNvPr id="10" name="">
            <a:extLst>
              <a:ext uri="{FF2B5EF4-FFF2-40B4-BE49-F238E27FC236}">
                <ns2:creationId id="{A5A957C6-D983-4455-9F70-D4FE5B74B93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Pass EPV changes identify events worth examining in context.</a:t>
            </a:r>
          </a:p>
        </p:txBody>
      </p:sp>
      <p:sp>
        <p:nvSpPr>
          <p:cNvPr id="11" name="">
            <a:extLst>
              <a:ext uri="{FF2B5EF4-FFF2-40B4-BE49-F238E27FC236}">
                <ns2:creationId id="{59AE93DC-F554-4F9B-AB3F-F03AA45ED82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3B338F6E-5D9C-4810-A76D-FBF7B1244AD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1C3E4C84-4DBA-4D42-BEA8-66A0F9C18BF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45</a:t>
            </a:r>
          </a:p>
        </p:txBody>
      </p:sp>
    </p:spTree>
    <p:extLst>
      <p:ext uri="{BB962C8B-B14F-4D97-AF65-F5344CB8AC3E}">
        <p14:creationId val="300579927"/>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D2D406A9-FDE2-4659-AA80-066E92E7154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2F9C8CC-BA29-42D1-B027-14D9B6DBE62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D26CD94-A27B-4453-909D-D97C69EE5C9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SoccerMap: score every possible passing location</a:t>
            </a:r>
          </a:p>
        </p:txBody>
      </p:sp>
      <p:sp>
        <p:nvSpPr>
          <p:cNvPr id="4" name="">
            <a:extLst>
              <a:ext uri="{FF2B5EF4-FFF2-40B4-BE49-F238E27FC236}">
                <ns2:creationId id="{2E5D247B-659F-44D8-8773-3C5F4D5C8A5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F7DB8E2-A8DD-42EE-9DBD-DC3B6E523A7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a surface rather than one chosen pass endpoint.</a:t>
            </a:r>
          </a:p>
        </p:txBody>
      </p:sp>
      <p:sp>
        <p:nvSpPr>
          <p:cNvPr id="6" name="">
            <a:extLst>
              <a:ext uri="{FF2B5EF4-FFF2-40B4-BE49-F238E27FC236}">
                <ns2:creationId id="{6DF59E39-12DF-4F3C-833E-7300E5E6422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E03BFEB-1391-4788-A80C-95BF8AC6B7D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Fully convolutional network over spatial tracking feature channels.</a:t>
            </a:r>
          </a:p>
        </p:txBody>
      </p:sp>
      <p:sp>
        <p:nvSpPr>
          <p:cNvPr id="8" name="">
            <a:extLst>
              <a:ext uri="{FF2B5EF4-FFF2-40B4-BE49-F238E27FC236}">
                <ns2:creationId id="{B579C3D7-DC67-4F51-AE2D-D3E937BA35C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Fernández &amp; Bornn</a:t>
            </a:r>
          </a:p>
        </p:txBody>
      </p:sp>
      <p:pic>
        <p:nvPicPr>
          <p:cNvPr id="9" name="">
            <a:extLst>
              <a:ext uri="{FF2B5EF4-FFF2-40B4-BE49-F238E27FC236}">
                <ns2:creationId id="{C1C5C21C-9100-4458-9E06-3BDEB06AEDF3}"/>
              </a:ext>
            </a:extLst>
          </p:cNvPr>
          <p:cNvPicPr>
            <a:picLocks noChangeAspect="1"/>
          </p:cNvPicPr>
          <p:nvPr/>
        </p:nvPicPr>
        <p:blipFill>
          <a:blip r:embed="Rb29c21abbe5a4486"/>
          <a:stretch/>
        </p:blipFill>
        <p:spPr>
          <a:xfrm>
            <a:off x="3823552" y="1428750"/>
            <a:ext cx="7116647" cy="4333875"/>
          </a:xfrm>
          <a:prstGeom prst="rect">
            <a:avLst/>
          </a:prstGeom>
        </p:spPr>
      </p:pic>
      <p:sp>
        <p:nvSpPr>
          <p:cNvPr id="10" name="">
            <a:extLst>
              <a:ext uri="{FF2B5EF4-FFF2-40B4-BE49-F238E27FC236}">
                <ns2:creationId id="{061F5565-1FDA-4815-9124-DBE18340490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model produces a field-wide pass-success surface.</a:t>
            </a:r>
          </a:p>
        </p:txBody>
      </p:sp>
      <p:sp>
        <p:nvSpPr>
          <p:cNvPr id="11" name="">
            <a:extLst>
              <a:ext uri="{FF2B5EF4-FFF2-40B4-BE49-F238E27FC236}">
                <ns2:creationId id="{9994C0E6-254D-43D2-AD52-FAC552E10A38}"/>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SoccerMap (2020)</a:t>
            </a:r>
          </a:p>
        </p:txBody>
      </p:sp>
      <p:sp>
        <p:nvSpPr>
          <p:cNvPr id="12" name="">
            <a:extLst>
              <a:ext uri="{FF2B5EF4-FFF2-40B4-BE49-F238E27FC236}">
                <ns2:creationId id="{0770AE25-728D-4D45-B0A2-0AB29332917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46</a:t>
            </a:r>
          </a:p>
        </p:txBody>
      </p:sp>
    </p:spTree>
    <p:extLst>
      <p:ext uri="{BB962C8B-B14F-4D97-AF65-F5344CB8AC3E}">
        <p14:creationId val="1965693311"/>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C992C9E-283C-4661-B0BA-E92347CCA52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D837634-6974-4797-8BB1-CCB952E17B6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CC43CF5-8A1C-46AF-9B26-248AC3BB87E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DEFCON: credit defensive positioning</a:t>
            </a:r>
          </a:p>
        </p:txBody>
      </p:sp>
      <p:sp>
        <p:nvSpPr>
          <p:cNvPr id="4" name="">
            <a:extLst>
              <a:ext uri="{FF2B5EF4-FFF2-40B4-BE49-F238E27FC236}">
                <ns2:creationId id="{5261CC5B-0D92-4EF9-A4AC-328BE1CDB09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8A8E934-D6CD-4B38-99A0-CA158A97B62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prevention beyond tackles and interceptions.</a:t>
            </a:r>
          </a:p>
        </p:txBody>
      </p:sp>
      <p:sp>
        <p:nvSpPr>
          <p:cNvPr id="6" name="">
            <a:extLst>
              <a:ext uri="{FF2B5EF4-FFF2-40B4-BE49-F238E27FC236}">
                <ns2:creationId id="{D6F16499-2BC7-4B3A-8F7E-192CA5B306B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8746DD0-EB75-4917-90E8-92177AEACBE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Graph-based action values and defender responsibility estimates.</a:t>
            </a:r>
          </a:p>
        </p:txBody>
      </p:sp>
      <p:sp>
        <p:nvSpPr>
          <p:cNvPr id="8" name="">
            <a:extLst>
              <a:ext uri="{FF2B5EF4-FFF2-40B4-BE49-F238E27FC236}">
                <ns2:creationId id="{4A8DF19D-A101-4EB8-885D-2F24F032D56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Kim et al.</a:t>
            </a:r>
          </a:p>
        </p:txBody>
      </p:sp>
      <p:pic>
        <p:nvPicPr>
          <p:cNvPr id="9" name="">
            <a:extLst>
              <a:ext uri="{FF2B5EF4-FFF2-40B4-BE49-F238E27FC236}">
                <ns2:creationId id="{648AEB3F-0D42-4A0A-A5DA-2AEC09B9B55B}"/>
              </a:ext>
            </a:extLst>
          </p:cNvPr>
          <p:cNvPicPr>
            <a:picLocks noChangeAspect="1"/>
          </p:cNvPicPr>
          <p:nvPr/>
        </p:nvPicPr>
        <p:blipFill>
          <a:blip r:embed="Re1a49d906d6a486d"/>
          <a:stretch/>
        </p:blipFill>
        <p:spPr>
          <a:xfrm>
            <a:off x="2952750" y="2120530"/>
            <a:ext cx="8858250" cy="2950316"/>
          </a:xfrm>
          <a:prstGeom prst="rect">
            <a:avLst/>
          </a:prstGeom>
        </p:spPr>
      </p:pic>
      <p:sp>
        <p:nvSpPr>
          <p:cNvPr id="10" name="">
            <a:extLst>
              <a:ext uri="{FF2B5EF4-FFF2-40B4-BE49-F238E27FC236}">
                <ns2:creationId id="{94965262-32C4-46FF-B5FA-85BA586E9FA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defensive credits distribute value among involved defenders.</a:t>
            </a:r>
          </a:p>
        </p:txBody>
      </p:sp>
      <p:sp>
        <p:nvSpPr>
          <p:cNvPr id="11" name="">
            <a:extLst>
              <a:ext uri="{FF2B5EF4-FFF2-40B4-BE49-F238E27FC236}">
                <ns2:creationId id="{C88505F2-392A-47AC-91C2-87711B1ABBE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DEFCON: GNN-based defensive EPV (2026)</a:t>
            </a:r>
          </a:p>
        </p:txBody>
      </p:sp>
      <p:sp>
        <p:nvSpPr>
          <p:cNvPr id="12" name="">
            <a:extLst>
              <a:ext uri="{FF2B5EF4-FFF2-40B4-BE49-F238E27FC236}">
                <ns2:creationId id="{FA43B7DD-6F8C-4628-BBFC-CA7FF4CDE70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47</a:t>
            </a:r>
          </a:p>
        </p:txBody>
      </p:sp>
    </p:spTree>
    <p:extLst>
      <p:ext uri="{BB962C8B-B14F-4D97-AF65-F5344CB8AC3E}">
        <p14:creationId val="128272838"/>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899A468-3C50-4E42-9A60-0563DD3F855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57943A3-1F34-4F0E-92D1-8FE5CD95057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D78BD57-AA61-46FF-BDEE-9D9C39C0CFE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Counterattacks: will this attack reach the box?</a:t>
            </a:r>
          </a:p>
        </p:txBody>
      </p:sp>
      <p:sp>
        <p:nvSpPr>
          <p:cNvPr id="4" name="">
            <a:extLst>
              <a:ext uri="{FF2B5EF4-FFF2-40B4-BE49-F238E27FC236}">
                <ns2:creationId id="{4A6B4687-FA37-4353-A0B2-EDA999C2B61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0893914-7C7B-47A5-8520-35C83BF65CF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counterattack success from team interactions.</a:t>
            </a:r>
          </a:p>
        </p:txBody>
      </p:sp>
      <p:sp>
        <p:nvSpPr>
          <p:cNvPr id="6" name="">
            <a:extLst>
              <a:ext uri="{FF2B5EF4-FFF2-40B4-BE49-F238E27FC236}">
                <ns2:creationId id="{A099C386-8386-4FE3-BDBD-05A962F9B68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0871FF8-55FF-4625-9361-E6A82D65A04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 classifiers trained on synchronized tracking and events.</a:t>
            </a:r>
          </a:p>
        </p:txBody>
      </p:sp>
      <p:sp>
        <p:nvSpPr>
          <p:cNvPr id="8" name="">
            <a:extLst>
              <a:ext uri="{FF2B5EF4-FFF2-40B4-BE49-F238E27FC236}">
                <ns2:creationId id="{A637E6DA-47BF-45C0-9703-008E5AA514C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example · Sahasrabudhe &amp; Bekkers</a:t>
            </a:r>
          </a:p>
        </p:txBody>
      </p:sp>
      <p:pic>
        <p:nvPicPr>
          <p:cNvPr id="9" name="">
            <a:extLst>
              <a:ext uri="{FF2B5EF4-FFF2-40B4-BE49-F238E27FC236}">
                <ns2:creationId id="{A6C0B4A3-40D0-4B2F-94B1-6A039AA482B2}"/>
              </a:ext>
            </a:extLst>
          </p:cNvPr>
          <p:cNvPicPr>
            <a:picLocks noChangeAspect="1"/>
          </p:cNvPicPr>
          <p:nvPr/>
        </p:nvPicPr>
        <p:blipFill>
          <a:blip r:embed="R0d3df553f8a34952"/>
          <a:stretch/>
        </p:blipFill>
        <p:spPr>
          <a:xfrm>
            <a:off x="4476574" y="1428750"/>
            <a:ext cx="5810603" cy="4333875"/>
          </a:xfrm>
          <a:prstGeom prst="rect">
            <a:avLst/>
          </a:prstGeom>
        </p:spPr>
      </p:pic>
      <p:sp>
        <p:nvSpPr>
          <p:cNvPr id="10" name="">
            <a:extLst>
              <a:ext uri="{FF2B5EF4-FFF2-40B4-BE49-F238E27FC236}">
                <ns2:creationId id="{B51678B8-1ABB-4534-A932-345DC357CBB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shows a 49.5% model estimate for box entry.</a:t>
            </a:r>
          </a:p>
        </p:txBody>
      </p:sp>
      <p:sp>
        <p:nvSpPr>
          <p:cNvPr id="11" name="">
            <a:extLst>
              <a:ext uri="{FF2B5EF4-FFF2-40B4-BE49-F238E27FC236}">
                <ns2:creationId id="{9B2A1CD2-AF42-4555-A558-643CCD8087B4}"/>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40E2458E-65B5-461D-B070-0C662F9988E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48</a:t>
            </a:r>
          </a:p>
        </p:txBody>
      </p:sp>
    </p:spTree>
    <p:extLst>
      <p:ext uri="{BB962C8B-B14F-4D97-AF65-F5344CB8AC3E}">
        <p14:creationId val="270433477"/>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C2EAC65A-C4F0-4684-9A17-4543B35F7C7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68E609E-BB2D-4AC7-8A12-05EA1ACD6DB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E40B4A1-A09B-40FA-89A0-8C29D3F792C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TacticAI: improve a corner-kick setup</a:t>
            </a:r>
          </a:p>
        </p:txBody>
      </p:sp>
      <p:sp>
        <p:nvSpPr>
          <p:cNvPr id="4" name="">
            <a:extLst>
              <a:ext uri="{FF2B5EF4-FFF2-40B4-BE49-F238E27FC236}">
                <ns2:creationId id="{C3719D18-667B-4A7A-BF05-BA5E84FEE6B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0A6BC0D-A987-4E4D-87AE-3CCB1CC2A14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Support decisions about receivers and player positioning.</a:t>
            </a:r>
          </a:p>
        </p:txBody>
      </p:sp>
      <p:sp>
        <p:nvSpPr>
          <p:cNvPr id="6" name="">
            <a:extLst>
              <a:ext uri="{FF2B5EF4-FFF2-40B4-BE49-F238E27FC236}">
                <ns2:creationId id="{C5FEE25D-B7DD-406F-A46C-E4C86CD9E70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1944718-9FA4-4B6A-B4B4-BAD000B062F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Geometric graph learning with predictive and generative components.</a:t>
            </a:r>
          </a:p>
        </p:txBody>
      </p:sp>
      <p:sp>
        <p:nvSpPr>
          <p:cNvPr id="8" name="">
            <a:extLst>
              <a:ext uri="{FF2B5EF4-FFF2-40B4-BE49-F238E27FC236}">
                <ns2:creationId id="{E86A1AD6-14C7-4F2A-9DCC-BA4EA8D6277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Wang et al.</a:t>
            </a:r>
          </a:p>
        </p:txBody>
      </p:sp>
      <p:pic>
        <p:nvPicPr>
          <p:cNvPr id="9" name="">
            <a:extLst>
              <a:ext uri="{FF2B5EF4-FFF2-40B4-BE49-F238E27FC236}">
                <ns2:creationId id="{B8984D14-240B-4140-9CBA-2B22EB26F52B}"/>
              </a:ext>
            </a:extLst>
          </p:cNvPr>
          <p:cNvPicPr>
            <a:picLocks noChangeAspect="1"/>
          </p:cNvPicPr>
          <p:nvPr/>
        </p:nvPicPr>
        <p:blipFill>
          <a:blip r:embed="R759b69aa9afc4f29"/>
          <a:stretch/>
        </p:blipFill>
        <p:spPr>
          <a:xfrm>
            <a:off x="3765916" y="1428750"/>
            <a:ext cx="7231918" cy="4333875"/>
          </a:xfrm>
          <a:prstGeom prst="rect">
            <a:avLst/>
          </a:prstGeom>
        </p:spPr>
      </p:pic>
      <p:sp>
        <p:nvSpPr>
          <p:cNvPr id="10" name="">
            <a:extLst>
              <a:ext uri="{FF2B5EF4-FFF2-40B4-BE49-F238E27FC236}">
                <ns2:creationId id="{A07ACE44-9305-4EB7-A1CC-F5EE27713BF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compares receiver probabilities before and after adjustment.</a:t>
            </a:r>
          </a:p>
        </p:txBody>
      </p:sp>
      <p:sp>
        <p:nvSpPr>
          <p:cNvPr id="11" name="">
            <a:extLst>
              <a:ext uri="{FF2B5EF4-FFF2-40B4-BE49-F238E27FC236}">
                <ns2:creationId id="{D2C0D9D5-16A3-416E-B75C-052B89EEC3E2}"/>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TacticAI (2024)</a:t>
            </a:r>
          </a:p>
        </p:txBody>
      </p:sp>
      <p:sp>
        <p:nvSpPr>
          <p:cNvPr id="12" name="">
            <a:extLst>
              <a:ext uri="{FF2B5EF4-FFF2-40B4-BE49-F238E27FC236}">
                <ns2:creationId id="{FDE25473-EFBE-4A21-90A8-FE157D43786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49</a:t>
            </a:r>
          </a:p>
        </p:txBody>
      </p:sp>
    </p:spTree>
    <p:extLst>
      <p:ext uri="{BB962C8B-B14F-4D97-AF65-F5344CB8AC3E}">
        <p14:creationId val="741362806"/>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E6324996-C0F2-4FCF-8E4E-267A90211DA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05B0E74-AB97-44A2-A447-A4600010AFA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B2A606ED-BEEB-41C6-BDAB-A3C15291B65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GenTac: forecast multiple plausible continuations</a:t>
            </a:r>
          </a:p>
        </p:txBody>
      </p:sp>
      <p:sp>
        <p:nvSpPr>
          <p:cNvPr id="4" name="">
            <a:extLst>
              <a:ext uri="{FF2B5EF4-FFF2-40B4-BE49-F238E27FC236}">
                <ns2:creationId id="{770BD8EA-A1D8-41BF-AFBE-9F5B781F393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FE991C6-98A7-4020-B889-90B97B4AE66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Represent uncertainty about how play may develop.</a:t>
            </a:r>
          </a:p>
        </p:txBody>
      </p:sp>
      <p:sp>
        <p:nvSpPr>
          <p:cNvPr id="6" name="">
            <a:extLst>
              <a:ext uri="{FF2B5EF4-FFF2-40B4-BE49-F238E27FC236}">
                <ns2:creationId id="{B3436DD9-6233-45D7-9989-6DD69BBD4A4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DD482DC-E07F-4CA6-ADA8-8B34E185E2C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Diffusion-based multi-player trajectory generation and event prediction.</a:t>
            </a:r>
          </a:p>
        </p:txBody>
      </p:sp>
      <p:sp>
        <p:nvSpPr>
          <p:cNvPr id="8" name="">
            <a:extLst>
              <a:ext uri="{FF2B5EF4-FFF2-40B4-BE49-F238E27FC236}">
                <ns2:creationId id="{0BF4663A-A03F-48D3-9EA7-FDDF2B285F9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preprint result · Rao et al.</a:t>
            </a:r>
          </a:p>
        </p:txBody>
      </p:sp>
      <p:pic>
        <p:nvPicPr>
          <p:cNvPr id="9" name="">
            <a:extLst>
              <a:ext uri="{FF2B5EF4-FFF2-40B4-BE49-F238E27FC236}">
                <ns2:creationId id="{6DAA3724-D2BA-4939-B5E9-28421F4F5785}"/>
              </a:ext>
            </a:extLst>
          </p:cNvPr>
          <p:cNvPicPr>
            <a:picLocks noChangeAspect="1"/>
          </p:cNvPicPr>
          <p:nvPr/>
        </p:nvPicPr>
        <p:blipFill>
          <a:blip r:embed="R6b79ba0b428a453e"/>
          <a:stretch/>
        </p:blipFill>
        <p:spPr>
          <a:xfrm>
            <a:off x="3696669" y="1428750"/>
            <a:ext cx="7370411" cy="4333875"/>
          </a:xfrm>
          <a:prstGeom prst="rect">
            <a:avLst/>
          </a:prstGeom>
        </p:spPr>
      </p:pic>
      <p:sp>
        <p:nvSpPr>
          <p:cNvPr id="10" name="">
            <a:extLst>
              <a:ext uri="{FF2B5EF4-FFF2-40B4-BE49-F238E27FC236}">
                <ns2:creationId id="{23C6ECC4-09E6-4A5B-811C-18C072CD129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forecast samples imply a distribution of possible tactical outcomes.</a:t>
            </a:r>
          </a:p>
        </p:txBody>
      </p:sp>
      <p:sp>
        <p:nvSpPr>
          <p:cNvPr id="11" name="">
            <a:extLst>
              <a:ext uri="{FF2B5EF4-FFF2-40B4-BE49-F238E27FC236}">
                <ns2:creationId id="{29824926-AE30-4BD9-9A16-0FBDD95D6AF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GenTac: trajectory forecasting (2026 preprint)</a:t>
            </a:r>
          </a:p>
        </p:txBody>
      </p:sp>
      <p:sp>
        <p:nvSpPr>
          <p:cNvPr id="12" name="">
            <a:extLst>
              <a:ext uri="{FF2B5EF4-FFF2-40B4-BE49-F238E27FC236}">
                <ns2:creationId id="{76C4E403-3324-4E0B-B580-D369BFB21C8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50</a:t>
            </a:r>
          </a:p>
        </p:txBody>
      </p:sp>
    </p:spTree>
    <p:extLst>
      <p:ext uri="{BB962C8B-B14F-4D97-AF65-F5344CB8AC3E}">
        <p14:creationId val="1570958274"/>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331828E4-4C75-4653-A519-12D7B4AF195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004B706-2DE5-4526-8D21-CE4C3E7FC4F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Validation</a:t>
            </a:r>
          </a:p>
        </p:txBody>
      </p:sp>
      <p:sp>
        <p:nvSpPr>
          <p:cNvPr id="3" name="">
            <a:extLst>
              <a:ext uri="{FF2B5EF4-FFF2-40B4-BE49-F238E27FC236}">
                <ns2:creationId id="{7623AEC2-052F-4FD7-A9D7-B04CB67902F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would make these results trustworthy?</a:t>
            </a:r>
          </a:p>
        </p:txBody>
      </p:sp>
      <p:sp>
        <p:nvSpPr>
          <p:cNvPr id="4" name="">
            <a:extLst>
              <a:ext uri="{FF2B5EF4-FFF2-40B4-BE49-F238E27FC236}">
                <ns2:creationId id="{5B792E3C-DA04-45D0-8AA5-E687D66BAAD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ECBD9D8-1F41-42F5-9F72-E79DE980972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an explanatory example from a reliable model.</a:t>
            </a:r>
          </a:p>
        </p:txBody>
      </p:sp>
      <p:sp>
        <p:nvSpPr>
          <p:cNvPr id="6" name="">
            <a:extLst>
              <a:ext uri="{FF2B5EF4-FFF2-40B4-BE49-F238E27FC236}">
                <ns2:creationId id="{FDB74566-CFDD-460D-AC03-B08117740F6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0F62751-1E23-4C8C-A1A0-A8FF48948F9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Independent match splits; task-specific error and probability checks.</a:t>
            </a:r>
          </a:p>
        </p:txBody>
      </p:sp>
      <p:sp>
        <p:nvSpPr>
          <p:cNvPr id="8" name="">
            <a:extLst>
              <a:ext uri="{FF2B5EF4-FFF2-40B4-BE49-F238E27FC236}">
                <ns2:creationId id="{326103A9-C262-4A63-A51A-70F1DF0266E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Apply to every analytical avenue</a:t>
            </a:r>
          </a:p>
        </p:txBody>
      </p:sp>
      <p:pic>
        <p:nvPicPr>
          <p:cNvPr id="9" name="">
            <a:extLst>
              <a:ext uri="{FF2B5EF4-FFF2-40B4-BE49-F238E27FC236}">
                <ns2:creationId id="{8A7AFE0A-83F2-4ED0-8D98-D8750870F956}"/>
              </a:ext>
            </a:extLst>
          </p:cNvPr>
          <p:cNvPicPr>
            <a:picLocks noChangeAspect="1"/>
          </p:cNvPicPr>
          <p:nvPr/>
        </p:nvPicPr>
        <p:blipFill>
          <a:blip r:embed="R5d63def14841441e"/>
          <a:stretch/>
        </p:blipFill>
        <p:spPr>
          <a:xfrm>
            <a:off x="3730598" y="1428750"/>
            <a:ext cx="7302555" cy="4333875"/>
          </a:xfrm>
          <a:prstGeom prst="rect">
            <a:avLst/>
          </a:prstGeom>
        </p:spPr>
      </p:pic>
      <p:sp>
        <p:nvSpPr>
          <p:cNvPr id="10" name="">
            <a:extLst>
              <a:ext uri="{FF2B5EF4-FFF2-40B4-BE49-F238E27FC236}">
                <ns2:creationId id="{07819E32-6A5F-4A5B-A83B-07AD968DF2D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useful result states its target, evidence, uncertainty and failure modes.</a:t>
            </a:r>
          </a:p>
        </p:txBody>
      </p:sp>
      <p:sp>
        <p:nvSpPr>
          <p:cNvPr id="11" name="">
            <a:extLst>
              <a:ext uri="{FF2B5EF4-FFF2-40B4-BE49-F238E27FC236}">
                <ns2:creationId id="{A6FFD9D8-09F5-4708-BB9E-6386FFA0613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A66FA9C0-CFE9-40A1-9875-6CCDEE1228F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511DCCD7-B1E0-4AE9-8B9F-2BE03A92624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51</a:t>
            </a:r>
          </a:p>
        </p:txBody>
      </p:sp>
    </p:spTree>
    <p:extLst>
      <p:ext uri="{BB962C8B-B14F-4D97-AF65-F5344CB8AC3E}">
        <p14:creationId val="15699269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2026-10-21T23:13:22.5880000Z</dcterms:created>
  <dcterms:modified xsi:type="dcterms:W3CDTF">2026-10-21T23:13:22.5880000Z</dcterms:modified>
</coreProperties>
</file>
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016957d5e24681" /><Relationship Type="http://schemas.openxmlformats.org/officeDocument/2006/relationships/extended-properties" Target="/docProps/app.xml" Id="R5c1efeaf80aa4920" /><Relationship Type="http://schemas.openxmlformats.org/officeDocument/2006/relationships/officeDocument" Target="/ppt/presentation.xml" Id="R2b72a6d5f54241a4" /></Relationships>
</file>

<file path=ppt/presentation.xml><?xml version="1.0" encoding="utf-8"?>
<p:presentation xmlns:p="http://schemas.openxmlformats.org/presentationml/2006/main">
  <p:sldMasterIdLst>
    <p:sldMasterId xmlns:r="http://schemas.openxmlformats.org/officeDocument/2006/relationships" id="2147483648" r:id="R0eaa7cf913b54afe"/>
  </p:sldMasterIdLst>
  <p:notesMasterIdLst>
    <p:notesMasterId xmlns:r="http://schemas.openxmlformats.org/officeDocument/2006/relationships" r:id="R05edd607823b456b"/>
  </p:notesMasterIdLst>
  <p:sldIdLst>
    <p:sldId xmlns:r="http://schemas.openxmlformats.org/officeDocument/2006/relationships" id="256" r:id="R3f3eea85ca844997"/>
    <p:sldId xmlns:r="http://schemas.openxmlformats.org/officeDocument/2006/relationships" id="257" r:id="R66b0087aa0f84964"/>
    <p:sldId xmlns:r="http://schemas.openxmlformats.org/officeDocument/2006/relationships" id="258" r:id="Rfa5f609b6adb4a80"/>
    <p:sldId xmlns:r="http://schemas.openxmlformats.org/officeDocument/2006/relationships" id="259" r:id="R5b402925ecba4995"/>
    <p:sldId xmlns:r="http://schemas.openxmlformats.org/officeDocument/2006/relationships" id="260" r:id="R12c2438394454006"/>
    <p:sldId xmlns:r="http://schemas.openxmlformats.org/officeDocument/2006/relationships" id="261" r:id="R7abd55cc9ae24327"/>
    <p:sldId xmlns:r="http://schemas.openxmlformats.org/officeDocument/2006/relationships" id="262" r:id="Rf9ba5b9ace1a4874"/>
    <p:sldId xmlns:r="http://schemas.openxmlformats.org/officeDocument/2006/relationships" id="263" r:id="Rf88a20401c3f4a85"/>
    <p:sldId xmlns:r="http://schemas.openxmlformats.org/officeDocument/2006/relationships" id="264" r:id="R5eaf00ca506a4953"/>
    <p:sldId xmlns:r="http://schemas.openxmlformats.org/officeDocument/2006/relationships" id="265" r:id="R86bba690c74a4a9f"/>
    <p:sldId xmlns:r="http://schemas.openxmlformats.org/officeDocument/2006/relationships" id="266" r:id="Rb79916964c624803"/>
    <p:sldId xmlns:r="http://schemas.openxmlformats.org/officeDocument/2006/relationships" id="267" r:id="R1a3ba9c6d6f04acf"/>
    <p:sldId xmlns:r="http://schemas.openxmlformats.org/officeDocument/2006/relationships" id="268" r:id="Rb201b3201d474482"/>
    <p:sldId xmlns:r="http://schemas.openxmlformats.org/officeDocument/2006/relationships" id="269" r:id="Rc6f80c5aed9c4c76"/>
    <p:sldId xmlns:r="http://schemas.openxmlformats.org/officeDocument/2006/relationships" id="270" r:id="R193dd890db8b45cc"/>
    <p:sldId xmlns:r="http://schemas.openxmlformats.org/officeDocument/2006/relationships" id="271" r:id="Rfafd54b68b1d4395"/>
    <p:sldId xmlns:r="http://schemas.openxmlformats.org/officeDocument/2006/relationships" id="272" r:id="Rc22163e5903240ce"/>
    <p:sldId xmlns:r="http://schemas.openxmlformats.org/officeDocument/2006/relationships" id="273" r:id="Re3ac1d5b1efa4bd3"/>
    <p:sldId xmlns:r="http://schemas.openxmlformats.org/officeDocument/2006/relationships" id="274" r:id="R028cd0382afe4191"/>
    <p:sldId xmlns:r="http://schemas.openxmlformats.org/officeDocument/2006/relationships" id="275" r:id="R62f3a5b682bd4d2a"/>
    <p:sldId xmlns:r="http://schemas.openxmlformats.org/officeDocument/2006/relationships" id="276" r:id="R17a013f4c01d4350"/>
    <p:sldId xmlns:r="http://schemas.openxmlformats.org/officeDocument/2006/relationships" id="277" r:id="R25fb73c311ef4b19"/>
    <p:sldId xmlns:r="http://schemas.openxmlformats.org/officeDocument/2006/relationships" id="278" r:id="Rc29ff4a237e54443"/>
    <p:sldId xmlns:r="http://schemas.openxmlformats.org/officeDocument/2006/relationships" id="279" r:id="Rf04f2539b0cc45c2"/>
    <p:sldId xmlns:r="http://schemas.openxmlformats.org/officeDocument/2006/relationships" id="280" r:id="R4986afd82b54441b"/>
    <p:sldId xmlns:r="http://schemas.openxmlformats.org/officeDocument/2006/relationships" id="281" r:id="R83b34fe378294b38"/>
    <p:sldId xmlns:r="http://schemas.openxmlformats.org/officeDocument/2006/relationships" id="282" r:id="R227f56cebff646fd"/>
    <p:sldId xmlns:r="http://schemas.openxmlformats.org/officeDocument/2006/relationships" id="283" r:id="R2b19ddd5bc6a4a03"/>
    <p:sldId xmlns:r="http://schemas.openxmlformats.org/officeDocument/2006/relationships" id="284" r:id="Re5bb15b72c2f41c9"/>
    <p:sldId xmlns:r="http://schemas.openxmlformats.org/officeDocument/2006/relationships" id="285" r:id="R67f16d5e4963404f"/>
    <p:sldId xmlns:r="http://schemas.openxmlformats.org/officeDocument/2006/relationships" id="286" r:id="R4d4f537c5b0c4ae9"/>
    <p:sldId xmlns:r="http://schemas.openxmlformats.org/officeDocument/2006/relationships" id="287" r:id="R570e1bf08ab84de4"/>
    <p:sldId xmlns:r="http://schemas.openxmlformats.org/officeDocument/2006/relationships" id="288" r:id="R8bdd6599433148c4"/>
    <p:sldId xmlns:r="http://schemas.openxmlformats.org/officeDocument/2006/relationships" id="289" r:id="Rce1fb6fa2e6042f8"/>
    <p:sldId xmlns:r="http://schemas.openxmlformats.org/officeDocument/2006/relationships" id="290" r:id="R9ee75391e9d34fe6"/>
    <p:sldId xmlns:r="http://schemas.openxmlformats.org/officeDocument/2006/relationships" id="291" r:id="Ra104cd89d09948aa"/>
    <p:sldId xmlns:r="http://schemas.openxmlformats.org/officeDocument/2006/relationships" id="292" r:id="Rd3a1b4af43054230"/>
    <p:sldId xmlns:r="http://schemas.openxmlformats.org/officeDocument/2006/relationships" id="293" r:id="R0295072d5b754afa"/>
    <p:sldId xmlns:r="http://schemas.openxmlformats.org/officeDocument/2006/relationships" id="294" r:id="R3d0caa451eb2483c"/>
    <p:sldId xmlns:r="http://schemas.openxmlformats.org/officeDocument/2006/relationships" id="295" r:id="R856284abe1b74de5"/>
    <p:sldId xmlns:r="http://schemas.openxmlformats.org/officeDocument/2006/relationships" id="296" r:id="R0b082e8f10c64db3"/>
    <p:sldId xmlns:r="http://schemas.openxmlformats.org/officeDocument/2006/relationships" id="297" r:id="R666c9cd1c71c4213"/>
    <p:sldId xmlns:r="http://schemas.openxmlformats.org/officeDocument/2006/relationships" id="298" r:id="R88a5dd90c7b545bb"/>
    <p:sldId xmlns:r="http://schemas.openxmlformats.org/officeDocument/2006/relationships" id="299" r:id="R8fef5d10a53b4cb7"/>
    <p:sldId xmlns:r="http://schemas.openxmlformats.org/officeDocument/2006/relationships" id="300" r:id="Rcb9b40a7b7da4e58"/>
    <p:sldId xmlns:r="http://schemas.openxmlformats.org/officeDocument/2006/relationships" id="301" r:id="Racd216ca31014cea"/>
    <p:sldId xmlns:r="http://schemas.openxmlformats.org/officeDocument/2006/relationships" id="302" r:id="Rb4debac479ac4c91"/>
    <p:sldId xmlns:r="http://schemas.openxmlformats.org/officeDocument/2006/relationships" id="303" r:id="R794da6908614419f"/>
    <p:sldId xmlns:r="http://schemas.openxmlformats.org/officeDocument/2006/relationships" id="304" r:id="Ra9442da090b44cbd"/>
    <p:sldId xmlns:r="http://schemas.openxmlformats.org/officeDocument/2006/relationships" id="305" r:id="Rcb86f4f99ffd4092"/>
    <p:sldId xmlns:r="http://schemas.openxmlformats.org/officeDocument/2006/relationships" id="306" r:id="R0e4759f61b554ce8"/>
    <p:sldId xmlns:r="http://schemas.openxmlformats.org/officeDocument/2006/relationships" id="307" r:id="Rdad2eb38bbfc45d8"/>
    <p:sldId xmlns:r="http://schemas.openxmlformats.org/officeDocument/2006/relationships" id="308" r:id="Rd8892451a4574e55"/>
    <p:sldId xmlns:r="http://schemas.openxmlformats.org/officeDocument/2006/relationships" id="309" r:id="R5c1a36264958498b"/>
    <p:sldId xmlns:r="http://schemas.openxmlformats.org/officeDocument/2006/relationships" id="310" r:id="Recfbefd3abd24e0b"/>
    <p:sldId xmlns:r="http://schemas.openxmlformats.org/officeDocument/2006/relationships" id="311" r:id="R92b6e1b19f364325"/>
    <p:sldId xmlns:r="http://schemas.openxmlformats.org/officeDocument/2006/relationships" id="312" r:id="R8ea3e45697404db2"/>
    <p:sldId xmlns:r="http://schemas.openxmlformats.org/officeDocument/2006/relationships" id="313" r:id="R18fa5e3227bf4a63"/>
    <p:sldId xmlns:r="http://schemas.openxmlformats.org/officeDocument/2006/relationships" id="314" r:id="R12a1e7f7548e46c7"/>
    <p:sldId xmlns:r="http://schemas.openxmlformats.org/officeDocument/2006/relationships" id="315" r:id="R3da55f965e244ecd"/>
    <p:sldId xmlns:r="http://schemas.openxmlformats.org/officeDocument/2006/relationships" id="316" r:id="R8f7c35eb196948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e47e1de93a4238" /><Relationship Type="http://schemas.openxmlformats.org/officeDocument/2006/relationships/slideMaster" Target="/ppt/slideMasters/slideMaster1.xml" Id="R0eaa7cf913b54afe" /><Relationship Type="http://schemas.openxmlformats.org/officeDocument/2006/relationships/notesMaster" Target="/ppt/notesMasters/notesMaster1.xml" Id="R05edd607823b456b" /><Relationship Type="http://schemas.openxmlformats.org/officeDocument/2006/relationships/presProps" Target="/ppt/presProps.xml" Id="Rfb9ad3f9aebb45e1" /><Relationship Type="http://schemas.openxmlformats.org/officeDocument/2006/relationships/tableStyles" Target="/ppt/tableStyles.xml" Id="R52ba56608d914051" /><Relationship Type="http://schemas.openxmlformats.org/officeDocument/2006/relationships/slide" Target="/ppt/slides/slide1.xml" Id="R3f3eea85ca844997" /><Relationship Type="http://schemas.openxmlformats.org/officeDocument/2006/relationships/slide" Target="/ppt/slides/slide2.xml" Id="R66b0087aa0f84964" /><Relationship Type="http://schemas.openxmlformats.org/officeDocument/2006/relationships/slide" Target="/ppt/slides/slide3.xml" Id="Rfa5f609b6adb4a80" /><Relationship Type="http://schemas.openxmlformats.org/officeDocument/2006/relationships/slide" Target="/ppt/slides/slide4.xml" Id="R5b402925ecba4995" /><Relationship Type="http://schemas.openxmlformats.org/officeDocument/2006/relationships/slide" Target="/ppt/slides/slide5.xml" Id="R12c2438394454006" /><Relationship Type="http://schemas.openxmlformats.org/officeDocument/2006/relationships/slide" Target="/ppt/slides/slide6.xml" Id="R7abd55cc9ae24327" /><Relationship Type="http://schemas.openxmlformats.org/officeDocument/2006/relationships/slide" Target="/ppt/slides/slide7.xml" Id="Rf9ba5b9ace1a4874" /><Relationship Type="http://schemas.openxmlformats.org/officeDocument/2006/relationships/slide" Target="/ppt/slides/slide8.xml" Id="Rf88a20401c3f4a85" /><Relationship Type="http://schemas.openxmlformats.org/officeDocument/2006/relationships/slide" Target="/ppt/slides/slide9.xml" Id="R5eaf00ca506a4953" /><Relationship Type="http://schemas.openxmlformats.org/officeDocument/2006/relationships/slide" Target="/ppt/slides/slide10.xml" Id="R86bba690c74a4a9f" /><Relationship Type="http://schemas.openxmlformats.org/officeDocument/2006/relationships/slide" Target="/ppt/slides/slide11.xml" Id="Rb79916964c624803" /><Relationship Type="http://schemas.openxmlformats.org/officeDocument/2006/relationships/slide" Target="/ppt/slides/slide12.xml" Id="R1a3ba9c6d6f04acf" /><Relationship Type="http://schemas.openxmlformats.org/officeDocument/2006/relationships/slide" Target="/ppt/slides/slide13.xml" Id="Rb201b3201d474482" /><Relationship Type="http://schemas.openxmlformats.org/officeDocument/2006/relationships/slide" Target="/ppt/slides/slide14.xml" Id="Rc6f80c5aed9c4c76" /><Relationship Type="http://schemas.openxmlformats.org/officeDocument/2006/relationships/slide" Target="/ppt/slides/slide15.xml" Id="R193dd890db8b45cc" /><Relationship Type="http://schemas.openxmlformats.org/officeDocument/2006/relationships/slide" Target="/ppt/slides/slide16.xml" Id="Rfafd54b68b1d4395" /><Relationship Type="http://schemas.openxmlformats.org/officeDocument/2006/relationships/slide" Target="/ppt/slides/slide17.xml" Id="Rc22163e5903240ce" /><Relationship Type="http://schemas.openxmlformats.org/officeDocument/2006/relationships/slide" Target="/ppt/slides/slide18.xml" Id="Re3ac1d5b1efa4bd3" /><Relationship Type="http://schemas.openxmlformats.org/officeDocument/2006/relationships/slide" Target="/ppt/slides/slide19.xml" Id="R028cd0382afe4191" /><Relationship Type="http://schemas.openxmlformats.org/officeDocument/2006/relationships/slide" Target="/ppt/slides/slide20.xml" Id="R62f3a5b682bd4d2a" /><Relationship Type="http://schemas.openxmlformats.org/officeDocument/2006/relationships/slide" Target="/ppt/slides/slide21.xml" Id="R17a013f4c01d4350" /><Relationship Type="http://schemas.openxmlformats.org/officeDocument/2006/relationships/slide" Target="/ppt/slides/slide22.xml" Id="R25fb73c311ef4b19" /><Relationship Type="http://schemas.openxmlformats.org/officeDocument/2006/relationships/slide" Target="/ppt/slides/slide23.xml" Id="Rc29ff4a237e54443" /><Relationship Type="http://schemas.openxmlformats.org/officeDocument/2006/relationships/slide" Target="/ppt/slides/slide24.xml" Id="Rf04f2539b0cc45c2" /><Relationship Type="http://schemas.openxmlformats.org/officeDocument/2006/relationships/slide" Target="/ppt/slides/slide25.xml" Id="R4986afd82b54441b" /><Relationship Type="http://schemas.openxmlformats.org/officeDocument/2006/relationships/slide" Target="/ppt/slides/slide26.xml" Id="R83b34fe378294b38" /><Relationship Type="http://schemas.openxmlformats.org/officeDocument/2006/relationships/slide" Target="/ppt/slides/slide27.xml" Id="R227f56cebff646fd" /><Relationship Type="http://schemas.openxmlformats.org/officeDocument/2006/relationships/slide" Target="/ppt/slides/slide28.xml" Id="R2b19ddd5bc6a4a03" /><Relationship Type="http://schemas.openxmlformats.org/officeDocument/2006/relationships/slide" Target="/ppt/slides/slide29.xml" Id="Re5bb15b72c2f41c9" /><Relationship Type="http://schemas.openxmlformats.org/officeDocument/2006/relationships/slide" Target="/ppt/slides/slide30.xml" Id="R67f16d5e4963404f" /><Relationship Type="http://schemas.openxmlformats.org/officeDocument/2006/relationships/slide" Target="/ppt/slides/slide31.xml" Id="R4d4f537c5b0c4ae9" /><Relationship Type="http://schemas.openxmlformats.org/officeDocument/2006/relationships/slide" Target="/ppt/slides/slide32.xml" Id="R570e1bf08ab84de4" /><Relationship Type="http://schemas.openxmlformats.org/officeDocument/2006/relationships/slide" Target="/ppt/slides/slide33.xml" Id="R8bdd6599433148c4" /><Relationship Type="http://schemas.openxmlformats.org/officeDocument/2006/relationships/slide" Target="/ppt/slides/slide34.xml" Id="Rce1fb6fa2e6042f8" /><Relationship Type="http://schemas.openxmlformats.org/officeDocument/2006/relationships/slide" Target="/ppt/slides/slide35.xml" Id="R9ee75391e9d34fe6" /><Relationship Type="http://schemas.openxmlformats.org/officeDocument/2006/relationships/slide" Target="/ppt/slides/slide36.xml" Id="Ra104cd89d09948aa" /><Relationship Type="http://schemas.openxmlformats.org/officeDocument/2006/relationships/slide" Target="/ppt/slides/slide37.xml" Id="Rd3a1b4af43054230" /><Relationship Type="http://schemas.openxmlformats.org/officeDocument/2006/relationships/slide" Target="/ppt/slides/slide38.xml" Id="R0295072d5b754afa" /><Relationship Type="http://schemas.openxmlformats.org/officeDocument/2006/relationships/slide" Target="/ppt/slides/slide39.xml" Id="R3d0caa451eb2483c" /><Relationship Type="http://schemas.openxmlformats.org/officeDocument/2006/relationships/slide" Target="/ppt/slides/slide40.xml" Id="R856284abe1b74de5" /><Relationship Type="http://schemas.openxmlformats.org/officeDocument/2006/relationships/slide" Target="/ppt/slides/slide41.xml" Id="R0b082e8f10c64db3" /><Relationship Type="http://schemas.openxmlformats.org/officeDocument/2006/relationships/slide" Target="/ppt/slides/slide42.xml" Id="R666c9cd1c71c4213" /><Relationship Type="http://schemas.openxmlformats.org/officeDocument/2006/relationships/slide" Target="/ppt/slides/slide43.xml" Id="R88a5dd90c7b545bb" /><Relationship Type="http://schemas.openxmlformats.org/officeDocument/2006/relationships/slide" Target="/ppt/slides/slide44.xml" Id="R8fef5d10a53b4cb7" /><Relationship Type="http://schemas.openxmlformats.org/officeDocument/2006/relationships/slide" Target="/ppt/slides/slide45.xml" Id="Rcb9b40a7b7da4e58" /><Relationship Type="http://schemas.openxmlformats.org/officeDocument/2006/relationships/slide" Target="/ppt/slides/slide46.xml" Id="Racd216ca31014cea" /><Relationship Type="http://schemas.openxmlformats.org/officeDocument/2006/relationships/slide" Target="/ppt/slides/slide47.xml" Id="Rb4debac479ac4c91" /><Relationship Type="http://schemas.openxmlformats.org/officeDocument/2006/relationships/slide" Target="/ppt/slides/slide48.xml" Id="R794da6908614419f" /><Relationship Type="http://schemas.openxmlformats.org/officeDocument/2006/relationships/slide" Target="/ppt/slides/slide49.xml" Id="Ra9442da090b44cbd" /><Relationship Type="http://schemas.openxmlformats.org/officeDocument/2006/relationships/slide" Target="/ppt/slides/slide50.xml" Id="Rcb86f4f99ffd4092" /><Relationship Type="http://schemas.openxmlformats.org/officeDocument/2006/relationships/slide" Target="/ppt/slides/slide51.xml" Id="R0e4759f61b554ce8" /><Relationship Type="http://schemas.openxmlformats.org/officeDocument/2006/relationships/slide" Target="/ppt/slides/slide52.xml" Id="Rdad2eb38bbfc45d8" /><Relationship Type="http://schemas.openxmlformats.org/officeDocument/2006/relationships/slide" Target="/ppt/slides/slide53.xml" Id="Rd8892451a4574e55" /><Relationship Type="http://schemas.openxmlformats.org/officeDocument/2006/relationships/slide" Target="/ppt/slides/slide54.xml" Id="R5c1a36264958498b" /><Relationship Type="http://schemas.openxmlformats.org/officeDocument/2006/relationships/slide" Target="/ppt/slides/slide55.xml" Id="Recfbefd3abd24e0b" /><Relationship Type="http://schemas.openxmlformats.org/officeDocument/2006/relationships/slide" Target="/ppt/slides/slide56.xml" Id="R92b6e1b19f364325" /><Relationship Type="http://schemas.openxmlformats.org/officeDocument/2006/relationships/slide" Target="/ppt/slides/slide57.xml" Id="R8ea3e45697404db2" /><Relationship Type="http://schemas.openxmlformats.org/officeDocument/2006/relationships/slide" Target="/ppt/slides/slide58.xml" Id="R18fa5e3227bf4a63" /><Relationship Type="http://schemas.openxmlformats.org/officeDocument/2006/relationships/slide" Target="/ppt/slides/slide59.xml" Id="R12a1e7f7548e46c7" /><Relationship Type="http://schemas.openxmlformats.org/officeDocument/2006/relationships/slide" Target="/ppt/slides/slide60.xml" Id="R3da55f965e244ecd" /><Relationship Type="http://schemas.openxmlformats.org/officeDocument/2006/relationships/slide" Target="/ppt/slides/slide61.xml" Id="R8f7c35eb196948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b77312c24244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8a2a2b2a06428f" /><Relationship Type="http://schemas.openxmlformats.org/officeDocument/2006/relationships/notesMaster" Target="/ppt/notesMasters/notesMaster1.xml" Id="R152ef00858d044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9dcbb22df04a19" /><Relationship Type="http://schemas.openxmlformats.org/officeDocument/2006/relationships/notesMaster" Target="/ppt/notesMasters/notesMaster1.xml" Id="R5bb0250d3f6d4f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5d0b1da9694ecb" /><Relationship Type="http://schemas.openxmlformats.org/officeDocument/2006/relationships/notesMaster" Target="/ppt/notesMasters/notesMaster1.xml" Id="Rd3b1a40ceb2843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99b00f703a4a97" /><Relationship Type="http://schemas.openxmlformats.org/officeDocument/2006/relationships/notesMaster" Target="/ppt/notesMasters/notesMaster1.xml" Id="R21e5cc567b6b4d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ec6e9e878c4f6b" /><Relationship Type="http://schemas.openxmlformats.org/officeDocument/2006/relationships/notesMaster" Target="/ppt/notesMasters/notesMaster1.xml" Id="R8189978452a645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461ec8fb8f4fc0" /><Relationship Type="http://schemas.openxmlformats.org/officeDocument/2006/relationships/notesMaster" Target="/ppt/notesMasters/notesMaster1.xml" Id="R031555d05eda47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1447274e6b42ef" /><Relationship Type="http://schemas.openxmlformats.org/officeDocument/2006/relationships/notesMaster" Target="/ppt/notesMasters/notesMaster1.xml" Id="R2b3d6fcb5da34a1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6c10f1dc7b4056" /><Relationship Type="http://schemas.openxmlformats.org/officeDocument/2006/relationships/notesMaster" Target="/ppt/notesMasters/notesMaster1.xml" Id="R62aa2b7c319748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844199960df84969" /><Relationship Type="http://schemas.openxmlformats.org/officeDocument/2006/relationships/notesMaster" Target="/ppt/notesMasters/notesMaster1.xml" Id="R99daa66c041848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af8fa8ae4245e7" /><Relationship Type="http://schemas.openxmlformats.org/officeDocument/2006/relationships/notesMaster" Target="/ppt/notesMasters/notesMaster1.xml" Id="R2714e44cd89d42f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8e13161c5e4bf9" /><Relationship Type="http://schemas.openxmlformats.org/officeDocument/2006/relationships/notesMaster" Target="/ppt/notesMasters/notesMaster1.xml" Id="Ra0baedc98fde418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9ee81a1da674baf" /><Relationship Type="http://schemas.openxmlformats.org/officeDocument/2006/relationships/notesMaster" Target="/ppt/notesMasters/notesMaster1.xml" Id="R587a4a54e81143c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3bd15685bb94915" /><Relationship Type="http://schemas.openxmlformats.org/officeDocument/2006/relationships/notesMaster" Target="/ppt/notesMasters/notesMaster1.xml" Id="Rd145e08b945d45c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146d212ca84465f" /><Relationship Type="http://schemas.openxmlformats.org/officeDocument/2006/relationships/notesMaster" Target="/ppt/notesMasters/notesMaster1.xml" Id="R86b4160d4892456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2a69df410d9450b" /><Relationship Type="http://schemas.openxmlformats.org/officeDocument/2006/relationships/notesMaster" Target="/ppt/notesMasters/notesMaster1.xml" Id="R9ba7d9af0831485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abffe0b4026490d" /><Relationship Type="http://schemas.openxmlformats.org/officeDocument/2006/relationships/notesMaster" Target="/ppt/notesMasters/notesMaster1.xml" Id="Rf47f2fd66d4b4b0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0d014e79be64972" /><Relationship Type="http://schemas.openxmlformats.org/officeDocument/2006/relationships/notesMaster" Target="/ppt/notesMasters/notesMaster1.xml" Id="R09a247b86a284b3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1e8e8028216404e" /><Relationship Type="http://schemas.openxmlformats.org/officeDocument/2006/relationships/notesMaster" Target="/ppt/notesMasters/notesMaster1.xml" Id="R1de36b9f737944b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58075303b744781" /><Relationship Type="http://schemas.openxmlformats.org/officeDocument/2006/relationships/notesMaster" Target="/ppt/notesMasters/notesMaster1.xml" Id="R189122a30c764b2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e9fecba7868429d" /><Relationship Type="http://schemas.openxmlformats.org/officeDocument/2006/relationships/notesMaster" Target="/ppt/notesMasters/notesMaster1.xml" Id="R1b9756e363394c9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057b166227c43e2" /><Relationship Type="http://schemas.openxmlformats.org/officeDocument/2006/relationships/notesMaster" Target="/ppt/notesMasters/notesMaster1.xml" Id="R605460cd9a3546b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bd09ca5e18a4efa" /><Relationship Type="http://schemas.openxmlformats.org/officeDocument/2006/relationships/notesMaster" Target="/ppt/notesMasters/notesMaster1.xml" Id="Rc627d4ff36154e2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5fc847b59d04402" /><Relationship Type="http://schemas.openxmlformats.org/officeDocument/2006/relationships/notesMaster" Target="/ppt/notesMasters/notesMaster1.xml" Id="R7438bef3b38a474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f052586638a4bdd" /><Relationship Type="http://schemas.openxmlformats.org/officeDocument/2006/relationships/notesMaster" Target="/ppt/notesMasters/notesMaster1.xml" Id="R2434a9b0fdfb458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cf7c00357a64405" /><Relationship Type="http://schemas.openxmlformats.org/officeDocument/2006/relationships/notesMaster" Target="/ppt/notesMasters/notesMaster1.xml" Id="Rcd7b66c0cebb4b0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497aa8da76c4c2b" /><Relationship Type="http://schemas.openxmlformats.org/officeDocument/2006/relationships/notesMaster" Target="/ppt/notesMasters/notesMaster1.xml" Id="Ra48a311b53154db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29faf35dff943b3" /><Relationship Type="http://schemas.openxmlformats.org/officeDocument/2006/relationships/notesMaster" Target="/ppt/notesMasters/notesMaster1.xml" Id="Rddcb4c6d1598429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45b4ca9b9114cbd" /><Relationship Type="http://schemas.openxmlformats.org/officeDocument/2006/relationships/notesMaster" Target="/ppt/notesMasters/notesMaster1.xml" Id="Rd61375157d6341a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4ef89af7d274463" /><Relationship Type="http://schemas.openxmlformats.org/officeDocument/2006/relationships/notesMaster" Target="/ppt/notesMasters/notesMaster1.xml" Id="R0acd289264974e7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e15c39007e54d30" /><Relationship Type="http://schemas.openxmlformats.org/officeDocument/2006/relationships/notesMaster" Target="/ppt/notesMasters/notesMaster1.xml" Id="R8ed3b955bea5476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d1d996d4ee1474f" /><Relationship Type="http://schemas.openxmlformats.org/officeDocument/2006/relationships/notesMaster" Target="/ppt/notesMasters/notesMaster1.xml" Id="R2406c3d6f0c0409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66b39ddcc6d4d23" /><Relationship Type="http://schemas.openxmlformats.org/officeDocument/2006/relationships/notesMaster" Target="/ppt/notesMasters/notesMaster1.xml" Id="R676eb8086969416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51d7977be884ff1" /><Relationship Type="http://schemas.openxmlformats.org/officeDocument/2006/relationships/notesMaster" Target="/ppt/notesMasters/notesMaster1.xml" Id="Rb278d7ce6496449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36175c63ade404e" /><Relationship Type="http://schemas.openxmlformats.org/officeDocument/2006/relationships/notesMaster" Target="/ppt/notesMasters/notesMaster1.xml" Id="R4997fbd67889478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5637a654a774ee6" /><Relationship Type="http://schemas.openxmlformats.org/officeDocument/2006/relationships/notesMaster" Target="/ppt/notesMasters/notesMaster1.xml" Id="R4b94f7e1980e4d6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bf08198fd674816" /><Relationship Type="http://schemas.openxmlformats.org/officeDocument/2006/relationships/notesMaster" Target="/ppt/notesMasters/notesMaster1.xml" Id="R8a8079cf2057491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0ba46ebd6064a63" /><Relationship Type="http://schemas.openxmlformats.org/officeDocument/2006/relationships/notesMaster" Target="/ppt/notesMasters/notesMaster1.xml" Id="R7fdf1616b41644d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3be7f1f207f4779" /><Relationship Type="http://schemas.openxmlformats.org/officeDocument/2006/relationships/notesMaster" Target="/ppt/notesMasters/notesMaster1.xml" Id="Rd08ba9cd770e4cc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5a00108b26a463a" /><Relationship Type="http://schemas.openxmlformats.org/officeDocument/2006/relationships/notesMaster" Target="/ppt/notesMasters/notesMaster1.xml" Id="R9b269e8e02f1423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192d4cba7fb4b8d" /><Relationship Type="http://schemas.openxmlformats.org/officeDocument/2006/relationships/notesMaster" Target="/ppt/notesMasters/notesMaster1.xml" Id="R7569b588f18f426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c6085189de0465f" /><Relationship Type="http://schemas.openxmlformats.org/officeDocument/2006/relationships/notesMaster" Target="/ppt/notesMasters/notesMaster1.xml" Id="R81cf2bc512b34cc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f054fd2296541b8" /><Relationship Type="http://schemas.openxmlformats.org/officeDocument/2006/relationships/notesMaster" Target="/ppt/notesMasters/notesMaster1.xml" Id="R8b855ff5da724a1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ef000a6efaa44eb" /><Relationship Type="http://schemas.openxmlformats.org/officeDocument/2006/relationships/notesMaster" Target="/ppt/notesMasters/notesMaster1.xml" Id="R73922a30159e4f6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22138c14fd44a76" /><Relationship Type="http://schemas.openxmlformats.org/officeDocument/2006/relationships/notesMaster" Target="/ppt/notesMasters/notesMaster1.xml" Id="R75c0ec60c27a43d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c7883698f484184" /><Relationship Type="http://schemas.openxmlformats.org/officeDocument/2006/relationships/notesMaster" Target="/ppt/notesMasters/notesMaster1.xml" Id="Raef7650c0b0c44f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2e5199392be4085" /><Relationship Type="http://schemas.openxmlformats.org/officeDocument/2006/relationships/notesMaster" Target="/ppt/notesMasters/notesMaster1.xml" Id="R4fb6a1b8075d469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ab0017bc9f346ce" /><Relationship Type="http://schemas.openxmlformats.org/officeDocument/2006/relationships/notesMaster" Target="/ppt/notesMasters/notesMaster1.xml" Id="R1012b415a4764a20"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2e8194af83e476a" /><Relationship Type="http://schemas.openxmlformats.org/officeDocument/2006/relationships/notesMaster" Target="/ppt/notesMasters/notesMaster1.xml" Id="R7ff0a5b10b8c487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a39fcc1a7e1471e" /><Relationship Type="http://schemas.openxmlformats.org/officeDocument/2006/relationships/notesMaster" Target="/ppt/notesMasters/notesMaster1.xml" Id="R9f8638743bac4e6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ced98a2d8c74a16" /><Relationship Type="http://schemas.openxmlformats.org/officeDocument/2006/relationships/notesMaster" Target="/ppt/notesMasters/notesMaster1.xml" Id="R25ccc18318074c6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dc14332f54c413c" /><Relationship Type="http://schemas.openxmlformats.org/officeDocument/2006/relationships/notesMaster" Target="/ppt/notesMasters/notesMaster1.xml" Id="Rc005ed308cf344f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fe3ffa1128246d7" /><Relationship Type="http://schemas.openxmlformats.org/officeDocument/2006/relationships/notesMaster" Target="/ppt/notesMasters/notesMaster1.xml" Id="Ra59e019348d0456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6a69ac522cf4e92" /><Relationship Type="http://schemas.openxmlformats.org/officeDocument/2006/relationships/notesMaster" Target="/ppt/notesMasters/notesMaster1.xml" Id="R2ca6a25cdaeb45f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abc389c5e3f4c21" /><Relationship Type="http://schemas.openxmlformats.org/officeDocument/2006/relationships/notesMaster" Target="/ppt/notesMasters/notesMaster1.xml" Id="R2e37509d38eb4006"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3811dbe52474103" /><Relationship Type="http://schemas.openxmlformats.org/officeDocument/2006/relationships/notesMaster" Target="/ppt/notesMasters/notesMaster1.xml" Id="R8376155213ff48e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624c565690b24c03" /><Relationship Type="http://schemas.openxmlformats.org/officeDocument/2006/relationships/notesMaster" Target="/ppt/notesMasters/notesMaster1.xml" Id="R49cbf63f74b0412c"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3d8aafe783674114" /><Relationship Type="http://schemas.openxmlformats.org/officeDocument/2006/relationships/notesMaster" Target="/ppt/notesMasters/notesMaster1.xml" Id="Rdce2ee29ace44331"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a1504931e6524641" /><Relationship Type="http://schemas.openxmlformats.org/officeDocument/2006/relationships/notesMaster" Target="/ppt/notesMasters/notesMaster1.xml" Id="R675ea9c8e4894c70"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f46aaff86484473d" /><Relationship Type="http://schemas.openxmlformats.org/officeDocument/2006/relationships/notesMaster" Target="/ppt/notesMasters/notesMaster1.xml" Id="R0e9c4145a3c7480a"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22a94d9623594331" /><Relationship Type="http://schemas.openxmlformats.org/officeDocument/2006/relationships/notesMaster" Target="/ppt/notesMasters/notesMaster1.xml" Id="R377199b3b9294989"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5dfb9b19856b4700" /><Relationship Type="http://schemas.openxmlformats.org/officeDocument/2006/relationships/notesMaster" Target="/ppt/notesMasters/notesMaster1.xml" Id="R674254dc67f646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match and the distinction between observed tracking, extrapolated tracking and derived labels.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SkillCorner open data and schema</a:t>
            </a:r>
          </a:p>
          <a:p xmlns:a="http://schemas.openxmlformats.org/drawingml/2006/main">
            <a:r>
              <a:t>https://github.com/SkillCorner/opendata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opening entries are linked. Full sources are in the reading list. Real sample: Brisbane vs Perth, 21 December 2024, match 1925299.</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SkillCorner open data and schema</a:t>
            </a:r>
          </a:p>
          <a:p xmlns:a="http://schemas.openxmlformats.org/drawingml/2006/main">
            <a:r>
              <a:t>https://github.com/SkillCorner/opendata</a:t>
            </a:r>
          </a:p>
          <a:p xmlns:a="http://schemas.openxmlformats.org/drawingml/2006/main">
            <a:r>
              <a:t/>
            </a:r>
          </a:p>
          <a:p xmlns:a="http://schemas.openxmlformats.org/drawingml/2006/main">
            <a:r>
              <a:t>kloppy SkillCorner loader</a:t>
            </a:r>
          </a:p>
          <a:p xmlns:a="http://schemas.openxmlformats.org/drawingml/2006/main">
            <a:r>
              <a:t>https://kloppy.pysport.org/reference/providers/skillcorner/</a:t>
            </a:r>
          </a:p>
          <a:p xmlns:a="http://schemas.openxmlformats.org/drawingml/2006/main">
            <a:r>
              <a:t/>
            </a:r>
          </a:p>
          <a:p xmlns:a="http://schemas.openxmlformats.org/drawingml/2006/main">
            <a:r>
              <a:t>DataBallPy covered distance</a:t>
            </a:r>
          </a:p>
          <a:p xmlns:a="http://schemas.openxmlformats.org/drawingml/2006/main">
            <a:r>
              <a:t>https://databallpy.readthedocs.io/en/main/features/covered_distance_page.html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figure contains actual dataframe values; velocity columns are derived after loading.</a:t>
            </a:r>
          </a:p>
          <a:p xmlns:a="http://schemas.openxmlformats.org/drawingml/2006/main">
            <a:r>
              <a:t/>
            </a:r>
          </a:p>
          <a:p xmlns:a="http://schemas.openxmlformats.org/drawingml/2006/main">
            <a:r>
              <a:t>NOTEBOOK · load and inspect</a:t>
            </a:r>
          </a:p>
          <a:p xmlns:a="http://schemas.openxmlformats.org/drawingml/2006/main">
            <a:r>
              <a:t/>
            </a:r>
          </a:p>
          <a:p xmlns:a="http://schemas.openxmlformats.org/drawingml/2006/main">
            <a:r>
              <a:t>Sources:</a:t>
            </a:r>
          </a:p>
          <a:p xmlns:a="http://schemas.openxmlformats.org/drawingml/2006/main">
            <a:r>
              <a:t>kloppy SkillCorner loader</a:t>
            </a:r>
          </a:p>
          <a:p xmlns:a="http://schemas.openxmlformats.org/drawingml/2006/main">
            <a:r>
              <a:t>https://kloppy.pysport.org/reference/providers/skillcorner/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Red rings mark extrapolated players according to raw is_detected. Coordinates can exist without a direct camera observation. All subsequent models inherit this uncertainty.</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SkillCorner open data and schema</a:t>
            </a:r>
          </a:p>
          <a:p xmlns:a="http://schemas.openxmlformats.org/drawingml/2006/main">
            <a:r>
              <a:t>https://github.com/SkillCorner/opendata</a:t>
            </a:r>
          </a:p>
          <a:p xmlns:a="http://schemas.openxmlformats.org/drawingml/2006/main">
            <a:r>
              <a:t/>
            </a:r>
          </a:p>
          <a:p xmlns:a="http://schemas.openxmlformats.org/drawingml/2006/main">
            <a:r>
              <a:t>DataBallPy preprocessing</a:t>
            </a:r>
          </a:p>
          <a:p xmlns:a="http://schemas.openxmlformats.org/drawingml/2006/main">
            <a:r>
              <a:t>https://databallpy.readthedocs.io/en/main/getting_started/preprocessing_options.html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actual pitch dimensions. A visually plausible frame is a useful first check, but does not prove identity or position accuracy.</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SkillCorner open data and schema</a:t>
            </a:r>
          </a:p>
          <a:p xmlns:a="http://schemas.openxmlformats.org/drawingml/2006/main">
            <a:r>
              <a:t>https://github.com/SkillCorner/opendata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snapshots are from the real selected clip. The notebook contains a full embedded animation.</a:t>
            </a:r>
          </a:p>
          <a:p xmlns:a="http://schemas.openxmlformats.org/drawingml/2006/main">
            <a:r>
              <a:t/>
            </a:r>
          </a:p>
          <a:p xmlns:a="http://schemas.openxmlformats.org/drawingml/2006/main">
            <a:r>
              <a:t>NOTEBOOK · play the sequence</a:t>
            </a:r>
          </a:p>
          <a:p xmlns:a="http://schemas.openxmlformats.org/drawingml/2006/main">
            <a:r>
              <a:t/>
            </a:r>
          </a:p>
          <a:p xmlns:a="http://schemas.openxmlformats.org/drawingml/2006/main">
            <a:r>
              <a:t>Sources:</a:t>
            </a:r>
          </a:p>
          <a:p xmlns:a="http://schemas.openxmlformats.org/drawingml/2006/main">
            <a:r>
              <a:t>kloppy SkillCorner loader</a:t>
            </a:r>
          </a:p>
          <a:p xmlns:a="http://schemas.openxmlformats.org/drawingml/2006/main">
            <a:r>
              <a:t>https://kloppy.pysport.org/reference/providers/skillcorner/</a:t>
            </a:r>
          </a:p>
          <a:p xmlns:a="http://schemas.openxmlformats.org/drawingml/2006/main">
            <a:r>
              <a:t/>
            </a:r>
          </a:p>
          <a:p xmlns:a="http://schemas.openxmlformats.org/drawingml/2006/main">
            <a:r>
              <a:t>Friends of Tracking: pitch control and EPV tutorials</a:t>
            </a:r>
          </a:p>
          <a:p xmlns:a="http://schemas.openxmlformats.org/drawingml/2006/main">
            <a:r>
              <a:t>https://github.com/Friends-of-Tracking-Data-FoTD/LaurieOnTracking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is an actual 2 m proximity heuristic, not the full Vidal-Codina or PathCRF method. Pros: transparent and quick. Cons: aerial balls, duels and tracking uncertainty. Compare with supplied possession labels; evaluate timing-aware accuracy.</a:t>
            </a:r>
          </a:p>
          <a:p xmlns:a="http://schemas.openxmlformats.org/drawingml/2006/main">
            <a:r>
              <a:t/>
            </a:r>
          </a:p>
          <a:p xmlns:a="http://schemas.openxmlformats.org/drawingml/2006/main">
            <a:r>
              <a:t>NOTEBOOK · inspect the candidate detector</a:t>
            </a:r>
          </a:p>
          <a:p xmlns:a="http://schemas.openxmlformats.org/drawingml/2006/main">
            <a:r>
              <a:t/>
            </a:r>
          </a:p>
          <a:p xmlns:a="http://schemas.openxmlformats.org/drawingml/2006/main">
            <a:r>
              <a:t>Sources:</a:t>
            </a:r>
          </a:p>
          <a:p xmlns:a="http://schemas.openxmlformats.org/drawingml/2006/main">
            <a:r>
              <a:t>DataBallPy preprocessing</a:t>
            </a:r>
          </a:p>
          <a:p xmlns:a="http://schemas.openxmlformats.org/drawingml/2006/main">
            <a:r>
              <a:t>https://databallpy.readthedocs.io/en/main/getting_started/preprocessing_options.html</a:t>
            </a:r>
          </a:p>
          <a:p xmlns:a="http://schemas.openxmlformats.org/drawingml/2006/main">
            <a:r>
              <a:t/>
            </a:r>
          </a:p>
          <a:p xmlns:a="http://schemas.openxmlformats.org/drawingml/2006/main">
            <a:r>
              <a:t>PathCRF: player trajectories to events (2026)</a:t>
            </a:r>
          </a:p>
          <a:p xmlns:a="http://schemas.openxmlformats.org/drawingml/2006/main">
            <a:r>
              <a:t>https://github.com/hyunsungkim-ds/pathcrf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real ball path is annotated at supplied possession endpoints. This is an explanatory candidate sequence, not a validated recovered pass. Pros: converts continuous signals to actionable events. Cons: missing ball data and multi-touch ambiguity.</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PathCRF: player trajectories to events (2026)</a:t>
            </a:r>
          </a:p>
          <a:p xmlns:a="http://schemas.openxmlformats.org/drawingml/2006/main">
            <a:r>
              <a:t>https://github.com/hyunsungkim-ds/pathcrf</a:t>
            </a:r>
          </a:p>
          <a:p xmlns:a="http://schemas.openxmlformats.org/drawingml/2006/main">
            <a:r>
              <a:t/>
            </a:r>
          </a:p>
          <a:p xmlns:a="http://schemas.openxmlformats.org/drawingml/2006/main">
            <a:r>
              <a:t>DataBallPy preprocessing</a:t>
            </a:r>
          </a:p>
          <a:p xmlns:a="http://schemas.openxmlformats.org/drawingml/2006/main">
            <a:r>
              <a:t>https://databallpy.readthedocs.io/en/main/getting_started/preprocessing_options.html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Audience prompt inspired by the supplied reference. These are actual SkillCorner frames, with identities hidden. A single snapshot is ambiguous; metadata positions are not frame-level role truth.</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Devin Pleuler: Fixed to Fluid (2024)</a:t>
            </a:r>
          </a:p>
          <a:p xmlns:a="http://schemas.openxmlformats.org/drawingml/2006/main">
            <a:r>
              <a:t>https://github.com/devinpleuler/research/blob/master/frame-by-frame-position.md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Independently generated from SkillCorner. Two-standard-deviation covariance ellipses, not confidence regions. Labels are metadata roles. Pros: removes team translation. Cons: averaging still mixes phases and rotations; covariance can hide multimodal behavior. Use identical qualifying samples in both panels.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Devin Pleuler: Fixed to Fluid (2024)</a:t>
            </a:r>
          </a:p>
          <a:p xmlns:a="http://schemas.openxmlformats.org/drawingml/2006/main">
            <a:r>
              <a:t>https://github.com/devinpleuler/research/blob/master/frame-by-frame-position.md</a:t>
            </a:r>
          </a:p>
          <a:p xmlns:a="http://schemas.openxmlformats.org/drawingml/2006/main">
            <a:r>
              <a:t/>
            </a:r>
          </a:p>
          <a:p xmlns:a="http://schemas.openxmlformats.org/drawingml/2006/main">
            <a:r>
              <a:t>Shaw &amp; Glickman: Dynamic Analysis of Team Strategy</a:t>
            </a:r>
          </a:p>
          <a:p xmlns:a="http://schemas.openxmlformats.org/drawingml/2006/main">
            <a:r>
              <a:t>https://static.capabiliaserver.com/frontend/clients/barca/wp_prod/wp-content/uploads/2020/01/83c87dfe-barca_poster_shaw.pdf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Pleuler (June 2024), independently implemented. Our choices: 24 headings and overlapping 90-degree sectors. This is geometric context, not observed head orientation, actual sight or occlusion. Attack-normalize both axes. Opponent-count channel is our extension. Pros: translation-invariant and intuitive. Cons: angular resolution, orientation and missing players affect features.</a:t>
            </a:r>
          </a:p>
          <a:p xmlns:a="http://schemas.openxmlformats.org/drawingml/2006/main">
            <a:r>
              <a:t/>
            </a:r>
          </a:p>
          <a:p xmlns:a="http://schemas.openxmlformats.org/drawingml/2006/main">
            <a:r>
              <a:t>NOTEBOOK · inspect angular count features</a:t>
            </a:r>
          </a:p>
          <a:p xmlns:a="http://schemas.openxmlformats.org/drawingml/2006/main">
            <a:r>
              <a:t/>
            </a:r>
          </a:p>
          <a:p xmlns:a="http://schemas.openxmlformats.org/drawingml/2006/main">
            <a:r>
              <a:t>Sources:</a:t>
            </a:r>
          </a:p>
          <a:p xmlns:a="http://schemas.openxmlformats.org/drawingml/2006/main">
            <a:r>
              <a:t>Devin Pleuler: Fixed to Fluid (2024)</a:t>
            </a:r>
          </a:p>
          <a:p xmlns:a="http://schemas.openxmlformats.org/drawingml/2006/main">
            <a:r>
              <a:t>https://github.com/devinpleuler/research/blob/master/frame-by-frame-position.md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Pleuler used XGBoost. This notebook manufactures features but does not train or claim accuracy from a single match. Assigned-position metadata gives weak labels during rotations. For credible evaluation use manually reviewed frame roles and held-out matches/players. Add opponent counts as a separate tested extension. Pros: flexible nonlinear classification. Cons: label noise and domain shift.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Devin Pleuler: Fixed to Fluid (2024)</a:t>
            </a:r>
          </a:p>
          <a:p xmlns:a="http://schemas.openxmlformats.org/drawingml/2006/main">
            <a:r>
              <a:t>https://github.com/devinpleuler/research/blob/master/frame-by-frame-position.md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baseline: four fixed templates, Hungarian minimum squared-distance assignment, attack-right orientation. RMS residual is not a probability. Unlike EFPI, this implementation has no elastic template optimization. Pros: interpretable assignments and no player-order dependence. Cons: template inventory, scale and asymmetry determine results.</a:t>
            </a:r>
          </a:p>
          <a:p xmlns:a="http://schemas.openxmlformats.org/drawingml/2006/main">
            <a:r>
              <a:t/>
            </a:r>
          </a:p>
          <a:p xmlns:a="http://schemas.openxmlformats.org/drawingml/2006/main">
            <a:r>
              <a:t>NOTEBOOK · inspect template scores and assignments</a:t>
            </a:r>
          </a:p>
          <a:p xmlns:a="http://schemas.openxmlformats.org/drawingml/2006/main">
            <a:r>
              <a:t/>
            </a:r>
          </a:p>
          <a:p xmlns:a="http://schemas.openxmlformats.org/drawingml/2006/main">
            <a:r>
              <a:t>Sources:</a:t>
            </a:r>
          </a:p>
          <a:p xmlns:a="http://schemas.openxmlformats.org/drawingml/2006/main">
            <a:r>
              <a:t>Joris Bekkers: Elastic Formation and Position Identification</a:t>
            </a:r>
          </a:p>
          <a:p xmlns:a="http://schemas.openxmlformats.org/drawingml/2006/main">
            <a:r>
              <a:t>https://arxiv.org/abs/2506.23843</a:t>
            </a:r>
          </a:p>
          <a:p xmlns:a="http://schemas.openxmlformats.org/drawingml/2006/main">
            <a:r>
              <a:t/>
            </a:r>
          </a:p>
          <a:p xmlns:a="http://schemas.openxmlformats.org/drawingml/2006/main">
            <a:r>
              <a:t>UnravelSports EFPI tutorial</a:t>
            </a:r>
          </a:p>
          <a:p xmlns:a="http://schemas.openxmlformats.org/drawingml/2006/main">
            <a:r>
              <a:t>https://unravelsports.readthedocs.io/en/latest/tutorials/formation_detection.html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EFPI is the published extension using elastic templates and linear assignment. The displayed visualization is our simpler fixed-template baseline, not an EFPI result. Follow the linked tutorial for package inference. Pros: formation and role assignment together. Cons: parameter choices, substitutions, partial tracking and tactical ambiguity. Compare output to video-reviewed labels.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Joris Bekkers: Elastic Formation and Position Identification</a:t>
            </a:r>
          </a:p>
          <a:p xmlns:a="http://schemas.openxmlformats.org/drawingml/2006/main">
            <a:r>
              <a:t>https://arxiv.org/abs/2506.23843</a:t>
            </a:r>
          </a:p>
          <a:p xmlns:a="http://schemas.openxmlformats.org/drawingml/2006/main">
            <a:r>
              <a:t/>
            </a:r>
          </a:p>
          <a:p xmlns:a="http://schemas.openxmlformats.org/drawingml/2006/main">
            <a:r>
              <a:t>UnravelSports EFPI tutorial</a:t>
            </a:r>
          </a:p>
          <a:p xmlns:a="http://schemas.openxmlformats.org/drawingml/2006/main">
            <a:r>
              <a:t>https://unravelsports.readthedocs.io/en/latest/tutorials/formation_detection.html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Plot uses real defensive-context windows with at least 50 qualifying frames. Three consecutive available 30-second bins confirm a label; missing bins reset the candidate count. Existing confirmed state is retained through missing bins, not evidence of ongoing stability. This is an educational rule, not EFPI change logic. Pleuler explicitly proposed change detection without testing it. No tactical ground truth is available here. Role swaps alone need not imply formation changes.</a:t>
            </a:r>
          </a:p>
          <a:p xmlns:a="http://schemas.openxmlformats.org/drawingml/2006/main">
            <a:r>
              <a:t/>
            </a:r>
          </a:p>
          <a:p xmlns:a="http://schemas.openxmlformats.org/drawingml/2006/main">
            <a:r>
              <a:t>NOTEBOOK · candidate timeline and persistence</a:t>
            </a:r>
          </a:p>
          <a:p xmlns:a="http://schemas.openxmlformats.org/drawingml/2006/main">
            <a:r>
              <a:t/>
            </a:r>
          </a:p>
          <a:p xmlns:a="http://schemas.openxmlformats.org/drawingml/2006/main">
            <a:r>
              <a:t>Sources:</a:t>
            </a:r>
          </a:p>
          <a:p xmlns:a="http://schemas.openxmlformats.org/drawingml/2006/main">
            <a:r>
              <a:t>Devin Pleuler: Fixed to Fluid (2024)</a:t>
            </a:r>
          </a:p>
          <a:p xmlns:a="http://schemas.openxmlformats.org/drawingml/2006/main">
            <a:r>
              <a:t>https://github.com/devinpleuler/research/blob/master/frame-by-frame-position.md</a:t>
            </a:r>
          </a:p>
          <a:p xmlns:a="http://schemas.openxmlformats.org/drawingml/2006/main">
            <a:r>
              <a:t/>
            </a:r>
          </a:p>
          <a:p xmlns:a="http://schemas.openxmlformats.org/drawingml/2006/main">
            <a:r>
              <a:t>Joris Bekkers: Elastic Formation and Position Identification</a:t>
            </a:r>
          </a:p>
          <a:p xmlns:a="http://schemas.openxmlformats.org/drawingml/2006/main">
            <a:r>
              <a:t>https://arxiv.org/abs/2506.23843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Real median outfield positions are shown separately by possession. Pros: summarizes organization beyond a team sheet. Cons: averaging mixes roles and game states; these are not asserted formation labels.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Shaw &amp; Glickman: Dynamic Analysis of Team Strategy</a:t>
            </a:r>
          </a:p>
          <a:p xmlns:a="http://schemas.openxmlformats.org/drawingml/2006/main">
            <a:r>
              <a:t>https://static.capabiliaserver.com/frontend/clients/barca/wp_prod/wp-content/uploads/2020/01/83c87dfe-barca_poster_shaw.pdf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Ward clustering of real centered x positions into three groups is a teaching baseline. It is not a validated named-formation classifier. Pros: interpretable. Cons: fixed line counts, overlaps and rotations.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Shaw &amp; Glickman: Dynamic Analysis of Team Strategy</a:t>
            </a:r>
          </a:p>
          <a:p xmlns:a="http://schemas.openxmlformats.org/drawingml/2006/main">
            <a:r>
              <a:t>https://static.capabiliaserver.com/frontend/clients/barca/wp_prod/wp-content/uploads/2020/01/83c87dfe-barca_poster_shaw.pdf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plot shows supplied SkillCorner labels, not predictions from a classifier trained here. Pros: makes context explicit. Cons: taxonomy-dependent and sensitive to boundary definitions.</a:t>
            </a:r>
          </a:p>
          <a:p xmlns:a="http://schemas.openxmlformats.org/drawingml/2006/main">
            <a:r>
              <a:t/>
            </a:r>
          </a:p>
          <a:p xmlns:a="http://schemas.openxmlformats.org/drawingml/2006/main">
            <a:r>
              <a:t>NOTEBOOK · join phase intervals</a:t>
            </a:r>
          </a:p>
          <a:p xmlns:a="http://schemas.openxmlformats.org/drawingml/2006/main">
            <a:r>
              <a:t/>
            </a:r>
          </a:p>
          <a:p xmlns:a="http://schemas.openxmlformats.org/drawingml/2006/main">
            <a:r>
              <a:t>Sources:</a:t>
            </a:r>
          </a:p>
          <a:p xmlns:a="http://schemas.openxmlformats.org/drawingml/2006/main">
            <a:r>
              <a:t>SkillCorner open data and schema</a:t>
            </a:r>
          </a:p>
          <a:p xmlns:a="http://schemas.openxmlformats.org/drawingml/2006/main">
            <a:r>
              <a:t>https://github.com/SkillCorner/opendata</a:t>
            </a:r>
          </a:p>
          <a:p xmlns:a="http://schemas.openxmlformats.org/drawingml/2006/main">
            <a:r>
              <a:t/>
            </a:r>
          </a:p>
          <a:p xmlns:a="http://schemas.openxmlformats.org/drawingml/2006/main">
            <a:r>
              <a:t>Augmented possession and phases framework (2025)</a:t>
            </a:r>
          </a:p>
          <a:p xmlns:a="http://schemas.openxmlformats.org/drawingml/2006/main">
            <a:r>
              <a:t>https://doi.org/10.1177/22150218241290988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speed curves are shown. Pros: foundation for physical and tactical features. Cons: derivatives amplify noise; smoothing removes some short peaks.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DataBallPy preprocessing</a:t>
            </a:r>
          </a:p>
          <a:p xmlns:a="http://schemas.openxmlformats.org/drawingml/2006/main">
            <a:r>
              <a:t>https://databallpy.readthedocs.io/en/main/getting_started/preprocessing_options.html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real sample’s cumulative distance excludes missing derivatives. No full-match extrapolation. Pros: simple workload volume measure. Cons: incomplete and extrapolated tracking affect accuracy.</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DataBallPy covered distance</a:t>
            </a:r>
          </a:p>
          <a:p xmlns:a="http://schemas.openxmlformats.org/drawingml/2006/main">
            <a:r>
              <a:t>https://databallpy.readthedocs.io/en/main/features/covered_distance_page.html</a:t>
            </a:r>
          </a:p>
          <a:p xmlns:a="http://schemas.openxmlformats.org/drawingml/2006/main">
            <a:r>
              <a:t/>
            </a:r>
          </a:p>
          <a:p xmlns:a="http://schemas.openxmlformats.org/drawingml/2006/main">
            <a:r>
              <a:t>SkillCorner physical thresholds and time-to metrics</a:t>
            </a:r>
          </a:p>
          <a:p xmlns:a="http://schemas.openxmlformats.org/drawingml/2006/main">
            <a:r>
              <a:t>https://skillcorner.com/us/articles/scouted-brazilian-centre-backs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code uses [20,25) and [25,infinity) to avoid overlap; exact equality handling is a teaching convention. Pros: distinguishes intensity from volume. Cons: thresholds and exposure affect comparisons.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SkillCorner physical thresholds and time-to metrics</a:t>
            </a:r>
          </a:p>
          <a:p xmlns:a="http://schemas.openxmlformats.org/drawingml/2006/main">
            <a:r>
              <a:t>https://skillcorner.com/us/articles/scouted-brazilian-centre-backs</a:t>
            </a:r>
          </a:p>
          <a:p xmlns:a="http://schemas.openxmlformats.org/drawingml/2006/main">
            <a:r>
              <a:t/>
            </a:r>
          </a:p>
          <a:p xmlns:a="http://schemas.openxmlformats.org/drawingml/2006/main">
            <a:r>
              <a:t>DataBallPy covered distance</a:t>
            </a:r>
          </a:p>
          <a:p xmlns:a="http://schemas.openxmlformats.org/drawingml/2006/main">
            <a:r>
              <a:t>https://databallpy.readthedocs.io/en/main/features/covered_distance_page.html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Shaded segments are our &gt;=1 s, no-merging teaching rule. They are not exact SkillCorner production sprint counts. Pros: repeated-effort view. Cons: sensitive to thresholds, smoothing and merging rules.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SkillCorner physical thresholds and time-to metrics</a:t>
            </a:r>
          </a:p>
          <a:p xmlns:a="http://schemas.openxmlformats.org/drawingml/2006/main">
            <a:r>
              <a:t>https://skillcorner.com/us/articles/scouted-brazilian-centre-backs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plot uses real signed speed derivatives. A direction change can produce acceleration-vector magnitude without increasing scalar speed. Pros: captures bursts and braking. Cons: highly noise-sensitive; threshold crossing alone does not qualify a production explosive effort.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DataBallPy preprocessing</a:t>
            </a:r>
          </a:p>
          <a:p xmlns:a="http://schemas.openxmlformats.org/drawingml/2006/main">
            <a:r>
              <a:t>https://databallpy.readthedocs.io/en/main/getting_started/preprocessing_options.html</a:t>
            </a:r>
          </a:p>
          <a:p xmlns:a="http://schemas.openxmlformats.org/drawingml/2006/main">
            <a:r>
              <a:t/>
            </a:r>
          </a:p>
          <a:p xmlns:a="http://schemas.openxmlformats.org/drawingml/2006/main">
            <a:r>
              <a:t>SkillCorner explosive accelerations</a:t>
            </a:r>
          </a:p>
          <a:p xmlns:a="http://schemas.openxmlformats.org/drawingml/2006/main">
            <a:r>
              <a:t>https://skillcorner.com/articles/new-feature-explosive-accelerations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real crossing is illustrative, not production-qualified. The published metric is the minimum interval within qualifying explosive accelerations. Start detection, &gt;0.7 s high-acceleration qualification and filtering matter.</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SkillCorner explosive accelerations</a:t>
            </a:r>
          </a:p>
          <a:p xmlns:a="http://schemas.openxmlformats.org/drawingml/2006/main">
            <a:r>
              <a:t>https://skillcorner.com/articles/new-feature-explosive-accelerations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Real observed crossing shown. No official Time to Sprint or Top 3 value is reconstructed. Pros: explosiveness/capacity. Cons: limited opportunities, sample size and qualification rules.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SkillCorner explosive accelerations</a:t>
            </a:r>
          </a:p>
          <a:p xmlns:a="http://schemas.openxmlformats.org/drawingml/2006/main">
            <a:r>
              <a:t>https://skillcorner.com/articles/new-feature-explosive-accelerations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real frame-speed distribution illustrates why populations matter. SkillCorner describes PSV-99 over physical activities above 15 km/h. This histogram is not the official PSV-99 calculation.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SkillCorner PSV-99 and Peak Velocity</a:t>
            </a:r>
          </a:p>
          <a:p xmlns:a="http://schemas.openxmlformats.org/drawingml/2006/main">
            <a:r>
              <a:t>https://skillcorner.com/articles/skillcorner-releases-new-peak-velocity-metric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figure uses our smoothed sample-speed estimates. It does not reproduce SkillCorner’s validated production Peak Velocity. Pros: interpretable capacity measure. Cons: noisy spikes, short exposure and preprocessing dependence.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SkillCorner PSV-99 and Peak Velocity</a:t>
            </a:r>
          </a:p>
          <a:p xmlns:a="http://schemas.openxmlformats.org/drawingml/2006/main">
            <a:r>
              <a:t>https://skillcorner.com/articles/skillcorner-releases-new-peak-velocity-metric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Hypothetical shot rays at a real ball location; no xG prediction is invented. Pros: familiar target and interpretable features. Cons: sparse shots, outcome imbalance and contextual bias.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StatsBomb: Upgrading Expected Goals</a:t>
            </a:r>
          </a:p>
          <a:p xmlns:a="http://schemas.openxmlformats.org/drawingml/2006/main">
            <a:r>
              <a:t>https://blogarchive.statsbomb.com/articles/soccer/upgrading-expected-goals/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fitted DataBallPy open-play grid, not trained on this small sample. V(s)=P(shot|s)P(goal|shot,s)+sum P(successful move to s'|s)V(s'). Classic location xT does not use defender positions. State the model target and training domain.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Karun Singh: Expected Threat</a:t>
            </a:r>
          </a:p>
          <a:p xmlns:a="http://schemas.openxmlformats.org/drawingml/2006/main">
            <a:r>
              <a:t>https://karun.in/blog/expected-threat.html</a:t>
            </a:r>
          </a:p>
          <a:p xmlns:a="http://schemas.openxmlformats.org/drawingml/2006/main">
            <a:r>
              <a:t/>
            </a:r>
          </a:p>
          <a:p xmlns:a="http://schemas.openxmlformats.org/drawingml/2006/main">
            <a:r>
              <a:t>DataBallPy fitted xT methodology</a:t>
            </a:r>
          </a:p>
          <a:p xmlns:a="http://schemas.openxmlformats.org/drawingml/2006/main">
            <a:r>
              <a:t>https://databallpy.readthedocs.io/en/main/features/xt_models.html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arrow is real ball displacement in the selected clip, not an assertion of a single completed pass. Attack direction is normalized and 105 m scaled to the model’s 106 m convention. Pros: simple action valuation. Cons: path-independent, no defender context or causal attribution.</a:t>
            </a:r>
          </a:p>
          <a:p xmlns:a="http://schemas.openxmlformats.org/drawingml/2006/main">
            <a:r>
              <a:t/>
            </a:r>
          </a:p>
          <a:p xmlns:a="http://schemas.openxmlformats.org/drawingml/2006/main">
            <a:r>
              <a:t>NOTEBOOK · xT lookup and endpoint difference</a:t>
            </a:r>
          </a:p>
          <a:p xmlns:a="http://schemas.openxmlformats.org/drawingml/2006/main">
            <a:r>
              <a:t/>
            </a:r>
          </a:p>
          <a:p xmlns:a="http://schemas.openxmlformats.org/drawingml/2006/main">
            <a:r>
              <a:t>Sources:</a:t>
            </a:r>
          </a:p>
          <a:p xmlns:a="http://schemas.openxmlformats.org/drawingml/2006/main">
            <a:r>
              <a:t>Karun Singh: Expected Threat</a:t>
            </a:r>
          </a:p>
          <a:p xmlns:a="http://schemas.openxmlformats.org/drawingml/2006/main">
            <a:r>
              <a:t>https://karun.in/blog/expected-threat.html</a:t>
            </a:r>
          </a:p>
          <a:p xmlns:a="http://schemas.openxmlformats.org/drawingml/2006/main">
            <a:r>
              <a:t/>
            </a:r>
          </a:p>
          <a:p xmlns:a="http://schemas.openxmlformats.org/drawingml/2006/main">
            <a:r>
              <a:t>DataBallPy fitted xT methodology</a:t>
            </a:r>
          </a:p>
          <a:p xmlns:a="http://schemas.openxmlformats.org/drawingml/2006/main">
            <a:r>
              <a:t>https://databallpy.readthedocs.io/en/main/features/xt_models.html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frame, grid approximation to a Voronoi partition. Pros: quick and interpretable. Cons: hard boundaries and no movement, ball-flight or uncertainty.</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DataBallPy space occupation</a:t>
            </a:r>
          </a:p>
          <a:p xmlns:a="http://schemas.openxmlformats.org/drawingml/2006/main">
            <a:r>
              <a:t>https://databallpy.readthedocs.io/en/main/features/space_occupation.html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Real player velocity with an illustrative ellipse. The covariance is not the exact Fernández/Bornn parameterization. Pros: smooth and motion-aware. Cons: hand-set influence scale and simplified movement ability.</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Wide Open Spaces, Fernández &amp; Bornn (2018)</a:t>
            </a:r>
          </a:p>
          <a:p xmlns:a="http://schemas.openxmlformats.org/drawingml/2006/main">
            <a:r>
              <a:t>https://static.capabiliaserver.com/frontend/clients/barca/wp_prod/wp-content/uploads/2018/05/Wide-Open-Spaces.pdf</a:t>
            </a:r>
          </a:p>
          <a:p xmlns:a="http://schemas.openxmlformats.org/drawingml/2006/main">
            <a:r>
              <a:t/>
            </a:r>
          </a:p>
          <a:p xmlns:a="http://schemas.openxmlformats.org/drawingml/2006/main">
            <a:r>
              <a:t>Space and Control in Soccer (2021)</a:t>
            </a:r>
          </a:p>
          <a:p xmlns:a="http://schemas.openxmlformats.org/drawingml/2006/main">
            <a:r>
              <a:t>https://www.frontiersin.org/journals/sports-and-active-living/articles/10.3389/fspor.2021.676179/full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logistic transformation bounds the team difference; it is not a calibrated possession probability. Pros: contested-space view. Cons: aggregation and covariance assumptions affect the surface.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Wide Open Spaces, Fernández &amp; Bornn (2018)</a:t>
            </a:r>
          </a:p>
          <a:p xmlns:a="http://schemas.openxmlformats.org/drawingml/2006/main">
            <a:r>
              <a:t>https://static.capabiliaserver.com/frontend/clients/barca/wp_prod/wp-content/uploads/2018/05/Wide-Open-Spaces.pdf</a:t>
            </a:r>
          </a:p>
          <a:p xmlns:a="http://schemas.openxmlformats.org/drawingml/2006/main">
            <a:r>
              <a:t/>
            </a:r>
          </a:p>
          <a:p xmlns:a="http://schemas.openxmlformats.org/drawingml/2006/main">
            <a:r>
              <a:t>DataBallPy space occupation</a:t>
            </a:r>
          </a:p>
          <a:p xmlns:a="http://schemas.openxmlformats.org/drawingml/2006/main">
            <a:r>
              <a:t>https://databallpy.readthedocs.io/en/main/features/space_occupation.html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frame with a simple 0.7 s projection and 5 m/s travel speed baseline. Pros: interpretable timing. Cons: no ball flight, acceleration optimization or interception-rate integration; not Spearman’s full model.</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Space and Control in Soccer (2021)</a:t>
            </a:r>
          </a:p>
          <a:p xmlns:a="http://schemas.openxmlformats.org/drawingml/2006/main">
            <a:r>
              <a:t>https://www.frontiersin.org/journals/sports-and-active-living/articles/10.3389/fspor.2021.676179/full</a:t>
            </a:r>
          </a:p>
          <a:p xmlns:a="http://schemas.openxmlformats.org/drawingml/2006/main">
            <a:r>
              <a:t/>
            </a:r>
          </a:p>
          <a:p xmlns:a="http://schemas.openxmlformats.org/drawingml/2006/main">
            <a:r>
              <a:t>Beyond Expected Goals, Spearman (2018)</a:t>
            </a:r>
          </a:p>
          <a:p xmlns:a="http://schemas.openxmlformats.org/drawingml/2006/main">
            <a:r>
              <a:t>https://static.hudl.com/craft/downloads/SSAC2018_Beyond_Expected_Goals.pdf?mtime=20180327111214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schematic on actual tracking context, not a computed Spearman surface. Pros: physical link to passing. Cons: uncertain reactions, speed and ball parameters. Separate from the arrival-time teaching baseline.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Beyond Expected Goals, Spearman (2018)</a:t>
            </a:r>
          </a:p>
          <a:p xmlns:a="http://schemas.openxmlformats.org/drawingml/2006/main">
            <a:r>
              <a:t>https://static.hudl.com/craft/downloads/SSAC2018_Beyond_Expected_Goals.pdf?mtime=20180327111214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accessible-space xC inference on hypothetical endpoints at real teammate positions. Pros: interpretable risk. Cons: model calibration, ball speed and offside conventions; candidates are not observed choices.</a:t>
            </a:r>
          </a:p>
          <a:p xmlns:a="http://schemas.openxmlformats.org/drawingml/2006/main">
            <a:r>
              <a:t/>
            </a:r>
          </a:p>
          <a:p xmlns:a="http://schemas.openxmlformats.org/drawingml/2006/main">
            <a:r>
              <a:t>NOTEBOOK · candidate-pass risk</a:t>
            </a:r>
          </a:p>
          <a:p xmlns:a="http://schemas.openxmlformats.org/drawingml/2006/main">
            <a:r>
              <a:t/>
            </a:r>
          </a:p>
          <a:p xmlns:a="http://schemas.openxmlformats.org/drawingml/2006/main">
            <a:r>
              <a:t>Sources:</a:t>
            </a:r>
          </a:p>
          <a:p xmlns:a="http://schemas.openxmlformats.org/drawingml/2006/main">
            <a:r>
              <a:t>DataBallPy DAS and expected completion</a:t>
            </a:r>
          </a:p>
          <a:p xmlns:a="http://schemas.openxmlformats.org/drawingml/2006/main">
            <a:r>
              <a:t>https://databallpy.readthedocs.io/en/main/features/dangerous_accessible_space.html</a:t>
            </a:r>
          </a:p>
          <a:p xmlns:a="http://schemas.openxmlformats.org/drawingml/2006/main">
            <a:r>
              <a:t/>
            </a:r>
          </a:p>
          <a:p xmlns:a="http://schemas.openxmlformats.org/drawingml/2006/main">
            <a:r>
              <a:t>Dangerous Accessible Space: paper and implementation</a:t>
            </a:r>
          </a:p>
          <a:p xmlns:a="http://schemas.openxmlformats.org/drawingml/2006/main">
            <a:r>
              <a:t>https://github.com/jonas-bischofberger/accessible-space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public-model output. Pros: incorporates ball and player movement. Cons: simulation assumptions and resolution; individual access can overlap.</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Dangerous Accessible Space: paper and implementation</a:t>
            </a:r>
          </a:p>
          <a:p xmlns:a="http://schemas.openxmlformats.org/drawingml/2006/main">
            <a:r>
              <a:t>https://github.com/jonas-bischofberger/accessible-space</a:t>
            </a:r>
          </a:p>
          <a:p xmlns:a="http://schemas.openxmlformats.org/drawingml/2006/main">
            <a:r>
              <a:t/>
            </a:r>
          </a:p>
          <a:p xmlns:a="http://schemas.openxmlformats.org/drawingml/2006/main">
            <a:r>
              <a:t>DataBallPy DAS and expected completion</a:t>
            </a:r>
          </a:p>
          <a:p xmlns:a="http://schemas.openxmlformats.org/drawingml/2006/main">
            <a:r>
              <a:t>https://databallpy.readthedocs.io/en/main/features/dangerous_accessible_space.html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public-model dangerous surface. Pros: links access and useful territory. Cons: danger definition and physical assumptions; DAS units are danger-weighted square metres.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Dangerous Accessible Space: paper and implementation</a:t>
            </a:r>
          </a:p>
          <a:p xmlns:a="http://schemas.openxmlformats.org/drawingml/2006/main">
            <a:r>
              <a:t>https://github.com/jonas-bischofberger/accessible-space</a:t>
            </a:r>
          </a:p>
          <a:p xmlns:a="http://schemas.openxmlformats.org/drawingml/2006/main">
            <a:r>
              <a:t/>
            </a:r>
          </a:p>
          <a:p xmlns:a="http://schemas.openxmlformats.org/drawingml/2006/main">
            <a:r>
              <a:t>DataBallPy DAS and expected completion</a:t>
            </a:r>
          </a:p>
          <a:p xmlns:a="http://schemas.openxmlformats.org/drawingml/2006/main">
            <a:r>
              <a:t>https://databallpy.readthedocs.io/en/main/features/dangerous_accessible_space.html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model values on three frames. Pros: connects movement to changing opportunity. Cons: different team possession states and model noise must be checked; before/after changes alone are not causal credit.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Dangerous Accessible Space: paper and implementation</a:t>
            </a:r>
          </a:p>
          <a:p xmlns:a="http://schemas.openxmlformats.org/drawingml/2006/main">
            <a:r>
              <a:t>https://github.com/jonas-bischofberger/accessible-space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supplied xthreat values for off-ball runs. The provider model is not reconstructed. Pros: visible unserved contributions. Cons: counterfactual assumptions, context and selection bias.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SkillCorner: Expected Threat for off-ball runs</a:t>
            </a:r>
          </a:p>
          <a:p xmlns:a="http://schemas.openxmlformats.org/drawingml/2006/main">
            <a:r>
              <a:t>https://www.linkedin.com/posts/skillcorner_game-intelligence-expected-threat-activity-7057009275247689728-NVPh</a:t>
            </a:r>
          </a:p>
          <a:p xmlns:a="http://schemas.openxmlformats.org/drawingml/2006/main">
            <a:r>
              <a:t/>
            </a:r>
          </a:p>
          <a:p xmlns:a="http://schemas.openxmlformats.org/drawingml/2006/main">
            <a:r>
              <a:t>SkillCorner open data and schema</a:t>
            </a:r>
          </a:p>
          <a:p xmlns:a="http://schemas.openxmlformats.org/drawingml/2006/main">
            <a:r>
              <a:t>https://github.com/SkillCorner/opendata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Real radius graph. Pros: models relationships directly. Cons: radius edges miss distant tactical relationships; fully connected and learned connectivity are alternatives.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U.S. Soccer: counterattack GNNs with SkillCorner (2023)</a:t>
            </a:r>
          </a:p>
          <a:p xmlns:a="http://schemas.openxmlformats.org/drawingml/2006/main">
            <a:r>
              <a:t>https://github.com/USSoccerFederation/ussf_ssac_23_soccer_gnn</a:t>
            </a:r>
          </a:p>
          <a:p xmlns:a="http://schemas.openxmlformats.org/drawingml/2006/main">
            <a:r>
              <a:t/>
            </a:r>
          </a:p>
          <a:p xmlns:a="http://schemas.openxmlformats.org/drawingml/2006/main">
            <a:r>
              <a:t>TacticAI (2024)</a:t>
            </a:r>
          </a:p>
          <a:p xmlns:a="http://schemas.openxmlformats.org/drawingml/2006/main">
            <a:r>
              <a:t>https://www.nature.com/articles/s41467-024-45965-x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edge-feature rows. Edge direction controls the sign of relative position. Team IDs should be encoded meaningfully rather than treated as numeric magnitudes.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U.S. Soccer: counterattack GNNs with SkillCorner (2023)</a:t>
            </a:r>
          </a:p>
          <a:p xmlns:a="http://schemas.openxmlformats.org/drawingml/2006/main">
            <a:r>
              <a:t>https://github.com/USSoccerFederation/ussf_ssac_23_soccer_gnn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schematic, not a trained result. Pros: relational inductive bias and shared updates. Cons: oversmoothing, connectivity choices and training requirements. Attention alone is not causal importance.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TacticAI (2024)</a:t>
            </a:r>
          </a:p>
          <a:p xmlns:a="http://schemas.openxmlformats.org/drawingml/2006/main">
            <a:r>
              <a:t>https://www.nature.com/articles/s41467-024-45965-x</a:t>
            </a:r>
          </a:p>
          <a:p xmlns:a="http://schemas.openxmlformats.org/drawingml/2006/main">
            <a:r>
              <a:t/>
            </a:r>
          </a:p>
          <a:p xmlns:a="http://schemas.openxmlformats.org/drawingml/2006/main">
            <a:r>
              <a:t>DEFCON: GNN-based defensive EPV (2026)</a:t>
            </a:r>
          </a:p>
          <a:p xmlns:a="http://schemas.openxmlformats.org/drawingml/2006/main">
            <a:r>
              <a:t>https://github.com/hyunsungkim-ds/defcon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one-second lag and speed change on a real player. Explicit lag frame checks prevent bridging gaps. Instantaneous velocity adds motion information but is not a substitute for full history.</a:t>
            </a:r>
          </a:p>
          <a:p xmlns:a="http://schemas.openxmlformats.org/drawingml/2006/main">
            <a:r>
              <a:t/>
            </a:r>
          </a:p>
          <a:p xmlns:a="http://schemas.openxmlformats.org/drawingml/2006/main">
            <a:r>
              <a:t>NOTEBOOK · lagged features and masks</a:t>
            </a:r>
          </a:p>
          <a:p xmlns:a="http://schemas.openxmlformats.org/drawingml/2006/main">
            <a:r>
              <a:t/>
            </a:r>
          </a:p>
          <a:p xmlns:a="http://schemas.openxmlformats.org/drawingml/2006/main">
            <a:r>
              <a:t>Sources:</a:t>
            </a:r>
          </a:p>
          <a:p xmlns:a="http://schemas.openxmlformats.org/drawingml/2006/main">
            <a:r>
              <a:t>U.S. Soccer: counterattack GNNs with SkillCorner (2023)</a:t>
            </a:r>
          </a:p>
          <a:p xmlns:a="http://schemas.openxmlformats.org/drawingml/2006/main">
            <a:r>
              <a:t>https://github.com/USSoccerFederation/ussf_ssac_23_soccer_gnn</a:t>
            </a:r>
          </a:p>
          <a:p xmlns:a="http://schemas.openxmlformats.org/drawingml/2006/main">
            <a:r>
              <a:t/>
            </a:r>
          </a:p>
          <a:p xmlns:a="http://schemas.openxmlformats.org/drawingml/2006/main">
            <a:r>
              <a:t>DataBallPy preprocessing</a:t>
            </a:r>
          </a:p>
          <a:p xmlns:a="http://schemas.openxmlformats.org/drawingml/2006/main">
            <a:r>
              <a:t>https://databallpy.readthedocs.io/en/main/getting_started/preprocessing_options.html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snapshots and a player trail. A sequence of spatial graphs retains team interactions that change with time; a static aggregate passing network does not.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U.S. Soccer: counterattack GNNs with SkillCorner (2023)</a:t>
            </a:r>
          </a:p>
          <a:p xmlns:a="http://schemas.openxmlformats.org/drawingml/2006/main">
            <a:r>
              <a:t>https://github.com/USSoccerFederation/ussf_ssac_23_soccer_gnn</a:t>
            </a:r>
          </a:p>
          <a:p xmlns:a="http://schemas.openxmlformats.org/drawingml/2006/main">
            <a:r>
              <a:t/>
            </a:r>
          </a:p>
          <a:p xmlns:a="http://schemas.openxmlformats.org/drawingml/2006/main">
            <a:r>
              <a:t>PathCRF: player trajectories to events (2026)</a:t>
            </a:r>
          </a:p>
          <a:p xmlns:a="http://schemas.openxmlformats.org/drawingml/2006/main">
            <a:r>
              <a:t>https://github.com/hyunsungkim-ds/pathcrf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Schematic topology with real player IDs. The notebook creates actual spatial and temporal edge records. Do not connect across substitutions or tracking gaps without an explicit rule; labels cannot leak future frames.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PathCRF: player trajectories to events (2026)</a:t>
            </a:r>
          </a:p>
          <a:p xmlns:a="http://schemas.openxmlformats.org/drawingml/2006/main">
            <a:r>
              <a:t>https://github.com/hyunsungkim-ds/pathcrf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schematic rather than a claim about a specific cited model’s GRU implementation. Pros: sequential processing with a compact state. Cons: long-history retention and sequence alignment. No trained inference is shown.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PyTorch Geometric Temporal architectures</a:t>
            </a:r>
          </a:p>
          <a:p xmlns:a="http://schemas.openxmlformats.org/drawingml/2006/main">
            <a:r>
              <a:t>https://pytorch-geometric-temporal.readthedocs.io/en/latest/modules/root.html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schematic. Pros: parallel computation and explicit receptive field. Cons: window length, dilation and sampling-rate choices. Filters must not access future frames at prediction time.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Temporal convolution for sequence modeling</a:t>
            </a:r>
          </a:p>
          <a:p xmlns:a="http://schemas.openxmlformats.org/drawingml/2006/main">
            <a:r>
              <a:t>https://arxiv.org/abs/1803.01271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schematic. Pros: flexible history selection and long-range dependencies. Cons: data/computation requirements, masking and leakage; attention weights do not establish causal importance.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Attention Is All You Need</a:t>
            </a:r>
          </a:p>
          <a:p xmlns:a="http://schemas.openxmlformats.org/drawingml/2006/main">
            <a:r>
              <a:t>https://arxiv.org/abs/1706.03762</a:t>
            </a:r>
          </a:p>
          <a:p xmlns:a="http://schemas.openxmlformats.org/drawingml/2006/main">
            <a:r>
              <a:t/>
            </a:r>
          </a:p>
          <a:p xmlns:a="http://schemas.openxmlformats.org/drawingml/2006/main">
            <a:r>
              <a:t>PyTorch Geometric Temporal architectures</a:t>
            </a:r>
          </a:p>
          <a:p xmlns:a="http://schemas.openxmlformats.org/drawingml/2006/main">
            <a:r>
              <a:t>https://pytorch-geometric-temporal.readthedocs.io/en/latest/modules/root.html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General architecture schematic, not a reproduction of PathCRF. Pros: joint relational/time structure. Cons: graph size, identity errors and edge construction choices.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PyTorch Geometric Temporal architectures</a:t>
            </a:r>
          </a:p>
          <a:p xmlns:a="http://schemas.openxmlformats.org/drawingml/2006/main">
            <a:r>
              <a:t>https://pytorch-geometric-temporal.readthedocs.io/en/latest/modules/root.html</a:t>
            </a:r>
          </a:p>
          <a:p xmlns:a="http://schemas.openxmlformats.org/drawingml/2006/main">
            <a:r>
              <a:t/>
            </a:r>
          </a:p>
          <a:p xmlns:a="http://schemas.openxmlformats.org/drawingml/2006/main">
            <a:r>
              <a:t>PathCRF: player trajectories to events (2026)</a:t>
            </a:r>
          </a:p>
          <a:p xmlns:a="http://schemas.openxmlformats.org/drawingml/2006/main">
            <a:r>
              <a:t>https://github.com/hyunsungkim-ds/pathcrf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schematic. SoccerMap is a convolutional approach, not a GNN. Pros: field-wide outputs. Cons: rasterization and training data requirements; no pretrained inference is claimed.</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SoccerMap (2020)</a:t>
            </a:r>
          </a:p>
          <a:p xmlns:a="http://schemas.openxmlformats.org/drawingml/2006/main">
            <a:r>
              <a:t>https://arxiv.org/abs/2010.10202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Real SkillCorner frame with one documented UnravelSports configuration: split-by-team connections plus ball links. This is not asserted as the unique GraphEPV topology. Pros: permutation-invariant aggregation and relational features. Cons: edges determine which interactions can be learned. Current documentation recommends PyTorch Geometric; the 2025 talk used Keras/Spektral.</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Joris Bekkers: GraphEPV, PyData London 2025</a:t>
            </a:r>
          </a:p>
          <a:p xmlns:a="http://schemas.openxmlformats.org/drawingml/2006/main">
            <a:r>
              <a:t>https://rawcdn.githack.com/UnravelSports/keynotes/main/html/20250607-PyData-London.html</a:t>
            </a:r>
          </a:p>
          <a:p xmlns:a="http://schemas.openxmlformats.org/drawingml/2006/main">
            <a:r>
              <a:t/>
            </a:r>
          </a:p>
          <a:p xmlns:a="http://schemas.openxmlformats.org/drawingml/2006/main">
            <a:r>
              <a:t>UnravelSports soccer GNN tutorial</a:t>
            </a:r>
          </a:p>
          <a:p xmlns:a="http://schemas.openxmlformats.org/drawingml/2006/main">
            <a:r>
              <a:t>https://unravelsports.readthedocs.io/en/latest/tutorials/soccer_gnn.html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PyData London, 7 June 2025. Talk uses World Cup 2022 PFF data across 64 matches, with labels respecting team and period. This is a ten-second scoring target, not automatically the complete action-decomposed Fernández EPV framework. Schematic only: no pretrained model inference here. Strength: includes off-ball context. Limitation: rare correlated labels, calibration and transfer to another competition.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Joris Bekkers: GraphEPV, PyData London 2025</a:t>
            </a:r>
          </a:p>
          <a:p xmlns:a="http://schemas.openxmlformats.org/drawingml/2006/main">
            <a:r>
              <a:t>https://rawcdn.githack.com/UnravelSports/keynotes/main/html/20250607-PyData-London.html</a:t>
            </a:r>
          </a:p>
          <a:p xmlns:a="http://schemas.openxmlformats.org/drawingml/2006/main">
            <a:r>
              <a:t/>
            </a:r>
          </a:p>
          <a:p xmlns:a="http://schemas.openxmlformats.org/drawingml/2006/main">
            <a:r>
              <a:t>UnravelSports soccer GNN tutorial</a:t>
            </a:r>
          </a:p>
          <a:p xmlns:a="http://schemas.openxmlformats.org/drawingml/2006/main">
            <a:r>
              <a:t>https://unravelsports.readthedocs.io/en/latest/tutorials/soccer_gnn.html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extension discussion, not a claim that the 2025 GraphEPV presentation trained a temporal GNN. Use the existing lagged features, GRU, TCN and attention slides as alternative temporal encoders. Keep whole matches/possessions together when splitting; account for the ten-second outcome window. Compare against location xT and non-graph models on the same target.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Joris Bekkers: GraphEPV, PyData London 2025</a:t>
            </a:r>
          </a:p>
          <a:p xmlns:a="http://schemas.openxmlformats.org/drawingml/2006/main">
            <a:r>
              <a:t>https://rawcdn.githack.com/UnravelSports/keynotes/main/html/20250607-PyData-London.html</a:t>
            </a:r>
          </a:p>
          <a:p xmlns:a="http://schemas.openxmlformats.org/drawingml/2006/main">
            <a:r>
              <a:t/>
            </a:r>
          </a:p>
          <a:p xmlns:a="http://schemas.openxmlformats.org/drawingml/2006/main">
            <a:r>
              <a:t>UnravelSports soccer GNN tutorial</a:t>
            </a:r>
          </a:p>
          <a:p xmlns:a="http://schemas.openxmlformats.org/drawingml/2006/main">
            <a:r>
              <a:t>https://unravelsports.readthedocs.io/en/latest/tutorials/soccer_gnn.html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decomposition: sum over actions P(action|state) times outcome-conditional value, including failure. EPV is a framework/target, not a synonym for GNN. Different EPV definitions must not be mixed.</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Fine-grained expected possession value (2021)</a:t>
            </a:r>
          </a:p>
          <a:p xmlns:a="http://schemas.openxmlformats.org/drawingml/2006/main">
            <a:r>
              <a:t>https://pmc.ncbi.nlm.nih.gov/articles/PMC8570314/</a:t>
            </a:r>
          </a:p>
          <a:p xmlns:a="http://schemas.openxmlformats.org/drawingml/2006/main">
            <a:r>
              <a:t/>
            </a:r>
          </a:p>
          <a:p xmlns:a="http://schemas.openxmlformats.org/drawingml/2006/main">
            <a:r>
              <a:t>DEFCON: GNN-based defensive EPV (2026)</a:t>
            </a:r>
          </a:p>
          <a:p xmlns:a="http://schemas.openxmlformats.org/drawingml/2006/main">
            <a:r>
              <a:t>https://github.com/hyunsungkim-ds/defcon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pass_epv_delta_for fields in SkillCorner dynamic events. This is the provider’s model output; not a reconstructed Fernández or DEFCON prediction. The field name is shown rather than assuming undocumented equivalence.</a:t>
            </a:r>
          </a:p>
          <a:p xmlns:a="http://schemas.openxmlformats.org/drawingml/2006/main">
            <a:r>
              <a:t/>
            </a:r>
          </a:p>
          <a:p xmlns:a="http://schemas.openxmlformats.org/drawingml/2006/main">
            <a:r>
              <a:t>NOTEBOOK · supplied event-value fields</a:t>
            </a:r>
          </a:p>
          <a:p xmlns:a="http://schemas.openxmlformats.org/drawingml/2006/main">
            <a:r>
              <a:t/>
            </a:r>
          </a:p>
          <a:p xmlns:a="http://schemas.openxmlformats.org/drawingml/2006/main">
            <a:r>
              <a:t>Sources:</a:t>
            </a:r>
          </a:p>
          <a:p xmlns:a="http://schemas.openxmlformats.org/drawingml/2006/main">
            <a:r>
              <a:t>SkillCorner open data and schema</a:t>
            </a:r>
          </a:p>
          <a:p xmlns:a="http://schemas.openxmlformats.org/drawingml/2006/main">
            <a:r>
              <a:t>https://github.com/SkillCorner/opendata</a:t>
            </a:r>
          </a:p>
          <a:p xmlns:a="http://schemas.openxmlformats.org/drawingml/2006/main">
            <a:r>
              <a:t/>
            </a:r>
          </a:p>
          <a:p xmlns:a="http://schemas.openxmlformats.org/drawingml/2006/main">
            <a:r>
              <a:t>Fine-grained expected possession value (2021)</a:t>
            </a:r>
          </a:p>
          <a:p xmlns:a="http://schemas.openxmlformats.org/drawingml/2006/main">
            <a:r>
              <a:t>https://pmc.ncbi.nlm.nih.gov/articles/PMC8570314/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schematic only. Explain attribution assumptions before interpreting defensive credits. Actual frame is context, not DEFCON inference.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DEFCON: GNN-based defensive EPV (2026)</a:t>
            </a:r>
          </a:p>
          <a:p xmlns:a="http://schemas.openxmlformats.org/drawingml/2006/main">
            <a:r>
              <a:t>https://github.com/hyunsungkim-ds/defcon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schematic. The published balanced event-frame study uses reaching the penalty area as success; the repository’s additional all-frame dataset has different goal labels. Do not mix those datasets or quote them as equivalent.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U.S. Soccer: counterattack GNNs with SkillCorner (2023)</a:t>
            </a:r>
          </a:p>
          <a:p xmlns:a="http://schemas.openxmlformats.org/drawingml/2006/main">
            <a:r>
              <a:t>https://github.com/USSoccerFederation/ussf_ssac_23_soccer_gnn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schematic. The input illustration uses real tracking near a supplied corner-reception event; it is not the original TacticAI input or trained inference. Complete task-specific code/weights and licensed data are not released. Model-generated suggestions are not guarantees.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TacticAI (2024)</a:t>
            </a:r>
          </a:p>
          <a:p xmlns:a="http://schemas.openxmlformats.org/drawingml/2006/main">
            <a:r>
              <a:t>https://www.nature.com/articles/s41467-024-45965-x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schematic; no invented future trajectories are shown as learned output. GenTac is a recent preprint example. Distinguish forecasting and causal intervention.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GenTac: trajectory forecasting (2026 preprint)</a:t>
            </a:r>
          </a:p>
          <a:p xmlns:a="http://schemas.openxmlformats.org/drawingml/2006/main">
            <a:r>
              <a:t>https://arxiv.org/abs/2604.11786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Schematic split only, not measured performance. Event detection needs timing tolerances; probability models need calibration; tactical labels need a clear taxonomy.</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Fine-grained expected possession value (2021)</a:t>
            </a:r>
          </a:p>
          <a:p xmlns:a="http://schemas.openxmlformats.org/drawingml/2006/main">
            <a:r>
              <a:t>https://pmc.ncbi.nlm.nih.gov/articles/PMC8570314/</a:t>
            </a:r>
          </a:p>
          <a:p xmlns:a="http://schemas.openxmlformats.org/drawingml/2006/main">
            <a:r>
              <a:t/>
            </a:r>
          </a:p>
          <a:p xmlns:a="http://schemas.openxmlformats.org/drawingml/2006/main">
            <a:r>
              <a:t>Dangerous Accessible Space: paper and implementation</a:t>
            </a:r>
          </a:p>
          <a:p xmlns:a="http://schemas.openxmlformats.org/drawingml/2006/main">
            <a:r>
              <a:t>https://github.com/jonas-bischofberger/accessible-space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597e129a7748e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ff19564b9f745a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5d4cde7638e40f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6787da57ac9494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67a1cb2afde487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0c3e1ce224143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210E87-FDC2-4F72-BB36-24EF6206FD6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0236F82-F664-4C1F-BAED-1237D531A9B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2C47248-1910-475F-95B5-1FDDAD96EC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45FBB8-24D7-4C40-B446-E76DA322DD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A7BEAC6-579E-4E40-A598-3FB501CCB94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3183460-A74D-479F-B406-B23799FBDD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99081E3-8B8F-4C63-BF05-E7269242BD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6C6E8DE-2B2C-460C-92CE-AB5D0787F18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FAC895-31F1-402F-9AA2-99ED273910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41A143-3214-437C-A011-96191E27F4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f7e528067649c0" /><Relationship Type="http://schemas.openxmlformats.org/officeDocument/2006/relationships/slideLayout" Target="/ppt/slideLayouts/slideLayout1.xml" Id="R3623ca6d50214293" /><Relationship Type="http://schemas.openxmlformats.org/officeDocument/2006/relationships/slideLayout" Target="/ppt/slideLayouts/slideLayout2.xml" Id="Rfcdcf09935014b98" /><Relationship Type="http://schemas.openxmlformats.org/officeDocument/2006/relationships/slideLayout" Target="/ppt/slideLayouts/slideLayout3.xml" Id="Rd9db90cf31a143b3" /><Relationship Type="http://schemas.openxmlformats.org/officeDocument/2006/relationships/slideLayout" Target="/ppt/slideLayouts/slideLayout4.xml" Id="R8aabf6f55569410d" /><Relationship Type="http://schemas.openxmlformats.org/officeDocument/2006/relationships/slideLayout" Target="/ppt/slideLayouts/slideLayout5.xml" Id="R7f24506fee984549" /><Relationship Type="http://schemas.openxmlformats.org/officeDocument/2006/relationships/slideLayout" Target="/ppt/slideLayouts/slideLayout6.xml" Id="Rf150deeaa9904a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23ca6d50214293"/>
    <p:sldLayoutId xmlns:r="http://schemas.openxmlformats.org/officeDocument/2006/relationships" id="2147483650" r:id="Rfcdcf09935014b98"/>
    <p:sldLayoutId xmlns:r="http://schemas.openxmlformats.org/officeDocument/2006/relationships" id="2147483651" r:id="Rd9db90cf31a143b3"/>
    <p:sldLayoutId xmlns:r="http://schemas.openxmlformats.org/officeDocument/2006/relationships" id="2147483652" r:id="R8aabf6f55569410d"/>
    <p:sldLayoutId xmlns:r="http://schemas.openxmlformats.org/officeDocument/2006/relationships" id="2147483653" r:id="R7f24506fee984549"/>
    <p:sldLayoutId xmlns:r="http://schemas.openxmlformats.org/officeDocument/2006/relationships" id="2147483654" r:id="Rf150deeaa9904a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6.xml" Id="R1cc3f04b700f4b8c" /><ns0:Relationship Type="http://schemas.openxmlformats.org/officeDocument/2006/relationships/image" Target="/ppt/media/image.png" Id="R0774a99dae034c74" /><ns0:Relationship Type="http://schemas.openxmlformats.org/officeDocument/2006/relationships/notesSlide" Target="/ppt/notesSlides/notesSlide1.xml" Id="R3a4cb903eee7431b" /><ns0:Relationship Id="rIdWorkshop4" Type="http://schemas.openxmlformats.org/officeDocument/2006/relationships/hyperlink" Target="https://github.com/SkillCorner/opendata" TargetMode="External" /></ns0:Relationships>
</file>

<file path=ppt/slides/_rels/slide2.xml.rels><?xml version='1.0' encoding='utf-8'?>
<ns0:Relationships xmlns:ns0="http://schemas.openxmlformats.org/package/2006/relationships"><ns0:Relationship Type="http://schemas.openxmlformats.org/officeDocument/2006/relationships/slideLayout" Target="/ppt/slideLayouts/slideLayout6.xml" Id="Red7070c9c8f0487a" /><ns0:Relationship Type="http://schemas.openxmlformats.org/officeDocument/2006/relationships/image" Target="/ppt/media/image2.png" Id="Ra2f76bdb2dca475e" /><ns0:Relationship Type="http://schemas.openxmlformats.org/officeDocument/2006/relationships/notesSlide" Target="/ppt/notesSlides/notesSlide2.xml" Id="R8e484bce18df4405" /><ns0:Relationship Id="rIdWorkshop4" Type="http://schemas.openxmlformats.org/officeDocument/2006/relationships/hyperlink" Target="https://github.com/SkillCorner/opendata" TargetMode="External" /><ns0:Relationship Id="rIdWorkshop5" Type="http://schemas.openxmlformats.org/officeDocument/2006/relationships/hyperlink" Target="https://kloppy.pysport.org/reference/providers/skillcorner/" TargetMode="External" /><ns0:Relationship Id="rIdWorkshop6" Type="http://schemas.openxmlformats.org/officeDocument/2006/relationships/hyperlink" Target="https://databallpy.readthedocs.io/en/main/features/covered_distance_page.html" TargetMode="External" /><ns0:Relationship Id="rIdWorkshop7" Type="http://schemas.openxmlformats.org/officeDocument/2006/relationships/hyperlink" Target="https://github.com/SkillCorner/opendata" TargetMode="External" /><ns0:Relationship Id="rIdWorkshop8" Type="http://schemas.openxmlformats.org/officeDocument/2006/relationships/hyperlink" Target="https://kloppy.pysport.org/reference/providers/skillcorner/" TargetMode="External" /><ns0:Relationship Id="rIdWorkshop9" Type="http://schemas.openxmlformats.org/officeDocument/2006/relationships/hyperlink" Target="https://databallpy.readthedocs.io/en/main/features/covered_distance_page.html" TargetMode="External" /></ns0: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6.xml" Id="Rd505c041f9a44582" /><ns0:Relationship Type="http://schemas.openxmlformats.org/officeDocument/2006/relationships/image" Target="/ppt/media/image3.png" Id="R5ced52230e5849c2" /><ns0:Relationship Type="http://schemas.openxmlformats.org/officeDocument/2006/relationships/notesSlide" Target="/ppt/notesSlides/notesSlide3.xml" Id="Rdb52c9ea5a654188" /><ns0:Relationship Id="rIdWorkshop4" Type="http://schemas.openxmlformats.org/officeDocument/2006/relationships/hyperlink" Target="https://kloppy.pysport.org/reference/providers/skillcorner/" TargetMode="External" /></ns0:Relationships>
</file>

<file path=ppt/slides/_rels/slide4.xml.rels><?xml version='1.0' encoding='utf-8'?>
<ns0:Relationships xmlns:ns0="http://schemas.openxmlformats.org/package/2006/relationships"><ns0:Relationship Type="http://schemas.openxmlformats.org/officeDocument/2006/relationships/slideLayout" Target="/ppt/slideLayouts/slideLayout6.xml" Id="Rd6ca1b747a3c4ab9" /><ns0:Relationship Type="http://schemas.openxmlformats.org/officeDocument/2006/relationships/image" Target="/ppt/media/image4.png" Id="R38544468acec4650" /><ns0:Relationship Type="http://schemas.openxmlformats.org/officeDocument/2006/relationships/notesSlide" Target="/ppt/notesSlides/notesSlide4.xml" Id="R203098da2aeb406a" /><ns0:Relationship Id="rIdWorkshop4" Type="http://schemas.openxmlformats.org/officeDocument/2006/relationships/hyperlink" Target="https://github.com/SkillCorner/opendata" TargetMode="External" /><ns0:Relationship Id="rIdWorkshop5" Type="http://schemas.openxmlformats.org/officeDocument/2006/relationships/hyperlink" Target="https://databallpy.readthedocs.io/en/main/getting_started/preprocessing_options.html" TargetMode="External" /></ns0: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6.xml" Id="R058345236a084588" /><ns0:Relationship Type="http://schemas.openxmlformats.org/officeDocument/2006/relationships/image" Target="/ppt/media/image5.png" Id="R2547aa7dd5c644d9" /><ns0:Relationship Type="http://schemas.openxmlformats.org/officeDocument/2006/relationships/notesSlide" Target="/ppt/notesSlides/notesSlide5.xml" Id="Rdbcfa15f8e42454c" /><ns0:Relationship Id="rIdWorkshop4" Type="http://schemas.openxmlformats.org/officeDocument/2006/relationships/hyperlink" Target="https://github.com/SkillCorner/opendata" TargetMode="External" /></ns0: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6.xml" Id="Rd1549a663aa94295" /><ns0:Relationship Type="http://schemas.openxmlformats.org/officeDocument/2006/relationships/image" Target="/ppt/media/image6.png" Id="Ra4f807647ae6407c" /><ns0:Relationship Type="http://schemas.openxmlformats.org/officeDocument/2006/relationships/notesSlide" Target="/ppt/notesSlides/notesSlide6.xml" Id="R5a81203c87bd4533" /><ns0:Relationship Id="rIdWorkshop4" Type="http://schemas.openxmlformats.org/officeDocument/2006/relationships/hyperlink" Target="https://kloppy.pysport.org/reference/providers/skillcorner/" TargetMode="External" /><ns0:Relationship Id="rIdWorkshop5" Type="http://schemas.openxmlformats.org/officeDocument/2006/relationships/hyperlink" Target="https://github.com/Friends-of-Tracking-Data-FoTD/LaurieOnTracking" TargetMode="External" /></ns0: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6.xml" Id="R02c16a4ab0c44c6e" /><ns0:Relationship Type="http://schemas.openxmlformats.org/officeDocument/2006/relationships/image" Target="/ppt/media/image7.png" Id="R85bd8995627e4e0a" /><ns0:Relationship Type="http://schemas.openxmlformats.org/officeDocument/2006/relationships/notesSlide" Target="/ppt/notesSlides/notesSlide7.xml" Id="R6abafb595b9c467e" /><ns0:Relationship Id="rIdWorkshop4" Type="http://schemas.openxmlformats.org/officeDocument/2006/relationships/hyperlink" Target="https://databallpy.readthedocs.io/en/main/getting_started/preprocessing_options.html" TargetMode="External" /><ns0:Relationship Id="rIdWorkshop5" Type="http://schemas.openxmlformats.org/officeDocument/2006/relationships/hyperlink" Target="https://github.com/hyunsungkim-ds/pathcrf" TargetMode="External" /></ns0: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6.xml" Id="R9c78419cf6ec48e4" /><ns0:Relationship Type="http://schemas.openxmlformats.org/officeDocument/2006/relationships/image" Target="/ppt/media/image8.png" Id="Rb4a0dcfa97b64e00" /><ns0:Relationship Type="http://schemas.openxmlformats.org/officeDocument/2006/relationships/notesSlide" Target="/ppt/notesSlides/notesSlide8.xml" Id="R64617c07830c47bd" /><ns0:Relationship Id="rIdWorkshop4" Type="http://schemas.openxmlformats.org/officeDocument/2006/relationships/hyperlink" Target="https://github.com/hyunsungkim-ds/pathcrf" TargetMode="External" /><ns0:Relationship Id="rIdWorkshop5" Type="http://schemas.openxmlformats.org/officeDocument/2006/relationships/hyperlink" Target="https://databallpy.readthedocs.io/en/main/getting_started/preprocessing_options.html" TargetMode="External" /></ns0: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6.xml" Id="R0d2cedd4995241bb" /><ns0:Relationship Type="http://schemas.openxmlformats.org/officeDocument/2006/relationships/image" Target="/ppt/media/image9.png" Id="R0d2e90cb6a064c44" /><ns0:Relationship Type="http://schemas.openxmlformats.org/officeDocument/2006/relationships/notesSlide" Target="/ppt/notesSlides/notesSlide9.xml" Id="R294a60ff51b04b26" /><ns0:Relationship Id="rIdWorkshop4" Type="http://schemas.openxmlformats.org/officeDocument/2006/relationships/hyperlink" Target="https://github.com/devinpleuler/research/blob/master/frame-by-frame-position.md" TargetMode="External" /></ns0:Relationships>
</file>

<file path=ppt/slides/_rels/slide10.xml.rels><?xml version='1.0' encoding='utf-8'?>
<ns0:Relationships xmlns:ns0="http://schemas.openxmlformats.org/package/2006/relationships"><ns0:Relationship Type="http://schemas.openxmlformats.org/officeDocument/2006/relationships/slideLayout" Target="/ppt/slideLayouts/slideLayout6.xml" Id="Ra3e19c7d13824f74" /><ns0:Relationship Type="http://schemas.openxmlformats.org/officeDocument/2006/relationships/image" Target="/ppt/media/image10.png" Id="R5917059df2ec40d7" /><ns0:Relationship Type="http://schemas.openxmlformats.org/officeDocument/2006/relationships/notesSlide" Target="/ppt/notesSlides/notesSlide10.xml" Id="Rcb2956e39a8545da" /><ns0:Relationship Id="rIdWorkshop4" Type="http://schemas.openxmlformats.org/officeDocument/2006/relationships/hyperlink" Target="https://github.com/devinpleuler/research/blob/master/frame-by-frame-position.md" TargetMode="External" /><ns0:Relationship Id="rIdWorkshop5" Type="http://schemas.openxmlformats.org/officeDocument/2006/relationships/hyperlink" Target="https://static.capabiliaserver.com/frontend/clients/barca/wp_prod/wp-content/uploads/2020/01/83c87dfe-barca_poster_shaw.pdf" TargetMode="External" /></ns0: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6.xml" Id="R9ceb2133fc554d60" /><ns0:Relationship Type="http://schemas.openxmlformats.org/officeDocument/2006/relationships/image" Target="/ppt/media/image11.png" Id="Rfecf1e1c90314196" /><ns0:Relationship Type="http://schemas.openxmlformats.org/officeDocument/2006/relationships/notesSlide" Target="/ppt/notesSlides/notesSlide11.xml" Id="Ref1572fac12c4e81" /><ns0:Relationship Id="rIdWorkshop4" Type="http://schemas.openxmlformats.org/officeDocument/2006/relationships/hyperlink" Target="https://github.com/devinpleuler/research/blob/master/frame-by-frame-position.md" TargetMode="External" /></ns0:Relationships>
</file>

<file path=ppt/slides/_rels/slide12.xml.rels><?xml version='1.0' encoding='utf-8'?>
<ns0:Relationships xmlns:ns0="http://schemas.openxmlformats.org/package/2006/relationships"><ns0:Relationship Type="http://schemas.openxmlformats.org/officeDocument/2006/relationships/slideLayout" Target="/ppt/slideLayouts/slideLayout6.xml" Id="R71f394d3bf454fdf" /><ns0:Relationship Type="http://schemas.openxmlformats.org/officeDocument/2006/relationships/image" Target="/ppt/media/image12.png" Id="Rce842c8248a6416a" /><ns0:Relationship Type="http://schemas.openxmlformats.org/officeDocument/2006/relationships/notesSlide" Target="/ppt/notesSlides/notesSlide12.xml" Id="Rc9bc21f3e1bb48d6" /><ns0:Relationship Id="rIdWorkshop4" Type="http://schemas.openxmlformats.org/officeDocument/2006/relationships/hyperlink" Target="https://github.com/devinpleuler/research/blob/master/frame-by-frame-position.md" TargetMode="External" /></ns0:Relationships>
</file>

<file path=ppt/slides/_rels/slide13.xml.rels><?xml version='1.0' encoding='utf-8'?>
<ns0:Relationships xmlns:ns0="http://schemas.openxmlformats.org/package/2006/relationships"><ns0:Relationship Type="http://schemas.openxmlformats.org/officeDocument/2006/relationships/slideLayout" Target="/ppt/slideLayouts/slideLayout6.xml" Id="Ra41bf5d60a7a4821" /><ns0:Relationship Type="http://schemas.openxmlformats.org/officeDocument/2006/relationships/image" Target="/ppt/media/image13.png" Id="Raf55cf736e6f4f47" /><ns0:Relationship Type="http://schemas.openxmlformats.org/officeDocument/2006/relationships/notesSlide" Target="/ppt/notesSlides/notesSlide13.xml" Id="R9de47fe4bff04ea6" /><ns0:Relationship Id="rIdWorkshop4" Type="http://schemas.openxmlformats.org/officeDocument/2006/relationships/hyperlink" Target="https://arxiv.org/abs/2506.23843" TargetMode="External" /><ns0:Relationship Id="rIdWorkshop5" Type="http://schemas.openxmlformats.org/officeDocument/2006/relationships/hyperlink" Target="https://unravelsports.readthedocs.io/en/latest/tutorials/formation_detection.html" TargetMode="External" /></ns0:Relationships>
</file>

<file path=ppt/slides/_rels/slide14.xml.rels><?xml version='1.0' encoding='utf-8'?>
<ns0:Relationships xmlns:ns0="http://schemas.openxmlformats.org/package/2006/relationships"><ns0:Relationship Type="http://schemas.openxmlformats.org/officeDocument/2006/relationships/slideLayout" Target="/ppt/slideLayouts/slideLayout6.xml" Id="R37f222fad1e14d49" /><ns0:Relationship Type="http://schemas.openxmlformats.org/officeDocument/2006/relationships/image" Target="/ppt/media/image14.png" Id="R5c24adc0e97c4f46" /><ns0:Relationship Type="http://schemas.openxmlformats.org/officeDocument/2006/relationships/notesSlide" Target="/ppt/notesSlides/notesSlide14.xml" Id="R0a1b0e296afe4e6d" /><ns0:Relationship Id="rIdWorkshop4" Type="http://schemas.openxmlformats.org/officeDocument/2006/relationships/hyperlink" Target="https://arxiv.org/abs/2506.23843" TargetMode="External" /><ns0:Relationship Id="rIdWorkshop5" Type="http://schemas.openxmlformats.org/officeDocument/2006/relationships/hyperlink" Target="https://unravelsports.readthedocs.io/en/latest/tutorials/formation_detection.html" TargetMode="External" /></ns0:Relationships>
</file>

<file path=ppt/slides/_rels/slide15.xml.rels><?xml version='1.0' encoding='utf-8'?>
<ns0:Relationships xmlns:ns0="http://schemas.openxmlformats.org/package/2006/relationships"><ns0:Relationship Type="http://schemas.openxmlformats.org/officeDocument/2006/relationships/slideLayout" Target="/ppt/slideLayouts/slideLayout6.xml" Id="Rba953e70b1c54bc3" /><ns0:Relationship Type="http://schemas.openxmlformats.org/officeDocument/2006/relationships/image" Target="/ppt/media/image15.png" Id="R207da79d7102465b" /><ns0:Relationship Type="http://schemas.openxmlformats.org/officeDocument/2006/relationships/notesSlide" Target="/ppt/notesSlides/notesSlide15.xml" Id="Re78aa8599c564ba7" /><ns0:Relationship Id="rIdWorkshop4" Type="http://schemas.openxmlformats.org/officeDocument/2006/relationships/hyperlink" Target="https://github.com/devinpleuler/research/blob/master/frame-by-frame-position.md" TargetMode="External" /><ns0:Relationship Id="rIdWorkshop5" Type="http://schemas.openxmlformats.org/officeDocument/2006/relationships/hyperlink" Target="https://arxiv.org/abs/2506.23843" TargetMode="External" /></ns0:Relationships>
</file>

<file path=ppt/slides/_rels/slide16.xml.rels><?xml version='1.0' encoding='utf-8'?>
<ns0:Relationships xmlns:ns0="http://schemas.openxmlformats.org/package/2006/relationships"><ns0:Relationship Type="http://schemas.openxmlformats.org/officeDocument/2006/relationships/slideLayout" Target="/ppt/slideLayouts/slideLayout6.xml" Id="R2811777088044adc" /><ns0:Relationship Type="http://schemas.openxmlformats.org/officeDocument/2006/relationships/image" Target="/ppt/media/image16.png" Id="Ra6c3929da437435b" /><ns0:Relationship Type="http://schemas.openxmlformats.org/officeDocument/2006/relationships/notesSlide" Target="/ppt/notesSlides/notesSlide16.xml" Id="Raea7c1eae74e4129" /><ns0:Relationship Id="rIdWorkshop4" Type="http://schemas.openxmlformats.org/officeDocument/2006/relationships/hyperlink" Target="https://static.capabiliaserver.com/frontend/clients/barca/wp_prod/wp-content/uploads/2020/01/83c87dfe-barca_poster_shaw.pdf" TargetMode="External" /></ns0:Relationships>
</file>

<file path=ppt/slides/_rels/slide17.xml.rels><?xml version='1.0' encoding='utf-8'?>
<ns0:Relationships xmlns:ns0="http://schemas.openxmlformats.org/package/2006/relationships"><ns0:Relationship Type="http://schemas.openxmlformats.org/officeDocument/2006/relationships/slideLayout" Target="/ppt/slideLayouts/slideLayout6.xml" Id="R2b38965be5eb4cb1" /><ns0:Relationship Type="http://schemas.openxmlformats.org/officeDocument/2006/relationships/image" Target="/ppt/media/image17.png" Id="R2ab568ed2e3f47bd" /><ns0:Relationship Type="http://schemas.openxmlformats.org/officeDocument/2006/relationships/notesSlide" Target="/ppt/notesSlides/notesSlide17.xml" Id="Rdabc99fd3ff542fc" /><ns0:Relationship Id="rIdWorkshop4" Type="http://schemas.openxmlformats.org/officeDocument/2006/relationships/hyperlink" Target="https://static.capabiliaserver.com/frontend/clients/barca/wp_prod/wp-content/uploads/2020/01/83c87dfe-barca_poster_shaw.pdf" TargetMode="External" /></ns0:Relationships>
</file>

<file path=ppt/slides/_rels/slide18.xml.rels><?xml version='1.0' encoding='utf-8'?>
<ns0:Relationships xmlns:ns0="http://schemas.openxmlformats.org/package/2006/relationships"><ns0:Relationship Type="http://schemas.openxmlformats.org/officeDocument/2006/relationships/slideLayout" Target="/ppt/slideLayouts/slideLayout6.xml" Id="Rfa08afb9817b4648" /><ns0:Relationship Type="http://schemas.openxmlformats.org/officeDocument/2006/relationships/image" Target="/ppt/media/image18.png" Id="R73890fd5c02343d5" /><ns0:Relationship Type="http://schemas.openxmlformats.org/officeDocument/2006/relationships/notesSlide" Target="/ppt/notesSlides/notesSlide18.xml" Id="R18334a057c834d69" /><ns0:Relationship Id="rIdWorkshop4" Type="http://schemas.openxmlformats.org/officeDocument/2006/relationships/hyperlink" Target="https://github.com/SkillCorner/opendata" TargetMode="External" /><ns0:Relationship Id="rIdWorkshop5" Type="http://schemas.openxmlformats.org/officeDocument/2006/relationships/hyperlink" Target="https://doi.org/10.1177/22150218241290988" TargetMode="External" /></ns0:Relationships>
</file>

<file path=ppt/slides/_rels/slide19.xml.rels><?xml version='1.0' encoding='utf-8'?>
<ns0:Relationships xmlns:ns0="http://schemas.openxmlformats.org/package/2006/relationships"><ns0:Relationship Type="http://schemas.openxmlformats.org/officeDocument/2006/relationships/slideLayout" Target="/ppt/slideLayouts/slideLayout6.xml" Id="R2130f21a613d433b" /><ns0:Relationship Type="http://schemas.openxmlformats.org/officeDocument/2006/relationships/image" Target="/ppt/media/image19.png" Id="Rb5f7c736635f4708" /><ns0:Relationship Type="http://schemas.openxmlformats.org/officeDocument/2006/relationships/notesSlide" Target="/ppt/notesSlides/notesSlide19.xml" Id="R836c2e7c433341da" /><ns0:Relationship Id="rIdWorkshop4" Type="http://schemas.openxmlformats.org/officeDocument/2006/relationships/hyperlink" Target="https://databallpy.readthedocs.io/en/main/getting_started/preprocessing_options.html" TargetMode="External" /></ns0:Relationships>
</file>

<file path=ppt/slides/_rels/slide20.xml.rels><?xml version='1.0' encoding='utf-8'?>
<ns0:Relationships xmlns:ns0="http://schemas.openxmlformats.org/package/2006/relationships"><ns0:Relationship Type="http://schemas.openxmlformats.org/officeDocument/2006/relationships/slideLayout" Target="/ppt/slideLayouts/slideLayout6.xml" Id="Rcd32f2f1613043e0" /><ns0:Relationship Type="http://schemas.openxmlformats.org/officeDocument/2006/relationships/image" Target="/ppt/media/image20.png" Id="R8b28900268494cf6" /><ns0:Relationship Type="http://schemas.openxmlformats.org/officeDocument/2006/relationships/notesSlide" Target="/ppt/notesSlides/notesSlide20.xml" Id="Rac67b6f5bbb74137" /><ns0:Relationship Id="rIdWorkshop4" Type="http://schemas.openxmlformats.org/officeDocument/2006/relationships/hyperlink" Target="https://databallpy.readthedocs.io/en/main/features/covered_distance_page.html" TargetMode="External" /><ns0:Relationship Id="rIdWorkshop5" Type="http://schemas.openxmlformats.org/officeDocument/2006/relationships/hyperlink" Target="https://skillcorner.com/us/articles/scouted-brazilian-centre-backs" TargetMode="External" /></ns0:Relationships>
</file>

<file path=ppt/slides/_rels/slide21.xml.rels><?xml version='1.0' encoding='utf-8'?>
<ns0:Relationships xmlns:ns0="http://schemas.openxmlformats.org/package/2006/relationships"><ns0:Relationship Type="http://schemas.openxmlformats.org/officeDocument/2006/relationships/slideLayout" Target="/ppt/slideLayouts/slideLayout6.xml" Id="R7a1b6c2a64114c18" /><ns0:Relationship Type="http://schemas.openxmlformats.org/officeDocument/2006/relationships/image" Target="/ppt/media/image21.png" Id="R01bc48ba059641a1" /><ns0:Relationship Type="http://schemas.openxmlformats.org/officeDocument/2006/relationships/notesSlide" Target="/ppt/notesSlides/notesSlide21.xml" Id="R884d9062248e4439" /><ns0:Relationship Id="rIdWorkshop4" Type="http://schemas.openxmlformats.org/officeDocument/2006/relationships/hyperlink" Target="https://skillcorner.com/us/articles/scouted-brazilian-centre-backs" TargetMode="External" /><ns0:Relationship Id="rIdWorkshop5" Type="http://schemas.openxmlformats.org/officeDocument/2006/relationships/hyperlink" Target="https://databallpy.readthedocs.io/en/main/features/covered_distance_page.html" TargetMode="External" /></ns0:Relationships>
</file>

<file path=ppt/slides/_rels/slide22.xml.rels><?xml version='1.0' encoding='utf-8'?>
<ns0:Relationships xmlns:ns0="http://schemas.openxmlformats.org/package/2006/relationships"><ns0:Relationship Type="http://schemas.openxmlformats.org/officeDocument/2006/relationships/slideLayout" Target="/ppt/slideLayouts/slideLayout6.xml" Id="R9c04cd2db0e24404" /><ns0:Relationship Type="http://schemas.openxmlformats.org/officeDocument/2006/relationships/image" Target="/ppt/media/image22.png" Id="R726d955479884331" /><ns0:Relationship Type="http://schemas.openxmlformats.org/officeDocument/2006/relationships/notesSlide" Target="/ppt/notesSlides/notesSlide22.xml" Id="R4adf660a71634d24" /><ns0:Relationship Id="rIdWorkshop4" Type="http://schemas.openxmlformats.org/officeDocument/2006/relationships/hyperlink" Target="https://skillcorner.com/us/articles/scouted-brazilian-centre-backs" TargetMode="External" /></ns0:Relationships>
</file>

<file path=ppt/slides/_rels/slide23.xml.rels><?xml version='1.0' encoding='utf-8'?>
<ns0:Relationships xmlns:ns0="http://schemas.openxmlformats.org/package/2006/relationships"><ns0:Relationship Type="http://schemas.openxmlformats.org/officeDocument/2006/relationships/slideLayout" Target="/ppt/slideLayouts/slideLayout6.xml" Id="R576875396e6a4522" /><ns0:Relationship Type="http://schemas.openxmlformats.org/officeDocument/2006/relationships/image" Target="/ppt/media/image23.png" Id="R49dffdd1116541ca" /><ns0:Relationship Type="http://schemas.openxmlformats.org/officeDocument/2006/relationships/notesSlide" Target="/ppt/notesSlides/notesSlide23.xml" Id="Rf71589edc2214d6c" /><ns0:Relationship Id="rIdWorkshop4" Type="http://schemas.openxmlformats.org/officeDocument/2006/relationships/hyperlink" Target="https://databallpy.readthedocs.io/en/main/getting_started/preprocessing_options.html" TargetMode="External" /><ns0:Relationship Id="rIdWorkshop5" Type="http://schemas.openxmlformats.org/officeDocument/2006/relationships/hyperlink" Target="https://skillcorner.com/articles/new-feature-explosive-accelerations" TargetMode="External" /></ns0:Relationships>
</file>

<file path=ppt/slides/_rels/slide24.xml.rels><?xml version='1.0' encoding='utf-8'?>
<ns0:Relationships xmlns:ns0="http://schemas.openxmlformats.org/package/2006/relationships"><ns0:Relationship Type="http://schemas.openxmlformats.org/officeDocument/2006/relationships/slideLayout" Target="/ppt/slideLayouts/slideLayout6.xml" Id="Rdf5c0e8e96ce420f" /><ns0:Relationship Type="http://schemas.openxmlformats.org/officeDocument/2006/relationships/image" Target="/ppt/media/image24.png" Id="R41bdf67baa6845e5" /><ns0:Relationship Type="http://schemas.openxmlformats.org/officeDocument/2006/relationships/notesSlide" Target="/ppt/notesSlides/notesSlide24.xml" Id="R09f88f4cd33846d0" /><ns0:Relationship Id="rIdWorkshop4" Type="http://schemas.openxmlformats.org/officeDocument/2006/relationships/hyperlink" Target="https://skillcorner.com/articles/new-feature-explosive-accelerations" TargetMode="External" /></ns0:Relationships>
</file>

<file path=ppt/slides/_rels/slide25.xml.rels><?xml version='1.0' encoding='utf-8'?>
<ns0:Relationships xmlns:ns0="http://schemas.openxmlformats.org/package/2006/relationships"><ns0:Relationship Type="http://schemas.openxmlformats.org/officeDocument/2006/relationships/slideLayout" Target="/ppt/slideLayouts/slideLayout6.xml" Id="R8494312b1c6c490c" /><ns0:Relationship Type="http://schemas.openxmlformats.org/officeDocument/2006/relationships/image" Target="/ppt/media/image25.png" Id="R3a26f190fa304017" /><ns0:Relationship Type="http://schemas.openxmlformats.org/officeDocument/2006/relationships/notesSlide" Target="/ppt/notesSlides/notesSlide25.xml" Id="Rf7410a40b31c4f70" /><ns0:Relationship Id="rIdWorkshop4" Type="http://schemas.openxmlformats.org/officeDocument/2006/relationships/hyperlink" Target="https://skillcorner.com/articles/new-feature-explosive-accelerations" TargetMode="External" /></ns0:Relationships>
</file>

<file path=ppt/slides/_rels/slide26.xml.rels><?xml version='1.0' encoding='utf-8'?>
<ns0:Relationships xmlns:ns0="http://schemas.openxmlformats.org/package/2006/relationships"><ns0:Relationship Type="http://schemas.openxmlformats.org/officeDocument/2006/relationships/slideLayout" Target="/ppt/slideLayouts/slideLayout6.xml" Id="Rba635644c2bd445a" /><ns0:Relationship Type="http://schemas.openxmlformats.org/officeDocument/2006/relationships/image" Target="/ppt/media/image26.png" Id="Rdc17d16d7fe74242" /><ns0:Relationship Type="http://schemas.openxmlformats.org/officeDocument/2006/relationships/notesSlide" Target="/ppt/notesSlides/notesSlide26.xml" Id="R3008bdfad50344ef" /><ns0:Relationship Id="rIdWorkshop4" Type="http://schemas.openxmlformats.org/officeDocument/2006/relationships/hyperlink" Target="https://skillcorner.com/articles/skillcorner-releases-new-peak-velocity-metric" TargetMode="External" /></ns0:Relationships>
</file>

<file path=ppt/slides/_rels/slide27.xml.rels><?xml version='1.0' encoding='utf-8'?>
<ns0:Relationships xmlns:ns0="http://schemas.openxmlformats.org/package/2006/relationships"><ns0:Relationship Type="http://schemas.openxmlformats.org/officeDocument/2006/relationships/slideLayout" Target="/ppt/slideLayouts/slideLayout6.xml" Id="R4aceff9ce59e4633" /><ns0:Relationship Type="http://schemas.openxmlformats.org/officeDocument/2006/relationships/image" Target="/ppt/media/image27.png" Id="R073c560c3d8e4ba4" /><ns0:Relationship Type="http://schemas.openxmlformats.org/officeDocument/2006/relationships/notesSlide" Target="/ppt/notesSlides/notesSlide27.xml" Id="R16afa90c24f94cb2" /><ns0:Relationship Id="rIdWorkshop4" Type="http://schemas.openxmlformats.org/officeDocument/2006/relationships/hyperlink" Target="https://skillcorner.com/articles/skillcorner-releases-new-peak-velocity-metric" TargetMode="External" /></ns0:Relationships>
</file>

<file path=ppt/slides/_rels/slide28.xml.rels><?xml version='1.0' encoding='utf-8'?>
<ns0:Relationships xmlns:ns0="http://schemas.openxmlformats.org/package/2006/relationships"><ns0:Relationship Type="http://schemas.openxmlformats.org/officeDocument/2006/relationships/slideLayout" Target="/ppt/slideLayouts/slideLayout6.xml" Id="Re857b5980c1b4c59" /><ns0:Relationship Type="http://schemas.openxmlformats.org/officeDocument/2006/relationships/image" Target="/ppt/media/image28.png" Id="Re9260cfb0caa4149" /><ns0:Relationship Type="http://schemas.openxmlformats.org/officeDocument/2006/relationships/notesSlide" Target="/ppt/notesSlides/notesSlide28.xml" Id="R4c26858f441b4cbe" /><ns0:Relationship Id="rIdWorkshop4" Type="http://schemas.openxmlformats.org/officeDocument/2006/relationships/hyperlink" Target="https://blogarchive.statsbomb.com/articles/soccer/upgrading-expected-goals/" TargetMode="External" /></ns0:Relationships>
</file>

<file path=ppt/slides/_rels/slide29.xml.rels><?xml version='1.0' encoding='utf-8'?>
<ns0:Relationships xmlns:ns0="http://schemas.openxmlformats.org/package/2006/relationships"><ns0:Relationship Type="http://schemas.openxmlformats.org/officeDocument/2006/relationships/slideLayout" Target="/ppt/slideLayouts/slideLayout6.xml" Id="R4dfb8b173a984cec" /><ns0:Relationship Type="http://schemas.openxmlformats.org/officeDocument/2006/relationships/image" Target="/ppt/media/image29.png" Id="Re5cacc0a841247f6" /><ns0:Relationship Type="http://schemas.openxmlformats.org/officeDocument/2006/relationships/notesSlide" Target="/ppt/notesSlides/notesSlide29.xml" Id="Ree881451b50b42d2" /><ns0:Relationship Id="rIdWorkshop4" Type="http://schemas.openxmlformats.org/officeDocument/2006/relationships/hyperlink" Target="https://karun.in/blog/expected-threat.html" TargetMode="External" /><ns0:Relationship Id="rIdWorkshop5" Type="http://schemas.openxmlformats.org/officeDocument/2006/relationships/hyperlink" Target="https://databallpy.readthedocs.io/en/main/features/xt_models.html" TargetMode="External" /></ns0:Relationships>
</file>

<file path=ppt/slides/_rels/slide30.xml.rels><?xml version='1.0' encoding='utf-8'?>
<ns0:Relationships xmlns:ns0="http://schemas.openxmlformats.org/package/2006/relationships"><ns0:Relationship Type="http://schemas.openxmlformats.org/officeDocument/2006/relationships/slideLayout" Target="/ppt/slideLayouts/slideLayout6.xml" Id="R839af45e6589454a" /><ns0:Relationship Type="http://schemas.openxmlformats.org/officeDocument/2006/relationships/image" Target="/ppt/media/image30.png" Id="Rbd8fce3a7db94f06" /><ns0:Relationship Type="http://schemas.openxmlformats.org/officeDocument/2006/relationships/notesSlide" Target="/ppt/notesSlides/notesSlide30.xml" Id="R1c288b379dd04d5c" /><ns0:Relationship Id="rIdWorkshop4" Type="http://schemas.openxmlformats.org/officeDocument/2006/relationships/hyperlink" Target="https://karun.in/blog/expected-threat.html" TargetMode="External" /><ns0:Relationship Id="rIdWorkshop5" Type="http://schemas.openxmlformats.org/officeDocument/2006/relationships/hyperlink" Target="https://databallpy.readthedocs.io/en/main/features/xt_models.html" TargetMode="External" /></ns0:Relationships>
</file>

<file path=ppt/slides/_rels/slide31.xml.rels><?xml version='1.0' encoding='utf-8'?>
<ns0:Relationships xmlns:ns0="http://schemas.openxmlformats.org/package/2006/relationships"><ns0:Relationship Type="http://schemas.openxmlformats.org/officeDocument/2006/relationships/slideLayout" Target="/ppt/slideLayouts/slideLayout6.xml" Id="Rf588339fe43e4ff0" /><ns0:Relationship Type="http://schemas.openxmlformats.org/officeDocument/2006/relationships/image" Target="/ppt/media/image31.png" Id="Rad21df54c6264874" /><ns0:Relationship Type="http://schemas.openxmlformats.org/officeDocument/2006/relationships/notesSlide" Target="/ppt/notesSlides/notesSlide31.xml" Id="Rafcbcbd101194946" /><ns0:Relationship Id="rIdWorkshop4" Type="http://schemas.openxmlformats.org/officeDocument/2006/relationships/hyperlink" Target="https://databallpy.readthedocs.io/en/main/features/space_occupation.html" TargetMode="External" /></ns0:Relationships>
</file>

<file path=ppt/slides/_rels/slide32.xml.rels><?xml version='1.0' encoding='utf-8'?>
<ns0:Relationships xmlns:ns0="http://schemas.openxmlformats.org/package/2006/relationships"><ns0:Relationship Type="http://schemas.openxmlformats.org/officeDocument/2006/relationships/slideLayout" Target="/ppt/slideLayouts/slideLayout6.xml" Id="R35066e859dc54e58" /><ns0:Relationship Type="http://schemas.openxmlformats.org/officeDocument/2006/relationships/image" Target="/ppt/media/image32.png" Id="Rf180a56c35f94830" /><ns0:Relationship Type="http://schemas.openxmlformats.org/officeDocument/2006/relationships/notesSlide" Target="/ppt/notesSlides/notesSlide32.xml" Id="R1329c0f806af4aaa" /><ns0:Relationship Id="rIdWorkshop4" Type="http://schemas.openxmlformats.org/officeDocument/2006/relationships/hyperlink" Target="https://static.capabiliaserver.com/frontend/clients/barca/wp_prod/wp-content/uploads/2018/05/Wide-Open-Spaces.pdf" TargetMode="External" /><ns0:Relationship Id="rIdWorkshop5" Type="http://schemas.openxmlformats.org/officeDocument/2006/relationships/hyperlink" Target="https://www.frontiersin.org/journals/sports-and-active-living/articles/10.3389/fspor.2021.676179/full" TargetMode="External" /></ns0:Relationships>
</file>

<file path=ppt/slides/_rels/slide33.xml.rels><?xml version='1.0' encoding='utf-8'?>
<ns0:Relationships xmlns:ns0="http://schemas.openxmlformats.org/package/2006/relationships"><ns0:Relationship Type="http://schemas.openxmlformats.org/officeDocument/2006/relationships/slideLayout" Target="/ppt/slideLayouts/slideLayout6.xml" Id="Rec75224442fe4289" /><ns0:Relationship Type="http://schemas.openxmlformats.org/officeDocument/2006/relationships/image" Target="/ppt/media/image33.png" Id="R923d151154224d9c" /><ns0:Relationship Type="http://schemas.openxmlformats.org/officeDocument/2006/relationships/notesSlide" Target="/ppt/notesSlides/notesSlide33.xml" Id="Rfcb6c7978c684435" /><ns0:Relationship Id="rIdWorkshop4" Type="http://schemas.openxmlformats.org/officeDocument/2006/relationships/hyperlink" Target="https://static.capabiliaserver.com/frontend/clients/barca/wp_prod/wp-content/uploads/2018/05/Wide-Open-Spaces.pdf" TargetMode="External" /><ns0:Relationship Id="rIdWorkshop5" Type="http://schemas.openxmlformats.org/officeDocument/2006/relationships/hyperlink" Target="https://databallpy.readthedocs.io/en/main/features/space_occupation.html" TargetMode="External" /></ns0:Relationships>
</file>

<file path=ppt/slides/_rels/slide34.xml.rels><?xml version='1.0' encoding='utf-8'?>
<ns0:Relationships xmlns:ns0="http://schemas.openxmlformats.org/package/2006/relationships"><ns0:Relationship Type="http://schemas.openxmlformats.org/officeDocument/2006/relationships/slideLayout" Target="/ppt/slideLayouts/slideLayout6.xml" Id="R229e0e5e42014d3b" /><ns0:Relationship Type="http://schemas.openxmlformats.org/officeDocument/2006/relationships/image" Target="/ppt/media/image34.png" Id="Rb05f4d4e7aa64049" /><ns0:Relationship Type="http://schemas.openxmlformats.org/officeDocument/2006/relationships/notesSlide" Target="/ppt/notesSlides/notesSlide34.xml" Id="R3e9c01f9d8ec4e6f" /><ns0:Relationship Id="rIdWorkshop4" Type="http://schemas.openxmlformats.org/officeDocument/2006/relationships/hyperlink" Target="https://www.frontiersin.org/journals/sports-and-active-living/articles/10.3389/fspor.2021.676179/full" TargetMode="External" /><ns0:Relationship Id="rIdWorkshop5" Type="http://schemas.openxmlformats.org/officeDocument/2006/relationships/hyperlink" Target="https://static.hudl.com/craft/downloads/SSAC2018_Beyond_Expected_Goals.pdf?mtime=20180327111214" TargetMode="External" /></ns0:Relationships>
</file>

<file path=ppt/slides/_rels/slide35.xml.rels><?xml version='1.0' encoding='utf-8'?>
<ns0:Relationships xmlns:ns0="http://schemas.openxmlformats.org/package/2006/relationships"><ns0:Relationship Type="http://schemas.openxmlformats.org/officeDocument/2006/relationships/slideLayout" Target="/ppt/slideLayouts/slideLayout6.xml" Id="Rfef18dd97f464762" /><ns0:Relationship Type="http://schemas.openxmlformats.org/officeDocument/2006/relationships/image" Target="/ppt/media/image35.png" Id="R6f227f97e98d4992" /><ns0:Relationship Type="http://schemas.openxmlformats.org/officeDocument/2006/relationships/notesSlide" Target="/ppt/notesSlides/notesSlide35.xml" Id="Ra12b922304a5495f" /><ns0:Relationship Id="rIdWorkshop4" Type="http://schemas.openxmlformats.org/officeDocument/2006/relationships/hyperlink" Target="https://static.hudl.com/craft/downloads/SSAC2018_Beyond_Expected_Goals.pdf?mtime=20180327111214" TargetMode="External" /></ns0:Relationships>
</file>

<file path=ppt/slides/_rels/slide36.xml.rels><?xml version='1.0' encoding='utf-8'?>
<ns0:Relationships xmlns:ns0="http://schemas.openxmlformats.org/package/2006/relationships"><ns0:Relationship Type="http://schemas.openxmlformats.org/officeDocument/2006/relationships/slideLayout" Target="/ppt/slideLayouts/slideLayout6.xml" Id="R3d1fef07aeab4a98" /><ns0:Relationship Type="http://schemas.openxmlformats.org/officeDocument/2006/relationships/image" Target="/ppt/media/image36.png" Id="Re5813b10598b4508" /><ns0:Relationship Type="http://schemas.openxmlformats.org/officeDocument/2006/relationships/notesSlide" Target="/ppt/notesSlides/notesSlide36.xml" Id="R01cfe40fbe434e71" /><ns0:Relationship Id="rIdWorkshop4" Type="http://schemas.openxmlformats.org/officeDocument/2006/relationships/hyperlink" Target="https://databallpy.readthedocs.io/en/main/features/dangerous_accessible_space.html" TargetMode="External" /><ns0:Relationship Id="rIdWorkshop5" Type="http://schemas.openxmlformats.org/officeDocument/2006/relationships/hyperlink" Target="https://github.com/jonas-bischofberger/accessible-space" TargetMode="External" /></ns0:Relationships>
</file>

<file path=ppt/slides/_rels/slide37.xml.rels><?xml version='1.0' encoding='utf-8'?>
<ns0:Relationships xmlns:ns0="http://schemas.openxmlformats.org/package/2006/relationships"><ns0:Relationship Type="http://schemas.openxmlformats.org/officeDocument/2006/relationships/slideLayout" Target="/ppt/slideLayouts/slideLayout6.xml" Id="Rcfdb5ca204db47be" /><ns0:Relationship Type="http://schemas.openxmlformats.org/officeDocument/2006/relationships/image" Target="/ppt/media/image37.png" Id="R0a78540084cc46f7" /><ns0:Relationship Type="http://schemas.openxmlformats.org/officeDocument/2006/relationships/notesSlide" Target="/ppt/notesSlides/notesSlide37.xml" Id="Radd9007c80374114" /><ns0:Relationship Id="rIdWorkshop4" Type="http://schemas.openxmlformats.org/officeDocument/2006/relationships/hyperlink" Target="https://github.com/jonas-bischofberger/accessible-space" TargetMode="External" /><ns0:Relationship Id="rIdWorkshop5" Type="http://schemas.openxmlformats.org/officeDocument/2006/relationships/hyperlink" Target="https://databallpy.readthedocs.io/en/main/features/dangerous_accessible_space.html" TargetMode="External" /></ns0:Relationships>
</file>

<file path=ppt/slides/_rels/slide38.xml.rels><?xml version='1.0' encoding='utf-8'?>
<ns0:Relationships xmlns:ns0="http://schemas.openxmlformats.org/package/2006/relationships"><ns0:Relationship Type="http://schemas.openxmlformats.org/officeDocument/2006/relationships/slideLayout" Target="/ppt/slideLayouts/slideLayout6.xml" Id="Ra85dd198395749ac" /><ns0:Relationship Type="http://schemas.openxmlformats.org/officeDocument/2006/relationships/image" Target="/ppt/media/image38.png" Id="R08809c67dce048ee" /><ns0:Relationship Type="http://schemas.openxmlformats.org/officeDocument/2006/relationships/notesSlide" Target="/ppt/notesSlides/notesSlide38.xml" Id="R688a4177c7b54ccd" /><ns0:Relationship Id="rIdWorkshop4" Type="http://schemas.openxmlformats.org/officeDocument/2006/relationships/hyperlink" Target="https://github.com/jonas-bischofberger/accessible-space" TargetMode="External" /><ns0:Relationship Id="rIdWorkshop5" Type="http://schemas.openxmlformats.org/officeDocument/2006/relationships/hyperlink" Target="https://databallpy.readthedocs.io/en/main/features/dangerous_accessible_space.html" TargetMode="External" /></ns0:Relationships>
</file>

<file path=ppt/slides/_rels/slide39.xml.rels><?xml version='1.0' encoding='utf-8'?>
<ns0:Relationships xmlns:ns0="http://schemas.openxmlformats.org/package/2006/relationships"><ns0:Relationship Type="http://schemas.openxmlformats.org/officeDocument/2006/relationships/slideLayout" Target="/ppt/slideLayouts/slideLayout6.xml" Id="R0fca0069ae224442" /><ns0:Relationship Type="http://schemas.openxmlformats.org/officeDocument/2006/relationships/image" Target="/ppt/media/image39.png" Id="R735bba8100184f6e" /><ns0:Relationship Type="http://schemas.openxmlformats.org/officeDocument/2006/relationships/notesSlide" Target="/ppt/notesSlides/notesSlide39.xml" Id="R023852dfaaa747b7" /><ns0:Relationship Id="rIdWorkshop4" Type="http://schemas.openxmlformats.org/officeDocument/2006/relationships/hyperlink" Target="https://github.com/jonas-bischofberger/accessible-space" TargetMode="External" /></ns0:Relationships>
</file>

<file path=ppt/slides/_rels/slide40.xml.rels><?xml version='1.0' encoding='utf-8'?>
<ns0:Relationships xmlns:ns0="http://schemas.openxmlformats.org/package/2006/relationships"><ns0:Relationship Type="http://schemas.openxmlformats.org/officeDocument/2006/relationships/slideLayout" Target="/ppt/slideLayouts/slideLayout6.xml" Id="Rba2af11bf574497c" /><ns0:Relationship Type="http://schemas.openxmlformats.org/officeDocument/2006/relationships/image" Target="/ppt/media/image40.png" Id="Ra445d5a0c6ad48d8" /><ns0:Relationship Type="http://schemas.openxmlformats.org/officeDocument/2006/relationships/notesSlide" Target="/ppt/notesSlides/notesSlide40.xml" Id="R45ea6148ed0f41ec" /><ns0:Relationship Id="rIdWorkshop4" Type="http://schemas.openxmlformats.org/officeDocument/2006/relationships/hyperlink" Target="https://www.linkedin.com/posts/skillcorner_game-intelligence-expected-threat-activity-7057009275247689728-NVPh" TargetMode="External" /><ns0:Relationship Id="rIdWorkshop5" Type="http://schemas.openxmlformats.org/officeDocument/2006/relationships/hyperlink" Target="https://github.com/SkillCorner/opendata" TargetMode="External" /></ns0:Relationships>
</file>

<file path=ppt/slides/_rels/slide41.xml.rels><?xml version='1.0' encoding='utf-8'?>
<ns0:Relationships xmlns:ns0="http://schemas.openxmlformats.org/package/2006/relationships"><ns0:Relationship Type="http://schemas.openxmlformats.org/officeDocument/2006/relationships/slideLayout" Target="/ppt/slideLayouts/slideLayout6.xml" Id="R7a080ea806a346d5" /><ns0:Relationship Type="http://schemas.openxmlformats.org/officeDocument/2006/relationships/image" Target="/ppt/media/image41.png" Id="R72f3cb0467074166" /><ns0:Relationship Type="http://schemas.openxmlformats.org/officeDocument/2006/relationships/notesSlide" Target="/ppt/notesSlides/notesSlide41.xml" Id="R436d2cc5ec3b4618" /><ns0:Relationship Id="rIdWorkshop4" Type="http://schemas.openxmlformats.org/officeDocument/2006/relationships/hyperlink" Target="https://github.com/USSoccerFederation/ussf_ssac_23_soccer_gnn" TargetMode="External" /><ns0:Relationship Id="rIdWorkshop5" Type="http://schemas.openxmlformats.org/officeDocument/2006/relationships/hyperlink" Target="https://www.nature.com/articles/s41467-024-45965-x" TargetMode="External" /></ns0:Relationships>
</file>

<file path=ppt/slides/_rels/slide42.xml.rels><?xml version='1.0' encoding='utf-8'?>
<ns0:Relationships xmlns:ns0="http://schemas.openxmlformats.org/package/2006/relationships"><ns0:Relationship Type="http://schemas.openxmlformats.org/officeDocument/2006/relationships/slideLayout" Target="/ppt/slideLayouts/slideLayout6.xml" Id="R4a2d93d2e540426e" /><ns0:Relationship Type="http://schemas.openxmlformats.org/officeDocument/2006/relationships/image" Target="/ppt/media/image42.png" Id="R461246dfef524909" /><ns0:Relationship Type="http://schemas.openxmlformats.org/officeDocument/2006/relationships/notesSlide" Target="/ppt/notesSlides/notesSlide42.xml" Id="Rc83db9745a1549fb" /><ns0:Relationship Id="rIdWorkshop4" Type="http://schemas.openxmlformats.org/officeDocument/2006/relationships/hyperlink" Target="https://github.com/USSoccerFederation/ussf_ssac_23_soccer_gnn" TargetMode="External" /></ns0:Relationships>
</file>

<file path=ppt/slides/_rels/slide43.xml.rels><?xml version='1.0' encoding='utf-8'?>
<ns0:Relationships xmlns:ns0="http://schemas.openxmlformats.org/package/2006/relationships"><ns0:Relationship Type="http://schemas.openxmlformats.org/officeDocument/2006/relationships/slideLayout" Target="/ppt/slideLayouts/slideLayout6.xml" Id="Rd62b2f12d2cf4bbf" /><ns0:Relationship Type="http://schemas.openxmlformats.org/officeDocument/2006/relationships/image" Target="/ppt/media/image43.png" Id="Rf95d15afa8164559" /><ns0:Relationship Type="http://schemas.openxmlformats.org/officeDocument/2006/relationships/notesSlide" Target="/ppt/notesSlides/notesSlide43.xml" Id="Rac645a6ebf6641bb" /><ns0:Relationship Id="rIdWorkshop4" Type="http://schemas.openxmlformats.org/officeDocument/2006/relationships/hyperlink" Target="https://www.nature.com/articles/s41467-024-45965-x" TargetMode="External" /><ns0:Relationship Id="rIdWorkshop5" Type="http://schemas.openxmlformats.org/officeDocument/2006/relationships/hyperlink" Target="https://github.com/hyunsungkim-ds/defcon" TargetMode="External" /></ns0:Relationships>
</file>

<file path=ppt/slides/_rels/slide44.xml.rels><?xml version='1.0' encoding='utf-8'?>
<ns0:Relationships xmlns:ns0="http://schemas.openxmlformats.org/package/2006/relationships"><ns0:Relationship Type="http://schemas.openxmlformats.org/officeDocument/2006/relationships/slideLayout" Target="/ppt/slideLayouts/slideLayout6.xml" Id="R7ea604d8dc784e9a" /><ns0:Relationship Type="http://schemas.openxmlformats.org/officeDocument/2006/relationships/image" Target="/ppt/media/image44.png" Id="R77a47d89108e42a3" /><ns0:Relationship Type="http://schemas.openxmlformats.org/officeDocument/2006/relationships/notesSlide" Target="/ppt/notesSlides/notesSlide44.xml" Id="R59eb4c71038b4ee4" /><ns0:Relationship Id="rIdWorkshop4" Type="http://schemas.openxmlformats.org/officeDocument/2006/relationships/hyperlink" Target="https://github.com/USSoccerFederation/ussf_ssac_23_soccer_gnn" TargetMode="External" /><ns0:Relationship Id="rIdWorkshop5" Type="http://schemas.openxmlformats.org/officeDocument/2006/relationships/hyperlink" Target="https://databallpy.readthedocs.io/en/main/getting_started/preprocessing_options.html" TargetMode="External" /></ns0:Relationships>
</file>

<file path=ppt/slides/_rels/slide45.xml.rels><?xml version='1.0' encoding='utf-8'?>
<ns0:Relationships xmlns:ns0="http://schemas.openxmlformats.org/package/2006/relationships"><ns0:Relationship Type="http://schemas.openxmlformats.org/officeDocument/2006/relationships/slideLayout" Target="/ppt/slideLayouts/slideLayout6.xml" Id="R2d4e56dd81e04369" /><ns0:Relationship Type="http://schemas.openxmlformats.org/officeDocument/2006/relationships/image" Target="/ppt/media/image45.png" Id="R1694359227b040e5" /><ns0:Relationship Type="http://schemas.openxmlformats.org/officeDocument/2006/relationships/notesSlide" Target="/ppt/notesSlides/notesSlide45.xml" Id="R5d8d041de2be4763" /><ns0:Relationship Id="rIdWorkshop4" Type="http://schemas.openxmlformats.org/officeDocument/2006/relationships/hyperlink" Target="https://github.com/USSoccerFederation/ussf_ssac_23_soccer_gnn" TargetMode="External" /><ns0:Relationship Id="rIdWorkshop5" Type="http://schemas.openxmlformats.org/officeDocument/2006/relationships/hyperlink" Target="https://github.com/hyunsungkim-ds/pathcrf" TargetMode="External" /></ns0:Relationships>
</file>

<file path=ppt/slides/_rels/slide46.xml.rels><?xml version='1.0' encoding='utf-8'?>
<ns0:Relationships xmlns:ns0="http://schemas.openxmlformats.org/package/2006/relationships"><ns0:Relationship Type="http://schemas.openxmlformats.org/officeDocument/2006/relationships/slideLayout" Target="/ppt/slideLayouts/slideLayout6.xml" Id="R481a76488d49477f" /><ns0:Relationship Type="http://schemas.openxmlformats.org/officeDocument/2006/relationships/image" Target="/ppt/media/image46.png" Id="Rb706ebcf1b5d4bee" /><ns0:Relationship Type="http://schemas.openxmlformats.org/officeDocument/2006/relationships/notesSlide" Target="/ppt/notesSlides/notesSlide46.xml" Id="R17f240f1175a4d73" /><ns0:Relationship Id="rIdWorkshop4" Type="http://schemas.openxmlformats.org/officeDocument/2006/relationships/hyperlink" Target="https://github.com/hyunsungkim-ds/pathcrf" TargetMode="External" /></ns0:Relationships>
</file>

<file path=ppt/slides/_rels/slide47.xml.rels><?xml version='1.0' encoding='utf-8'?>
<ns0:Relationships xmlns:ns0="http://schemas.openxmlformats.org/package/2006/relationships"><ns0:Relationship Type="http://schemas.openxmlformats.org/officeDocument/2006/relationships/slideLayout" Target="/ppt/slideLayouts/slideLayout6.xml" Id="Rf2ae01370d164ce1" /><ns0:Relationship Type="http://schemas.openxmlformats.org/officeDocument/2006/relationships/image" Target="/ppt/media/image47.png" Id="R27f7bceeb4dc48bc" /><ns0:Relationship Type="http://schemas.openxmlformats.org/officeDocument/2006/relationships/notesSlide" Target="/ppt/notesSlides/notesSlide47.xml" Id="R497deeffe8aa4211" /><ns0:Relationship Id="rIdWorkshop4" Type="http://schemas.openxmlformats.org/officeDocument/2006/relationships/hyperlink" Target="https://pytorch-geometric-temporal.readthedocs.io/en/latest/modules/root.html" TargetMode="External" /></ns0:Relationships>
</file>

<file path=ppt/slides/_rels/slide48.xml.rels><?xml version='1.0' encoding='utf-8'?>
<ns0:Relationships xmlns:ns0="http://schemas.openxmlformats.org/package/2006/relationships"><ns0:Relationship Type="http://schemas.openxmlformats.org/officeDocument/2006/relationships/slideLayout" Target="/ppt/slideLayouts/slideLayout6.xml" Id="R8c9c287fe090400e" /><ns0:Relationship Type="http://schemas.openxmlformats.org/officeDocument/2006/relationships/image" Target="/ppt/media/image48.png" Id="R02a2c92d37944cc7" /><ns0:Relationship Type="http://schemas.openxmlformats.org/officeDocument/2006/relationships/notesSlide" Target="/ppt/notesSlides/notesSlide48.xml" Id="Rbb991ffb284845af" /><ns0:Relationship Id="rIdWorkshop4" Type="http://schemas.openxmlformats.org/officeDocument/2006/relationships/hyperlink" Target="https://arxiv.org/abs/1803.01271" TargetMode="External" /></ns0:Relationships>
</file>

<file path=ppt/slides/_rels/slide49.xml.rels><?xml version='1.0' encoding='utf-8'?>
<ns0:Relationships xmlns:ns0="http://schemas.openxmlformats.org/package/2006/relationships"><ns0:Relationship Type="http://schemas.openxmlformats.org/officeDocument/2006/relationships/slideLayout" Target="/ppt/slideLayouts/slideLayout6.xml" Id="R7d3e3ea325fc4696" /><ns0:Relationship Type="http://schemas.openxmlformats.org/officeDocument/2006/relationships/image" Target="/ppt/media/image49.png" Id="R6ad116c6824b4083" /><ns0:Relationship Type="http://schemas.openxmlformats.org/officeDocument/2006/relationships/notesSlide" Target="/ppt/notesSlides/notesSlide49.xml" Id="R6671e63ec4e94cc6" /><ns0:Relationship Id="rIdWorkshop4" Type="http://schemas.openxmlformats.org/officeDocument/2006/relationships/hyperlink" Target="https://arxiv.org/abs/1706.03762" TargetMode="External" /><ns0:Relationship Id="rIdWorkshop5" Type="http://schemas.openxmlformats.org/officeDocument/2006/relationships/hyperlink" Target="https://pytorch-geometric-temporal.readthedocs.io/en/latest/modules/root.html" TargetMode="External" /></ns0:Relationships>
</file>

<file path=ppt/slides/_rels/slide50.xml.rels><?xml version='1.0' encoding='utf-8'?>
<ns0:Relationships xmlns:ns0="http://schemas.openxmlformats.org/package/2006/relationships"><ns0:Relationship Type="http://schemas.openxmlformats.org/officeDocument/2006/relationships/slideLayout" Target="/ppt/slideLayouts/slideLayout6.xml" Id="R6d7595d2d402476b" /><ns0:Relationship Type="http://schemas.openxmlformats.org/officeDocument/2006/relationships/image" Target="/ppt/media/image50.png" Id="R29bfdd34dc2d47e5" /><ns0:Relationship Type="http://schemas.openxmlformats.org/officeDocument/2006/relationships/notesSlide" Target="/ppt/notesSlides/notesSlide50.xml" Id="Rc78f9bdb202b4690" /><ns0:Relationship Id="rIdWorkshop4" Type="http://schemas.openxmlformats.org/officeDocument/2006/relationships/hyperlink" Target="https://pytorch-geometric-temporal.readthedocs.io/en/latest/modules/root.html" TargetMode="External" /><ns0:Relationship Id="rIdWorkshop5" Type="http://schemas.openxmlformats.org/officeDocument/2006/relationships/hyperlink" Target="https://github.com/hyunsungkim-ds/pathcrf" TargetMode="External" /></ns0:Relationships>
</file>

<file path=ppt/slides/_rels/slide51.xml.rels><?xml version='1.0' encoding='utf-8'?>
<ns0:Relationships xmlns:ns0="http://schemas.openxmlformats.org/package/2006/relationships"><ns0:Relationship Type="http://schemas.openxmlformats.org/officeDocument/2006/relationships/slideLayout" Target="/ppt/slideLayouts/slideLayout6.xml" Id="R2cfaf451042c4ae1" /><ns0:Relationship Type="http://schemas.openxmlformats.org/officeDocument/2006/relationships/image" Target="/ppt/media/image51.png" Id="Re8bb3a82b5fe41d9" /><ns0:Relationship Type="http://schemas.openxmlformats.org/officeDocument/2006/relationships/notesSlide" Target="/ppt/notesSlides/notesSlide51.xml" Id="R66bcc258c46e4871" /><ns0:Relationship Id="rIdWorkshop4" Type="http://schemas.openxmlformats.org/officeDocument/2006/relationships/hyperlink" Target="https://arxiv.org/abs/2010.10202" TargetMode="External" /></ns0:Relationships>
</file>

<file path=ppt/slides/_rels/slide52.xml.rels><?xml version='1.0' encoding='utf-8'?>
<ns0:Relationships xmlns:ns0="http://schemas.openxmlformats.org/package/2006/relationships"><ns0:Relationship Type="http://schemas.openxmlformats.org/officeDocument/2006/relationships/slideLayout" Target="/ppt/slideLayouts/slideLayout6.xml" Id="R08dd56a2e33b4261" /><ns0:Relationship Type="http://schemas.openxmlformats.org/officeDocument/2006/relationships/image" Target="/ppt/media/image52.png" Id="R32338dda25004883" /><ns0:Relationship Type="http://schemas.openxmlformats.org/officeDocument/2006/relationships/notesSlide" Target="/ppt/notesSlides/notesSlide52.xml" Id="Rf037a840095343ca" /><ns0:Relationship Id="rIdWorkshop4" Type="http://schemas.openxmlformats.org/officeDocument/2006/relationships/hyperlink" Target="https://rawcdn.githack.com/UnravelSports/keynotes/main/html/20250607-PyData-London.html" TargetMode="External" /><ns0:Relationship Id="rIdWorkshop5" Type="http://schemas.openxmlformats.org/officeDocument/2006/relationships/hyperlink" Target="https://unravelsports.readthedocs.io/en/latest/tutorials/soccer_gnn.html" TargetMode="External" /></ns0:Relationships>
</file>

<file path=ppt/slides/_rels/slide53.xml.rels><?xml version='1.0' encoding='utf-8'?>
<ns0:Relationships xmlns:ns0="http://schemas.openxmlformats.org/package/2006/relationships"><ns0:Relationship Type="http://schemas.openxmlformats.org/officeDocument/2006/relationships/slideLayout" Target="/ppt/slideLayouts/slideLayout6.xml" Id="Rd0934d69cc764085" /><ns0:Relationship Type="http://schemas.openxmlformats.org/officeDocument/2006/relationships/image" Target="/ppt/media/image53.png" Id="R23996b22fdd14ef2" /><ns0:Relationship Type="http://schemas.openxmlformats.org/officeDocument/2006/relationships/notesSlide" Target="/ppt/notesSlides/notesSlide53.xml" Id="Re8270134e85a4131" /><ns0:Relationship Id="rIdWorkshop4" Type="http://schemas.openxmlformats.org/officeDocument/2006/relationships/hyperlink" Target="https://rawcdn.githack.com/UnravelSports/keynotes/main/html/20250607-PyData-London.html" TargetMode="External" /><ns0:Relationship Id="rIdWorkshop5" Type="http://schemas.openxmlformats.org/officeDocument/2006/relationships/hyperlink" Target="https://unravelsports.readthedocs.io/en/latest/tutorials/soccer_gnn.html" TargetMode="External" /></ns0:Relationships>
</file>

<file path=ppt/slides/_rels/slide54.xml.rels><?xml version='1.0' encoding='utf-8'?>
<ns0:Relationships xmlns:ns0="http://schemas.openxmlformats.org/package/2006/relationships"><ns0:Relationship Type="http://schemas.openxmlformats.org/officeDocument/2006/relationships/slideLayout" Target="/ppt/slideLayouts/slideLayout6.xml" Id="R22469e3bf9f94c3b" /><ns0:Relationship Type="http://schemas.openxmlformats.org/officeDocument/2006/relationships/image" Target="/ppt/media/image54.png" Id="R2987e6fe3da944b5" /><ns0:Relationship Type="http://schemas.openxmlformats.org/officeDocument/2006/relationships/notesSlide" Target="/ppt/notesSlides/notesSlide54.xml" Id="R9750d56130e24e09" /><ns0:Relationship Id="rIdWorkshop4" Type="http://schemas.openxmlformats.org/officeDocument/2006/relationships/hyperlink" Target="https://rawcdn.githack.com/UnravelSports/keynotes/main/html/20250607-PyData-London.html" TargetMode="External" /><ns0:Relationship Id="rIdWorkshop5" Type="http://schemas.openxmlformats.org/officeDocument/2006/relationships/hyperlink" Target="https://unravelsports.readthedocs.io/en/latest/tutorials/soccer_gnn.html" TargetMode="External" /></ns0:Relationships>
</file>

<file path=ppt/slides/_rels/slide55.xml.rels><?xml version='1.0' encoding='utf-8'?>
<ns0:Relationships xmlns:ns0="http://schemas.openxmlformats.org/package/2006/relationships"><ns0:Relationship Type="http://schemas.openxmlformats.org/officeDocument/2006/relationships/slideLayout" Target="/ppt/slideLayouts/slideLayout6.xml" Id="Rc963fea91f1d4b46" /><ns0:Relationship Type="http://schemas.openxmlformats.org/officeDocument/2006/relationships/image" Target="/ppt/media/image55.png" Id="R5a65151c3efe47a4" /><ns0:Relationship Type="http://schemas.openxmlformats.org/officeDocument/2006/relationships/notesSlide" Target="/ppt/notesSlides/notesSlide55.xml" Id="Re19b9f0ba20d45c0" /><ns0:Relationship Id="rIdWorkshop4" Type="http://schemas.openxmlformats.org/officeDocument/2006/relationships/hyperlink" Target="https://pmc.ncbi.nlm.nih.gov/articles/PMC8570314/" TargetMode="External" /><ns0:Relationship Id="rIdWorkshop5" Type="http://schemas.openxmlformats.org/officeDocument/2006/relationships/hyperlink" Target="https://github.com/hyunsungkim-ds/defcon" TargetMode="External" /></ns0:Relationships>
</file>

<file path=ppt/slides/_rels/slide56.xml.rels><?xml version='1.0' encoding='utf-8'?>
<ns0:Relationships xmlns:ns0="http://schemas.openxmlformats.org/package/2006/relationships"><ns0:Relationship Type="http://schemas.openxmlformats.org/officeDocument/2006/relationships/slideLayout" Target="/ppt/slideLayouts/slideLayout6.xml" Id="Rb06f922bb49346b9" /><ns0:Relationship Type="http://schemas.openxmlformats.org/officeDocument/2006/relationships/image" Target="/ppt/media/image56.png" Id="Raefdc8388d7b4ba9" /><ns0:Relationship Type="http://schemas.openxmlformats.org/officeDocument/2006/relationships/notesSlide" Target="/ppt/notesSlides/notesSlide56.xml" Id="Rf7c8134ad4a4490f" /><ns0:Relationship Id="rIdWorkshop4" Type="http://schemas.openxmlformats.org/officeDocument/2006/relationships/hyperlink" Target="https://github.com/SkillCorner/opendata" TargetMode="External" /><ns0:Relationship Id="rIdWorkshop5" Type="http://schemas.openxmlformats.org/officeDocument/2006/relationships/hyperlink" Target="https://pmc.ncbi.nlm.nih.gov/articles/PMC8570314/" TargetMode="External" /></ns0:Relationships>
</file>

<file path=ppt/slides/_rels/slide57.xml.rels><?xml version='1.0' encoding='utf-8'?>
<ns0:Relationships xmlns:ns0="http://schemas.openxmlformats.org/package/2006/relationships"><ns0:Relationship Type="http://schemas.openxmlformats.org/officeDocument/2006/relationships/slideLayout" Target="/ppt/slideLayouts/slideLayout6.xml" Id="R9cb40beba4134bb5" /><ns0:Relationship Type="http://schemas.openxmlformats.org/officeDocument/2006/relationships/image" Target="/ppt/media/image57.png" Id="R64a8450c6ba44b74" /><ns0:Relationship Type="http://schemas.openxmlformats.org/officeDocument/2006/relationships/notesSlide" Target="/ppt/notesSlides/notesSlide57.xml" Id="Rf29becd18e2e4f79" /><ns0:Relationship Id="rIdWorkshop4" Type="http://schemas.openxmlformats.org/officeDocument/2006/relationships/hyperlink" Target="https://github.com/hyunsungkim-ds/defcon" TargetMode="External" /></ns0:Relationships>
</file>

<file path=ppt/slides/_rels/slide58.xml.rels><?xml version='1.0' encoding='utf-8'?>
<ns0:Relationships xmlns:ns0="http://schemas.openxmlformats.org/package/2006/relationships"><ns0:Relationship Type="http://schemas.openxmlformats.org/officeDocument/2006/relationships/slideLayout" Target="/ppt/slideLayouts/slideLayout6.xml" Id="R4022c400a36b40d1" /><ns0:Relationship Type="http://schemas.openxmlformats.org/officeDocument/2006/relationships/image" Target="/ppt/media/image58.png" Id="R98b70f15cf40499f" /><ns0:Relationship Type="http://schemas.openxmlformats.org/officeDocument/2006/relationships/notesSlide" Target="/ppt/notesSlides/notesSlide58.xml" Id="R790425f8cc194ad4" /><ns0:Relationship Id="rIdWorkshop4" Type="http://schemas.openxmlformats.org/officeDocument/2006/relationships/hyperlink" Target="https://github.com/USSoccerFederation/ussf_ssac_23_soccer_gnn" TargetMode="External" /></ns0:Relationships>
</file>

<file path=ppt/slides/_rels/slide59.xml.rels><?xml version='1.0' encoding='utf-8'?>
<ns0:Relationships xmlns:ns0="http://schemas.openxmlformats.org/package/2006/relationships"><ns0:Relationship Type="http://schemas.openxmlformats.org/officeDocument/2006/relationships/slideLayout" Target="/ppt/slideLayouts/slideLayout6.xml" Id="R065fa4e59e3d434d" /><ns0:Relationship Type="http://schemas.openxmlformats.org/officeDocument/2006/relationships/image" Target="/ppt/media/image59.png" Id="R90a24324b5104512" /><ns0:Relationship Type="http://schemas.openxmlformats.org/officeDocument/2006/relationships/notesSlide" Target="/ppt/notesSlides/notesSlide59.xml" Id="R2e2ed497bea94efc" /><ns0:Relationship Id="rIdWorkshop4" Type="http://schemas.openxmlformats.org/officeDocument/2006/relationships/hyperlink" Target="https://www.nature.com/articles/s41467-024-45965-x" TargetMode="External" /></ns0:Relationships>
</file>

<file path=ppt/slides/_rels/slide60.xml.rels><?xml version='1.0' encoding='utf-8'?>
<ns0:Relationships xmlns:ns0="http://schemas.openxmlformats.org/package/2006/relationships"><ns0:Relationship Type="http://schemas.openxmlformats.org/officeDocument/2006/relationships/slideLayout" Target="/ppt/slideLayouts/slideLayout6.xml" Id="Rd48822fc0b054d7a" /><ns0:Relationship Type="http://schemas.openxmlformats.org/officeDocument/2006/relationships/image" Target="/ppt/media/image60.png" Id="R1d6feab54eef415a" /><ns0:Relationship Type="http://schemas.openxmlformats.org/officeDocument/2006/relationships/notesSlide" Target="/ppt/notesSlides/notesSlide60.xml" Id="Rbdf3d17547e9408d" /><ns0:Relationship Id="rIdWorkshop4" Type="http://schemas.openxmlformats.org/officeDocument/2006/relationships/hyperlink" Target="https://arxiv.org/abs/2604.11786" TargetMode="External" /></ns0:Relationships>
</file>

<file path=ppt/slides/_rels/slide61.xml.rels><?xml version='1.0' encoding='utf-8'?>
<ns0:Relationships xmlns:ns0="http://schemas.openxmlformats.org/package/2006/relationships"><ns0:Relationship Type="http://schemas.openxmlformats.org/officeDocument/2006/relationships/slideLayout" Target="/ppt/slideLayouts/slideLayout6.xml" Id="R40354b87e87a4e65" /><ns0:Relationship Type="http://schemas.openxmlformats.org/officeDocument/2006/relationships/image" Target="/ppt/media/image61.png" Id="Rdac2ea60c81043cc" /><ns0:Relationship Type="http://schemas.openxmlformats.org/officeDocument/2006/relationships/notesSlide" Target="/ppt/notesSlides/notesSlide61.xml" Id="R89c069dac3a843e0" /><ns0:Relationship Id="rIdWorkshop4" Type="http://schemas.openxmlformats.org/officeDocument/2006/relationships/hyperlink" Target="https://pmc.ncbi.nlm.nih.gov/articles/PMC8570314/" TargetMode="External" /><ns0:Relationship Id="rIdWorkshop5" Type="http://schemas.openxmlformats.org/officeDocument/2006/relationships/hyperlink" Target="https://github.com/jonas-bischofberger/accessible-space" TargetMode="External" /></ns0:Relationships>
</file>

<file path=ppt/slides/slide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90DA0920-1DA5-454A-8100-7DA7F128A1E0}"/>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A6A22FB3-9375-4C6C-8B4C-C7075E835553}"/>
              </a:ext>
            </a:extLst>
          </p:cNvPr>
          <p:cNvSpPr>
            <a:spLocks noGrp="1"/>
          </p:cNvSpPr>
          <p:nvPr/>
        </p:nvSpPr>
        <p:spPr>
          <a:xfrm>
            <a:off x="571500" y="400050"/>
            <a:ext cx="11049000" cy="809625"/>
          </a:xfrm>
          <a:prstGeom prst="rect">
            <a:avLst/>
          </a:prstGeom>
          <a:noFill/>
          <a:ln w="0">
            <a:noFill/>
          </a:ln>
        </p:spPr>
        <p:txBody>
          <a:bodyPr/>
          <a:lstStyle>
            <a:defPPr>
              <a:defRPr sz="3750" b="1">
                <a:solidFill>
                  <a:srgbClr val="183A35"/>
                </a:solidFill>
                <a:latin typeface="Arial"/>
                <a:ea typeface="Arial"/>
                <a:cs typeface="Arial"/>
              </a:defRPr>
            </a:defPPr>
            <a:lvl1pPr>
              <a:defRPr sz="3750" b="1">
                <a:solidFill>
                  <a:srgbClr val="183A35"/>
                </a:solidFill>
                <a:latin typeface="Arial"/>
                <a:ea typeface="Arial"/>
                <a:cs typeface="Arial"/>
              </a:defRPr>
            </a:lvl1pPr>
            <a:lvl2pPr>
              <a:defRPr sz="3750" b="1">
                <a:solidFill>
                  <a:srgbClr val="183A35"/>
                </a:solidFill>
                <a:latin typeface="Arial"/>
                <a:ea typeface="Arial"/>
                <a:cs typeface="Arial"/>
              </a:defRPr>
            </a:lvl2pPr>
            <a:lvl3pPr>
              <a:defRPr sz="3750" b="1">
                <a:solidFill>
                  <a:srgbClr val="183A35"/>
                </a:solidFill>
                <a:latin typeface="Arial"/>
                <a:ea typeface="Arial"/>
                <a:cs typeface="Arial"/>
              </a:defRPr>
            </a:lvl3pPr>
            <a:lvl4pPr>
              <a:defRPr sz="3750" b="1">
                <a:solidFill>
                  <a:srgbClr val="183A35"/>
                </a:solidFill>
                <a:latin typeface="Arial"/>
                <a:ea typeface="Arial"/>
                <a:cs typeface="Arial"/>
              </a:defRPr>
            </a:lvl4pPr>
            <a:lvl5pPr>
              <a:defRPr sz="3750" b="1">
                <a:solidFill>
                  <a:srgbClr val="183A35"/>
                </a:solidFill>
                <a:latin typeface="Arial"/>
                <a:ea typeface="Arial"/>
                <a:cs typeface="Arial"/>
              </a:defRPr>
            </a:lvl5pPr>
            <a:lvl6pPr>
              <a:defRPr sz="3750" b="1">
                <a:solidFill>
                  <a:srgbClr val="183A35"/>
                </a:solidFill>
                <a:latin typeface="Arial"/>
                <a:ea typeface="Arial"/>
                <a:cs typeface="Arial"/>
              </a:defRPr>
            </a:lvl6pPr>
            <a:lvl7pPr>
              <a:defRPr sz="3750" b="1">
                <a:solidFill>
                  <a:srgbClr val="183A35"/>
                </a:solidFill>
                <a:latin typeface="Arial"/>
                <a:ea typeface="Arial"/>
                <a:cs typeface="Arial"/>
              </a:defRPr>
            </a:lvl7pPr>
            <a:lvl8pPr>
              <a:defRPr sz="3750" b="1">
                <a:solidFill>
                  <a:srgbClr val="183A35"/>
                </a:solidFill>
                <a:latin typeface="Arial"/>
                <a:ea typeface="Arial"/>
                <a:cs typeface="Arial"/>
              </a:defRPr>
            </a:lvl8pPr>
            <a:lvl9pPr>
              <a:defRPr sz="3750" b="1">
                <a:solidFill>
                  <a:srgbClr val="183A35"/>
                </a:solidFill>
                <a:latin typeface="Arial"/>
                <a:ea typeface="Arial"/>
                <a:cs typeface="Arial"/>
              </a:defRPr>
            </a:lvl9pPr>
          </a:lstStyle>
          <a:p>
            <a:pPr>
              <a:defRPr sz="3750" b="1">
                <a:solidFill>
                  <a:srgbClr val="183A35"/>
                </a:solidFill>
                <a:latin typeface="Arial"/>
                <a:ea typeface="Arial"/>
                <a:cs typeface="Arial"/>
              </a:defRPr>
            </a:pPr>
            <a:r>
              <a:rPr sz="3750" b="1">
                <a:solidFill>
                  <a:srgbClr val="183A35"/>
                </a:solidFill>
                <a:latin typeface="Arial"/>
                <a:ea typeface="Arial"/>
                <a:cs typeface="Arial"/>
              </a:rPr>
              <a:t>Tracking Data Applied</a:t>
            </a:r>
          </a:p>
        </p:txBody>
      </p:sp>
      <p:sp>
        <p:nvSpPr>
          <p:cNvPr id="3" name="">
            <a:extLst>
              <a:ext uri="{FF2B5EF4-FFF2-40B4-BE49-F238E27FC236}">
                <ns2:creationId id="{0777FE90-97ED-4341-BDBE-3F4C10234FE7}"/>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DEFA5CFA-AFA8-4AD9-97DF-500E566295ED}"/>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Soccer analytics with SkillCorner</a:t>
            </a:r>
          </a:p>
        </p:txBody>
      </p:sp>
      <p:sp>
        <p:nvSpPr>
          <p:cNvPr id="5" name="">
            <a:extLst>
              <a:ext uri="{FF2B5EF4-FFF2-40B4-BE49-F238E27FC236}">
                <ns2:creationId id="{77BD5ACD-C350-4A3D-85F3-B02456B889E6}"/>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548E0ACB-B06F-4B15-AB52-32337852CDEC}"/>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From coordinates to football questions</a:t>
            </a:r>
          </a:p>
        </p:txBody>
      </p:sp>
      <p:sp>
        <p:nvSpPr>
          <p:cNvPr id="7" name="">
            <a:extLst>
              <a:ext uri="{FF2B5EF4-FFF2-40B4-BE49-F238E27FC236}">
                <ns2:creationId id="{8A1598D8-D90C-4A30-8B09-28BD2A9396C4}"/>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10021003-8162-4D55-8C7F-6277A8AADC5E}"/>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Methods, assumptions and interpretation</a:t>
            </a:r>
          </a:p>
        </p:txBody>
      </p:sp>
      <p:pic>
        <p:nvPicPr>
          <p:cNvPr id="9" name="">
            <a:extLst>
              <a:ext uri="{FF2B5EF4-FFF2-40B4-BE49-F238E27FC236}">
                <ns2:creationId id="{F7D05073-EC1E-4811-BBE8-7E977BAB1CEC}"/>
              </a:ext>
            </a:extLst>
          </p:cNvPr>
          <p:cNvPicPr>
            <a:picLocks noChangeAspect="1"/>
          </p:cNvPicPr>
          <p:nvPr/>
        </p:nvPicPr>
        <p:blipFill>
          <a:blip r:embed="R0774a99dae034c74"/>
          <a:stretch/>
        </p:blipFill>
        <p:spPr>
          <a:xfrm>
            <a:off x="4785910" y="1333500"/>
            <a:ext cx="6239680" cy="4333875"/>
          </a:xfrm>
          <a:prstGeom prst="rect">
            <a:avLst/>
          </a:prstGeom>
        </p:spPr>
      </p:pic>
      <p:sp>
        <p:nvSpPr>
          <p:cNvPr id="10" name="">
            <a:extLst>
              <a:ext uri="{FF2B5EF4-FFF2-40B4-BE49-F238E27FC236}">
                <ns2:creationId id="{DA7398CF-06CC-465D-83BD-2F99E0E50546}"/>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SkillCorner open data and schema</a:t>
            </a:r>
          </a:p>
        </p:txBody>
      </p:sp>
      <p:sp>
        <p:nvSpPr>
          <p:cNvPr id="11" name="">
            <a:extLst>
              <a:ext uri="{FF2B5EF4-FFF2-40B4-BE49-F238E27FC236}">
                <ns2:creationId id="{B842BE63-0361-4A7A-B97D-AC71BC98CEE4}"/>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1 / 61</a:t>
            </a:r>
          </a:p>
        </p:txBody>
      </p:sp>
    </p:spTree>
    <p:extLst>
      <p:ext uri="{BB962C8B-B14F-4D97-AF65-F5344CB8AC3E}">
        <ns4:creationId val="1536765674"/>
      </p:ext>
    </p:extLst>
  </p:cSld>
</p:sld>
</file>

<file path=ppt/slides/slide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4" name="">
            <a:extLst>
              <a:ext uri="{FF2B5EF4-FFF2-40B4-BE49-F238E27FC236}">
                <ns2:creationId id="{CC1E5FAD-9EA9-43F8-BB5E-2A8035F03CB3}"/>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BFE33855-2525-417F-81EA-F0AC6B340547}"/>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Data and documentation</a:t>
            </a:r>
          </a:p>
        </p:txBody>
      </p:sp>
      <p:sp>
        <p:nvSpPr>
          <p:cNvPr id="3" name="">
            <a:extLst>
              <a:ext uri="{FF2B5EF4-FFF2-40B4-BE49-F238E27FC236}">
                <ns2:creationId id="{636E94F5-3E0E-4385-850D-22A5FD173BD8}"/>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BAA9FE15-A874-48FF-996F-6E601D4E459F}"/>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hlinkClick r:id="rIdWorkshop4"/>
              </a:rPr>
              <a:t>SkillCorner/opendata: tracking and supplied labels</a:t>
            </a:r>
          </a:p>
        </p:txBody>
      </p:sp>
      <p:sp>
        <p:nvSpPr>
          <p:cNvPr id="5" name="">
            <a:extLst>
              <a:ext uri="{FF2B5EF4-FFF2-40B4-BE49-F238E27FC236}">
                <ns2:creationId id="{E7C3EE22-CC29-4379-9CE3-0CACF6B977B4}"/>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9A819485-5CD7-4095-B7C1-4625F5C21D84}"/>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hlinkClick r:id="rIdWorkshop5"/>
              </a:rPr>
              <a:t>kloppy: load and standardize</a:t>
            </a:r>
          </a:p>
        </p:txBody>
      </p:sp>
      <p:sp>
        <p:nvSpPr>
          <p:cNvPr id="7" name="">
            <a:extLst>
              <a:ext uri="{FF2B5EF4-FFF2-40B4-BE49-F238E27FC236}">
                <ns2:creationId id="{C1310974-1EB0-4571-9ABE-69AE880E6290}"/>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1AC6A567-178A-4915-9148-F50A63247BBE}"/>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hlinkClick r:id="rIdWorkshop6"/>
              </a:rPr>
              <a:t>DataBallPy: metric explanations and models</a:t>
            </a:r>
          </a:p>
        </p:txBody>
      </p:sp>
      <p:pic>
        <p:nvPicPr>
          <p:cNvPr id="9" name="">
            <a:extLst>
              <a:ext uri="{FF2B5EF4-FFF2-40B4-BE49-F238E27FC236}">
                <ns2:creationId id="{13633F6B-298C-4D94-958B-4CC3AF1B8BA6}"/>
              </a:ext>
            </a:extLst>
          </p:cNvPr>
          <p:cNvPicPr>
            <a:picLocks noChangeAspect="1"/>
          </p:cNvPicPr>
          <p:nvPr/>
        </p:nvPicPr>
        <p:blipFill>
          <a:blip r:embed="Ra2f76bdb2dca475e"/>
          <a:stretch/>
        </p:blipFill>
        <p:spPr>
          <a:xfrm>
            <a:off x="4254473" y="1333500"/>
            <a:ext cx="7302555" cy="4333875"/>
          </a:xfrm>
          <a:prstGeom prst="rect">
            <a:avLst/>
          </a:prstGeom>
        </p:spPr>
      </p:pic>
      <p:sp>
        <p:nvSpPr>
          <p:cNvPr id="10" name="">
            <a:extLst>
              <a:ext uri="{FF2B5EF4-FFF2-40B4-BE49-F238E27FC236}">
                <ns2:creationId id="{4CE4DE55-7EF4-40B3-BF42-0828F04750D4}"/>
              </a:ext>
            </a:extLst>
          </p:cNvPr>
          <p:cNvSpPr>
            <a:spLocks noGrp="1"/>
          </p:cNvSpPr>
          <p:nvPr/>
        </p:nvSpPr>
        <p:spPr>
          <a:xfrm>
            <a:off x="571500" y="6257925"/>
            <a:ext cx="3365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7"/>
              </a:rPr>
              <a:t>SkillCorner open data and schema</a:t>
            </a:r>
          </a:p>
        </p:txBody>
      </p:sp>
      <p:sp>
        <p:nvSpPr>
          <p:cNvPr id="11" name="">
            <a:extLst>
              <a:ext uri="{FF2B5EF4-FFF2-40B4-BE49-F238E27FC236}">
                <ns2:creationId id="{D2AD77A2-680E-4666-A533-1FC7363080A8}"/>
              </a:ext>
            </a:extLst>
          </p:cNvPr>
          <p:cNvSpPr>
            <a:spLocks noGrp="1"/>
          </p:cNvSpPr>
          <p:nvPr/>
        </p:nvSpPr>
        <p:spPr>
          <a:xfrm>
            <a:off x="4000500" y="6257925"/>
            <a:ext cx="3365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8"/>
              </a:rPr>
              <a:t>kloppy SkillCorner loader</a:t>
            </a:r>
          </a:p>
        </p:txBody>
      </p:sp>
      <p:sp>
        <p:nvSpPr>
          <p:cNvPr id="12" name="">
            <a:extLst>
              <a:ext uri="{FF2B5EF4-FFF2-40B4-BE49-F238E27FC236}">
                <ns2:creationId id="{2255435C-A237-4F5E-84EF-3BAD304A8A59}"/>
              </a:ext>
            </a:extLst>
          </p:cNvPr>
          <p:cNvSpPr>
            <a:spLocks noGrp="1"/>
          </p:cNvSpPr>
          <p:nvPr/>
        </p:nvSpPr>
        <p:spPr>
          <a:xfrm>
            <a:off x="7429500" y="6257925"/>
            <a:ext cx="3365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9"/>
              </a:rPr>
              <a:t>DataBallPy covered distance</a:t>
            </a:r>
          </a:p>
        </p:txBody>
      </p:sp>
      <p:sp>
        <p:nvSpPr>
          <p:cNvPr id="13" name="">
            <a:extLst>
              <a:ext uri="{FF2B5EF4-FFF2-40B4-BE49-F238E27FC236}">
                <ns2:creationId id="{B61DFF34-A749-4124-B94E-45C78C64EDA1}"/>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2 / 61</a:t>
            </a:r>
          </a:p>
        </p:txBody>
      </p:sp>
    </p:spTree>
    <p:extLst>
      <p:ext uri="{BB962C8B-B14F-4D97-AF65-F5344CB8AC3E}">
        <ns4:creationId val="1599220242"/>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4" name="">
            <a:extLst>
              <a:ext uri="{FF2B5EF4-FFF2-40B4-BE49-F238E27FC236}">
                <ns2:creationId id="{B5C9EFC8-A291-46F2-B861-77592980808C}"/>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7E02550D-6472-4567-9038-AE114E93427A}"/>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Loading tracking data</a:t>
            </a:r>
          </a:p>
        </p:txBody>
      </p:sp>
      <p:sp>
        <p:nvSpPr>
          <p:cNvPr id="3" name="">
            <a:extLst>
              <a:ext uri="{FF2B5EF4-FFF2-40B4-BE49-F238E27FC236}">
                <ns2:creationId id="{9B3B8E44-B6EC-400F-A56E-E74BA159AD6B}"/>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AA1B0DA0-7526-4E6E-83DD-60B6F216088B}"/>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Load match metadata and JSONL with kloppy</a:t>
            </a:r>
          </a:p>
        </p:txBody>
      </p:sp>
      <p:sp>
        <p:nvSpPr>
          <p:cNvPr id="5" name="">
            <a:extLst>
              <a:ext uri="{FF2B5EF4-FFF2-40B4-BE49-F238E27FC236}">
                <ns2:creationId id="{E9D1CB72-FB9B-43BE-8284-2472F8023A50}"/>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416706D1-FE9C-4CBF-AEB3-7CF75E38E7B8}"/>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Retain frame IDs, periods and native metres</a:t>
            </a:r>
          </a:p>
        </p:txBody>
      </p:sp>
      <p:sp>
        <p:nvSpPr>
          <p:cNvPr id="7" name="">
            <a:extLst>
              <a:ext uri="{FF2B5EF4-FFF2-40B4-BE49-F238E27FC236}">
                <ns2:creationId id="{0B94986C-CAC8-4F22-A9B5-51973BAB0BE1}"/>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EADD5F27-8A5F-4A0F-88AB-98F1BA84A6B2}"/>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Convert to a dataframe for analysis</a:t>
            </a:r>
          </a:p>
        </p:txBody>
      </p:sp>
      <p:pic>
        <p:nvPicPr>
          <p:cNvPr id="9" name="">
            <a:extLst>
              <a:ext uri="{FF2B5EF4-FFF2-40B4-BE49-F238E27FC236}">
                <ns2:creationId id="{3FDAB137-3C6A-4BB9-B7F8-A1449C8D2A73}"/>
              </a:ext>
            </a:extLst>
          </p:cNvPr>
          <p:cNvPicPr>
            <a:picLocks noChangeAspect="1"/>
          </p:cNvPicPr>
          <p:nvPr/>
        </p:nvPicPr>
        <p:blipFill>
          <a:blip r:embed="R5ced52230e5849c2"/>
          <a:stretch/>
        </p:blipFill>
        <p:spPr>
          <a:xfrm>
            <a:off x="4254473" y="1333500"/>
            <a:ext cx="7302555" cy="4333875"/>
          </a:xfrm>
          <a:prstGeom prst="rect">
            <a:avLst/>
          </a:prstGeom>
        </p:spPr>
      </p:pic>
      <p:sp>
        <p:nvSpPr>
          <p:cNvPr id="10" name="">
            <a:extLst>
              <a:ext uri="{FF2B5EF4-FFF2-40B4-BE49-F238E27FC236}">
                <ns2:creationId id="{16CE703F-EAEF-4DC8-993B-20616ED4240D}"/>
              </a:ext>
            </a:extLst>
          </p:cNvPr>
          <p:cNvSpPr>
            <a:spLocks noGrp="1"/>
          </p:cNvSpPr>
          <p:nvPr/>
        </p:nvSpPr>
        <p:spPr>
          <a:xfrm>
            <a:off x="571500" y="5715000"/>
            <a:ext cx="11049000" cy="409575"/>
          </a:xfrm>
          <a:prstGeom prst="rect">
            <a:avLst/>
          </a:prstGeom>
          <a:solidFill>
            <a:srgbClr val="E0EEE8"/>
          </a:solidFill>
          <a:ln w="0">
            <a:noFill/>
          </a:ln>
        </p:spPr>
      </p:sp>
      <p:sp>
        <p:nvSpPr>
          <p:cNvPr id="11" name="">
            <a:extLst>
              <a:ext uri="{FF2B5EF4-FFF2-40B4-BE49-F238E27FC236}">
                <ns2:creationId id="{BB9BED9F-9924-4339-ADD9-453E1DCE873B}"/>
              </a:ext>
            </a:extLst>
          </p:cNvPr>
          <p:cNvSpPr>
            <a:spLocks noGrp="1"/>
          </p:cNvSpPr>
          <p:nvPr/>
        </p:nvSpPr>
        <p:spPr>
          <a:xfrm>
            <a:off x="742950" y="5791200"/>
            <a:ext cx="10668000" cy="32385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NOTEBOOK · load and inspect</a:t>
            </a:r>
          </a:p>
        </p:txBody>
      </p:sp>
      <p:sp>
        <p:nvSpPr>
          <p:cNvPr id="12" name="">
            <a:extLst>
              <a:ext uri="{FF2B5EF4-FFF2-40B4-BE49-F238E27FC236}">
                <ns2:creationId id="{AD656AF7-0816-4BE9-B7E1-0B3B75D698F4}"/>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kloppy SkillCorner loader</a:t>
            </a:r>
          </a:p>
        </p:txBody>
      </p:sp>
      <p:sp>
        <p:nvSpPr>
          <p:cNvPr id="13" name="">
            <a:extLst>
              <a:ext uri="{FF2B5EF4-FFF2-40B4-BE49-F238E27FC236}">
                <ns2:creationId id="{11A187D4-F83D-4A66-B4DB-480E5A70F1A4}"/>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3 / 61</a:t>
            </a:r>
          </a:p>
        </p:txBody>
      </p:sp>
    </p:spTree>
    <p:extLst>
      <p:ext uri="{BB962C8B-B14F-4D97-AF65-F5344CB8AC3E}">
        <ns4:creationId val="1297869714"/>
      </p:ext>
    </p:extLst>
  </p:cSld>
</p:sld>
</file>

<file path=ppt/slides/slide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EE840BCB-250F-4C79-89EB-10B56F14EA0B}"/>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3E5FF3A3-1280-40F1-B984-DD67E7958AA3}"/>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Tracking quality and visibility</a:t>
            </a:r>
          </a:p>
        </p:txBody>
      </p:sp>
      <p:sp>
        <p:nvSpPr>
          <p:cNvPr id="3" name="">
            <a:extLst>
              <a:ext uri="{FF2B5EF4-FFF2-40B4-BE49-F238E27FC236}">
                <ns2:creationId id="{1BC9A1F7-2737-46A1-9498-543E298D015E}"/>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41BF9451-9282-4069-A0DA-FC65ACA50A69}"/>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Separate detected from extrapolated positions</a:t>
            </a:r>
          </a:p>
        </p:txBody>
      </p:sp>
      <p:sp>
        <p:nvSpPr>
          <p:cNvPr id="5" name="">
            <a:extLst>
              <a:ext uri="{FF2B5EF4-FFF2-40B4-BE49-F238E27FC236}">
                <ns2:creationId id="{2FEA9EDA-66CA-47D3-B566-08FE7C61C974}"/>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ABC80767-C3EF-4641-BC90-4FE44B2686EE}"/>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Keep missingness and coverage visible</a:t>
            </a:r>
          </a:p>
        </p:txBody>
      </p:sp>
      <p:sp>
        <p:nvSpPr>
          <p:cNvPr id="7" name="">
            <a:extLst>
              <a:ext uri="{FF2B5EF4-FFF2-40B4-BE49-F238E27FC236}">
                <ns2:creationId id="{21431B6C-A580-4C9F-BC2D-2F9E5FBD7C52}"/>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C6A0360D-25C1-40D0-BD37-30B2CF56E1A5}"/>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Avoid derivatives across gaps or periods</a:t>
            </a:r>
          </a:p>
        </p:txBody>
      </p:sp>
      <p:pic>
        <p:nvPicPr>
          <p:cNvPr id="9" name="">
            <a:extLst>
              <a:ext uri="{FF2B5EF4-FFF2-40B4-BE49-F238E27FC236}">
                <ns2:creationId id="{BEE66F4C-647F-4934-9218-8ED5AE4ABC9E}"/>
              </a:ext>
            </a:extLst>
          </p:cNvPr>
          <p:cNvPicPr>
            <a:picLocks noChangeAspect="1"/>
          </p:cNvPicPr>
          <p:nvPr/>
        </p:nvPicPr>
        <p:blipFill>
          <a:blip r:embed="R38544468acec4650"/>
          <a:stretch/>
        </p:blipFill>
        <p:spPr>
          <a:xfrm>
            <a:off x="4785910" y="1333500"/>
            <a:ext cx="6239680" cy="4333875"/>
          </a:xfrm>
          <a:prstGeom prst="rect">
            <a:avLst/>
          </a:prstGeom>
        </p:spPr>
      </p:pic>
      <p:sp>
        <p:nvSpPr>
          <p:cNvPr id="10" name="">
            <a:extLst>
              <a:ext uri="{FF2B5EF4-FFF2-40B4-BE49-F238E27FC236}">
                <ns2:creationId id="{2204132E-9F65-4ADF-B77E-34C495FC22F9}"/>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SkillCorner open data and schema</a:t>
            </a:r>
          </a:p>
        </p:txBody>
      </p:sp>
      <p:sp>
        <p:nvSpPr>
          <p:cNvPr id="11" name="">
            <a:extLst>
              <a:ext uri="{FF2B5EF4-FFF2-40B4-BE49-F238E27FC236}">
                <ns2:creationId id="{8AC9D623-C3AD-491C-B10B-0AA4AAE79D1A}"/>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DataBallPy preprocessing</a:t>
            </a:r>
          </a:p>
        </p:txBody>
      </p:sp>
      <p:sp>
        <p:nvSpPr>
          <p:cNvPr id="12" name="">
            <a:extLst>
              <a:ext uri="{FF2B5EF4-FFF2-40B4-BE49-F238E27FC236}">
                <ns2:creationId id="{E34D7B9E-F077-4EC9-9FE4-5A3824F8C376}"/>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4 / 61</a:t>
            </a:r>
          </a:p>
        </p:txBody>
      </p:sp>
    </p:spTree>
    <p:extLst>
      <p:ext uri="{BB962C8B-B14F-4D97-AF65-F5344CB8AC3E}">
        <ns4:creationId val="540010340"/>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B8374E20-7658-4DF4-AD4C-7DAB5E2DC9A6}"/>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DE3215B4-2351-43B6-8F98-3BB001B2E395}"/>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Plotting a tracking frame</a:t>
            </a:r>
          </a:p>
        </p:txBody>
      </p:sp>
      <p:sp>
        <p:nvSpPr>
          <p:cNvPr id="3" name="">
            <a:extLst>
              <a:ext uri="{FF2B5EF4-FFF2-40B4-BE49-F238E27FC236}">
                <ns2:creationId id="{98F183CD-3156-4F87-9702-268782344769}"/>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7958D3CA-8289-4FBE-989E-99DF1F38D02C}"/>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Draw the pitch in the data’s coordinate system</a:t>
            </a:r>
          </a:p>
        </p:txBody>
      </p:sp>
      <p:sp>
        <p:nvSpPr>
          <p:cNvPr id="5" name="">
            <a:extLst>
              <a:ext uri="{FF2B5EF4-FFF2-40B4-BE49-F238E27FC236}">
                <ns2:creationId id="{7E584373-34F2-4D73-B479-AB5769490A45}"/>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AE92786C-387A-4E35-BE94-E3FFDBEFE19B}"/>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Color by team and identify the ball</a:t>
            </a:r>
          </a:p>
        </p:txBody>
      </p:sp>
      <p:sp>
        <p:nvSpPr>
          <p:cNvPr id="7" name="">
            <a:extLst>
              <a:ext uri="{FF2B5EF4-FFF2-40B4-BE49-F238E27FC236}">
                <ns2:creationId id="{6CB59A48-C20E-46F8-94D3-980A919EA12D}"/>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7BD33D84-CF9A-48D2-8A78-26A6422F76E1}"/>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Check direction before calculating goal-related features</a:t>
            </a:r>
          </a:p>
        </p:txBody>
      </p:sp>
      <p:pic>
        <p:nvPicPr>
          <p:cNvPr id="9" name="">
            <a:extLst>
              <a:ext uri="{FF2B5EF4-FFF2-40B4-BE49-F238E27FC236}">
                <ns2:creationId id="{D6EB2A85-E355-4837-8642-3C8D7E20C323}"/>
              </a:ext>
            </a:extLst>
          </p:cNvPr>
          <p:cNvPicPr>
            <a:picLocks noChangeAspect="1"/>
          </p:cNvPicPr>
          <p:nvPr/>
        </p:nvPicPr>
        <p:blipFill>
          <a:blip r:embed="R2547aa7dd5c644d9"/>
          <a:stretch/>
        </p:blipFill>
        <p:spPr>
          <a:xfrm>
            <a:off x="4785910" y="1333500"/>
            <a:ext cx="6239680" cy="4333875"/>
          </a:xfrm>
          <a:prstGeom prst="rect">
            <a:avLst/>
          </a:prstGeom>
        </p:spPr>
      </p:pic>
      <p:sp>
        <p:nvSpPr>
          <p:cNvPr id="10" name="">
            <a:extLst>
              <a:ext uri="{FF2B5EF4-FFF2-40B4-BE49-F238E27FC236}">
                <ns2:creationId id="{D1946FAC-BEAC-4209-BC9A-5A8F401C7A80}"/>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SkillCorner open data and schema</a:t>
            </a:r>
          </a:p>
        </p:txBody>
      </p:sp>
      <p:sp>
        <p:nvSpPr>
          <p:cNvPr id="11" name="">
            <a:extLst>
              <a:ext uri="{FF2B5EF4-FFF2-40B4-BE49-F238E27FC236}">
                <ns2:creationId id="{BF29B6CC-9D7F-4E09-9E78-F3EF9C51710E}"/>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5 / 61</a:t>
            </a:r>
          </a:p>
        </p:txBody>
      </p:sp>
    </p:spTree>
    <p:extLst>
      <p:ext uri="{BB962C8B-B14F-4D97-AF65-F5344CB8AC3E}">
        <ns4:creationId val="1672164636"/>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0267C7A0-B3EC-40AE-BE24-01093AF755F0}"/>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C2379260-9609-4D13-BAEF-82802B08038D}"/>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Animating a sequence</a:t>
            </a:r>
          </a:p>
        </p:txBody>
      </p:sp>
      <p:sp>
        <p:nvSpPr>
          <p:cNvPr id="3" name="">
            <a:extLst>
              <a:ext uri="{FF2B5EF4-FFF2-40B4-BE49-F238E27FC236}">
                <ns2:creationId id="{98940BAA-CE5C-434D-8484-BF3294392231}"/>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5FEE5A22-DCE9-4F63-A71D-39CFEC79FFAF}"/>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Keep player identities consistent across frames</a:t>
            </a:r>
          </a:p>
        </p:txBody>
      </p:sp>
      <p:sp>
        <p:nvSpPr>
          <p:cNvPr id="5" name="">
            <a:extLst>
              <a:ext uri="{FF2B5EF4-FFF2-40B4-BE49-F238E27FC236}">
                <ns2:creationId id="{85DCC320-B760-487C-9CC2-AD2BF4BE0FBA}"/>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8F57FC5B-86D2-41E3-94F4-B4FB9E95409A}"/>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Use playback to inspect motion and tactical context</a:t>
            </a:r>
          </a:p>
        </p:txBody>
      </p:sp>
      <p:sp>
        <p:nvSpPr>
          <p:cNvPr id="7" name="">
            <a:extLst>
              <a:ext uri="{FF2B5EF4-FFF2-40B4-BE49-F238E27FC236}">
                <ns2:creationId id="{A0349753-3F84-4CE3-A093-13062DEEFD5A}"/>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FB0E4985-1CB7-42B0-B2FC-0BEE0AEA01D6}"/>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Overlay model outputs on the same sequence</a:t>
            </a:r>
          </a:p>
        </p:txBody>
      </p:sp>
      <p:pic>
        <p:nvPicPr>
          <p:cNvPr id="9" name="">
            <a:extLst>
              <a:ext uri="{FF2B5EF4-FFF2-40B4-BE49-F238E27FC236}">
                <ns2:creationId id="{276EA6D2-0470-41E9-A4CC-2AFBE69588CE}"/>
              </a:ext>
            </a:extLst>
          </p:cNvPr>
          <p:cNvPicPr>
            <a:picLocks noChangeAspect="1"/>
          </p:cNvPicPr>
          <p:nvPr/>
        </p:nvPicPr>
        <p:blipFill>
          <a:blip r:embed="Ra4f807647ae6407c"/>
          <a:stretch/>
        </p:blipFill>
        <p:spPr>
          <a:xfrm>
            <a:off x="4095750" y="2561828"/>
            <a:ext cx="7620000" cy="1877219"/>
          </a:xfrm>
          <a:prstGeom prst="rect">
            <a:avLst/>
          </a:prstGeom>
        </p:spPr>
      </p:pic>
      <p:sp>
        <p:nvSpPr>
          <p:cNvPr id="10" name="">
            <a:extLst>
              <a:ext uri="{FF2B5EF4-FFF2-40B4-BE49-F238E27FC236}">
                <ns2:creationId id="{AB6266A6-FAB8-4403-A414-C9DF940944EE}"/>
              </a:ext>
            </a:extLst>
          </p:cNvPr>
          <p:cNvSpPr>
            <a:spLocks noGrp="1"/>
          </p:cNvSpPr>
          <p:nvPr/>
        </p:nvSpPr>
        <p:spPr>
          <a:xfrm>
            <a:off x="571500" y="5715000"/>
            <a:ext cx="11049000" cy="409575"/>
          </a:xfrm>
          <a:prstGeom prst="rect">
            <a:avLst/>
          </a:prstGeom>
          <a:solidFill>
            <a:srgbClr val="E0EEE8"/>
          </a:solidFill>
          <a:ln w="0">
            <a:noFill/>
          </a:ln>
        </p:spPr>
      </p:sp>
      <p:sp>
        <p:nvSpPr>
          <p:cNvPr id="11" name="">
            <a:extLst>
              <a:ext uri="{FF2B5EF4-FFF2-40B4-BE49-F238E27FC236}">
                <ns2:creationId id="{F72EF04C-B4BD-45BE-B92B-B54ED97383B3}"/>
              </a:ext>
            </a:extLst>
          </p:cNvPr>
          <p:cNvSpPr>
            <a:spLocks noGrp="1"/>
          </p:cNvSpPr>
          <p:nvPr/>
        </p:nvSpPr>
        <p:spPr>
          <a:xfrm>
            <a:off x="742950" y="5791200"/>
            <a:ext cx="10668000" cy="32385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NOTEBOOK · play the sequence</a:t>
            </a:r>
          </a:p>
        </p:txBody>
      </p:sp>
      <p:sp>
        <p:nvSpPr>
          <p:cNvPr id="12" name="">
            <a:extLst>
              <a:ext uri="{FF2B5EF4-FFF2-40B4-BE49-F238E27FC236}">
                <ns2:creationId id="{DC7EAEC5-5977-4D86-B30D-3F2F325EF834}"/>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kloppy SkillCorner loader</a:t>
            </a:r>
          </a:p>
        </p:txBody>
      </p:sp>
      <p:sp>
        <p:nvSpPr>
          <p:cNvPr id="13" name="">
            <a:extLst>
              <a:ext uri="{FF2B5EF4-FFF2-40B4-BE49-F238E27FC236}">
                <ns2:creationId id="{DF1DA416-19AD-441E-8954-94EB0B5008A6}"/>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Friends of Tracking: pitch control and EPV tutorials</a:t>
            </a:r>
          </a:p>
        </p:txBody>
      </p:sp>
      <p:sp>
        <p:nvSpPr>
          <p:cNvPr id="14" name="">
            <a:extLst>
              <a:ext uri="{FF2B5EF4-FFF2-40B4-BE49-F238E27FC236}">
                <ns2:creationId id="{2A6C050C-C0DB-480A-9A1D-1EE51CCD1FB0}"/>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6 / 61</a:t>
            </a:r>
          </a:p>
        </p:txBody>
      </p:sp>
    </p:spTree>
    <p:extLst>
      <p:ext uri="{BB962C8B-B14F-4D97-AF65-F5344CB8AC3E}">
        <ns4:creationId val="2053897586"/>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4721E18B-29DE-47EC-A69C-C56C855FFC41}"/>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BD49FEE7-7932-4F1A-B11C-61543740F3C3}"/>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Possession detection</a:t>
            </a:r>
          </a:p>
        </p:txBody>
      </p:sp>
      <p:sp>
        <p:nvSpPr>
          <p:cNvPr id="3" name="">
            <a:extLst>
              <a:ext uri="{FF2B5EF4-FFF2-40B4-BE49-F238E27FC236}">
                <ns2:creationId id="{5E976D5C-C272-4FA5-A77B-52F79A76FDC1}"/>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82FB47EF-F66E-4AEC-8EA4-9F75B33E9F0A}"/>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Find the nearest player inside a candidate zone</a:t>
            </a:r>
          </a:p>
        </p:txBody>
      </p:sp>
      <p:sp>
        <p:nvSpPr>
          <p:cNvPr id="5" name="">
            <a:extLst>
              <a:ext uri="{FF2B5EF4-FFF2-40B4-BE49-F238E27FC236}">
                <ns2:creationId id="{C1C6775A-843E-40B9-96E0-393A17ACF7EB}"/>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FB8EA927-4900-4F73-84D8-1251AA337A51}"/>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Use ball motion to distinguish touches from flyovers</a:t>
            </a:r>
          </a:p>
        </p:txBody>
      </p:sp>
      <p:sp>
        <p:nvSpPr>
          <p:cNvPr id="7" name="">
            <a:extLst>
              <a:ext uri="{FF2B5EF4-FFF2-40B4-BE49-F238E27FC236}">
                <ns2:creationId id="{CC3A4555-3EE1-4B3C-8D1C-FE301CAD6F94}"/>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76FBF8BB-86AF-4B26-865E-2A5A75024211}"/>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Leave ambiguous frames unassigned</a:t>
            </a:r>
          </a:p>
        </p:txBody>
      </p:sp>
      <p:pic>
        <p:nvPicPr>
          <p:cNvPr id="9" name="">
            <a:extLst>
              <a:ext uri="{FF2B5EF4-FFF2-40B4-BE49-F238E27FC236}">
                <ns2:creationId id="{932D2648-319E-455E-A19F-A2F3BD10E230}"/>
              </a:ext>
            </a:extLst>
          </p:cNvPr>
          <p:cNvPicPr>
            <a:picLocks noChangeAspect="1"/>
          </p:cNvPicPr>
          <p:nvPr/>
        </p:nvPicPr>
        <p:blipFill>
          <a:blip r:embed="R85bd8995627e4e0a"/>
          <a:stretch/>
        </p:blipFill>
        <p:spPr>
          <a:xfrm>
            <a:off x="4246089" y="1333500"/>
            <a:ext cx="7319323" cy="4333875"/>
          </a:xfrm>
          <a:prstGeom prst="rect">
            <a:avLst/>
          </a:prstGeom>
        </p:spPr>
      </p:pic>
      <p:sp>
        <p:nvSpPr>
          <p:cNvPr id="10" name="">
            <a:extLst>
              <a:ext uri="{FF2B5EF4-FFF2-40B4-BE49-F238E27FC236}">
                <ns2:creationId id="{551FAE74-DCB0-467C-8EBA-79CB1F45AC3B}"/>
              </a:ext>
            </a:extLst>
          </p:cNvPr>
          <p:cNvSpPr>
            <a:spLocks noGrp="1"/>
          </p:cNvSpPr>
          <p:nvPr/>
        </p:nvSpPr>
        <p:spPr>
          <a:xfrm>
            <a:off x="571500" y="5715000"/>
            <a:ext cx="11049000" cy="409575"/>
          </a:xfrm>
          <a:prstGeom prst="rect">
            <a:avLst/>
          </a:prstGeom>
          <a:solidFill>
            <a:srgbClr val="E0EEE8"/>
          </a:solidFill>
          <a:ln w="0">
            <a:noFill/>
          </a:ln>
        </p:spPr>
      </p:sp>
      <p:sp>
        <p:nvSpPr>
          <p:cNvPr id="11" name="">
            <a:extLst>
              <a:ext uri="{FF2B5EF4-FFF2-40B4-BE49-F238E27FC236}">
                <ns2:creationId id="{D6B25935-3734-4CF7-AE97-CA427DCFEF20}"/>
              </a:ext>
            </a:extLst>
          </p:cNvPr>
          <p:cNvSpPr>
            <a:spLocks noGrp="1"/>
          </p:cNvSpPr>
          <p:nvPr/>
        </p:nvSpPr>
        <p:spPr>
          <a:xfrm>
            <a:off x="742950" y="5791200"/>
            <a:ext cx="10668000" cy="32385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NOTEBOOK · inspect the candidate detector</a:t>
            </a:r>
          </a:p>
        </p:txBody>
      </p:sp>
      <p:sp>
        <p:nvSpPr>
          <p:cNvPr id="12" name="">
            <a:extLst>
              <a:ext uri="{FF2B5EF4-FFF2-40B4-BE49-F238E27FC236}">
                <ns2:creationId id="{BAFE0577-8AAF-4016-8C17-02918C30C61B}"/>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DataBallPy preprocessing</a:t>
            </a:r>
          </a:p>
        </p:txBody>
      </p:sp>
      <p:sp>
        <p:nvSpPr>
          <p:cNvPr id="13" name="">
            <a:extLst>
              <a:ext uri="{FF2B5EF4-FFF2-40B4-BE49-F238E27FC236}">
                <ns2:creationId id="{981DD627-3BA2-47F5-80C5-76FEFC15338E}"/>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PathCRF: player trajectories to events (2026)</a:t>
            </a:r>
          </a:p>
        </p:txBody>
      </p:sp>
      <p:sp>
        <p:nvSpPr>
          <p:cNvPr id="14" name="">
            <a:extLst>
              <a:ext uri="{FF2B5EF4-FFF2-40B4-BE49-F238E27FC236}">
                <ns2:creationId id="{CDE81D8D-E918-49C1-9D41-7EC1A5BD20AB}"/>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7 / 61</a:t>
            </a:r>
          </a:p>
        </p:txBody>
      </p:sp>
    </p:spTree>
    <p:extLst>
      <p:ext uri="{BB962C8B-B14F-4D97-AF65-F5344CB8AC3E}">
        <ns4:creationId val="1369112208"/>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14BD368E-75FE-46F1-A416-1D001AF13C2E}"/>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967C9D9F-163E-4A1C-BF34-A1ACC19D57D1}"/>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Pass-event detection</a:t>
            </a:r>
          </a:p>
        </p:txBody>
      </p:sp>
      <p:sp>
        <p:nvSpPr>
          <p:cNvPr id="3" name="">
            <a:extLst>
              <a:ext uri="{FF2B5EF4-FFF2-40B4-BE49-F238E27FC236}">
                <ns2:creationId id="{A623104F-E24D-4F15-8185-1835EEFB3E9D}"/>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993C03F4-D3ED-4D92-B695-275CD5335210}"/>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Detect release, ball travel and reception cues</a:t>
            </a:r>
          </a:p>
        </p:txBody>
      </p:sp>
      <p:sp>
        <p:nvSpPr>
          <p:cNvPr id="5" name="">
            <a:extLst>
              <a:ext uri="{FF2B5EF4-FFF2-40B4-BE49-F238E27FC236}">
                <ns2:creationId id="{AEA02766-D483-47AD-BD0A-FC5AFF7EC8B7}"/>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01A98752-ADAA-4280-B580-BBD2F7CA9B2E}"/>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Track a change between plausible player possessions</a:t>
            </a:r>
          </a:p>
        </p:txBody>
      </p:sp>
      <p:sp>
        <p:nvSpPr>
          <p:cNvPr id="7" name="">
            <a:extLst>
              <a:ext uri="{FF2B5EF4-FFF2-40B4-BE49-F238E27FC236}">
                <ns2:creationId id="{C4FFE166-DD1E-4A9F-BDEA-AD95E49BAF83}"/>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2227841C-3DE7-4BE6-B5AA-D3E5CDE68E51}"/>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Validate event timing against video or labels</a:t>
            </a:r>
          </a:p>
        </p:txBody>
      </p:sp>
      <p:pic>
        <p:nvPicPr>
          <p:cNvPr id="9" name="">
            <a:extLst>
              <a:ext uri="{FF2B5EF4-FFF2-40B4-BE49-F238E27FC236}">
                <ns2:creationId id="{C463BFAE-F560-42EF-87DC-F19DA8D0B714}"/>
              </a:ext>
            </a:extLst>
          </p:cNvPr>
          <p:cNvPicPr>
            <a:picLocks noChangeAspect="1"/>
          </p:cNvPicPr>
          <p:nvPr/>
        </p:nvPicPr>
        <p:blipFill>
          <a:blip r:embed="Rb4a0dcfa97b64e00"/>
          <a:stretch/>
        </p:blipFill>
        <p:spPr>
          <a:xfrm>
            <a:off x="4905756" y="1333500"/>
            <a:ext cx="5999987" cy="4333875"/>
          </a:xfrm>
          <a:prstGeom prst="rect">
            <a:avLst/>
          </a:prstGeom>
        </p:spPr>
      </p:pic>
      <p:sp>
        <p:nvSpPr>
          <p:cNvPr id="10" name="">
            <a:extLst>
              <a:ext uri="{FF2B5EF4-FFF2-40B4-BE49-F238E27FC236}">
                <ns2:creationId id="{494B492B-F274-4CFA-AC2D-38DC08DE9B82}"/>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PathCRF: player trajectories to events (2026)</a:t>
            </a:r>
          </a:p>
        </p:txBody>
      </p:sp>
      <p:sp>
        <p:nvSpPr>
          <p:cNvPr id="11" name="">
            <a:extLst>
              <a:ext uri="{FF2B5EF4-FFF2-40B4-BE49-F238E27FC236}">
                <ns2:creationId id="{94E4F04E-6BD5-4DB0-B368-349D3C98B059}"/>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DataBallPy preprocessing</a:t>
            </a:r>
          </a:p>
        </p:txBody>
      </p:sp>
      <p:sp>
        <p:nvSpPr>
          <p:cNvPr id="12" name="">
            <a:extLst>
              <a:ext uri="{FF2B5EF4-FFF2-40B4-BE49-F238E27FC236}">
                <ns2:creationId id="{012D001E-76D5-4477-A7C4-3B0C7462990E}"/>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8 / 61</a:t>
            </a:r>
          </a:p>
        </p:txBody>
      </p:sp>
    </p:spTree>
    <p:extLst>
      <p:ext uri="{BB962C8B-B14F-4D97-AF65-F5344CB8AC3E}">
        <ns4:creationId val="1569349356"/>
      </p:ext>
    </p:extLst>
  </p:cSld>
</p:sld>
</file>

<file path=ppt/slides/slide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5DAB88FD-7515-4C5A-B9E9-4754DA19A87A}"/>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5CCF20B1-84E4-4B76-A3A8-3E1552E85C1E}"/>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Guess the current player roles</a:t>
            </a:r>
          </a:p>
        </p:txBody>
      </p:sp>
      <p:sp>
        <p:nvSpPr>
          <p:cNvPr id="3" name="">
            <a:extLst>
              <a:ext uri="{FF2B5EF4-FFF2-40B4-BE49-F238E27FC236}">
                <ns2:creationId id="{2A8E24C0-3664-4B6F-987E-FBC9B00A7B29}"/>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3A61845C-328F-4025-882F-068424D57C49}"/>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Inspect two real team snapshots</a:t>
            </a:r>
          </a:p>
        </p:txBody>
      </p:sp>
      <p:sp>
        <p:nvSpPr>
          <p:cNvPr id="5" name="">
            <a:extLst>
              <a:ext uri="{FF2B5EF4-FFF2-40B4-BE49-F238E27FC236}">
                <ns2:creationId id="{11407020-3C96-4403-934D-1706D08AA697}"/>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44FBD738-70E6-4F4D-ACAB-D48A7B34CDF3}"/>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Distinguish assigned position from occupied role</a:t>
            </a:r>
          </a:p>
        </p:txBody>
      </p:sp>
      <p:sp>
        <p:nvSpPr>
          <p:cNvPr id="7" name="">
            <a:extLst>
              <a:ext uri="{FF2B5EF4-FFF2-40B4-BE49-F238E27FC236}">
                <ns2:creationId id="{9709BA63-401A-4DAA-A26B-E520EFB6352A}"/>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FC887B84-4FDE-43C1-B72D-81B95C5734EF}"/>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Use relative geometry to explain your answer</a:t>
            </a:r>
          </a:p>
        </p:txBody>
      </p:sp>
      <p:pic>
        <p:nvPicPr>
          <p:cNvPr id="9" name="">
            <a:extLst>
              <a:ext uri="{FF2B5EF4-FFF2-40B4-BE49-F238E27FC236}">
                <ns2:creationId id="{C0ABA7AC-5FD9-40B6-8062-63C949D42203}"/>
              </a:ext>
            </a:extLst>
          </p:cNvPr>
          <p:cNvPicPr>
            <a:picLocks noChangeAspect="1"/>
          </p:cNvPicPr>
          <p:nvPr/>
        </p:nvPicPr>
        <p:blipFill>
          <a:blip r:embed="R0d2e90cb6a064c44"/>
          <a:stretch/>
        </p:blipFill>
        <p:spPr>
          <a:xfrm>
            <a:off x="4095750" y="1915531"/>
            <a:ext cx="7620000" cy="3169813"/>
          </a:xfrm>
          <a:prstGeom prst="rect">
            <a:avLst/>
          </a:prstGeom>
        </p:spPr>
      </p:pic>
      <p:sp>
        <p:nvSpPr>
          <p:cNvPr id="10" name="">
            <a:extLst>
              <a:ext uri="{FF2B5EF4-FFF2-40B4-BE49-F238E27FC236}">
                <ns2:creationId id="{71E0B0E7-C71D-423D-BF3D-4425B366A666}"/>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Devin Pleuler: Fixed to Fluid (2024)</a:t>
            </a:r>
          </a:p>
        </p:txBody>
      </p:sp>
      <p:sp>
        <p:nvSpPr>
          <p:cNvPr id="11" name="">
            <a:extLst>
              <a:ext uri="{FF2B5EF4-FFF2-40B4-BE49-F238E27FC236}">
                <ns2:creationId id="{993018F9-68B4-44BC-A44A-6E578CF3C449}"/>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9 / 61</a:t>
            </a:r>
          </a:p>
        </p:txBody>
      </p:sp>
    </p:spTree>
    <p:extLst>
      <p:ext uri="{BB962C8B-B14F-4D97-AF65-F5344CB8AC3E}">
        <ns4:creationId val="1285605248"/>
      </p:ext>
    </p:extLst>
  </p:cSld>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2AD33135-1352-44FB-8AFC-3DE985C0B73D}"/>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81C38084-4647-48DD-ADB9-4A6E2600B841}"/>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Position distributions and centering</a:t>
            </a:r>
          </a:p>
        </p:txBody>
      </p:sp>
      <p:sp>
        <p:nvSpPr>
          <p:cNvPr id="3" name="">
            <a:extLst>
              <a:ext uri="{FF2B5EF4-FFF2-40B4-BE49-F238E27FC236}">
                <ns2:creationId id="{EEE522B8-01D3-4644-A484-1634E9D6DA7C}"/>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1F59ED25-A6FD-4ADF-95D4-AD56A5A0D334}"/>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Plot a mean and covariance for each player</a:t>
            </a:r>
          </a:p>
        </p:txBody>
      </p:sp>
      <p:sp>
        <p:nvSpPr>
          <p:cNvPr id="5" name="">
            <a:extLst>
              <a:ext uri="{FF2B5EF4-FFF2-40B4-BE49-F238E27FC236}">
                <ns2:creationId id="{1E085CAB-DA9F-4894-8632-1D84CBB4E324}"/>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271090EA-67D4-4197-B957-1558E9A1B13E}"/>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Subtract the team centroid in every frame</a:t>
            </a:r>
          </a:p>
        </p:txBody>
      </p:sp>
      <p:sp>
        <p:nvSpPr>
          <p:cNvPr id="7" name="">
            <a:extLst>
              <a:ext uri="{FF2B5EF4-FFF2-40B4-BE49-F238E27FC236}">
                <ns2:creationId id="{360B102F-16B0-4236-BAE5-51DFCA02E9FB}"/>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0AB490A8-7F6E-4941-AE01-B477AC7F85E4}"/>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Compare dispersion before assigning a formation</a:t>
            </a:r>
          </a:p>
        </p:txBody>
      </p:sp>
      <p:pic>
        <p:nvPicPr>
          <p:cNvPr id="9" name="">
            <a:extLst>
              <a:ext uri="{FF2B5EF4-FFF2-40B4-BE49-F238E27FC236}">
                <ns2:creationId id="{AF913464-EFF8-4056-8212-F4E9AF35F928}"/>
              </a:ext>
            </a:extLst>
          </p:cNvPr>
          <p:cNvPicPr>
            <a:picLocks noChangeAspect="1"/>
          </p:cNvPicPr>
          <p:nvPr/>
        </p:nvPicPr>
        <p:blipFill>
          <a:blip r:embed="R5917059df2ec40d7"/>
          <a:stretch/>
        </p:blipFill>
        <p:spPr>
          <a:xfrm>
            <a:off x="4095750" y="1864405"/>
            <a:ext cx="7620000" cy="3272065"/>
          </a:xfrm>
          <a:prstGeom prst="rect">
            <a:avLst/>
          </a:prstGeom>
        </p:spPr>
      </p:pic>
      <p:sp>
        <p:nvSpPr>
          <p:cNvPr id="10" name="">
            <a:extLst>
              <a:ext uri="{FF2B5EF4-FFF2-40B4-BE49-F238E27FC236}">
                <ns2:creationId id="{F121E881-0A3F-48C5-B2CE-2EBCB26B6BD0}"/>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Devin Pleuler: Fixed to Fluid (2024)</a:t>
            </a:r>
          </a:p>
        </p:txBody>
      </p:sp>
      <p:sp>
        <p:nvSpPr>
          <p:cNvPr id="11" name="">
            <a:extLst>
              <a:ext uri="{FF2B5EF4-FFF2-40B4-BE49-F238E27FC236}">
                <ns2:creationId id="{47BB47F3-872E-4F06-B986-187428A99335}"/>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Shaw &amp; Glickman: Dynamic Analysis of Team Strategy</a:t>
            </a:r>
          </a:p>
        </p:txBody>
      </p:sp>
      <p:sp>
        <p:nvSpPr>
          <p:cNvPr id="12" name="">
            <a:extLst>
              <a:ext uri="{FF2B5EF4-FFF2-40B4-BE49-F238E27FC236}">
                <ns2:creationId id="{AA79F1E5-EC68-480A-9042-C52671A883FD}"/>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10 / 61</a:t>
            </a:r>
          </a:p>
        </p:txBody>
      </p:sp>
    </p:spTree>
    <p:extLst>
      <p:ext uri="{BB962C8B-B14F-4D97-AF65-F5344CB8AC3E}">
        <ns4:creationId val="1654946534"/>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4" name="">
            <a:extLst>
              <a:ext uri="{FF2B5EF4-FFF2-40B4-BE49-F238E27FC236}">
                <ns2:creationId id="{DC69484A-9C4A-42EF-A3A9-CA04B021989A}"/>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6A3CFDA0-8D4E-44AC-B8C4-8F431CB334E0}"/>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Pleuler: rotating player viewpoints</a:t>
            </a:r>
          </a:p>
        </p:txBody>
      </p:sp>
      <p:sp>
        <p:nvSpPr>
          <p:cNvPr id="3" name="">
            <a:extLst>
              <a:ext uri="{FF2B5EF4-FFF2-40B4-BE49-F238E27FC236}">
                <ns2:creationId id="{BE9932CE-F3C4-452E-8F81-9DF1502B1151}"/>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4E9341FE-5114-40F4-A3A0-528AE0DCF299}"/>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Place the origin at the player</a:t>
            </a:r>
          </a:p>
        </p:txBody>
      </p:sp>
      <p:sp>
        <p:nvSpPr>
          <p:cNvPr id="5" name="">
            <a:extLst>
              <a:ext uri="{FF2B5EF4-FFF2-40B4-BE49-F238E27FC236}">
                <ns2:creationId id="{0095026E-103D-4A99-8545-3C68CBA8B070}"/>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994E3F9C-3AEA-4EB3-A73E-085998E04B47}"/>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Rotate a geometric viewing sector</a:t>
            </a:r>
          </a:p>
        </p:txBody>
      </p:sp>
      <p:sp>
        <p:nvSpPr>
          <p:cNvPr id="7" name="">
            <a:extLst>
              <a:ext uri="{FF2B5EF4-FFF2-40B4-BE49-F238E27FC236}">
                <ns2:creationId id="{E865A1FC-3410-4A67-8D48-1C77EA499E78}"/>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B59561F4-1CCB-483A-BA12-BBAF536F3D95}"/>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Count teammates at each heading</a:t>
            </a:r>
          </a:p>
        </p:txBody>
      </p:sp>
      <p:pic>
        <p:nvPicPr>
          <p:cNvPr id="9" name="">
            <a:extLst>
              <a:ext uri="{FF2B5EF4-FFF2-40B4-BE49-F238E27FC236}">
                <ns2:creationId id="{C8AA99FF-ADAB-4924-AC77-ED0185611352}"/>
              </a:ext>
            </a:extLst>
          </p:cNvPr>
          <p:cNvPicPr>
            <a:picLocks noChangeAspect="1"/>
          </p:cNvPicPr>
          <p:nvPr/>
        </p:nvPicPr>
        <p:blipFill>
          <a:blip r:embed="Rfecf1e1c90314196"/>
          <a:stretch/>
        </p:blipFill>
        <p:spPr>
          <a:xfrm>
            <a:off x="4095750" y="1951097"/>
            <a:ext cx="7620000" cy="3098681"/>
          </a:xfrm>
          <a:prstGeom prst="rect">
            <a:avLst/>
          </a:prstGeom>
        </p:spPr>
      </p:pic>
      <p:sp>
        <p:nvSpPr>
          <p:cNvPr id="10" name="">
            <a:extLst>
              <a:ext uri="{FF2B5EF4-FFF2-40B4-BE49-F238E27FC236}">
                <ns2:creationId id="{8AAE92F4-9B3C-4381-861D-89119D0F0F8B}"/>
              </a:ext>
            </a:extLst>
          </p:cNvPr>
          <p:cNvSpPr>
            <a:spLocks noGrp="1"/>
          </p:cNvSpPr>
          <p:nvPr/>
        </p:nvSpPr>
        <p:spPr>
          <a:xfrm>
            <a:off x="571500" y="5715000"/>
            <a:ext cx="11049000" cy="409575"/>
          </a:xfrm>
          <a:prstGeom prst="rect">
            <a:avLst/>
          </a:prstGeom>
          <a:solidFill>
            <a:srgbClr val="E0EEE8"/>
          </a:solidFill>
          <a:ln w="0">
            <a:noFill/>
          </a:ln>
        </p:spPr>
      </p:sp>
      <p:sp>
        <p:nvSpPr>
          <p:cNvPr id="11" name="">
            <a:extLst>
              <a:ext uri="{FF2B5EF4-FFF2-40B4-BE49-F238E27FC236}">
                <ns2:creationId id="{5A706D01-D53B-4E3C-8F01-D99B99040FE0}"/>
              </a:ext>
            </a:extLst>
          </p:cNvPr>
          <p:cNvSpPr>
            <a:spLocks noGrp="1"/>
          </p:cNvSpPr>
          <p:nvPr/>
        </p:nvSpPr>
        <p:spPr>
          <a:xfrm>
            <a:off x="742950" y="5791200"/>
            <a:ext cx="10668000" cy="32385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NOTEBOOK · inspect angular count features</a:t>
            </a:r>
          </a:p>
        </p:txBody>
      </p:sp>
      <p:sp>
        <p:nvSpPr>
          <p:cNvPr id="12" name="">
            <a:extLst>
              <a:ext uri="{FF2B5EF4-FFF2-40B4-BE49-F238E27FC236}">
                <ns2:creationId id="{181EAA7D-0E41-406C-A752-DF400C3DE4DE}"/>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Devin Pleuler: Fixed to Fluid (2024)</a:t>
            </a:r>
          </a:p>
        </p:txBody>
      </p:sp>
      <p:sp>
        <p:nvSpPr>
          <p:cNvPr id="13" name="">
            <a:extLst>
              <a:ext uri="{FF2B5EF4-FFF2-40B4-BE49-F238E27FC236}">
                <ns2:creationId id="{FD25CD8F-38E4-430C-873D-06CCF1449CAF}"/>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11 / 61</a:t>
            </a:r>
          </a:p>
        </p:txBody>
      </p:sp>
    </p:spTree>
    <p:extLst>
      <p:ext uri="{BB962C8B-B14F-4D97-AF65-F5344CB8AC3E}">
        <ns4:creationId val="1500459246"/>
      </p:ext>
    </p:extLst>
  </p:cSld>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2B26C8CE-D500-4181-8FCA-C944BEA0543E}"/>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D693F985-42F4-4991-859E-53B024A25DE1}"/>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From angular features to role labels</a:t>
            </a:r>
          </a:p>
        </p:txBody>
      </p:sp>
      <p:sp>
        <p:nvSpPr>
          <p:cNvPr id="3" name="">
            <a:extLst>
              <a:ext uri="{FF2B5EF4-FFF2-40B4-BE49-F238E27FC236}">
                <ns2:creationId id="{A2C546E1-0DF6-4838-9F5E-1C23FA09144C}"/>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7D38AF44-4DDD-4503-A200-3080AFEA1891}"/>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Create one feature row per player and frame</a:t>
            </a:r>
          </a:p>
        </p:txBody>
      </p:sp>
      <p:sp>
        <p:nvSpPr>
          <p:cNvPr id="5" name="">
            <a:extLst>
              <a:ext uri="{FF2B5EF4-FFF2-40B4-BE49-F238E27FC236}">
                <ns2:creationId id="{D6F37CB8-909A-4E19-8201-A13D0AB1C3A6}"/>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FDE04DB3-12B4-4C48-9183-450C984FDB3D}"/>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Fit a supervised role classifier on labeled matches</a:t>
            </a:r>
          </a:p>
        </p:txBody>
      </p:sp>
      <p:sp>
        <p:nvSpPr>
          <p:cNvPr id="7" name="">
            <a:extLst>
              <a:ext uri="{FF2B5EF4-FFF2-40B4-BE49-F238E27FC236}">
                <ns2:creationId id="{13BFCFF0-B3BD-4776-BCBE-DF85A4DC7F3C}"/>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7AB05350-8B3E-4565-B188-500E33ECEB79}"/>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Retain role probabilities for uncertain states</a:t>
            </a:r>
          </a:p>
        </p:txBody>
      </p:sp>
      <p:pic>
        <p:nvPicPr>
          <p:cNvPr id="9" name="">
            <a:extLst>
              <a:ext uri="{FF2B5EF4-FFF2-40B4-BE49-F238E27FC236}">
                <ns2:creationId id="{63B47C8F-2A30-40E9-9091-47F7DE1990AC}"/>
              </a:ext>
            </a:extLst>
          </p:cNvPr>
          <p:cNvPicPr>
            <a:picLocks noChangeAspect="1"/>
          </p:cNvPicPr>
          <p:nvPr/>
        </p:nvPicPr>
        <p:blipFill>
          <a:blip r:embed="Rce842c8248a6416a"/>
          <a:stretch/>
        </p:blipFill>
        <p:spPr>
          <a:xfrm>
            <a:off x="4135448" y="1333500"/>
            <a:ext cx="7540604" cy="4333875"/>
          </a:xfrm>
          <a:prstGeom prst="rect">
            <a:avLst/>
          </a:prstGeom>
        </p:spPr>
      </p:pic>
      <p:sp>
        <p:nvSpPr>
          <p:cNvPr id="10" name="">
            <a:extLst>
              <a:ext uri="{FF2B5EF4-FFF2-40B4-BE49-F238E27FC236}">
                <ns2:creationId id="{BD29A3F4-7E35-422F-9A42-92F183A77391}"/>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Devin Pleuler: Fixed to Fluid (2024)</a:t>
            </a:r>
          </a:p>
        </p:txBody>
      </p:sp>
      <p:sp>
        <p:nvSpPr>
          <p:cNvPr id="11" name="">
            <a:extLst>
              <a:ext uri="{FF2B5EF4-FFF2-40B4-BE49-F238E27FC236}">
                <ns2:creationId id="{8AD66129-FC78-46E8-A601-E68405FC40F7}"/>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12 / 61</a:t>
            </a:r>
          </a:p>
        </p:txBody>
      </p:sp>
    </p:spTree>
    <p:extLst>
      <p:ext uri="{BB962C8B-B14F-4D97-AF65-F5344CB8AC3E}">
        <ns4:creationId val="1077919479"/>
      </p:ext>
    </p:extLst>
  </p:cSld>
</p:sld>
</file>

<file path=ppt/slides/slide1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0F89D0E4-D5B6-4F90-99B7-2AA32D35BC67}"/>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3FAA7F5F-8E72-483E-8857-7FA33C2E2B8D}"/>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Formation prediction by assignment</a:t>
            </a:r>
          </a:p>
        </p:txBody>
      </p:sp>
      <p:sp>
        <p:nvSpPr>
          <p:cNvPr id="3" name="">
            <a:extLst>
              <a:ext uri="{FF2B5EF4-FFF2-40B4-BE49-F238E27FC236}">
                <ns2:creationId id="{B5404F30-94D8-488D-B0C8-785085A96D56}"/>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83DC63CD-3402-42D2-A051-49179D4A90DC}"/>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Compare centered shape with candidate templates</a:t>
            </a:r>
          </a:p>
        </p:txBody>
      </p:sp>
      <p:sp>
        <p:nvSpPr>
          <p:cNvPr id="5" name="">
            <a:extLst>
              <a:ext uri="{FF2B5EF4-FFF2-40B4-BE49-F238E27FC236}">
                <ns2:creationId id="{50A4F569-FE1B-46EB-A723-35006110CE4D}"/>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3B2F4926-FBA2-4C83-95B9-8F3EC2E2D1D9}"/>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Match ten outfield players to ten slots</a:t>
            </a:r>
          </a:p>
        </p:txBody>
      </p:sp>
      <p:sp>
        <p:nvSpPr>
          <p:cNvPr id="7" name="">
            <a:extLst>
              <a:ext uri="{FF2B5EF4-FFF2-40B4-BE49-F238E27FC236}">
                <ns2:creationId id="{3648F4D3-D281-44A4-94DC-4D5B82AF6528}"/>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91BC9235-6B74-4D6B-AE3F-5CDD0FB8F04D}"/>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Select the lowest assignment cost</a:t>
            </a:r>
          </a:p>
        </p:txBody>
      </p:sp>
      <p:pic>
        <p:nvPicPr>
          <p:cNvPr id="9" name="">
            <a:extLst>
              <a:ext uri="{FF2B5EF4-FFF2-40B4-BE49-F238E27FC236}">
                <ns2:creationId id="{F1231DAF-8150-4438-804A-F82AADD33F0E}"/>
              </a:ext>
            </a:extLst>
          </p:cNvPr>
          <p:cNvPicPr>
            <a:picLocks noChangeAspect="1"/>
          </p:cNvPicPr>
          <p:nvPr/>
        </p:nvPicPr>
        <p:blipFill>
          <a:blip r:embed="Raf55cf736e6f4f47"/>
          <a:stretch/>
        </p:blipFill>
        <p:spPr>
          <a:xfrm>
            <a:off x="4095750" y="1951097"/>
            <a:ext cx="7620000" cy="3098681"/>
          </a:xfrm>
          <a:prstGeom prst="rect">
            <a:avLst/>
          </a:prstGeom>
        </p:spPr>
      </p:pic>
      <p:sp>
        <p:nvSpPr>
          <p:cNvPr id="10" name="">
            <a:extLst>
              <a:ext uri="{FF2B5EF4-FFF2-40B4-BE49-F238E27FC236}">
                <ns2:creationId id="{A0FCE630-BE5C-4916-802A-E355C57D0264}"/>
              </a:ext>
            </a:extLst>
          </p:cNvPr>
          <p:cNvSpPr>
            <a:spLocks noGrp="1"/>
          </p:cNvSpPr>
          <p:nvPr/>
        </p:nvSpPr>
        <p:spPr>
          <a:xfrm>
            <a:off x="571500" y="5715000"/>
            <a:ext cx="11049000" cy="409575"/>
          </a:xfrm>
          <a:prstGeom prst="rect">
            <a:avLst/>
          </a:prstGeom>
          <a:solidFill>
            <a:srgbClr val="E0EEE8"/>
          </a:solidFill>
          <a:ln w="0">
            <a:noFill/>
          </a:ln>
        </p:spPr>
      </p:sp>
      <p:sp>
        <p:nvSpPr>
          <p:cNvPr id="11" name="">
            <a:extLst>
              <a:ext uri="{FF2B5EF4-FFF2-40B4-BE49-F238E27FC236}">
                <ns2:creationId id="{54980E13-FD57-4BA4-A359-CDABFF479BD0}"/>
              </a:ext>
            </a:extLst>
          </p:cNvPr>
          <p:cNvSpPr>
            <a:spLocks noGrp="1"/>
          </p:cNvSpPr>
          <p:nvPr/>
        </p:nvSpPr>
        <p:spPr>
          <a:xfrm>
            <a:off x="742950" y="5791200"/>
            <a:ext cx="10668000" cy="32385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NOTEBOOK · inspect template scores and assignments</a:t>
            </a:r>
          </a:p>
        </p:txBody>
      </p:sp>
      <p:sp>
        <p:nvSpPr>
          <p:cNvPr id="12" name="">
            <a:extLst>
              <a:ext uri="{FF2B5EF4-FFF2-40B4-BE49-F238E27FC236}">
                <ns2:creationId id="{E57258A4-1833-4654-BF43-8F9F374018B0}"/>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Joris Bekkers: Elastic Formation and Position Identification</a:t>
            </a:r>
          </a:p>
        </p:txBody>
      </p:sp>
      <p:sp>
        <p:nvSpPr>
          <p:cNvPr id="13" name="">
            <a:extLst>
              <a:ext uri="{FF2B5EF4-FFF2-40B4-BE49-F238E27FC236}">
                <ns2:creationId id="{779FDE44-9638-4A2A-B142-5564BD83F36A}"/>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UnravelSports EFPI tutorial</a:t>
            </a:r>
          </a:p>
        </p:txBody>
      </p:sp>
      <p:sp>
        <p:nvSpPr>
          <p:cNvPr id="14" name="">
            <a:extLst>
              <a:ext uri="{FF2B5EF4-FFF2-40B4-BE49-F238E27FC236}">
                <ns2:creationId id="{C6EC62CD-7367-4ED9-A22D-A2B712252CB5}"/>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13 / 61</a:t>
            </a:r>
          </a:p>
        </p:txBody>
      </p:sp>
    </p:spTree>
    <p:extLst>
      <p:ext uri="{BB962C8B-B14F-4D97-AF65-F5344CB8AC3E}">
        <ns4:creationId val="1197452987"/>
      </p:ext>
    </p:extLst>
  </p:cSld>
</p:sld>
</file>

<file path=ppt/slides/slide1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A09720D9-D75D-4811-990E-37075A68A02D}"/>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0FAB5FD3-6F54-45AD-B9D8-B83DC90E30EA}"/>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Bekkers: elastic formation identification</a:t>
            </a:r>
          </a:p>
        </p:txBody>
      </p:sp>
      <p:sp>
        <p:nvSpPr>
          <p:cNvPr id="3" name="">
            <a:extLst>
              <a:ext uri="{FF2B5EF4-FFF2-40B4-BE49-F238E27FC236}">
                <ns2:creationId id="{AFAE9350-BDC1-4006-94DE-6752B4113B75}"/>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6004F26B-6983-429A-B08A-A6AE203CF90A}"/>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Allow templates to adapt to team shape</a:t>
            </a:r>
          </a:p>
        </p:txBody>
      </p:sp>
      <p:sp>
        <p:nvSpPr>
          <p:cNvPr id="5" name="">
            <a:extLst>
              <a:ext uri="{FF2B5EF4-FFF2-40B4-BE49-F238E27FC236}">
                <ns2:creationId id="{CFE24450-4075-4155-8F05-B0907EA970A4}"/>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E2911547-21BC-4D94-84C7-A9D344B3959B}"/>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Assign players to formation roles</a:t>
            </a:r>
          </a:p>
        </p:txBody>
      </p:sp>
      <p:sp>
        <p:nvSpPr>
          <p:cNvPr id="7" name="">
            <a:extLst>
              <a:ext uri="{FF2B5EF4-FFF2-40B4-BE49-F238E27FC236}">
                <ns2:creationId id="{0989D07D-4AAF-445A-82FE-5490DA247C25}"/>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4E8F909D-2A53-48D7-A802-B83A4BD83422}"/>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Analyze comparable windows and possession states</a:t>
            </a:r>
          </a:p>
        </p:txBody>
      </p:sp>
      <p:pic>
        <p:nvPicPr>
          <p:cNvPr id="9" name="">
            <a:extLst>
              <a:ext uri="{FF2B5EF4-FFF2-40B4-BE49-F238E27FC236}">
                <ns2:creationId id="{F12EEE56-8F92-4B64-851E-BEFEE8A4DEFC}"/>
              </a:ext>
            </a:extLst>
          </p:cNvPr>
          <p:cNvPicPr>
            <a:picLocks noChangeAspect="1"/>
          </p:cNvPicPr>
          <p:nvPr/>
        </p:nvPicPr>
        <p:blipFill>
          <a:blip r:embed="R5c24adc0e97c4f46"/>
          <a:stretch/>
        </p:blipFill>
        <p:spPr>
          <a:xfrm>
            <a:off x="4095750" y="1951097"/>
            <a:ext cx="7620000" cy="3098681"/>
          </a:xfrm>
          <a:prstGeom prst="rect">
            <a:avLst/>
          </a:prstGeom>
        </p:spPr>
      </p:pic>
      <p:sp>
        <p:nvSpPr>
          <p:cNvPr id="10" name="">
            <a:extLst>
              <a:ext uri="{FF2B5EF4-FFF2-40B4-BE49-F238E27FC236}">
                <ns2:creationId id="{685CA9BD-A252-4D47-BBB8-AFC040D7C02C}"/>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Joris Bekkers: Elastic Formation and Position Identification</a:t>
            </a:r>
          </a:p>
        </p:txBody>
      </p:sp>
      <p:sp>
        <p:nvSpPr>
          <p:cNvPr id="11" name="">
            <a:extLst>
              <a:ext uri="{FF2B5EF4-FFF2-40B4-BE49-F238E27FC236}">
                <ns2:creationId id="{3AE56049-9D8F-43D0-85F6-831533EC9C55}"/>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UnravelSports EFPI tutorial</a:t>
            </a:r>
          </a:p>
        </p:txBody>
      </p:sp>
      <p:sp>
        <p:nvSpPr>
          <p:cNvPr id="12" name="">
            <a:extLst>
              <a:ext uri="{FF2B5EF4-FFF2-40B4-BE49-F238E27FC236}">
                <ns2:creationId id="{81E2E68B-DEE8-4433-BD33-7C8C6C43E8D1}"/>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14 / 61</a:t>
            </a:r>
          </a:p>
        </p:txBody>
      </p:sp>
    </p:spTree>
    <p:extLst>
      <p:ext uri="{BB962C8B-B14F-4D97-AF65-F5344CB8AC3E}">
        <ns4:creationId val="1423522214"/>
      </p:ext>
    </p:extLst>
  </p:cSld>
</p:sld>
</file>

<file path=ppt/slides/slide1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2D6679B1-4819-48F5-84B3-2824D7BF7E6B}"/>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A5444B5C-0883-403C-A390-469F0A5457B0}"/>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Detecting formation-change candidates</a:t>
            </a:r>
          </a:p>
        </p:txBody>
      </p:sp>
      <p:sp>
        <p:nvSpPr>
          <p:cNvPr id="3" name="">
            <a:extLst>
              <a:ext uri="{FF2B5EF4-FFF2-40B4-BE49-F238E27FC236}">
                <ns2:creationId id="{91DFD78D-6A60-4C74-B264-1C5F17A96A1E}"/>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85602113-00EE-412E-B2B9-6B53D38C3B8D}"/>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Score successive windows in the same phase</a:t>
            </a:r>
          </a:p>
        </p:txBody>
      </p:sp>
      <p:sp>
        <p:nvSpPr>
          <p:cNvPr id="5" name="">
            <a:extLst>
              <a:ext uri="{FF2B5EF4-FFF2-40B4-BE49-F238E27FC236}">
                <ns2:creationId id="{B2B131F1-5CE2-47A5-8D42-C8A42EBD77D4}"/>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3020120A-9372-4561-BCC3-251FEE134B96}"/>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Require persistent evidence before switching</a:t>
            </a:r>
          </a:p>
        </p:txBody>
      </p:sp>
      <p:sp>
        <p:nvSpPr>
          <p:cNvPr id="7" name="">
            <a:extLst>
              <a:ext uri="{FF2B5EF4-FFF2-40B4-BE49-F238E27FC236}">
                <ns2:creationId id="{F5197C54-DE1C-4477-889B-A7F126A17F45}"/>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5D977339-1BE2-4C64-8336-E53DB56738DF}"/>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Review changes alongside substitutions and video</a:t>
            </a:r>
          </a:p>
        </p:txBody>
      </p:sp>
      <p:pic>
        <p:nvPicPr>
          <p:cNvPr id="9" name="">
            <a:extLst>
              <a:ext uri="{FF2B5EF4-FFF2-40B4-BE49-F238E27FC236}">
                <ns2:creationId id="{2DFB5AFE-38A8-43B4-B7D6-A2FA8C7A433F}"/>
              </a:ext>
            </a:extLst>
          </p:cNvPr>
          <p:cNvPicPr>
            <a:picLocks noChangeAspect="1"/>
          </p:cNvPicPr>
          <p:nvPr/>
        </p:nvPicPr>
        <p:blipFill>
          <a:blip r:embed="R207da79d7102465b"/>
          <a:stretch/>
        </p:blipFill>
        <p:spPr>
          <a:xfrm>
            <a:off x="4095750" y="1458413"/>
            <a:ext cx="7620000" cy="4084048"/>
          </a:xfrm>
          <a:prstGeom prst="rect">
            <a:avLst/>
          </a:prstGeom>
        </p:spPr>
      </p:pic>
      <p:sp>
        <p:nvSpPr>
          <p:cNvPr id="10" name="">
            <a:extLst>
              <a:ext uri="{FF2B5EF4-FFF2-40B4-BE49-F238E27FC236}">
                <ns2:creationId id="{AEFFC4FD-0B90-4826-9B83-811F5497DC82}"/>
              </a:ext>
            </a:extLst>
          </p:cNvPr>
          <p:cNvSpPr>
            <a:spLocks noGrp="1"/>
          </p:cNvSpPr>
          <p:nvPr/>
        </p:nvSpPr>
        <p:spPr>
          <a:xfrm>
            <a:off x="571500" y="5715000"/>
            <a:ext cx="11049000" cy="409575"/>
          </a:xfrm>
          <a:prstGeom prst="rect">
            <a:avLst/>
          </a:prstGeom>
          <a:solidFill>
            <a:srgbClr val="E0EEE8"/>
          </a:solidFill>
          <a:ln w="0">
            <a:noFill/>
          </a:ln>
        </p:spPr>
      </p:sp>
      <p:sp>
        <p:nvSpPr>
          <p:cNvPr id="11" name="">
            <a:extLst>
              <a:ext uri="{FF2B5EF4-FFF2-40B4-BE49-F238E27FC236}">
                <ns2:creationId id="{859CF17C-4ED6-4F66-B73E-F5A0D4E41DA9}"/>
              </a:ext>
            </a:extLst>
          </p:cNvPr>
          <p:cNvSpPr>
            <a:spLocks noGrp="1"/>
          </p:cNvSpPr>
          <p:nvPr/>
        </p:nvSpPr>
        <p:spPr>
          <a:xfrm>
            <a:off x="742950" y="5791200"/>
            <a:ext cx="10668000" cy="32385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NOTEBOOK · candidate timeline and persistence</a:t>
            </a:r>
          </a:p>
        </p:txBody>
      </p:sp>
      <p:sp>
        <p:nvSpPr>
          <p:cNvPr id="12" name="">
            <a:extLst>
              <a:ext uri="{FF2B5EF4-FFF2-40B4-BE49-F238E27FC236}">
                <ns2:creationId id="{C47DA1A4-4817-4433-82E9-7E049F739BE6}"/>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Devin Pleuler: Fixed to Fluid (2024)</a:t>
            </a:r>
          </a:p>
        </p:txBody>
      </p:sp>
      <p:sp>
        <p:nvSpPr>
          <p:cNvPr id="13" name="">
            <a:extLst>
              <a:ext uri="{FF2B5EF4-FFF2-40B4-BE49-F238E27FC236}">
                <ns2:creationId id="{516CFC6B-C5CE-4C81-810F-46430BADD4F3}"/>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Joris Bekkers: Elastic Formation and Position Identification</a:t>
            </a:r>
          </a:p>
        </p:txBody>
      </p:sp>
      <p:sp>
        <p:nvSpPr>
          <p:cNvPr id="14" name="">
            <a:extLst>
              <a:ext uri="{FF2B5EF4-FFF2-40B4-BE49-F238E27FC236}">
                <ns2:creationId id="{01A330D0-185A-4B22-AB38-0F65542B6D8E}"/>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15 / 61</a:t>
            </a:r>
          </a:p>
        </p:txBody>
      </p:sp>
    </p:spTree>
    <p:extLst>
      <p:ext uri="{BB962C8B-B14F-4D97-AF65-F5344CB8AC3E}">
        <ns4:creationId val="1707429099"/>
      </p:ext>
    </p:extLst>
  </p:cSld>
</p:sld>
</file>

<file path=ppt/slides/slide1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6C5847B8-56FF-40B6-9CA4-5BC6F7F519AC}"/>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021E1D01-4D88-4BD0-8FE0-4436636FA2E9}"/>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Formation detection</a:t>
            </a:r>
          </a:p>
        </p:txBody>
      </p:sp>
      <p:sp>
        <p:nvSpPr>
          <p:cNvPr id="3" name="">
            <a:extLst>
              <a:ext uri="{FF2B5EF4-FFF2-40B4-BE49-F238E27FC236}">
                <ns2:creationId id="{4A1DAC76-CD0E-4F99-B58B-4A6BD825A3DE}"/>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EA452EBD-97DF-4AF6-A6B1-EE97A6978647}"/>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Remove team translation with centered coordinates</a:t>
            </a:r>
          </a:p>
        </p:txBody>
      </p:sp>
      <p:sp>
        <p:nvSpPr>
          <p:cNvPr id="5" name="">
            <a:extLst>
              <a:ext uri="{FF2B5EF4-FFF2-40B4-BE49-F238E27FC236}">
                <ns2:creationId id="{BC82C477-4354-439D-A828-108B00BE3C72}"/>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45854B06-3A39-4376-9FA6-A652FCDB4E36}"/>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Separate in-possession and defensive samples</a:t>
            </a:r>
          </a:p>
        </p:txBody>
      </p:sp>
      <p:sp>
        <p:nvSpPr>
          <p:cNvPr id="7" name="">
            <a:extLst>
              <a:ext uri="{FF2B5EF4-FFF2-40B4-BE49-F238E27FC236}">
                <ns2:creationId id="{2EF810BC-93CE-41A9-81EE-F600B8050F5E}"/>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8684C31E-E821-40E7-BE5A-6739E7BC632D}"/>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Estimate stable role locations over a window</a:t>
            </a:r>
          </a:p>
        </p:txBody>
      </p:sp>
      <p:pic>
        <p:nvPicPr>
          <p:cNvPr id="9" name="">
            <a:extLst>
              <a:ext uri="{FF2B5EF4-FFF2-40B4-BE49-F238E27FC236}">
                <ns2:creationId id="{350303B3-26E4-4A74-985D-1B4EE75F5ADB}"/>
              </a:ext>
            </a:extLst>
          </p:cNvPr>
          <p:cNvPicPr>
            <a:picLocks noChangeAspect="1"/>
          </p:cNvPicPr>
          <p:nvPr/>
        </p:nvPicPr>
        <p:blipFill>
          <a:blip r:embed="Ra6c3929da437435b"/>
          <a:stretch/>
        </p:blipFill>
        <p:spPr>
          <a:xfrm>
            <a:off x="4095750" y="1430808"/>
            <a:ext cx="7620000" cy="4139259"/>
          </a:xfrm>
          <a:prstGeom prst="rect">
            <a:avLst/>
          </a:prstGeom>
        </p:spPr>
      </p:pic>
      <p:sp>
        <p:nvSpPr>
          <p:cNvPr id="10" name="">
            <a:extLst>
              <a:ext uri="{FF2B5EF4-FFF2-40B4-BE49-F238E27FC236}">
                <ns2:creationId id="{FBECEB85-9080-4BE1-A0A1-6D1FA8C5DFDD}"/>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Shaw &amp; Glickman: Dynamic Analysis of Team Strategy</a:t>
            </a:r>
          </a:p>
        </p:txBody>
      </p:sp>
      <p:sp>
        <p:nvSpPr>
          <p:cNvPr id="11" name="">
            <a:extLst>
              <a:ext uri="{FF2B5EF4-FFF2-40B4-BE49-F238E27FC236}">
                <ns2:creationId id="{45CCC898-81B6-4097-8389-A43CC83DA73D}"/>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16 / 61</a:t>
            </a:r>
          </a:p>
        </p:txBody>
      </p:sp>
    </p:spTree>
    <p:extLst>
      <p:ext uri="{BB962C8B-B14F-4D97-AF65-F5344CB8AC3E}">
        <ns4:creationId val="1688577261"/>
      </p:ext>
    </p:extLst>
  </p:cSld>
</p:sld>
</file>

<file path=ppt/slides/slide1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71797AC0-751A-479B-816E-9B8AEEE74006}"/>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EB5A5E12-F443-4A14-81EC-6345217A557E}"/>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Player-role and line detection</a:t>
            </a:r>
          </a:p>
        </p:txBody>
      </p:sp>
      <p:sp>
        <p:nvSpPr>
          <p:cNvPr id="3" name="">
            <a:extLst>
              <a:ext uri="{FF2B5EF4-FFF2-40B4-BE49-F238E27FC236}">
                <ns2:creationId id="{C93D1B84-C527-4ACB-AF58-760FB4A47ABC}"/>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960B15AE-2388-4684-B614-5B492D713A58}"/>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Group longitudinal positions into candidate lines</a:t>
            </a:r>
          </a:p>
        </p:txBody>
      </p:sp>
      <p:sp>
        <p:nvSpPr>
          <p:cNvPr id="5" name="">
            <a:extLst>
              <a:ext uri="{FF2B5EF4-FFF2-40B4-BE49-F238E27FC236}">
                <ns2:creationId id="{089DC99B-8365-4388-8633-5995888ADE59}"/>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16EB19F1-0598-48EE-9CA4-5D54F7288E58}"/>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Assign roles consistently through player exchanges</a:t>
            </a:r>
          </a:p>
        </p:txBody>
      </p:sp>
      <p:sp>
        <p:nvSpPr>
          <p:cNvPr id="7" name="">
            <a:extLst>
              <a:ext uri="{FF2B5EF4-FFF2-40B4-BE49-F238E27FC236}">
                <ns2:creationId id="{9245EF5A-E2DB-4978-8DA1-BDBBEDCABB0A}"/>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289A82F1-29B8-4BA8-B6D5-023FCCCC6FE8}"/>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Treat cluster count as a modeling choice</a:t>
            </a:r>
          </a:p>
        </p:txBody>
      </p:sp>
      <p:pic>
        <p:nvPicPr>
          <p:cNvPr id="9" name="">
            <a:extLst>
              <a:ext uri="{FF2B5EF4-FFF2-40B4-BE49-F238E27FC236}">
                <ns2:creationId id="{0D89CFD0-78D3-4B05-91E5-4DCA23F55733}"/>
              </a:ext>
            </a:extLst>
          </p:cNvPr>
          <p:cNvPicPr>
            <a:picLocks noChangeAspect="1"/>
          </p:cNvPicPr>
          <p:nvPr/>
        </p:nvPicPr>
        <p:blipFill>
          <a:blip r:embed="R2ab568ed2e3f47bd"/>
          <a:stretch/>
        </p:blipFill>
        <p:spPr>
          <a:xfrm>
            <a:off x="4261130" y="1333500"/>
            <a:ext cx="7289241" cy="4333875"/>
          </a:xfrm>
          <a:prstGeom prst="rect">
            <a:avLst/>
          </a:prstGeom>
        </p:spPr>
      </p:pic>
      <p:sp>
        <p:nvSpPr>
          <p:cNvPr id="10" name="">
            <a:extLst>
              <a:ext uri="{FF2B5EF4-FFF2-40B4-BE49-F238E27FC236}">
                <ns2:creationId id="{88661201-E34D-4AD9-89F8-178C9E94259D}"/>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Shaw &amp; Glickman: Dynamic Analysis of Team Strategy</a:t>
            </a:r>
          </a:p>
        </p:txBody>
      </p:sp>
      <p:sp>
        <p:nvSpPr>
          <p:cNvPr id="11" name="">
            <a:extLst>
              <a:ext uri="{FF2B5EF4-FFF2-40B4-BE49-F238E27FC236}">
                <ns2:creationId id="{24BF32BD-D099-41FA-B06E-FBAD496487E9}"/>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17 / 61</a:t>
            </a:r>
          </a:p>
        </p:txBody>
      </p:sp>
    </p:spTree>
    <p:extLst>
      <p:ext uri="{BB962C8B-B14F-4D97-AF65-F5344CB8AC3E}">
        <ns4:creationId val="2010987278"/>
      </p:ext>
    </p:extLst>
  </p:cSld>
</p:sld>
</file>

<file path=ppt/slides/slide1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51203A23-2E63-4495-AE70-0C12F486EBA6}"/>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D472B37D-716D-4ECB-88CC-BC95E5C703F7}"/>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Phase-of-play segmentation</a:t>
            </a:r>
          </a:p>
        </p:txBody>
      </p:sp>
      <p:sp>
        <p:nvSpPr>
          <p:cNvPr id="3" name="">
            <a:extLst>
              <a:ext uri="{FF2B5EF4-FFF2-40B4-BE49-F238E27FC236}">
                <ns2:creationId id="{299098B5-244A-4D48-BB3E-A659B732AD98}"/>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A29912F1-493D-4C57-9609-6F792B24BD4C}"/>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Represent phases as intervals rather than single events</a:t>
            </a:r>
          </a:p>
        </p:txBody>
      </p:sp>
      <p:sp>
        <p:nvSpPr>
          <p:cNvPr id="5" name="">
            <a:extLst>
              <a:ext uri="{FF2B5EF4-FFF2-40B4-BE49-F238E27FC236}">
                <ns2:creationId id="{A3E463CF-B9E2-474A-9ED9-767423C48D67}"/>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2E1CB4C9-CF67-4AF1-B542-B4ACF8AA2012}"/>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Join intervals to tracking by period and frame</a:t>
            </a:r>
          </a:p>
        </p:txBody>
      </p:sp>
      <p:sp>
        <p:nvSpPr>
          <p:cNvPr id="7" name="">
            <a:extLst>
              <a:ext uri="{FF2B5EF4-FFF2-40B4-BE49-F238E27FC236}">
                <ns2:creationId id="{4C163F7E-C8B2-4F22-9F5D-FB092A4E96FA}"/>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C46B0C48-B25C-49A2-B51B-9415BDC75421}"/>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Compare structure and effort within tactical context</a:t>
            </a:r>
          </a:p>
        </p:txBody>
      </p:sp>
      <p:pic>
        <p:nvPicPr>
          <p:cNvPr id="9" name="">
            <a:extLst>
              <a:ext uri="{FF2B5EF4-FFF2-40B4-BE49-F238E27FC236}">
                <ns2:creationId id="{8A656B17-9F48-4674-974E-4106D2283F89}"/>
              </a:ext>
            </a:extLst>
          </p:cNvPr>
          <p:cNvPicPr>
            <a:picLocks noChangeAspect="1"/>
          </p:cNvPicPr>
          <p:nvPr/>
        </p:nvPicPr>
        <p:blipFill>
          <a:blip r:embed="R73890fd5c02343d5"/>
          <a:stretch/>
        </p:blipFill>
        <p:spPr>
          <a:xfrm>
            <a:off x="4243601" y="1333500"/>
            <a:ext cx="7324299" cy="4333875"/>
          </a:xfrm>
          <a:prstGeom prst="rect">
            <a:avLst/>
          </a:prstGeom>
        </p:spPr>
      </p:pic>
      <p:sp>
        <p:nvSpPr>
          <p:cNvPr id="10" name="">
            <a:extLst>
              <a:ext uri="{FF2B5EF4-FFF2-40B4-BE49-F238E27FC236}">
                <ns2:creationId id="{B76F2429-7821-4D4A-9E67-B65D545EF1C8}"/>
              </a:ext>
            </a:extLst>
          </p:cNvPr>
          <p:cNvSpPr>
            <a:spLocks noGrp="1"/>
          </p:cNvSpPr>
          <p:nvPr/>
        </p:nvSpPr>
        <p:spPr>
          <a:xfrm>
            <a:off x="571500" y="5715000"/>
            <a:ext cx="11049000" cy="409575"/>
          </a:xfrm>
          <a:prstGeom prst="rect">
            <a:avLst/>
          </a:prstGeom>
          <a:solidFill>
            <a:srgbClr val="E0EEE8"/>
          </a:solidFill>
          <a:ln w="0">
            <a:noFill/>
          </a:ln>
        </p:spPr>
      </p:sp>
      <p:sp>
        <p:nvSpPr>
          <p:cNvPr id="11" name="">
            <a:extLst>
              <a:ext uri="{FF2B5EF4-FFF2-40B4-BE49-F238E27FC236}">
                <ns2:creationId id="{6A01A636-A0A7-448A-8945-9C5F63419267}"/>
              </a:ext>
            </a:extLst>
          </p:cNvPr>
          <p:cNvSpPr>
            <a:spLocks noGrp="1"/>
          </p:cNvSpPr>
          <p:nvPr/>
        </p:nvSpPr>
        <p:spPr>
          <a:xfrm>
            <a:off x="742950" y="5791200"/>
            <a:ext cx="10668000" cy="32385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NOTEBOOK · join phase intervals</a:t>
            </a:r>
          </a:p>
        </p:txBody>
      </p:sp>
      <p:sp>
        <p:nvSpPr>
          <p:cNvPr id="12" name="">
            <a:extLst>
              <a:ext uri="{FF2B5EF4-FFF2-40B4-BE49-F238E27FC236}">
                <ns2:creationId id="{54B2E1FB-0E9E-4504-A223-8E3B92574C38}"/>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SkillCorner open data and schema</a:t>
            </a:r>
          </a:p>
        </p:txBody>
      </p:sp>
      <p:sp>
        <p:nvSpPr>
          <p:cNvPr id="13" name="">
            <a:extLst>
              <a:ext uri="{FF2B5EF4-FFF2-40B4-BE49-F238E27FC236}">
                <ns2:creationId id="{E5B334E3-AFFB-4C72-BCD2-F898F07341F5}"/>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Augmented possession and phases framework (2025)</a:t>
            </a:r>
          </a:p>
        </p:txBody>
      </p:sp>
      <p:sp>
        <p:nvSpPr>
          <p:cNvPr id="14" name="">
            <a:extLst>
              <a:ext uri="{FF2B5EF4-FFF2-40B4-BE49-F238E27FC236}">
                <ns2:creationId id="{CF49BB81-B19C-4B96-8CC0-5615BC2F6401}"/>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18 / 61</a:t>
            </a:r>
          </a:p>
        </p:txBody>
      </p:sp>
    </p:spTree>
    <p:extLst>
      <p:ext uri="{BB962C8B-B14F-4D97-AF65-F5344CB8AC3E}">
        <ns4:creationId val="468127761"/>
      </p:ext>
    </p:extLst>
  </p:cSld>
</p:sld>
</file>

<file path=ppt/slides/slide1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2D3A1EBA-F062-4FF1-99AB-B181A4AB0B0B}"/>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81023C12-954E-45C5-B9B9-55F20028E815}"/>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Estimating player speed</a:t>
            </a:r>
          </a:p>
        </p:txBody>
      </p:sp>
      <p:sp>
        <p:nvSpPr>
          <p:cNvPr id="3" name="">
            <a:extLst>
              <a:ext uri="{FF2B5EF4-FFF2-40B4-BE49-F238E27FC236}">
                <ns2:creationId id="{EE8B32F8-7C7F-4174-AEED-C3AD1E3A07F0}"/>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5F5CA2F2-D809-4661-9B8C-1CA8D9A31402}"/>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Smooth positions within valid continuous segments</a:t>
            </a:r>
          </a:p>
        </p:txBody>
      </p:sp>
      <p:sp>
        <p:nvSpPr>
          <p:cNvPr id="5" name="">
            <a:extLst>
              <a:ext uri="{FF2B5EF4-FFF2-40B4-BE49-F238E27FC236}">
                <ns2:creationId id="{37BB4B26-2A86-4A46-B747-EBA5C324B73B}"/>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D6DA643E-0783-4CE1-8EB7-3A2EFFFB0BB8}"/>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Differentiate coordinates using elapsed time</a:t>
            </a:r>
          </a:p>
        </p:txBody>
      </p:sp>
      <p:sp>
        <p:nvSpPr>
          <p:cNvPr id="7" name="">
            <a:extLst>
              <a:ext uri="{FF2B5EF4-FFF2-40B4-BE49-F238E27FC236}">
                <ns2:creationId id="{1C0FF32F-44BC-4934-AE59-19F6E353362D}"/>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4638A705-3B6A-4CCD-A38E-BF3276F5E342}"/>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Convert m/s to km/h for running bands</a:t>
            </a:r>
          </a:p>
        </p:txBody>
      </p:sp>
      <p:pic>
        <p:nvPicPr>
          <p:cNvPr id="9" name="">
            <a:extLst>
              <a:ext uri="{FF2B5EF4-FFF2-40B4-BE49-F238E27FC236}">
                <ns2:creationId id="{5427E286-FD1D-461D-B560-AEA7B6021C63}"/>
              </a:ext>
            </a:extLst>
          </p:cNvPr>
          <p:cNvPicPr>
            <a:picLocks noChangeAspect="1"/>
          </p:cNvPicPr>
          <p:nvPr/>
        </p:nvPicPr>
        <p:blipFill>
          <a:blip r:embed="Rb5f7c736635f4708"/>
          <a:stretch/>
        </p:blipFill>
        <p:spPr>
          <a:xfrm>
            <a:off x="4248576" y="1333500"/>
            <a:ext cx="7314347" cy="4333875"/>
          </a:xfrm>
          <a:prstGeom prst="rect">
            <a:avLst/>
          </a:prstGeom>
        </p:spPr>
      </p:pic>
      <p:sp>
        <p:nvSpPr>
          <p:cNvPr id="10" name="">
            <a:extLst>
              <a:ext uri="{FF2B5EF4-FFF2-40B4-BE49-F238E27FC236}">
                <ns2:creationId id="{BA8CA2F0-531C-4B6A-8279-FE727B271166}"/>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DataBallPy preprocessing</a:t>
            </a:r>
          </a:p>
        </p:txBody>
      </p:sp>
      <p:sp>
        <p:nvSpPr>
          <p:cNvPr id="11" name="">
            <a:extLst>
              <a:ext uri="{FF2B5EF4-FFF2-40B4-BE49-F238E27FC236}">
                <ns2:creationId id="{18F84B8C-D251-4CF1-B7FD-6B7979C4206F}"/>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19 / 61</a:t>
            </a:r>
          </a:p>
        </p:txBody>
      </p:sp>
    </p:spTree>
    <p:extLst>
      <p:ext uri="{BB962C8B-B14F-4D97-AF65-F5344CB8AC3E}">
        <ns4:creationId val="667620503"/>
      </p:ext>
    </p:extLst>
  </p:cSld>
</p:sld>
</file>

<file path=ppt/slides/slide2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93295FA5-7A56-4718-966D-B77A92B68A91}"/>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09F091F9-0F1E-4BE4-AEF0-3326618A9A8F}"/>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Distance covered</a:t>
            </a:r>
          </a:p>
        </p:txBody>
      </p:sp>
      <p:sp>
        <p:nvSpPr>
          <p:cNvPr id="3" name="">
            <a:extLst>
              <a:ext uri="{FF2B5EF4-FFF2-40B4-BE49-F238E27FC236}">
                <ns2:creationId id="{B11F3C07-AEB8-4AFA-84BA-A780C33B4DFD}"/>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842BAC13-8BAB-4F39-9693-E7ABA72C0E47}"/>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Integrate speed across valid intervals</a:t>
            </a:r>
          </a:p>
        </p:txBody>
      </p:sp>
      <p:sp>
        <p:nvSpPr>
          <p:cNvPr id="5" name="">
            <a:extLst>
              <a:ext uri="{FF2B5EF4-FFF2-40B4-BE49-F238E27FC236}">
                <ns2:creationId id="{5187AA69-864C-4CF9-8819-43FFD5C9DF8F}"/>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3B91869F-504D-425B-937A-2DFCB051507E}"/>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Distance ≈ Σ speed × Δt</a:t>
            </a:r>
          </a:p>
        </p:txBody>
      </p:sp>
      <p:sp>
        <p:nvSpPr>
          <p:cNvPr id="7" name="">
            <a:extLst>
              <a:ext uri="{FF2B5EF4-FFF2-40B4-BE49-F238E27FC236}">
                <ns2:creationId id="{07932DEA-CD8B-4E5D-A463-DC2268B8FD7A}"/>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A52FDC78-5A35-4AA3-B3A4-19B57E9F2115}"/>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Report coverage alongside the total</a:t>
            </a:r>
          </a:p>
        </p:txBody>
      </p:sp>
      <p:pic>
        <p:nvPicPr>
          <p:cNvPr id="9" name="">
            <a:extLst>
              <a:ext uri="{FF2B5EF4-FFF2-40B4-BE49-F238E27FC236}">
                <ns2:creationId id="{FE285B2D-A690-4C3C-8C51-7BC3D6609CF7}"/>
              </a:ext>
            </a:extLst>
          </p:cNvPr>
          <p:cNvPicPr>
            <a:picLocks noChangeAspect="1"/>
          </p:cNvPicPr>
          <p:nvPr/>
        </p:nvPicPr>
        <p:blipFill>
          <a:blip r:embed="R8b28900268494cf6"/>
          <a:stretch/>
        </p:blipFill>
        <p:spPr>
          <a:xfrm>
            <a:off x="4261130" y="1333500"/>
            <a:ext cx="7289241" cy="4333875"/>
          </a:xfrm>
          <a:prstGeom prst="rect">
            <a:avLst/>
          </a:prstGeom>
        </p:spPr>
      </p:pic>
      <p:sp>
        <p:nvSpPr>
          <p:cNvPr id="10" name="">
            <a:extLst>
              <a:ext uri="{FF2B5EF4-FFF2-40B4-BE49-F238E27FC236}">
                <ns2:creationId id="{3A3CB40A-0927-4E8C-BE26-5D8652D4E332}"/>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DataBallPy covered distance</a:t>
            </a:r>
          </a:p>
        </p:txBody>
      </p:sp>
      <p:sp>
        <p:nvSpPr>
          <p:cNvPr id="11" name="">
            <a:extLst>
              <a:ext uri="{FF2B5EF4-FFF2-40B4-BE49-F238E27FC236}">
                <ns2:creationId id="{756086A4-ABDF-4EBB-B95F-A30E64EB0853}"/>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SkillCorner physical thresholds and time-to metrics</a:t>
            </a:r>
          </a:p>
        </p:txBody>
      </p:sp>
      <p:sp>
        <p:nvSpPr>
          <p:cNvPr id="12" name="">
            <a:extLst>
              <a:ext uri="{FF2B5EF4-FFF2-40B4-BE49-F238E27FC236}">
                <ns2:creationId id="{EEF4B82E-83DD-43D4-8E2D-DD28880A18CA}"/>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20 / 61</a:t>
            </a:r>
          </a:p>
        </p:txBody>
      </p:sp>
    </p:spTree>
    <p:extLst>
      <p:ext uri="{BB962C8B-B14F-4D97-AF65-F5344CB8AC3E}">
        <ns4:creationId val="2080936319"/>
      </p:ext>
    </p:extLst>
  </p:cSld>
</p:sld>
</file>

<file path=ppt/slides/slide2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9938E165-75E5-45F5-99C3-606F3CF6B163}"/>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D1AF8130-7FE2-4EA3-9DA0-4FAC634DE95C}"/>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High-speed and sprint distance</a:t>
            </a:r>
          </a:p>
        </p:txBody>
      </p:sp>
      <p:sp>
        <p:nvSpPr>
          <p:cNvPr id="3" name="">
            <a:extLst>
              <a:ext uri="{FF2B5EF4-FFF2-40B4-BE49-F238E27FC236}">
                <ns2:creationId id="{1F455D22-8090-4431-825A-935989E0856B}"/>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1129BDAB-F7F4-41A7-A8D1-5642D348775D}"/>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HSR: documented men’s band 20–25 km/h</a:t>
            </a:r>
          </a:p>
        </p:txBody>
      </p:sp>
      <p:sp>
        <p:nvSpPr>
          <p:cNvPr id="5" name="">
            <a:extLst>
              <a:ext uri="{FF2B5EF4-FFF2-40B4-BE49-F238E27FC236}">
                <ns2:creationId id="{5968AEF4-EBDD-4E16-BC30-9ED68E958C81}"/>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C4BD349B-93ED-4CB9-9CAA-93010C704C67}"/>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Sprint: above 25 km/h</a:t>
            </a:r>
          </a:p>
        </p:txBody>
      </p:sp>
      <p:sp>
        <p:nvSpPr>
          <p:cNvPr id="7" name="">
            <a:extLst>
              <a:ext uri="{FF2B5EF4-FFF2-40B4-BE49-F238E27FC236}">
                <ns2:creationId id="{2FA9D30D-D92E-4B1B-AFFF-C2C36FE40853}"/>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3869AABE-AA80-416C-90C7-6D80B139050E}"/>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Accumulate distance separately in each band</a:t>
            </a:r>
          </a:p>
        </p:txBody>
      </p:sp>
      <p:pic>
        <p:nvPicPr>
          <p:cNvPr id="9" name="">
            <a:extLst>
              <a:ext uri="{FF2B5EF4-FFF2-40B4-BE49-F238E27FC236}">
                <ns2:creationId id="{1F36624D-F39F-4016-BC89-8FBA9A4199E2}"/>
              </a:ext>
            </a:extLst>
          </p:cNvPr>
          <p:cNvPicPr>
            <a:picLocks noChangeAspect="1"/>
          </p:cNvPicPr>
          <p:nvPr/>
        </p:nvPicPr>
        <p:blipFill>
          <a:blip r:embed="R01bc48ba059641a1"/>
          <a:stretch/>
        </p:blipFill>
        <p:spPr>
          <a:xfrm>
            <a:off x="4243601" y="1333500"/>
            <a:ext cx="7324299" cy="4333875"/>
          </a:xfrm>
          <a:prstGeom prst="rect">
            <a:avLst/>
          </a:prstGeom>
        </p:spPr>
      </p:pic>
      <p:sp>
        <p:nvSpPr>
          <p:cNvPr id="10" name="">
            <a:extLst>
              <a:ext uri="{FF2B5EF4-FFF2-40B4-BE49-F238E27FC236}">
                <ns2:creationId id="{40591A98-FF72-4228-B6CE-EACC68047B37}"/>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SkillCorner physical thresholds and time-to metrics</a:t>
            </a:r>
          </a:p>
        </p:txBody>
      </p:sp>
      <p:sp>
        <p:nvSpPr>
          <p:cNvPr id="11" name="">
            <a:extLst>
              <a:ext uri="{FF2B5EF4-FFF2-40B4-BE49-F238E27FC236}">
                <ns2:creationId id="{7B72F7FD-7D96-4D87-9CB7-F63FFBC5C219}"/>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DataBallPy covered distance</a:t>
            </a:r>
          </a:p>
        </p:txBody>
      </p:sp>
      <p:sp>
        <p:nvSpPr>
          <p:cNvPr id="12" name="">
            <a:extLst>
              <a:ext uri="{FF2B5EF4-FFF2-40B4-BE49-F238E27FC236}">
                <ns2:creationId id="{214C539D-9338-4088-9994-687789F5EB24}"/>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21 / 61</a:t>
            </a:r>
          </a:p>
        </p:txBody>
      </p:sp>
    </p:spTree>
    <p:extLst>
      <p:ext uri="{BB962C8B-B14F-4D97-AF65-F5344CB8AC3E}">
        <ns4:creationId val="1565262348"/>
      </p:ext>
    </p:extLst>
  </p:cSld>
</p:sld>
</file>

<file path=ppt/slides/slide2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3B3FE7CC-5A95-45EE-B720-F3B1527A967B}"/>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704A7899-35FB-49A6-BFD2-710D794D99DB}"/>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Sprint-effort counts</a:t>
            </a:r>
          </a:p>
        </p:txBody>
      </p:sp>
      <p:sp>
        <p:nvSpPr>
          <p:cNvPr id="3" name="">
            <a:extLst>
              <a:ext uri="{FF2B5EF4-FFF2-40B4-BE49-F238E27FC236}">
                <ns2:creationId id="{8ACB10D3-1CBC-48EE-A0E1-EB7E926F281B}"/>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84CEED6F-5957-4F2C-B957-B6D921AD8DCA}"/>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Group consecutive threshold-exceeding frames</a:t>
            </a:r>
          </a:p>
        </p:txBody>
      </p:sp>
      <p:sp>
        <p:nvSpPr>
          <p:cNvPr id="5" name="">
            <a:extLst>
              <a:ext uri="{FF2B5EF4-FFF2-40B4-BE49-F238E27FC236}">
                <ns2:creationId id="{B94DB3B2-B466-4CD6-9017-C1CA363AB671}"/>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9882A030-BBAD-4A48-BED3-528B9694AE21}"/>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Require a stated minimum duration</a:t>
            </a:r>
          </a:p>
        </p:txBody>
      </p:sp>
      <p:sp>
        <p:nvSpPr>
          <p:cNvPr id="7" name="">
            <a:extLst>
              <a:ext uri="{FF2B5EF4-FFF2-40B4-BE49-F238E27FC236}">
                <ns2:creationId id="{247F0D09-CC38-4414-A4F5-50CD81997555}"/>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A31FF755-6715-40C3-8821-A07ACCB6889D}"/>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Define whether brief gaps are merged</a:t>
            </a:r>
          </a:p>
        </p:txBody>
      </p:sp>
      <p:pic>
        <p:nvPicPr>
          <p:cNvPr id="9" name="">
            <a:extLst>
              <a:ext uri="{FF2B5EF4-FFF2-40B4-BE49-F238E27FC236}">
                <ns2:creationId id="{F10AF63F-E887-442D-932F-8DDF8A6FDDFB}"/>
              </a:ext>
            </a:extLst>
          </p:cNvPr>
          <p:cNvPicPr>
            <a:picLocks noChangeAspect="1"/>
          </p:cNvPicPr>
          <p:nvPr/>
        </p:nvPicPr>
        <p:blipFill>
          <a:blip r:embed="R726d955479884331"/>
          <a:stretch/>
        </p:blipFill>
        <p:spPr>
          <a:xfrm>
            <a:off x="4261130" y="1333500"/>
            <a:ext cx="7289241" cy="4333875"/>
          </a:xfrm>
          <a:prstGeom prst="rect">
            <a:avLst/>
          </a:prstGeom>
        </p:spPr>
      </p:pic>
      <p:sp>
        <p:nvSpPr>
          <p:cNvPr id="10" name="">
            <a:extLst>
              <a:ext uri="{FF2B5EF4-FFF2-40B4-BE49-F238E27FC236}">
                <ns2:creationId id="{AA9BC0CE-5BEA-48EB-9823-7FFEC49D6A1D}"/>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SkillCorner physical thresholds and time-to metrics</a:t>
            </a:r>
          </a:p>
        </p:txBody>
      </p:sp>
      <p:sp>
        <p:nvSpPr>
          <p:cNvPr id="11" name="">
            <a:extLst>
              <a:ext uri="{FF2B5EF4-FFF2-40B4-BE49-F238E27FC236}">
                <ns2:creationId id="{FB20B819-7FBB-44A1-BE20-CCC354253D1D}"/>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22 / 61</a:t>
            </a:r>
          </a:p>
        </p:txBody>
      </p:sp>
    </p:spTree>
    <p:extLst>
      <p:ext uri="{BB962C8B-B14F-4D97-AF65-F5344CB8AC3E}">
        <ns4:creationId val="1806183573"/>
      </p:ext>
    </p:extLst>
  </p:cSld>
</p:sld>
</file>

<file path=ppt/slides/slide2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A9979307-ED00-4843-8CEA-679CD922AFAB}"/>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D65AA6D8-7872-4A4D-BC64-13D91A39064F}"/>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Acceleration and deceleration</a:t>
            </a:r>
          </a:p>
        </p:txBody>
      </p:sp>
      <p:sp>
        <p:nvSpPr>
          <p:cNvPr id="3" name="">
            <a:extLst>
              <a:ext uri="{FF2B5EF4-FFF2-40B4-BE49-F238E27FC236}">
                <ns2:creationId id="{9C4AF8C3-4E0F-40B5-8879-0AFDB07122C5}"/>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0F9CB2A6-9F7E-4D4F-99CE-00739AA74CBA}"/>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Differentiate scalar speed for speeding up or slowing down</a:t>
            </a:r>
          </a:p>
        </p:txBody>
      </p:sp>
      <p:sp>
        <p:nvSpPr>
          <p:cNvPr id="5" name="">
            <a:extLst>
              <a:ext uri="{FF2B5EF4-FFF2-40B4-BE49-F238E27FC236}">
                <ns2:creationId id="{5EA87675-AD25-4F47-9207-B2183DA4F944}"/>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2453FEB0-8562-4154-8B0D-54C70272D59D}"/>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Keep signed acceleration distinct from vector magnitude</a:t>
            </a:r>
          </a:p>
        </p:txBody>
      </p:sp>
      <p:sp>
        <p:nvSpPr>
          <p:cNvPr id="7" name="">
            <a:extLst>
              <a:ext uri="{FF2B5EF4-FFF2-40B4-BE49-F238E27FC236}">
                <ns2:creationId id="{C09882DB-D1A3-4333-A93B-BD957562945D}"/>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2A9F16CE-E47E-4B33-92E2-9566F4D1336C}"/>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Check duration as well as peak acceleration</a:t>
            </a:r>
          </a:p>
        </p:txBody>
      </p:sp>
      <p:pic>
        <p:nvPicPr>
          <p:cNvPr id="9" name="">
            <a:extLst>
              <a:ext uri="{FF2B5EF4-FFF2-40B4-BE49-F238E27FC236}">
                <ns2:creationId id="{B61BCC43-670B-4B76-945C-1D68E5D9979F}"/>
              </a:ext>
            </a:extLst>
          </p:cNvPr>
          <p:cNvPicPr>
            <a:picLocks noChangeAspect="1"/>
          </p:cNvPicPr>
          <p:nvPr/>
        </p:nvPicPr>
        <p:blipFill>
          <a:blip r:embed="R49dffdd1116541ca"/>
          <a:stretch/>
        </p:blipFill>
        <p:spPr>
          <a:xfrm>
            <a:off x="4248576" y="1333500"/>
            <a:ext cx="7314347" cy="4333875"/>
          </a:xfrm>
          <a:prstGeom prst="rect">
            <a:avLst/>
          </a:prstGeom>
        </p:spPr>
      </p:pic>
      <p:sp>
        <p:nvSpPr>
          <p:cNvPr id="10" name="">
            <a:extLst>
              <a:ext uri="{FF2B5EF4-FFF2-40B4-BE49-F238E27FC236}">
                <ns2:creationId id="{9D9D2473-F013-41E4-B22D-35B8273E16B8}"/>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DataBallPy preprocessing</a:t>
            </a:r>
          </a:p>
        </p:txBody>
      </p:sp>
      <p:sp>
        <p:nvSpPr>
          <p:cNvPr id="11" name="">
            <a:extLst>
              <a:ext uri="{FF2B5EF4-FFF2-40B4-BE49-F238E27FC236}">
                <ns2:creationId id="{C816DA85-0920-47DE-98E9-06182E2B0015}"/>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SkillCorner explosive accelerations</a:t>
            </a:r>
          </a:p>
        </p:txBody>
      </p:sp>
      <p:sp>
        <p:nvSpPr>
          <p:cNvPr id="12" name="">
            <a:extLst>
              <a:ext uri="{FF2B5EF4-FFF2-40B4-BE49-F238E27FC236}">
                <ns2:creationId id="{E8835FC0-16F4-41FD-9267-CA5518D098BC}"/>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23 / 61</a:t>
            </a:r>
          </a:p>
        </p:txBody>
      </p:sp>
    </p:spTree>
    <p:extLst>
      <p:ext uri="{BB962C8B-B14F-4D97-AF65-F5344CB8AC3E}">
        <ns4:creationId val="629287206"/>
      </p:ext>
    </p:extLst>
  </p:cSld>
</p:sld>
</file>

<file path=ppt/slides/slide2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051809F3-8216-474B-B99D-0E2996D1ADD4}"/>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E7E876E6-774F-411B-A2F5-9760C9A29898}"/>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Time to high-speed running</a:t>
            </a:r>
          </a:p>
        </p:txBody>
      </p:sp>
      <p:sp>
        <p:nvSpPr>
          <p:cNvPr id="3" name="">
            <a:extLst>
              <a:ext uri="{FF2B5EF4-FFF2-40B4-BE49-F238E27FC236}">
                <ns2:creationId id="{C59B9352-CC65-4582-AE5E-98F805D55DF0}"/>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7277E9FC-5AD3-4AFC-BEB8-D5588D7B1772}"/>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SkillCorner measures the 9 → 20 km/h interval</a:t>
            </a:r>
          </a:p>
        </p:txBody>
      </p:sp>
      <p:sp>
        <p:nvSpPr>
          <p:cNvPr id="5" name="">
            <a:extLst>
              <a:ext uri="{FF2B5EF4-FFF2-40B4-BE49-F238E27FC236}">
                <ns2:creationId id="{FDD42175-0DFE-4637-A275-BD5C0E0A6FCE}"/>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FDAAD893-B035-4A99-83C0-D63D1FB889E6}"/>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Use a qualifying explosive acceleration</a:t>
            </a:r>
          </a:p>
        </p:txBody>
      </p:sp>
      <p:sp>
        <p:nvSpPr>
          <p:cNvPr id="7" name="">
            <a:extLst>
              <a:ext uri="{FF2B5EF4-FFF2-40B4-BE49-F238E27FC236}">
                <ns2:creationId id="{B5AAC823-0203-4D25-8546-7185718AE756}"/>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A0D2C06D-FD6D-4545-9F9E-262FF92D9A17}"/>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Compare the speed trajectory, not just peak speed</a:t>
            </a:r>
          </a:p>
        </p:txBody>
      </p:sp>
      <p:pic>
        <p:nvPicPr>
          <p:cNvPr id="9" name="">
            <a:extLst>
              <a:ext uri="{FF2B5EF4-FFF2-40B4-BE49-F238E27FC236}">
                <ns2:creationId id="{F8FEFE52-7E80-4C44-BD63-5BDB1F05C97A}"/>
              </a:ext>
            </a:extLst>
          </p:cNvPr>
          <p:cNvPicPr>
            <a:picLocks noChangeAspect="1"/>
          </p:cNvPicPr>
          <p:nvPr/>
        </p:nvPicPr>
        <p:blipFill>
          <a:blip r:embed="R41bdf67baa6845e5"/>
          <a:stretch/>
        </p:blipFill>
        <p:spPr>
          <a:xfrm>
            <a:off x="4261130" y="1333500"/>
            <a:ext cx="7289241" cy="4333875"/>
          </a:xfrm>
          <a:prstGeom prst="rect">
            <a:avLst/>
          </a:prstGeom>
        </p:spPr>
      </p:pic>
      <p:sp>
        <p:nvSpPr>
          <p:cNvPr id="10" name="">
            <a:extLst>
              <a:ext uri="{FF2B5EF4-FFF2-40B4-BE49-F238E27FC236}">
                <ns2:creationId id="{0DEDAA76-7192-4A32-A270-01C7CCD0C421}"/>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SkillCorner explosive accelerations</a:t>
            </a:r>
          </a:p>
        </p:txBody>
      </p:sp>
      <p:sp>
        <p:nvSpPr>
          <p:cNvPr id="11" name="">
            <a:extLst>
              <a:ext uri="{FF2B5EF4-FFF2-40B4-BE49-F238E27FC236}">
                <ns2:creationId id="{AE0099CC-14D3-4810-B411-75B79DDB2C85}"/>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24 / 61</a:t>
            </a:r>
          </a:p>
        </p:txBody>
      </p:sp>
    </p:spTree>
    <p:extLst>
      <p:ext uri="{BB962C8B-B14F-4D97-AF65-F5344CB8AC3E}">
        <ns4:creationId val="1523613481"/>
      </p:ext>
    </p:extLst>
  </p:cSld>
</p:sld>
</file>

<file path=ppt/slides/slide2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078DBD59-7905-404E-AE3E-69BC2252CE15}"/>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A7B1A607-0C4B-4B5B-9958-D07D2A718118}"/>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Time to sprint</a:t>
            </a:r>
          </a:p>
        </p:txBody>
      </p:sp>
      <p:sp>
        <p:nvSpPr>
          <p:cNvPr id="3" name="">
            <a:extLst>
              <a:ext uri="{FF2B5EF4-FFF2-40B4-BE49-F238E27FC236}">
                <ns2:creationId id="{DD6F5A0B-5482-473E-A32D-2B10B87BD9C3}"/>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A00EDBF0-5BBB-4751-AF92-A3952F22BD2C}"/>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SkillCorner measures the 9 → 25 km/h interval</a:t>
            </a:r>
          </a:p>
        </p:txBody>
      </p:sp>
      <p:sp>
        <p:nvSpPr>
          <p:cNvPr id="5" name="">
            <a:extLst>
              <a:ext uri="{FF2B5EF4-FFF2-40B4-BE49-F238E27FC236}">
                <ns2:creationId id="{CAC4DBF4-3F23-42B4-811D-7F30C018ED7C}"/>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B21E2B7C-F8C1-4B4C-A208-EB63C0D651E6}"/>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A quick top speed does not imply a quick acceleration</a:t>
            </a:r>
          </a:p>
        </p:txBody>
      </p:sp>
      <p:sp>
        <p:nvSpPr>
          <p:cNvPr id="7" name="">
            <a:extLst>
              <a:ext uri="{FF2B5EF4-FFF2-40B4-BE49-F238E27FC236}">
                <ns2:creationId id="{4E2FF9EB-EFDE-45EA-A01F-CFDDCDCCA2B1}"/>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21BE9B6B-698F-4079-92AF-72B5AFB86556}"/>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Check the qualifying effort before reporting the metric</a:t>
            </a:r>
          </a:p>
        </p:txBody>
      </p:sp>
      <p:pic>
        <p:nvPicPr>
          <p:cNvPr id="9" name="">
            <a:extLst>
              <a:ext uri="{FF2B5EF4-FFF2-40B4-BE49-F238E27FC236}">
                <ns2:creationId id="{BEFF6DF4-39DA-4819-BEBB-9C540480BC95}"/>
              </a:ext>
            </a:extLst>
          </p:cNvPr>
          <p:cNvPicPr>
            <a:picLocks noChangeAspect="1"/>
          </p:cNvPicPr>
          <p:nvPr/>
        </p:nvPicPr>
        <p:blipFill>
          <a:blip r:embed="R3a26f190fa304017"/>
          <a:stretch/>
        </p:blipFill>
        <p:spPr>
          <a:xfrm>
            <a:off x="4261130" y="1333500"/>
            <a:ext cx="7289241" cy="4333875"/>
          </a:xfrm>
          <a:prstGeom prst="rect">
            <a:avLst/>
          </a:prstGeom>
        </p:spPr>
      </p:pic>
      <p:sp>
        <p:nvSpPr>
          <p:cNvPr id="10" name="">
            <a:extLst>
              <a:ext uri="{FF2B5EF4-FFF2-40B4-BE49-F238E27FC236}">
                <ns2:creationId id="{9E5B7B55-4A4F-4064-8CB0-AF1CBDCB5078}"/>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SkillCorner explosive accelerations</a:t>
            </a:r>
          </a:p>
        </p:txBody>
      </p:sp>
      <p:sp>
        <p:nvSpPr>
          <p:cNvPr id="11" name="">
            <a:extLst>
              <a:ext uri="{FF2B5EF4-FFF2-40B4-BE49-F238E27FC236}">
                <ns2:creationId id="{D5610316-A17D-42F2-A21F-F721439DA2CD}"/>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25 / 61</a:t>
            </a:r>
          </a:p>
        </p:txBody>
      </p:sp>
    </p:spTree>
    <p:extLst>
      <p:ext uri="{BB962C8B-B14F-4D97-AF65-F5344CB8AC3E}">
        <ns4:creationId val="1789709099"/>
      </p:ext>
    </p:extLst>
  </p:cSld>
</p:sld>
</file>

<file path=ppt/slides/slide2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365C9CD7-A6BE-4401-932C-6F1130EAF7EE}"/>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4F2B5172-FB9C-40FE-B5E5-80DCE252D2C7}"/>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PSV-99: activity-based speed capacity</a:t>
            </a:r>
          </a:p>
        </p:txBody>
      </p:sp>
      <p:sp>
        <p:nvSpPr>
          <p:cNvPr id="3" name="">
            <a:extLst>
              <a:ext uri="{FF2B5EF4-FFF2-40B4-BE49-F238E27FC236}">
                <ns2:creationId id="{BBD6A5FB-87DE-4D09-B9DC-12D6BB7B3CF6}"/>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45A12E43-6C4F-453A-B219-8D3852561B77}"/>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Use SkillCorner’s defined activity population</a:t>
            </a:r>
          </a:p>
        </p:txBody>
      </p:sp>
      <p:sp>
        <p:nvSpPr>
          <p:cNvPr id="5" name="">
            <a:extLst>
              <a:ext uri="{FF2B5EF4-FFF2-40B4-BE49-F238E27FC236}">
                <ns2:creationId id="{B57C70FC-A66F-4EB5-B546-8C73697DE799}"/>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F320742A-79A0-45D5-B6C4-76317DD60BA8}"/>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Summarize high-speed activity rather than all frames</a:t>
            </a:r>
          </a:p>
        </p:txBody>
      </p:sp>
      <p:sp>
        <p:nvSpPr>
          <p:cNvPr id="7" name="">
            <a:extLst>
              <a:ext uri="{FF2B5EF4-FFF2-40B4-BE49-F238E27FC236}">
                <ns2:creationId id="{090150A7-2C30-4DB4-857B-408FB11CE5C9}"/>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8AEB0860-8D1C-4E78-8218-9547758FB72E}"/>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Do not substitute an all-frame percentile</a:t>
            </a:r>
          </a:p>
        </p:txBody>
      </p:sp>
      <p:pic>
        <p:nvPicPr>
          <p:cNvPr id="9" name="">
            <a:extLst>
              <a:ext uri="{FF2B5EF4-FFF2-40B4-BE49-F238E27FC236}">
                <ns2:creationId id="{76B8D33E-1BB4-49EC-B97C-03B312205410}"/>
              </a:ext>
            </a:extLst>
          </p:cNvPr>
          <p:cNvPicPr>
            <a:picLocks noChangeAspect="1"/>
          </p:cNvPicPr>
          <p:nvPr/>
        </p:nvPicPr>
        <p:blipFill>
          <a:blip r:embed="Rdc17d16d7fe74242"/>
          <a:stretch/>
        </p:blipFill>
        <p:spPr>
          <a:xfrm>
            <a:off x="4246089" y="1333500"/>
            <a:ext cx="7319323" cy="4333875"/>
          </a:xfrm>
          <a:prstGeom prst="rect">
            <a:avLst/>
          </a:prstGeom>
        </p:spPr>
      </p:pic>
      <p:sp>
        <p:nvSpPr>
          <p:cNvPr id="10" name="">
            <a:extLst>
              <a:ext uri="{FF2B5EF4-FFF2-40B4-BE49-F238E27FC236}">
                <ns2:creationId id="{5CB10A3D-0B60-410B-B99B-BC0342C2971F}"/>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SkillCorner PSV-99 and Peak Velocity</a:t>
            </a:r>
          </a:p>
        </p:txBody>
      </p:sp>
      <p:sp>
        <p:nvSpPr>
          <p:cNvPr id="11" name="">
            <a:extLst>
              <a:ext uri="{FF2B5EF4-FFF2-40B4-BE49-F238E27FC236}">
                <ns2:creationId id="{5F7E0CCD-2C3B-4728-9874-00FA33C8A0C3}"/>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26 / 61</a:t>
            </a:r>
          </a:p>
        </p:txBody>
      </p:sp>
    </p:spTree>
    <p:extLst>
      <p:ext uri="{BB962C8B-B14F-4D97-AF65-F5344CB8AC3E}">
        <ns4:creationId val="1103651810"/>
      </p:ext>
    </p:extLst>
  </p:cSld>
</p:sld>
</file>

<file path=ppt/slides/slide2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98B1D6F5-DFA6-42A5-843C-1A0D36C9DD53}"/>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4FE86B58-F499-4F69-A536-604317269319}"/>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Peak Velocity: absolute top speed</a:t>
            </a:r>
          </a:p>
        </p:txBody>
      </p:sp>
      <p:sp>
        <p:nvSpPr>
          <p:cNvPr id="3" name="">
            <a:extLst>
              <a:ext uri="{FF2B5EF4-FFF2-40B4-BE49-F238E27FC236}">
                <ns2:creationId id="{EC74B376-65BF-4D02-8294-80C8E6FFEEBF}"/>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35DF9D93-AE0F-4E49-BDF6-A7431F6D73F7}"/>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Identify the highest reliably measured speed</a:t>
            </a:r>
          </a:p>
        </p:txBody>
      </p:sp>
      <p:sp>
        <p:nvSpPr>
          <p:cNvPr id="5" name="">
            <a:extLst>
              <a:ext uri="{FF2B5EF4-FFF2-40B4-BE49-F238E27FC236}">
                <ns2:creationId id="{BB080C99-1484-44F2-B6E8-6E74C5E56DF1}"/>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8D3984CF-EA52-4612-9539-89970746505C}"/>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Inspect the quality of the peak interval</a:t>
            </a:r>
          </a:p>
        </p:txBody>
      </p:sp>
      <p:sp>
        <p:nvSpPr>
          <p:cNvPr id="7" name="">
            <a:extLst>
              <a:ext uri="{FF2B5EF4-FFF2-40B4-BE49-F238E27FC236}">
                <ns2:creationId id="{30D64500-5E9D-4FE4-AE3D-67707C8A009B}"/>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EAC14495-81C5-437F-9CB8-7DDAB2E481F6}"/>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Keep sample maxima separate from production metrics</a:t>
            </a:r>
          </a:p>
        </p:txBody>
      </p:sp>
      <p:pic>
        <p:nvPicPr>
          <p:cNvPr id="9" name="">
            <a:extLst>
              <a:ext uri="{FF2B5EF4-FFF2-40B4-BE49-F238E27FC236}">
                <ns2:creationId id="{4C6B1758-06EE-4C9B-8EB9-9E40040B6A70}"/>
              </a:ext>
            </a:extLst>
          </p:cNvPr>
          <p:cNvPicPr>
            <a:picLocks noChangeAspect="1"/>
          </p:cNvPicPr>
          <p:nvPr/>
        </p:nvPicPr>
        <p:blipFill>
          <a:blip r:embed="R073c560c3d8e4ba4"/>
          <a:stretch/>
        </p:blipFill>
        <p:spPr>
          <a:xfrm>
            <a:off x="4261130" y="1333500"/>
            <a:ext cx="7289241" cy="4333875"/>
          </a:xfrm>
          <a:prstGeom prst="rect">
            <a:avLst/>
          </a:prstGeom>
        </p:spPr>
      </p:pic>
      <p:sp>
        <p:nvSpPr>
          <p:cNvPr id="10" name="">
            <a:extLst>
              <a:ext uri="{FF2B5EF4-FFF2-40B4-BE49-F238E27FC236}">
                <ns2:creationId id="{2615CE9A-A4AB-4452-88F1-2F0D43575BFF}"/>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SkillCorner PSV-99 and Peak Velocity</a:t>
            </a:r>
          </a:p>
        </p:txBody>
      </p:sp>
      <p:sp>
        <p:nvSpPr>
          <p:cNvPr id="11" name="">
            <a:extLst>
              <a:ext uri="{FF2B5EF4-FFF2-40B4-BE49-F238E27FC236}">
                <ns2:creationId id="{62381955-4B1F-4661-8BF9-5CFB3CB51B4C}"/>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27 / 61</a:t>
            </a:r>
          </a:p>
        </p:txBody>
      </p:sp>
    </p:spTree>
    <p:extLst>
      <p:ext uri="{BB962C8B-B14F-4D97-AF65-F5344CB8AC3E}">
        <ns4:creationId val="1483523813"/>
      </p:ext>
    </p:extLst>
  </p:cSld>
</p:sld>
</file>

<file path=ppt/slides/slide2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AF7F6FBC-8F7C-4E07-B457-9CB6E139F1FD}"/>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9A3CEADD-6C57-4252-963B-5E47D8E40AAA}"/>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Expected goals: shot quality</a:t>
            </a:r>
          </a:p>
        </p:txBody>
      </p:sp>
      <p:sp>
        <p:nvSpPr>
          <p:cNvPr id="3" name="">
            <a:extLst>
              <a:ext uri="{FF2B5EF4-FFF2-40B4-BE49-F238E27FC236}">
                <ns2:creationId id="{CB515AFE-2AD7-4E41-BB90-A374F490745B}"/>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D4F3CAD5-EEBC-4C51-B1D1-160AA146B65C}"/>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Distance and angle form a simple feature baseline</a:t>
            </a:r>
          </a:p>
        </p:txBody>
      </p:sp>
      <p:sp>
        <p:nvSpPr>
          <p:cNvPr id="5" name="">
            <a:extLst>
              <a:ext uri="{FF2B5EF4-FFF2-40B4-BE49-F238E27FC236}">
                <ns2:creationId id="{36E96C45-2862-4A90-85B0-7FAE4F740B7A}"/>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BEC33C5A-42B6-4860-8C8D-03C6CB5CD80C}"/>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Tracking adds keeper and defender context</a:t>
            </a:r>
          </a:p>
        </p:txBody>
      </p:sp>
      <p:sp>
        <p:nvSpPr>
          <p:cNvPr id="7" name="">
            <a:extLst>
              <a:ext uri="{FF2B5EF4-FFF2-40B4-BE49-F238E27FC236}">
                <ns2:creationId id="{6812DCB9-8BA3-4F45-9808-153E371E4B3E}"/>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B697D0AE-46ED-4BF2-8BCC-D933D0621FFE}"/>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Fit and calibrate on many labeled shots</a:t>
            </a:r>
          </a:p>
        </p:txBody>
      </p:sp>
      <p:pic>
        <p:nvPicPr>
          <p:cNvPr id="9" name="">
            <a:extLst>
              <a:ext uri="{FF2B5EF4-FFF2-40B4-BE49-F238E27FC236}">
                <ns2:creationId id="{8774DB80-BE5F-4894-AA78-D4034900BC53}"/>
              </a:ext>
            </a:extLst>
          </p:cNvPr>
          <p:cNvPicPr>
            <a:picLocks noChangeAspect="1"/>
          </p:cNvPicPr>
          <p:nvPr/>
        </p:nvPicPr>
        <p:blipFill>
          <a:blip r:embed="Re9260cfb0caa4149"/>
          <a:stretch/>
        </p:blipFill>
        <p:spPr>
          <a:xfrm>
            <a:off x="4910814" y="1333500"/>
            <a:ext cx="5989871" cy="4333875"/>
          </a:xfrm>
          <a:prstGeom prst="rect">
            <a:avLst/>
          </a:prstGeom>
        </p:spPr>
      </p:pic>
      <p:sp>
        <p:nvSpPr>
          <p:cNvPr id="10" name="">
            <a:extLst>
              <a:ext uri="{FF2B5EF4-FFF2-40B4-BE49-F238E27FC236}">
                <ns2:creationId id="{DC09D754-2E44-42E1-9108-1AA129C1D242}"/>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StatsBomb: Upgrading Expected Goals</a:t>
            </a:r>
          </a:p>
        </p:txBody>
      </p:sp>
      <p:sp>
        <p:nvSpPr>
          <p:cNvPr id="11" name="">
            <a:extLst>
              <a:ext uri="{FF2B5EF4-FFF2-40B4-BE49-F238E27FC236}">
                <ns2:creationId id="{4854A42A-A6FB-4565-BBBF-30A85648D7C6}"/>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28 / 61</a:t>
            </a:r>
          </a:p>
        </p:txBody>
      </p:sp>
    </p:spTree>
    <p:extLst>
      <p:ext uri="{BB962C8B-B14F-4D97-AF65-F5344CB8AC3E}">
        <ns4:creationId val="353580313"/>
      </p:ext>
    </p:extLst>
  </p:cSld>
</p:sld>
</file>

<file path=ppt/slides/slide2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534DA61A-DD4F-486D-A364-F3168BAE690F}"/>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0EF4000C-82C3-4755-85EA-27AD31EB3ADF}"/>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Expected Threat: location value</a:t>
            </a:r>
          </a:p>
        </p:txBody>
      </p:sp>
      <p:sp>
        <p:nvSpPr>
          <p:cNvPr id="3" name="">
            <a:extLst>
              <a:ext uri="{FF2B5EF4-FFF2-40B4-BE49-F238E27FC236}">
                <ns2:creationId id="{F27F1EAA-5FC8-4346-A94B-7FDA1D2DA40B}"/>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78E83B6A-91DD-4BB6-BE31-C7CBAD14CBC1}"/>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Divide the pitch into states</a:t>
            </a:r>
          </a:p>
        </p:txBody>
      </p:sp>
      <p:sp>
        <p:nvSpPr>
          <p:cNvPr id="5" name="">
            <a:extLst>
              <a:ext uri="{FF2B5EF4-FFF2-40B4-BE49-F238E27FC236}">
                <ns2:creationId id="{BF3AC1DF-E689-49FA-B61C-B00CE946A268}"/>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DA7F093D-C4F6-4318-B61A-CFC11BD706B1}"/>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Combine shooting reward with future movement value</a:t>
            </a:r>
          </a:p>
        </p:txBody>
      </p:sp>
      <p:sp>
        <p:nvSpPr>
          <p:cNvPr id="7" name="">
            <a:extLst>
              <a:ext uri="{FF2B5EF4-FFF2-40B4-BE49-F238E27FC236}">
                <ns2:creationId id="{1F0B0DBC-E6ED-4696-A8D0-9F58FFD01D75}"/>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30285F16-CB30-4AFB-B7E5-13984486D25F}"/>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Iterate the transition equation to value continuation</a:t>
            </a:r>
          </a:p>
        </p:txBody>
      </p:sp>
      <p:pic>
        <p:nvPicPr>
          <p:cNvPr id="9" name="">
            <a:extLst>
              <a:ext uri="{FF2B5EF4-FFF2-40B4-BE49-F238E27FC236}">
                <ns2:creationId id="{AE1D0560-F46C-4D60-9FA0-DC12C8576744}"/>
              </a:ext>
            </a:extLst>
          </p:cNvPr>
          <p:cNvPicPr>
            <a:picLocks noChangeAspect="1"/>
          </p:cNvPicPr>
          <p:nvPr/>
        </p:nvPicPr>
        <p:blipFill>
          <a:blip r:embed="Re5cacc0a841247f6"/>
          <a:stretch/>
        </p:blipFill>
        <p:spPr>
          <a:xfrm>
            <a:off x="4427703" y="1333500"/>
            <a:ext cx="6956093" cy="4333875"/>
          </a:xfrm>
          <a:prstGeom prst="rect">
            <a:avLst/>
          </a:prstGeom>
        </p:spPr>
      </p:pic>
      <p:sp>
        <p:nvSpPr>
          <p:cNvPr id="10" name="">
            <a:extLst>
              <a:ext uri="{FF2B5EF4-FFF2-40B4-BE49-F238E27FC236}">
                <ns2:creationId id="{1F68251B-26CB-49B8-B0F8-18FE8418D763}"/>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Karun Singh: Expected Threat</a:t>
            </a:r>
          </a:p>
        </p:txBody>
      </p:sp>
      <p:sp>
        <p:nvSpPr>
          <p:cNvPr id="11" name="">
            <a:extLst>
              <a:ext uri="{FF2B5EF4-FFF2-40B4-BE49-F238E27FC236}">
                <ns2:creationId id="{9CB9FD61-FDC9-4E91-99DA-9FA70BBB38D3}"/>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DataBallPy fitted xT methodology</a:t>
            </a:r>
          </a:p>
        </p:txBody>
      </p:sp>
      <p:sp>
        <p:nvSpPr>
          <p:cNvPr id="12" name="">
            <a:extLst>
              <a:ext uri="{FF2B5EF4-FFF2-40B4-BE49-F238E27FC236}">
                <ns2:creationId id="{77F1F160-75AF-4C9C-9767-2DFF9907E44D}"/>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29 / 61</a:t>
            </a:r>
          </a:p>
        </p:txBody>
      </p:sp>
    </p:spTree>
    <p:extLst>
      <p:ext uri="{BB962C8B-B14F-4D97-AF65-F5344CB8AC3E}">
        <ns4:creationId val="776816070"/>
      </p:ext>
    </p:extLst>
  </p:cSld>
</p:sld>
</file>

<file path=ppt/slides/slide3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02F61733-1AA2-4BAD-916E-1688D99CAA3B}"/>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5A9D0646-50D5-406F-A774-3B7C6308ADBB}"/>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Expected Threat gained</a:t>
            </a:r>
          </a:p>
        </p:txBody>
      </p:sp>
      <p:sp>
        <p:nvSpPr>
          <p:cNvPr id="3" name="">
            <a:extLst>
              <a:ext uri="{FF2B5EF4-FFF2-40B4-BE49-F238E27FC236}">
                <ns2:creationId id="{FF86FA49-3116-4D00-939D-53CFCC9347B2}"/>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68FB5EB0-97C4-4162-BBAD-DA04080772C1}"/>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Look up the value at both endpoints</a:t>
            </a:r>
          </a:p>
        </p:txBody>
      </p:sp>
      <p:sp>
        <p:nvSpPr>
          <p:cNvPr id="5" name="">
            <a:extLst>
              <a:ext uri="{FF2B5EF4-FFF2-40B4-BE49-F238E27FC236}">
                <ns2:creationId id="{7BF5E197-4567-49F6-BA13-C17E1531BF6E}"/>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20A46F5C-052D-4309-B99F-F3BE2A63737A}"/>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Completed-action value: V(end) − V(start)</a:t>
            </a:r>
          </a:p>
        </p:txBody>
      </p:sp>
      <p:sp>
        <p:nvSpPr>
          <p:cNvPr id="7" name="">
            <a:extLst>
              <a:ext uri="{FF2B5EF4-FFF2-40B4-BE49-F238E27FC236}">
                <ns2:creationId id="{15321FA2-ED4E-4200-AED3-123F0893A09D}"/>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CAA7B511-CC85-41F7-BC65-0C892B191597}"/>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Use tracking context to explain what location-only xT misses</a:t>
            </a:r>
          </a:p>
        </p:txBody>
      </p:sp>
      <p:pic>
        <p:nvPicPr>
          <p:cNvPr id="9" name="">
            <a:extLst>
              <a:ext uri="{FF2B5EF4-FFF2-40B4-BE49-F238E27FC236}">
                <ns2:creationId id="{BED19DFC-E21F-4047-A0F1-F867C28E1773}"/>
              </a:ext>
            </a:extLst>
          </p:cNvPr>
          <p:cNvPicPr>
            <a:picLocks noChangeAspect="1"/>
          </p:cNvPicPr>
          <p:nvPr/>
        </p:nvPicPr>
        <p:blipFill>
          <a:blip r:embed="Rbd8fce3a7db94f06"/>
          <a:stretch/>
        </p:blipFill>
        <p:spPr>
          <a:xfrm>
            <a:off x="4261130" y="1333500"/>
            <a:ext cx="7289241" cy="4333875"/>
          </a:xfrm>
          <a:prstGeom prst="rect">
            <a:avLst/>
          </a:prstGeom>
        </p:spPr>
      </p:pic>
      <p:sp>
        <p:nvSpPr>
          <p:cNvPr id="10" name="">
            <a:extLst>
              <a:ext uri="{FF2B5EF4-FFF2-40B4-BE49-F238E27FC236}">
                <ns2:creationId id="{B920D376-2802-411C-924F-1C81C6F9D77B}"/>
              </a:ext>
            </a:extLst>
          </p:cNvPr>
          <p:cNvSpPr>
            <a:spLocks noGrp="1"/>
          </p:cNvSpPr>
          <p:nvPr/>
        </p:nvSpPr>
        <p:spPr>
          <a:xfrm>
            <a:off x="571500" y="5715000"/>
            <a:ext cx="11049000" cy="409575"/>
          </a:xfrm>
          <a:prstGeom prst="rect">
            <a:avLst/>
          </a:prstGeom>
          <a:solidFill>
            <a:srgbClr val="E0EEE8"/>
          </a:solidFill>
          <a:ln w="0">
            <a:noFill/>
          </a:ln>
        </p:spPr>
      </p:sp>
      <p:sp>
        <p:nvSpPr>
          <p:cNvPr id="11" name="">
            <a:extLst>
              <a:ext uri="{FF2B5EF4-FFF2-40B4-BE49-F238E27FC236}">
                <ns2:creationId id="{EEE4F033-DCD0-47AA-B431-C7CE8494AB49}"/>
              </a:ext>
            </a:extLst>
          </p:cNvPr>
          <p:cNvSpPr>
            <a:spLocks noGrp="1"/>
          </p:cNvSpPr>
          <p:nvPr/>
        </p:nvSpPr>
        <p:spPr>
          <a:xfrm>
            <a:off x="742950" y="5791200"/>
            <a:ext cx="10668000" cy="32385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NOTEBOOK · xT lookup and endpoint difference</a:t>
            </a:r>
          </a:p>
        </p:txBody>
      </p:sp>
      <p:sp>
        <p:nvSpPr>
          <p:cNvPr id="12" name="">
            <a:extLst>
              <a:ext uri="{FF2B5EF4-FFF2-40B4-BE49-F238E27FC236}">
                <ns2:creationId id="{C46C9D2E-49EB-4F3C-96C4-6B4B00926863}"/>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Karun Singh: Expected Threat</a:t>
            </a:r>
          </a:p>
        </p:txBody>
      </p:sp>
      <p:sp>
        <p:nvSpPr>
          <p:cNvPr id="13" name="">
            <a:extLst>
              <a:ext uri="{FF2B5EF4-FFF2-40B4-BE49-F238E27FC236}">
                <ns2:creationId id="{6C069F49-E5EC-4B58-817B-559E3034F932}"/>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DataBallPy fitted xT methodology</a:t>
            </a:r>
          </a:p>
        </p:txBody>
      </p:sp>
      <p:sp>
        <p:nvSpPr>
          <p:cNvPr id="14" name="">
            <a:extLst>
              <a:ext uri="{FF2B5EF4-FFF2-40B4-BE49-F238E27FC236}">
                <ns2:creationId id="{1B64479C-FE24-47D1-A494-8E67C9B135DA}"/>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30 / 61</a:t>
            </a:r>
          </a:p>
        </p:txBody>
      </p:sp>
    </p:spTree>
    <p:extLst>
      <p:ext uri="{BB962C8B-B14F-4D97-AF65-F5344CB8AC3E}">
        <ns4:creationId val="48748403"/>
      </p:ext>
    </p:extLst>
  </p:cSld>
</p:sld>
</file>

<file path=ppt/slides/slide3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79B30464-E353-4A94-8B62-9306A7E3B87E}"/>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D33CD4CE-7D94-42BE-A092-50E5E8F5954F}"/>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Voronoi space control</a:t>
            </a:r>
          </a:p>
        </p:txBody>
      </p:sp>
      <p:sp>
        <p:nvSpPr>
          <p:cNvPr id="3" name="">
            <a:extLst>
              <a:ext uri="{FF2B5EF4-FFF2-40B4-BE49-F238E27FC236}">
                <ns2:creationId id="{9CCD09A2-C269-4447-8893-BBA5A6A65180}"/>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461301F8-BAB8-4A93-9EF1-5A561BB3CC15}"/>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Assign every location to its closest player</a:t>
            </a:r>
          </a:p>
        </p:txBody>
      </p:sp>
      <p:sp>
        <p:nvSpPr>
          <p:cNvPr id="5" name="">
            <a:extLst>
              <a:ext uri="{FF2B5EF4-FFF2-40B4-BE49-F238E27FC236}">
                <ns2:creationId id="{0284D301-DE77-4EAF-82F6-128C1AC3960B}"/>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AB164646-F329-4453-A6CB-E9EBD5F70BA8}"/>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Aggregate player regions by team</a:t>
            </a:r>
          </a:p>
        </p:txBody>
      </p:sp>
      <p:sp>
        <p:nvSpPr>
          <p:cNvPr id="7" name="">
            <a:extLst>
              <a:ext uri="{FF2B5EF4-FFF2-40B4-BE49-F238E27FC236}">
                <ns2:creationId id="{E9CEB12C-9CFC-42BE-96E9-69336F0A9BA5}"/>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FC9FBA2F-B27D-48E8-A04D-1C15841FE4E6}"/>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Use as a geometric baseline</a:t>
            </a:r>
          </a:p>
        </p:txBody>
      </p:sp>
      <p:pic>
        <p:nvPicPr>
          <p:cNvPr id="9" name="">
            <a:extLst>
              <a:ext uri="{FF2B5EF4-FFF2-40B4-BE49-F238E27FC236}">
                <ns2:creationId id="{90608D40-AD14-48E2-83CC-0526BB557E86}"/>
              </a:ext>
            </a:extLst>
          </p:cNvPr>
          <p:cNvPicPr>
            <a:picLocks noChangeAspect="1"/>
          </p:cNvPicPr>
          <p:nvPr/>
        </p:nvPicPr>
        <p:blipFill>
          <a:blip r:embed="Rad21df54c6264874"/>
          <a:stretch/>
        </p:blipFill>
        <p:spPr>
          <a:xfrm>
            <a:off x="4785910" y="1333500"/>
            <a:ext cx="6239680" cy="4333875"/>
          </a:xfrm>
          <a:prstGeom prst="rect">
            <a:avLst/>
          </a:prstGeom>
        </p:spPr>
      </p:pic>
      <p:sp>
        <p:nvSpPr>
          <p:cNvPr id="10" name="">
            <a:extLst>
              <a:ext uri="{FF2B5EF4-FFF2-40B4-BE49-F238E27FC236}">
                <ns2:creationId id="{73F5EF7F-FEB6-43D7-B7D6-66EFD0EA6BFC}"/>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DataBallPy space occupation</a:t>
            </a:r>
          </a:p>
        </p:txBody>
      </p:sp>
      <p:sp>
        <p:nvSpPr>
          <p:cNvPr id="11" name="">
            <a:extLst>
              <a:ext uri="{FF2B5EF4-FFF2-40B4-BE49-F238E27FC236}">
                <ns2:creationId id="{A2336C99-F4E8-4190-983C-357F453A9277}"/>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31 / 61</a:t>
            </a:r>
          </a:p>
        </p:txBody>
      </p:sp>
    </p:spTree>
    <p:extLst>
      <p:ext uri="{BB962C8B-B14F-4D97-AF65-F5344CB8AC3E}">
        <ns4:creationId val="1944407229"/>
      </p:ext>
    </p:extLst>
  </p:cSld>
</p:sld>
</file>

<file path=ppt/slides/slide3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3DA908A0-5A78-4073-8BC5-BAA90BBAD5B3}"/>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4F31FA28-42F1-4C9C-9731-443A6E792A2C}"/>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Gaussian player influence</a:t>
            </a:r>
          </a:p>
        </p:txBody>
      </p:sp>
      <p:sp>
        <p:nvSpPr>
          <p:cNvPr id="3" name="">
            <a:extLst>
              <a:ext uri="{FF2B5EF4-FFF2-40B4-BE49-F238E27FC236}">
                <ns2:creationId id="{C50F36B8-A960-4DD0-9C31-167F8B59EFBF}"/>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B6FA9FC1-383A-45A6-8CA6-9B3819F387A8}"/>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Project influence in the player’s movement direction</a:t>
            </a:r>
          </a:p>
        </p:txBody>
      </p:sp>
      <p:sp>
        <p:nvSpPr>
          <p:cNvPr id="5" name="">
            <a:extLst>
              <a:ext uri="{FF2B5EF4-FFF2-40B4-BE49-F238E27FC236}">
                <ns2:creationId id="{9F2A6161-0BF6-4D16-B273-B6480212B7CA}"/>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5894C344-41B6-434C-ABCF-6CF67AA9A331}"/>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Let covariance describe directional reach</a:t>
            </a:r>
          </a:p>
        </p:txBody>
      </p:sp>
      <p:sp>
        <p:nvSpPr>
          <p:cNvPr id="7" name="">
            <a:extLst>
              <a:ext uri="{FF2B5EF4-FFF2-40B4-BE49-F238E27FC236}">
                <ns2:creationId id="{E6D8AA54-9617-4C0B-87BB-A0258DF612A8}"/>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68E5A34A-E6D9-492C-9B61-8696F3526C22}"/>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Inspect the individual surface before aggregating</a:t>
            </a:r>
          </a:p>
        </p:txBody>
      </p:sp>
      <p:pic>
        <p:nvPicPr>
          <p:cNvPr id="9" name="">
            <a:extLst>
              <a:ext uri="{FF2B5EF4-FFF2-40B4-BE49-F238E27FC236}">
                <ns2:creationId id="{87D418A7-A40D-4D0A-9962-0BE285DD7903}"/>
              </a:ext>
            </a:extLst>
          </p:cNvPr>
          <p:cNvPicPr>
            <a:picLocks noChangeAspect="1"/>
          </p:cNvPicPr>
          <p:nvPr/>
        </p:nvPicPr>
        <p:blipFill>
          <a:blip r:embed="Rf180a56c35f94830"/>
          <a:stretch/>
        </p:blipFill>
        <p:spPr>
          <a:xfrm>
            <a:off x="4785910" y="1333500"/>
            <a:ext cx="6239680" cy="4333875"/>
          </a:xfrm>
          <a:prstGeom prst="rect">
            <a:avLst/>
          </a:prstGeom>
        </p:spPr>
      </p:pic>
      <p:sp>
        <p:nvSpPr>
          <p:cNvPr id="10" name="">
            <a:extLst>
              <a:ext uri="{FF2B5EF4-FFF2-40B4-BE49-F238E27FC236}">
                <ns2:creationId id="{DCB79288-05E9-4F1E-886D-E106197BBB50}"/>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Wide Open Spaces, Fernández &amp; Bornn (2018)</a:t>
            </a:r>
          </a:p>
        </p:txBody>
      </p:sp>
      <p:sp>
        <p:nvSpPr>
          <p:cNvPr id="11" name="">
            <a:extLst>
              <a:ext uri="{FF2B5EF4-FFF2-40B4-BE49-F238E27FC236}">
                <ns2:creationId id="{EB44FFEA-CC73-4CA8-AFC0-BF0D65C09632}"/>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Space and Control in Soccer (2021)</a:t>
            </a:r>
          </a:p>
        </p:txBody>
      </p:sp>
      <p:sp>
        <p:nvSpPr>
          <p:cNvPr id="12" name="">
            <a:extLst>
              <a:ext uri="{FF2B5EF4-FFF2-40B4-BE49-F238E27FC236}">
                <ns2:creationId id="{FFABB28F-A8EC-4B3D-99A7-55FDB34153B0}"/>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32 / 61</a:t>
            </a:r>
          </a:p>
        </p:txBody>
      </p:sp>
    </p:spTree>
    <p:extLst>
      <p:ext uri="{BB962C8B-B14F-4D97-AF65-F5344CB8AC3E}">
        <ns4:creationId val="824036479"/>
      </p:ext>
    </p:extLst>
  </p:cSld>
</p:sld>
</file>

<file path=ppt/slides/slide3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577716D8-D182-4F78-A026-0518A3411184}"/>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BBC15057-C040-4DC3-AF75-699816C5EBEF}"/>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Gaussian team control</a:t>
            </a:r>
          </a:p>
        </p:txBody>
      </p:sp>
      <p:sp>
        <p:nvSpPr>
          <p:cNvPr id="3" name="">
            <a:extLst>
              <a:ext uri="{FF2B5EF4-FFF2-40B4-BE49-F238E27FC236}">
                <ns2:creationId id="{3559AFBB-4688-4F44-BF43-8CF7C610C70B}"/>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A212D3B1-171B-4AF1-B275-45C7522BE042}"/>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Aggregate individual influence by team</a:t>
            </a:r>
          </a:p>
        </p:txBody>
      </p:sp>
      <p:sp>
        <p:nvSpPr>
          <p:cNvPr id="5" name="">
            <a:extLst>
              <a:ext uri="{FF2B5EF4-FFF2-40B4-BE49-F238E27FC236}">
                <ns2:creationId id="{FEB52678-740E-4B33-ADDE-8D7CC2209759}"/>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1FB48513-062A-46CE-AF89-5D702BE8F92A}"/>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Compare team influence continuously across the pitch</a:t>
            </a:r>
          </a:p>
        </p:txBody>
      </p:sp>
      <p:sp>
        <p:nvSpPr>
          <p:cNvPr id="7" name="">
            <a:extLst>
              <a:ext uri="{FF2B5EF4-FFF2-40B4-BE49-F238E27FC236}">
                <ns2:creationId id="{4967B62A-33D2-4BDB-A47D-CD42544F5997}"/>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958A6DD3-8708-4D58-BD0E-F04DAACE3830}"/>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Interpret the result as an influence score</a:t>
            </a:r>
          </a:p>
        </p:txBody>
      </p:sp>
      <p:pic>
        <p:nvPicPr>
          <p:cNvPr id="9" name="">
            <a:extLst>
              <a:ext uri="{FF2B5EF4-FFF2-40B4-BE49-F238E27FC236}">
                <ns2:creationId id="{0104C140-E5C0-4A2A-92B3-26F97CCE31E8}"/>
              </a:ext>
            </a:extLst>
          </p:cNvPr>
          <p:cNvPicPr>
            <a:picLocks noChangeAspect="1"/>
          </p:cNvPicPr>
          <p:nvPr/>
        </p:nvPicPr>
        <p:blipFill>
          <a:blip r:embed="R923d151154224d9c"/>
          <a:stretch/>
        </p:blipFill>
        <p:spPr>
          <a:xfrm>
            <a:off x="4785910" y="1333500"/>
            <a:ext cx="6239680" cy="4333875"/>
          </a:xfrm>
          <a:prstGeom prst="rect">
            <a:avLst/>
          </a:prstGeom>
        </p:spPr>
      </p:pic>
      <p:sp>
        <p:nvSpPr>
          <p:cNvPr id="10" name="">
            <a:extLst>
              <a:ext uri="{FF2B5EF4-FFF2-40B4-BE49-F238E27FC236}">
                <ns2:creationId id="{D764912F-6D29-4C24-92FF-1773898B7931}"/>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Wide Open Spaces, Fernández &amp; Bornn (2018)</a:t>
            </a:r>
          </a:p>
        </p:txBody>
      </p:sp>
      <p:sp>
        <p:nvSpPr>
          <p:cNvPr id="11" name="">
            <a:extLst>
              <a:ext uri="{FF2B5EF4-FFF2-40B4-BE49-F238E27FC236}">
                <ns2:creationId id="{15972BFF-6D5F-47D7-BDD5-B4F594EF9507}"/>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DataBallPy space occupation</a:t>
            </a:r>
          </a:p>
        </p:txBody>
      </p:sp>
      <p:sp>
        <p:nvSpPr>
          <p:cNvPr id="12" name="">
            <a:extLst>
              <a:ext uri="{FF2B5EF4-FFF2-40B4-BE49-F238E27FC236}">
                <ns2:creationId id="{33F6EA5B-D1F0-44FD-91B1-F332F626141E}"/>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33 / 61</a:t>
            </a:r>
          </a:p>
        </p:txBody>
      </p:sp>
    </p:spTree>
    <p:extLst>
      <p:ext uri="{BB962C8B-B14F-4D97-AF65-F5344CB8AC3E}">
        <ns4:creationId val="1014443260"/>
      </p:ext>
    </p:extLst>
  </p:cSld>
</p:sld>
</file>

<file path=ppt/slides/slide3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84C0DA8D-D4FE-4C27-BAD3-1D1FE242C10E}"/>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69146426-AA4D-4902-B77D-A71DF85B9684}"/>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Arrival-time control</a:t>
            </a:r>
          </a:p>
        </p:txBody>
      </p:sp>
      <p:sp>
        <p:nvSpPr>
          <p:cNvPr id="3" name="">
            <a:extLst>
              <a:ext uri="{FF2B5EF4-FFF2-40B4-BE49-F238E27FC236}">
                <ns2:creationId id="{4097E8E8-0575-4FBF-82C1-791CDFAD04AF}"/>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535B25BA-DED6-42E5-8668-4E7196805114}"/>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Estimate reaction and travel time to each location</a:t>
            </a:r>
          </a:p>
        </p:txBody>
      </p:sp>
      <p:sp>
        <p:nvSpPr>
          <p:cNvPr id="5" name="">
            <a:extLst>
              <a:ext uri="{FF2B5EF4-FFF2-40B4-BE49-F238E27FC236}">
                <ns2:creationId id="{E737D14C-2FE5-43C5-B2B8-E843A8687436}"/>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C091AD15-542B-4AE2-9BC8-2EE90CC4578D}"/>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Compare the earliest arrival for each team</a:t>
            </a:r>
          </a:p>
        </p:txBody>
      </p:sp>
      <p:sp>
        <p:nvSpPr>
          <p:cNvPr id="7" name="">
            <a:extLst>
              <a:ext uri="{FF2B5EF4-FFF2-40B4-BE49-F238E27FC236}">
                <ns2:creationId id="{887C7AB0-EE5A-4232-B216-4273408B0FC7}"/>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4DCCD943-585D-4ED7-8E7F-16BF190D6C28}"/>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Test sensitivity to movement assumptions</a:t>
            </a:r>
          </a:p>
        </p:txBody>
      </p:sp>
      <p:pic>
        <p:nvPicPr>
          <p:cNvPr id="9" name="">
            <a:extLst>
              <a:ext uri="{FF2B5EF4-FFF2-40B4-BE49-F238E27FC236}">
                <ns2:creationId id="{595AA76C-4433-4C04-9B33-3990A106FD85}"/>
              </a:ext>
            </a:extLst>
          </p:cNvPr>
          <p:cNvPicPr>
            <a:picLocks noChangeAspect="1"/>
          </p:cNvPicPr>
          <p:nvPr/>
        </p:nvPicPr>
        <p:blipFill>
          <a:blip r:embed="Rb05f4d4e7aa64049"/>
          <a:stretch/>
        </p:blipFill>
        <p:spPr>
          <a:xfrm>
            <a:off x="4785910" y="1333500"/>
            <a:ext cx="6239680" cy="4333875"/>
          </a:xfrm>
          <a:prstGeom prst="rect">
            <a:avLst/>
          </a:prstGeom>
        </p:spPr>
      </p:pic>
      <p:sp>
        <p:nvSpPr>
          <p:cNvPr id="10" name="">
            <a:extLst>
              <a:ext uri="{FF2B5EF4-FFF2-40B4-BE49-F238E27FC236}">
                <ns2:creationId id="{4A81F2A3-0558-4A7A-A130-0E0A0114FDA4}"/>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Space and Control in Soccer (2021)</a:t>
            </a:r>
          </a:p>
        </p:txBody>
      </p:sp>
      <p:sp>
        <p:nvSpPr>
          <p:cNvPr id="11" name="">
            <a:extLst>
              <a:ext uri="{FF2B5EF4-FFF2-40B4-BE49-F238E27FC236}">
                <ns2:creationId id="{2B4CB9B8-B89E-4A01-8AB0-C1E22F1ACEAE}"/>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Beyond Expected Goals, Spearman (2018)</a:t>
            </a:r>
          </a:p>
        </p:txBody>
      </p:sp>
      <p:sp>
        <p:nvSpPr>
          <p:cNvPr id="12" name="">
            <a:extLst>
              <a:ext uri="{FF2B5EF4-FFF2-40B4-BE49-F238E27FC236}">
                <ns2:creationId id="{3DF6CDD5-9B27-438C-B95C-919668138388}"/>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34 / 61</a:t>
            </a:r>
          </a:p>
        </p:txBody>
      </p:sp>
    </p:spTree>
    <p:extLst>
      <p:ext uri="{BB962C8B-B14F-4D97-AF65-F5344CB8AC3E}">
        <ns4:creationId val="2031653095"/>
      </p:ext>
    </p:extLst>
  </p:cSld>
</p:sld>
</file>

<file path=ppt/slides/slide3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A81C418D-1E79-47D4-9006-2D4A10C9D36E}"/>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F497DB9A-9309-4543-AB12-FDF0A2D0535C}"/>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Ball-aware pitch control</a:t>
            </a:r>
          </a:p>
        </p:txBody>
      </p:sp>
      <p:sp>
        <p:nvSpPr>
          <p:cNvPr id="3" name="">
            <a:extLst>
              <a:ext uri="{FF2B5EF4-FFF2-40B4-BE49-F238E27FC236}">
                <ns2:creationId id="{BAEA4A17-BEF5-41A1-BC44-FC528C0C91B1}"/>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D0447242-C5F9-42FC-B356-0163C363442A}"/>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Simulate how long the ball takes to reach a target</a:t>
            </a:r>
          </a:p>
        </p:txBody>
      </p:sp>
      <p:sp>
        <p:nvSpPr>
          <p:cNvPr id="5" name="">
            <a:extLst>
              <a:ext uri="{FF2B5EF4-FFF2-40B4-BE49-F238E27FC236}">
                <ns2:creationId id="{49BF63E6-F6D8-4153-9B2A-7CED3FB5CBDD}"/>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DFD32D79-DD4E-4291-8BB5-77F9E95FE51B}"/>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Estimate player interception and control over that interval</a:t>
            </a:r>
          </a:p>
        </p:txBody>
      </p:sp>
      <p:sp>
        <p:nvSpPr>
          <p:cNvPr id="7" name="">
            <a:extLst>
              <a:ext uri="{FF2B5EF4-FFF2-40B4-BE49-F238E27FC236}">
                <ns2:creationId id="{588D9C03-E0D7-4659-8D65-1044BD48C260}"/>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05733B8C-6385-41D6-A964-C2A36A7C13E4}"/>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Combine competing control rates</a:t>
            </a:r>
          </a:p>
        </p:txBody>
      </p:sp>
      <p:pic>
        <p:nvPicPr>
          <p:cNvPr id="9" name="">
            <a:extLst>
              <a:ext uri="{FF2B5EF4-FFF2-40B4-BE49-F238E27FC236}">
                <ns2:creationId id="{7C11F196-175A-4869-AED0-70F75E9D3E22}"/>
              </a:ext>
            </a:extLst>
          </p:cNvPr>
          <p:cNvPicPr>
            <a:picLocks noChangeAspect="1"/>
          </p:cNvPicPr>
          <p:nvPr/>
        </p:nvPicPr>
        <p:blipFill>
          <a:blip r:embed="R6f227f97e98d4992"/>
          <a:stretch/>
        </p:blipFill>
        <p:spPr>
          <a:xfrm>
            <a:off x="4095750" y="1490491"/>
            <a:ext cx="7620000" cy="4019892"/>
          </a:xfrm>
          <a:prstGeom prst="rect">
            <a:avLst/>
          </a:prstGeom>
        </p:spPr>
      </p:pic>
      <p:sp>
        <p:nvSpPr>
          <p:cNvPr id="10" name="">
            <a:extLst>
              <a:ext uri="{FF2B5EF4-FFF2-40B4-BE49-F238E27FC236}">
                <ns2:creationId id="{DE3E06A5-15A8-4193-AC56-95BAC736E2E7}"/>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Beyond Expected Goals, Spearman (2018)</a:t>
            </a:r>
          </a:p>
        </p:txBody>
      </p:sp>
      <p:sp>
        <p:nvSpPr>
          <p:cNvPr id="11" name="">
            <a:extLst>
              <a:ext uri="{FF2B5EF4-FFF2-40B4-BE49-F238E27FC236}">
                <ns2:creationId id="{5ED37764-62D9-47D0-93E9-92B6856742B7}"/>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35 / 61</a:t>
            </a:r>
          </a:p>
        </p:txBody>
      </p:sp>
    </p:spTree>
    <p:extLst>
      <p:ext uri="{BB962C8B-B14F-4D97-AF65-F5344CB8AC3E}">
        <ns4:creationId val="1434990625"/>
      </p:ext>
    </p:extLst>
  </p:cSld>
</p:sld>
</file>

<file path=ppt/slides/slide3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7BDA52EA-2C53-434F-B395-AA36BC62434E}"/>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DBE41D65-9298-49E7-B6CA-CD15BCFEF7DD}"/>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Expected pass completion</a:t>
            </a:r>
          </a:p>
        </p:txBody>
      </p:sp>
      <p:sp>
        <p:nvSpPr>
          <p:cNvPr id="3" name="">
            <a:extLst>
              <a:ext uri="{FF2B5EF4-FFF2-40B4-BE49-F238E27FC236}">
                <ns2:creationId id="{9F171484-EA55-4431-A7EF-AA430688E710}"/>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7DD1462F-F4D7-4704-9A37-A21F8CA622C4}"/>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Specify a passer and candidate destination</a:t>
            </a:r>
          </a:p>
        </p:txBody>
      </p:sp>
      <p:sp>
        <p:nvSpPr>
          <p:cNvPr id="5" name="">
            <a:extLst>
              <a:ext uri="{FF2B5EF4-FFF2-40B4-BE49-F238E27FC236}">
                <ns2:creationId id="{9BE5B224-9221-48B2-B531-750AD0AB10E2}"/>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C9C65C06-0188-4473-B4A1-8FE68C14D986}"/>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Simulate ball travel and interception opportunities</a:t>
            </a:r>
          </a:p>
        </p:txBody>
      </p:sp>
      <p:sp>
        <p:nvSpPr>
          <p:cNvPr id="7" name="">
            <a:extLst>
              <a:ext uri="{FF2B5EF4-FFF2-40B4-BE49-F238E27FC236}">
                <ns2:creationId id="{0352A8F9-EB62-46B7-B8E9-D402DA564EFD}"/>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278EE745-7450-4E3F-AD60-299416FB9371}"/>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Evaluate reliability on labeled attempts</a:t>
            </a:r>
          </a:p>
        </p:txBody>
      </p:sp>
      <p:pic>
        <p:nvPicPr>
          <p:cNvPr id="9" name="">
            <a:extLst>
              <a:ext uri="{FF2B5EF4-FFF2-40B4-BE49-F238E27FC236}">
                <ns2:creationId id="{62B716F9-89F6-487D-B4F8-88B19C25AD61}"/>
              </a:ext>
            </a:extLst>
          </p:cNvPr>
          <p:cNvPicPr>
            <a:picLocks noChangeAspect="1"/>
          </p:cNvPicPr>
          <p:nvPr/>
        </p:nvPicPr>
        <p:blipFill>
          <a:blip r:embed="Re5813b10598b4508"/>
          <a:stretch/>
        </p:blipFill>
        <p:spPr>
          <a:xfrm>
            <a:off x="4785910" y="1333500"/>
            <a:ext cx="6239680" cy="4333875"/>
          </a:xfrm>
          <a:prstGeom prst="rect">
            <a:avLst/>
          </a:prstGeom>
        </p:spPr>
      </p:pic>
      <p:sp>
        <p:nvSpPr>
          <p:cNvPr id="10" name="">
            <a:extLst>
              <a:ext uri="{FF2B5EF4-FFF2-40B4-BE49-F238E27FC236}">
                <ns2:creationId id="{A6C68D1C-006C-460F-BDB2-C41212E703C7}"/>
              </a:ext>
            </a:extLst>
          </p:cNvPr>
          <p:cNvSpPr>
            <a:spLocks noGrp="1"/>
          </p:cNvSpPr>
          <p:nvPr/>
        </p:nvSpPr>
        <p:spPr>
          <a:xfrm>
            <a:off x="571500" y="5715000"/>
            <a:ext cx="11049000" cy="409575"/>
          </a:xfrm>
          <a:prstGeom prst="rect">
            <a:avLst/>
          </a:prstGeom>
          <a:solidFill>
            <a:srgbClr val="E0EEE8"/>
          </a:solidFill>
          <a:ln w="0">
            <a:noFill/>
          </a:ln>
        </p:spPr>
      </p:sp>
      <p:sp>
        <p:nvSpPr>
          <p:cNvPr id="11" name="">
            <a:extLst>
              <a:ext uri="{FF2B5EF4-FFF2-40B4-BE49-F238E27FC236}">
                <ns2:creationId id="{BE84A3BF-848C-4334-B484-F8A0A44D39DC}"/>
              </a:ext>
            </a:extLst>
          </p:cNvPr>
          <p:cNvSpPr>
            <a:spLocks noGrp="1"/>
          </p:cNvSpPr>
          <p:nvPr/>
        </p:nvSpPr>
        <p:spPr>
          <a:xfrm>
            <a:off x="742950" y="5791200"/>
            <a:ext cx="10668000" cy="32385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NOTEBOOK · candidate-pass risk</a:t>
            </a:r>
          </a:p>
        </p:txBody>
      </p:sp>
      <p:sp>
        <p:nvSpPr>
          <p:cNvPr id="12" name="">
            <a:extLst>
              <a:ext uri="{FF2B5EF4-FFF2-40B4-BE49-F238E27FC236}">
                <ns2:creationId id="{78926561-5C6B-46F2-A4E5-FFB2B6B5D4E8}"/>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DataBallPy DAS and expected completion</a:t>
            </a:r>
          </a:p>
        </p:txBody>
      </p:sp>
      <p:sp>
        <p:nvSpPr>
          <p:cNvPr id="13" name="">
            <a:extLst>
              <a:ext uri="{FF2B5EF4-FFF2-40B4-BE49-F238E27FC236}">
                <ns2:creationId id="{B94233EE-D084-4312-93AB-A204CA5D6900}"/>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Dangerous Accessible Space: paper and implementation</a:t>
            </a:r>
          </a:p>
        </p:txBody>
      </p:sp>
      <p:sp>
        <p:nvSpPr>
          <p:cNvPr id="14" name="">
            <a:extLst>
              <a:ext uri="{FF2B5EF4-FFF2-40B4-BE49-F238E27FC236}">
                <ns2:creationId id="{C705FD82-A4EE-458F-957C-E44C33EBAB23}"/>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36 / 61</a:t>
            </a:r>
          </a:p>
        </p:txBody>
      </p:sp>
    </p:spTree>
    <p:extLst>
      <p:ext uri="{BB962C8B-B14F-4D97-AF65-F5344CB8AC3E}">
        <ns4:creationId val="1062251559"/>
      </p:ext>
    </p:extLst>
  </p:cSld>
</p:sld>
</file>

<file path=ppt/slides/slide3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B73C6EDD-832D-4A40-829C-0A0FA9FF309E}"/>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F03CCCE0-A86F-46CD-A225-D54B7D9938DC}"/>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Accessible space</a:t>
            </a:r>
          </a:p>
        </p:txBody>
      </p:sp>
      <p:sp>
        <p:nvSpPr>
          <p:cNvPr id="3" name="">
            <a:extLst>
              <a:ext uri="{FF2B5EF4-FFF2-40B4-BE49-F238E27FC236}">
                <ns2:creationId id="{35E47C9D-664A-4766-9CEF-ECA6B9E871CE}"/>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0EDAE3A0-4D59-4A44-A188-50844FA7AA41}"/>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Simulate passes across directions and speeds</a:t>
            </a:r>
          </a:p>
        </p:txBody>
      </p:sp>
      <p:sp>
        <p:nvSpPr>
          <p:cNvPr id="5" name="">
            <a:extLst>
              <a:ext uri="{FF2B5EF4-FFF2-40B4-BE49-F238E27FC236}">
                <ns2:creationId id="{9F7AFF5A-96EB-48BA-AB90-8DA78D56DBAC}"/>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BD49BC5A-71D2-4B88-A4B0-8362891612AA}"/>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Estimate where the attacking team can receive</a:t>
            </a:r>
          </a:p>
        </p:txBody>
      </p:sp>
      <p:sp>
        <p:nvSpPr>
          <p:cNvPr id="7" name="">
            <a:extLst>
              <a:ext uri="{FF2B5EF4-FFF2-40B4-BE49-F238E27FC236}">
                <ns2:creationId id="{630A3631-8FE5-45B4-B9FE-284E7B260221}"/>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419DDB6E-F7F7-440A-8F03-EB421386EC54}"/>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Integrate accessibility across the pitch</a:t>
            </a:r>
          </a:p>
        </p:txBody>
      </p:sp>
      <p:pic>
        <p:nvPicPr>
          <p:cNvPr id="9" name="">
            <a:extLst>
              <a:ext uri="{FF2B5EF4-FFF2-40B4-BE49-F238E27FC236}">
                <ns2:creationId id="{A959B79C-AF83-4BF0-8C82-CC6ED1C9FA2F}"/>
              </a:ext>
            </a:extLst>
          </p:cNvPr>
          <p:cNvPicPr>
            <a:picLocks noChangeAspect="1"/>
          </p:cNvPicPr>
          <p:nvPr/>
        </p:nvPicPr>
        <p:blipFill>
          <a:blip r:embed="R0a78540084cc46f7"/>
          <a:stretch/>
        </p:blipFill>
        <p:spPr>
          <a:xfrm>
            <a:off x="4785910" y="1333500"/>
            <a:ext cx="6239680" cy="4333875"/>
          </a:xfrm>
          <a:prstGeom prst="rect">
            <a:avLst/>
          </a:prstGeom>
        </p:spPr>
      </p:pic>
      <p:sp>
        <p:nvSpPr>
          <p:cNvPr id="10" name="">
            <a:extLst>
              <a:ext uri="{FF2B5EF4-FFF2-40B4-BE49-F238E27FC236}">
                <ns2:creationId id="{1ACCECD3-F3DD-4B24-85E6-D9862C397E6D}"/>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Dangerous Accessible Space: paper and implementation</a:t>
            </a:r>
          </a:p>
        </p:txBody>
      </p:sp>
      <p:sp>
        <p:nvSpPr>
          <p:cNvPr id="11" name="">
            <a:extLst>
              <a:ext uri="{FF2B5EF4-FFF2-40B4-BE49-F238E27FC236}">
                <ns2:creationId id="{C496B214-D575-4369-BF64-B3BD9E58D57F}"/>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DataBallPy DAS and expected completion</a:t>
            </a:r>
          </a:p>
        </p:txBody>
      </p:sp>
      <p:sp>
        <p:nvSpPr>
          <p:cNvPr id="12" name="">
            <a:extLst>
              <a:ext uri="{FF2B5EF4-FFF2-40B4-BE49-F238E27FC236}">
                <ns2:creationId id="{FE4B8D59-2959-4DF5-9736-05F40EF74DD3}"/>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37 / 61</a:t>
            </a:r>
          </a:p>
        </p:txBody>
      </p:sp>
    </p:spTree>
    <p:extLst>
      <p:ext uri="{BB962C8B-B14F-4D97-AF65-F5344CB8AC3E}">
        <ns4:creationId val="875493821"/>
      </p:ext>
    </p:extLst>
  </p:cSld>
</p:sld>
</file>

<file path=ppt/slides/slide3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932310F0-B560-4336-8B2F-3E7B685FA269}"/>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55A73A47-D85F-4791-B308-FDD9C54830C0}"/>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Dangerous accessible space</a:t>
            </a:r>
          </a:p>
        </p:txBody>
      </p:sp>
      <p:sp>
        <p:nvSpPr>
          <p:cNvPr id="3" name="">
            <a:extLst>
              <a:ext uri="{FF2B5EF4-FFF2-40B4-BE49-F238E27FC236}">
                <ns2:creationId id="{C1D955DA-D425-455B-8A15-B723114BF97C}"/>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AE374FCE-D660-483F-BF43-9EFB5ED67CB1}"/>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Weight accessible locations by goal danger</a:t>
            </a:r>
          </a:p>
        </p:txBody>
      </p:sp>
      <p:sp>
        <p:nvSpPr>
          <p:cNvPr id="5" name="">
            <a:extLst>
              <a:ext uri="{FF2B5EF4-FFF2-40B4-BE49-F238E27FC236}">
                <ns2:creationId id="{535AD90D-642C-493D-9B56-1BA3ABCC8F44}"/>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F85EC6D6-3D90-477D-8148-AE50AC9B27F0}"/>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Integrate to obtain danger-weighted space</a:t>
            </a:r>
          </a:p>
        </p:txBody>
      </p:sp>
      <p:sp>
        <p:nvSpPr>
          <p:cNvPr id="7" name="">
            <a:extLst>
              <a:ext uri="{FF2B5EF4-FFF2-40B4-BE49-F238E27FC236}">
                <ns2:creationId id="{B4455F7C-F6D6-4F94-9838-7969A3F641A4}"/>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94DACA56-6139-4D16-A151-A7EF9B4E3AEF}"/>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Keep danger-weighted area distinct from scoring probability</a:t>
            </a:r>
          </a:p>
        </p:txBody>
      </p:sp>
      <p:pic>
        <p:nvPicPr>
          <p:cNvPr id="9" name="">
            <a:extLst>
              <a:ext uri="{FF2B5EF4-FFF2-40B4-BE49-F238E27FC236}">
                <ns2:creationId id="{381D7FD8-A9A7-4CEC-B273-4FE4807F1E2C}"/>
              </a:ext>
            </a:extLst>
          </p:cNvPr>
          <p:cNvPicPr>
            <a:picLocks noChangeAspect="1"/>
          </p:cNvPicPr>
          <p:nvPr/>
        </p:nvPicPr>
        <p:blipFill>
          <a:blip r:embed="R08809c67dce048ee"/>
          <a:stretch/>
        </p:blipFill>
        <p:spPr>
          <a:xfrm>
            <a:off x="4785910" y="1333500"/>
            <a:ext cx="6239680" cy="4333875"/>
          </a:xfrm>
          <a:prstGeom prst="rect">
            <a:avLst/>
          </a:prstGeom>
        </p:spPr>
      </p:pic>
      <p:sp>
        <p:nvSpPr>
          <p:cNvPr id="10" name="">
            <a:extLst>
              <a:ext uri="{FF2B5EF4-FFF2-40B4-BE49-F238E27FC236}">
                <ns2:creationId id="{3A7EFF19-52C5-4178-8369-7E410B800244}"/>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Dangerous Accessible Space: paper and implementation</a:t>
            </a:r>
          </a:p>
        </p:txBody>
      </p:sp>
      <p:sp>
        <p:nvSpPr>
          <p:cNvPr id="11" name="">
            <a:extLst>
              <a:ext uri="{FF2B5EF4-FFF2-40B4-BE49-F238E27FC236}">
                <ns2:creationId id="{236800CE-E5E4-44DC-A964-6F50D637046D}"/>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DataBallPy DAS and expected completion</a:t>
            </a:r>
          </a:p>
        </p:txBody>
      </p:sp>
      <p:sp>
        <p:nvSpPr>
          <p:cNvPr id="12" name="">
            <a:extLst>
              <a:ext uri="{FF2B5EF4-FFF2-40B4-BE49-F238E27FC236}">
                <ns2:creationId id="{29886B7C-F5DA-4D18-A3F6-FEE826077B54}"/>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38 / 61</a:t>
            </a:r>
          </a:p>
        </p:txBody>
      </p:sp>
    </p:spTree>
    <p:extLst>
      <p:ext uri="{BB962C8B-B14F-4D97-AF65-F5344CB8AC3E}">
        <ns4:creationId val="951586663"/>
      </p:ext>
    </p:extLst>
  </p:cSld>
</p:sld>
</file>

<file path=ppt/slides/slide3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D1246E90-756D-44AD-AF68-69BC87D63C77}"/>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38C0DF47-28A6-4807-ADE8-CF8EB9A6500B}"/>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Changes in dangerous space</a:t>
            </a:r>
          </a:p>
        </p:txBody>
      </p:sp>
      <p:sp>
        <p:nvSpPr>
          <p:cNvPr id="3" name="">
            <a:extLst>
              <a:ext uri="{FF2B5EF4-FFF2-40B4-BE49-F238E27FC236}">
                <ns2:creationId id="{89602985-A7C8-4AF8-B21B-68ED694C9A2E}"/>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5F5A1294-3397-49F3-8729-EE8CEC34EB11}"/>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Compare the model on successive real frames</a:t>
            </a:r>
          </a:p>
        </p:txBody>
      </p:sp>
      <p:sp>
        <p:nvSpPr>
          <p:cNvPr id="5" name="">
            <a:extLst>
              <a:ext uri="{FF2B5EF4-FFF2-40B4-BE49-F238E27FC236}">
                <ns2:creationId id="{F23AD929-F808-4B83-8388-31E1C5DF5562}"/>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E9EAA892-B6EA-4C3F-8F60-44E8F9302A5D}"/>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Report AS and DAS on their own scales</a:t>
            </a:r>
          </a:p>
        </p:txBody>
      </p:sp>
      <p:sp>
        <p:nvSpPr>
          <p:cNvPr id="7" name="">
            <a:extLst>
              <a:ext uri="{FF2B5EF4-FFF2-40B4-BE49-F238E27FC236}">
                <ns2:creationId id="{BBF71234-EB61-4728-A6F3-89F1F934C2A6}"/>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8702DC9B-F72C-4837-BC8D-4381DAEE871A}"/>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Inspect the movements that change available options</a:t>
            </a:r>
          </a:p>
        </p:txBody>
      </p:sp>
      <p:pic>
        <p:nvPicPr>
          <p:cNvPr id="9" name="">
            <a:extLst>
              <a:ext uri="{FF2B5EF4-FFF2-40B4-BE49-F238E27FC236}">
                <ns2:creationId id="{7CB39CA5-122D-4173-A29B-151CD92A00AA}"/>
              </a:ext>
            </a:extLst>
          </p:cNvPr>
          <p:cNvPicPr>
            <a:picLocks noChangeAspect="1"/>
          </p:cNvPicPr>
          <p:nvPr/>
        </p:nvPicPr>
        <p:blipFill>
          <a:blip r:embed="R735bba8100184f6e"/>
          <a:stretch/>
        </p:blipFill>
        <p:spPr>
          <a:xfrm>
            <a:off x="4248576" y="1333500"/>
            <a:ext cx="7314347" cy="4333875"/>
          </a:xfrm>
          <a:prstGeom prst="rect">
            <a:avLst/>
          </a:prstGeom>
        </p:spPr>
      </p:pic>
      <p:sp>
        <p:nvSpPr>
          <p:cNvPr id="10" name="">
            <a:extLst>
              <a:ext uri="{FF2B5EF4-FFF2-40B4-BE49-F238E27FC236}">
                <ns2:creationId id="{DA898D08-63A6-4200-9F38-F1132D606CF0}"/>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Dangerous Accessible Space: paper and implementation</a:t>
            </a:r>
          </a:p>
        </p:txBody>
      </p:sp>
      <p:sp>
        <p:nvSpPr>
          <p:cNvPr id="11" name="">
            <a:extLst>
              <a:ext uri="{FF2B5EF4-FFF2-40B4-BE49-F238E27FC236}">
                <ns2:creationId id="{E4441A28-D59D-4013-92F7-4F8524241479}"/>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39 / 61</a:t>
            </a:r>
          </a:p>
        </p:txBody>
      </p:sp>
    </p:spTree>
    <p:extLst>
      <p:ext uri="{BB962C8B-B14F-4D97-AF65-F5344CB8AC3E}">
        <ns4:creationId val="407834921"/>
      </p:ext>
    </p:extLst>
  </p:cSld>
</p:sld>
</file>

<file path=ppt/slides/slide4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280824F7-FDA2-4A13-8E8F-7CC9A6B9E85F}"/>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6AF4B252-C468-40A7-A176-30891F74E7BC}"/>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Off-ball run threat</a:t>
            </a:r>
          </a:p>
        </p:txBody>
      </p:sp>
      <p:sp>
        <p:nvSpPr>
          <p:cNvPr id="3" name="">
            <a:extLst>
              <a:ext uri="{FF2B5EF4-FFF2-40B4-BE49-F238E27FC236}">
                <ns2:creationId id="{D7C57A01-A987-4124-8518-6C8670A18990}"/>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F05B1A5A-B07F-4659-9563-222599D85410}"/>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Evaluate a run even when no pass is made</a:t>
            </a:r>
          </a:p>
        </p:txBody>
      </p:sp>
      <p:sp>
        <p:nvSpPr>
          <p:cNvPr id="5" name="">
            <a:extLst>
              <a:ext uri="{FF2B5EF4-FFF2-40B4-BE49-F238E27FC236}">
                <ns2:creationId id="{EBB76C9C-3E88-4F71-9A5B-633941D5F940}"/>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CC926518-DA16-4B86-ADFC-EF3FDC08DAA8}"/>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SkillCorner’s target considers a run being served</a:t>
            </a:r>
          </a:p>
        </p:txBody>
      </p:sp>
      <p:sp>
        <p:nvSpPr>
          <p:cNvPr id="7" name="">
            <a:extLst>
              <a:ext uri="{FF2B5EF4-FFF2-40B4-BE49-F238E27FC236}">
                <ns2:creationId id="{121CC23D-AB23-4E3F-909A-205CF0D85180}"/>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57455C2B-6410-496F-BFC4-A99C4D46891D}"/>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Separate run threat from location-based event xT</a:t>
            </a:r>
          </a:p>
        </p:txBody>
      </p:sp>
      <p:pic>
        <p:nvPicPr>
          <p:cNvPr id="9" name="">
            <a:extLst>
              <a:ext uri="{FF2B5EF4-FFF2-40B4-BE49-F238E27FC236}">
                <ns2:creationId id="{9B938CA0-8398-42E0-ABCA-3B79543119CC}"/>
              </a:ext>
            </a:extLst>
          </p:cNvPr>
          <p:cNvPicPr>
            <a:picLocks noChangeAspect="1"/>
          </p:cNvPicPr>
          <p:nvPr/>
        </p:nvPicPr>
        <p:blipFill>
          <a:blip r:embed="Ra445d5a0c6ad48d8"/>
          <a:stretch/>
        </p:blipFill>
        <p:spPr>
          <a:xfrm>
            <a:off x="4243601" y="1333500"/>
            <a:ext cx="7324299" cy="4333875"/>
          </a:xfrm>
          <a:prstGeom prst="rect">
            <a:avLst/>
          </a:prstGeom>
        </p:spPr>
      </p:pic>
      <p:sp>
        <p:nvSpPr>
          <p:cNvPr id="10" name="">
            <a:extLst>
              <a:ext uri="{FF2B5EF4-FFF2-40B4-BE49-F238E27FC236}">
                <ns2:creationId id="{BD57A41A-C29D-4E83-B794-3F9905ED1297}"/>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SkillCorner: Expected Threat for off-ball runs</a:t>
            </a:r>
          </a:p>
        </p:txBody>
      </p:sp>
      <p:sp>
        <p:nvSpPr>
          <p:cNvPr id="11" name="">
            <a:extLst>
              <a:ext uri="{FF2B5EF4-FFF2-40B4-BE49-F238E27FC236}">
                <ns2:creationId id="{5FD68B80-0154-48F7-B7D4-A9C38D2D372E}"/>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SkillCorner open data and schema</a:t>
            </a:r>
          </a:p>
        </p:txBody>
      </p:sp>
      <p:sp>
        <p:nvSpPr>
          <p:cNvPr id="12" name="">
            <a:extLst>
              <a:ext uri="{FF2B5EF4-FFF2-40B4-BE49-F238E27FC236}">
                <ns2:creationId id="{FD301B88-709C-4F78-BA69-3A390E7F4019}"/>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40 / 61</a:t>
            </a:r>
          </a:p>
        </p:txBody>
      </p:sp>
    </p:spTree>
    <p:extLst>
      <p:ext uri="{BB962C8B-B14F-4D97-AF65-F5344CB8AC3E}">
        <ns4:creationId val="577699332"/>
      </p:ext>
    </p:extLst>
  </p:cSld>
</p:sld>
</file>

<file path=ppt/slides/slide4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12A861BF-4FE2-429B-9F4C-EE03303602B3}"/>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43552115-A81D-4EAC-81A2-43159350CF37}"/>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Tracking as a spatial graph</a:t>
            </a:r>
          </a:p>
        </p:txBody>
      </p:sp>
      <p:sp>
        <p:nvSpPr>
          <p:cNvPr id="3" name="">
            <a:extLst>
              <a:ext uri="{FF2B5EF4-FFF2-40B4-BE49-F238E27FC236}">
                <ns2:creationId id="{0C5ABC06-B7DD-4EE7-A706-23B7F9B47342}"/>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902C66C1-18EF-490A-8A7B-57938CD2E82F}"/>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Represent players as nodes</a:t>
            </a:r>
          </a:p>
        </p:txBody>
      </p:sp>
      <p:sp>
        <p:nvSpPr>
          <p:cNvPr id="5" name="">
            <a:extLst>
              <a:ext uri="{FF2B5EF4-FFF2-40B4-BE49-F238E27FC236}">
                <ns2:creationId id="{5AC6F844-D420-4CB9-B89B-FF687027FA2F}"/>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A6EB1DA7-534F-43C2-B4EF-18CE9E222333}"/>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Choose relationships that define spatial edges</a:t>
            </a:r>
          </a:p>
        </p:txBody>
      </p:sp>
      <p:sp>
        <p:nvSpPr>
          <p:cNvPr id="7" name="">
            <a:extLst>
              <a:ext uri="{FF2B5EF4-FFF2-40B4-BE49-F238E27FC236}">
                <ns2:creationId id="{BD9171B2-599C-4A6B-9935-9D9CF9D8A54B}"/>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DABDDE70-466C-4041-A5C5-FE7A78FE8060}"/>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Preserve identities while avoiding arbitrary row-order effects</a:t>
            </a:r>
          </a:p>
        </p:txBody>
      </p:sp>
      <p:pic>
        <p:nvPicPr>
          <p:cNvPr id="9" name="">
            <a:extLst>
              <a:ext uri="{FF2B5EF4-FFF2-40B4-BE49-F238E27FC236}">
                <ns2:creationId id="{ACACB756-7D15-44E0-A17E-F68ABA559EAD}"/>
              </a:ext>
            </a:extLst>
          </p:cNvPr>
          <p:cNvPicPr>
            <a:picLocks noChangeAspect="1"/>
          </p:cNvPicPr>
          <p:nvPr/>
        </p:nvPicPr>
        <p:blipFill>
          <a:blip r:embed="R72f3cb0467074166"/>
          <a:stretch/>
        </p:blipFill>
        <p:spPr>
          <a:xfrm>
            <a:off x="4785910" y="1333500"/>
            <a:ext cx="6239680" cy="4333875"/>
          </a:xfrm>
          <a:prstGeom prst="rect">
            <a:avLst/>
          </a:prstGeom>
        </p:spPr>
      </p:pic>
      <p:sp>
        <p:nvSpPr>
          <p:cNvPr id="10" name="">
            <a:extLst>
              <a:ext uri="{FF2B5EF4-FFF2-40B4-BE49-F238E27FC236}">
                <ns2:creationId id="{CBFA03A8-0811-4B80-A263-6A6E218BEF34}"/>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U.S. Soccer: counterattack GNNs with SkillCorner (2023)</a:t>
            </a:r>
          </a:p>
        </p:txBody>
      </p:sp>
      <p:sp>
        <p:nvSpPr>
          <p:cNvPr id="11" name="">
            <a:extLst>
              <a:ext uri="{FF2B5EF4-FFF2-40B4-BE49-F238E27FC236}">
                <ns2:creationId id="{16955C91-4AE1-4895-AAB5-EF00B1F7791F}"/>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TacticAI (2024)</a:t>
            </a:r>
          </a:p>
        </p:txBody>
      </p:sp>
      <p:sp>
        <p:nvSpPr>
          <p:cNvPr id="12" name="">
            <a:extLst>
              <a:ext uri="{FF2B5EF4-FFF2-40B4-BE49-F238E27FC236}">
                <ns2:creationId id="{D31BD652-16E3-4A90-8700-8E1045BF811D}"/>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41 / 61</a:t>
            </a:r>
          </a:p>
        </p:txBody>
      </p:sp>
    </p:spTree>
    <p:extLst>
      <p:ext uri="{BB962C8B-B14F-4D97-AF65-F5344CB8AC3E}">
        <ns4:creationId val="475902284"/>
      </p:ext>
    </p:extLst>
  </p:cSld>
</p:sld>
</file>

<file path=ppt/slides/slide4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504C3DDA-983B-4423-A314-04CE0DBE3A91}"/>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8A58A4C5-0A52-40D7-888B-B2DE509B396D}"/>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Node and edge features</a:t>
            </a:r>
          </a:p>
        </p:txBody>
      </p:sp>
      <p:sp>
        <p:nvSpPr>
          <p:cNvPr id="3" name="">
            <a:extLst>
              <a:ext uri="{FF2B5EF4-FFF2-40B4-BE49-F238E27FC236}">
                <ns2:creationId id="{DFF32D71-908B-4AFB-A2C0-EBBC577FCC1C}"/>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132B9E43-278E-4568-AF06-EF5EF658A4C7}"/>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Nodes: position, velocity, team and possession</a:t>
            </a:r>
          </a:p>
        </p:txBody>
      </p:sp>
      <p:sp>
        <p:nvSpPr>
          <p:cNvPr id="5" name="">
            <a:extLst>
              <a:ext uri="{FF2B5EF4-FFF2-40B4-BE49-F238E27FC236}">
                <ns2:creationId id="{061FB9BA-CAFB-41FE-B6CD-78D2F0DE34D2}"/>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B46DA3CB-D305-4527-93C3-4DE719F29703}"/>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Edges: distance, relative position and team relation</a:t>
            </a:r>
          </a:p>
        </p:txBody>
      </p:sp>
      <p:sp>
        <p:nvSpPr>
          <p:cNvPr id="7" name="">
            <a:extLst>
              <a:ext uri="{FF2B5EF4-FFF2-40B4-BE49-F238E27FC236}">
                <ns2:creationId id="{85DF92FC-D250-4A95-9C48-6C5C3694BC0E}"/>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9536B430-9E70-4CF4-851F-A1C62D7B9BB8}"/>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Normalize and mask missing features explicitly</a:t>
            </a:r>
          </a:p>
        </p:txBody>
      </p:sp>
      <p:pic>
        <p:nvPicPr>
          <p:cNvPr id="9" name="">
            <a:extLst>
              <a:ext uri="{FF2B5EF4-FFF2-40B4-BE49-F238E27FC236}">
                <ns2:creationId id="{15729803-3617-4FF6-A66F-562F1B97A915}"/>
              </a:ext>
            </a:extLst>
          </p:cNvPr>
          <p:cNvPicPr>
            <a:picLocks noChangeAspect="1"/>
          </p:cNvPicPr>
          <p:nvPr/>
        </p:nvPicPr>
        <p:blipFill>
          <a:blip r:embed="R461246dfef524909"/>
          <a:stretch/>
        </p:blipFill>
        <p:spPr>
          <a:xfrm>
            <a:off x="4254473" y="1333500"/>
            <a:ext cx="7302555" cy="4333875"/>
          </a:xfrm>
          <a:prstGeom prst="rect">
            <a:avLst/>
          </a:prstGeom>
        </p:spPr>
      </p:pic>
      <p:sp>
        <p:nvSpPr>
          <p:cNvPr id="10" name="">
            <a:extLst>
              <a:ext uri="{FF2B5EF4-FFF2-40B4-BE49-F238E27FC236}">
                <ns2:creationId id="{D7CB787F-2C57-4E38-9E30-AA5AAD530005}"/>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U.S. Soccer: counterattack GNNs with SkillCorner (2023)</a:t>
            </a:r>
          </a:p>
        </p:txBody>
      </p:sp>
      <p:sp>
        <p:nvSpPr>
          <p:cNvPr id="11" name="">
            <a:extLst>
              <a:ext uri="{FF2B5EF4-FFF2-40B4-BE49-F238E27FC236}">
                <ns2:creationId id="{0444FA26-D736-4E48-AB3B-184F74976BCB}"/>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42 / 61</a:t>
            </a:r>
          </a:p>
        </p:txBody>
      </p:sp>
    </p:spTree>
    <p:extLst>
      <p:ext uri="{BB962C8B-B14F-4D97-AF65-F5344CB8AC3E}">
        <ns4:creationId val="1216594156"/>
      </p:ext>
    </p:extLst>
  </p:cSld>
</p:sld>
</file>

<file path=ppt/slides/slide4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0AB3BC9C-07E7-4D85-81EF-0CA1F85CF515}"/>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55375AFA-DB20-45C3-9BFB-F78539839F62}"/>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Graph neural message passing</a:t>
            </a:r>
          </a:p>
        </p:txBody>
      </p:sp>
      <p:sp>
        <p:nvSpPr>
          <p:cNvPr id="3" name="">
            <a:extLst>
              <a:ext uri="{FF2B5EF4-FFF2-40B4-BE49-F238E27FC236}">
                <ns2:creationId id="{EDF78A30-DE38-4883-AFD5-E5FA642C0E24}"/>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D3885A6D-138A-45A6-B7DA-046B69660227}"/>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Create messages from players and their relationships</a:t>
            </a:r>
          </a:p>
        </p:txBody>
      </p:sp>
      <p:sp>
        <p:nvSpPr>
          <p:cNvPr id="5" name="">
            <a:extLst>
              <a:ext uri="{FF2B5EF4-FFF2-40B4-BE49-F238E27FC236}">
                <ns2:creationId id="{A330032F-525F-4FBF-AD77-B6CD0D3FCB71}"/>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B94AF0F9-1477-44C0-8622-921B766229A8}"/>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Aggregate neighbour messages with shared functions</a:t>
            </a:r>
          </a:p>
        </p:txBody>
      </p:sp>
      <p:sp>
        <p:nvSpPr>
          <p:cNvPr id="7" name="">
            <a:extLst>
              <a:ext uri="{FF2B5EF4-FFF2-40B4-BE49-F238E27FC236}">
                <ns2:creationId id="{5F5814CB-570C-4D5E-8405-BD603B3B26F5}"/>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7ADCC950-17CD-4188-A464-C643090802EC}"/>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Update player representations for a prediction task</a:t>
            </a:r>
          </a:p>
        </p:txBody>
      </p:sp>
      <p:pic>
        <p:nvPicPr>
          <p:cNvPr id="9" name="">
            <a:extLst>
              <a:ext uri="{FF2B5EF4-FFF2-40B4-BE49-F238E27FC236}">
                <ns2:creationId id="{AFFCA830-2A47-4014-AF1B-924B63459C72}"/>
              </a:ext>
            </a:extLst>
          </p:cNvPr>
          <p:cNvPicPr>
            <a:picLocks noChangeAspect="1"/>
          </p:cNvPicPr>
          <p:nvPr/>
        </p:nvPicPr>
        <p:blipFill>
          <a:blip r:embed="Rf95d15afa8164559"/>
          <a:stretch/>
        </p:blipFill>
        <p:spPr>
          <a:xfrm>
            <a:off x="4095750" y="1490491"/>
            <a:ext cx="7620000" cy="4019892"/>
          </a:xfrm>
          <a:prstGeom prst="rect">
            <a:avLst/>
          </a:prstGeom>
        </p:spPr>
      </p:pic>
      <p:sp>
        <p:nvSpPr>
          <p:cNvPr id="10" name="">
            <a:extLst>
              <a:ext uri="{FF2B5EF4-FFF2-40B4-BE49-F238E27FC236}">
                <ns2:creationId id="{EE1DD60C-E7A0-4AD5-A12E-04B7529BD703}"/>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TacticAI (2024)</a:t>
            </a:r>
          </a:p>
        </p:txBody>
      </p:sp>
      <p:sp>
        <p:nvSpPr>
          <p:cNvPr id="11" name="">
            <a:extLst>
              <a:ext uri="{FF2B5EF4-FFF2-40B4-BE49-F238E27FC236}">
                <ns2:creationId id="{C730811A-DC44-4852-A96B-28FBCE3027EF}"/>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DEFCON: GNN-based defensive EPV (2026)</a:t>
            </a:r>
          </a:p>
        </p:txBody>
      </p:sp>
      <p:sp>
        <p:nvSpPr>
          <p:cNvPr id="12" name="">
            <a:extLst>
              <a:ext uri="{FF2B5EF4-FFF2-40B4-BE49-F238E27FC236}">
                <ns2:creationId id="{868D068F-C7BC-426B-9CF4-C134A2DE4A26}"/>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43 / 61</a:t>
            </a:r>
          </a:p>
        </p:txBody>
      </p:sp>
    </p:spTree>
    <p:extLst>
      <p:ext uri="{BB962C8B-B14F-4D97-AF65-F5344CB8AC3E}">
        <ns4:creationId val="1204987685"/>
      </p:ext>
    </p:extLst>
  </p:cSld>
</p:sld>
</file>

<file path=ppt/slides/slide4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E4DEEE69-E93E-4574-865B-D56A7C02C6BB}"/>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69C6A366-1A7E-4E62-9AF2-6DE2C8E21868}"/>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Temporal node features</a:t>
            </a:r>
          </a:p>
        </p:txBody>
      </p:sp>
      <p:sp>
        <p:nvSpPr>
          <p:cNvPr id="3" name="">
            <a:extLst>
              <a:ext uri="{FF2B5EF4-FFF2-40B4-BE49-F238E27FC236}">
                <ns2:creationId id="{995668DC-DB8E-41D0-9DB8-8C48A46B069C}"/>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2062DCFB-A162-4780-A511-5B9C09F35DBD}"/>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Add lagged speed, displacement and relative movement</a:t>
            </a:r>
          </a:p>
        </p:txBody>
      </p:sp>
      <p:sp>
        <p:nvSpPr>
          <p:cNvPr id="5" name="">
            <a:extLst>
              <a:ext uri="{FF2B5EF4-FFF2-40B4-BE49-F238E27FC236}">
                <ns2:creationId id="{931329FC-2785-4061-8ADE-88D0CEB134A1}"/>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D33817F4-D5F1-4E3A-A012-455FA198E4CF}"/>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Use rolling history only up to prediction time</a:t>
            </a:r>
          </a:p>
        </p:txBody>
      </p:sp>
      <p:sp>
        <p:nvSpPr>
          <p:cNvPr id="7" name="">
            <a:extLst>
              <a:ext uri="{FF2B5EF4-FFF2-40B4-BE49-F238E27FC236}">
                <ns2:creationId id="{2C08D4CA-CB26-455B-83F0-9B2CC78D258F}"/>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11C4EA1A-C4DA-4316-B361-0C30FAA403E6}"/>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Include elapsed time and missing-history masks</a:t>
            </a:r>
          </a:p>
        </p:txBody>
      </p:sp>
      <p:pic>
        <p:nvPicPr>
          <p:cNvPr id="9" name="">
            <a:extLst>
              <a:ext uri="{FF2B5EF4-FFF2-40B4-BE49-F238E27FC236}">
                <ns2:creationId id="{FCDE7133-171C-4C16-B791-555976020413}"/>
              </a:ext>
            </a:extLst>
          </p:cNvPr>
          <p:cNvPicPr>
            <a:picLocks noChangeAspect="1"/>
          </p:cNvPicPr>
          <p:nvPr/>
        </p:nvPicPr>
        <p:blipFill>
          <a:blip r:embed="R77a47d89108e42a3"/>
          <a:stretch/>
        </p:blipFill>
        <p:spPr>
          <a:xfrm>
            <a:off x="4188868" y="1333500"/>
            <a:ext cx="7433765" cy="4333875"/>
          </a:xfrm>
          <a:prstGeom prst="rect">
            <a:avLst/>
          </a:prstGeom>
        </p:spPr>
      </p:pic>
      <p:sp>
        <p:nvSpPr>
          <p:cNvPr id="10" name="">
            <a:extLst>
              <a:ext uri="{FF2B5EF4-FFF2-40B4-BE49-F238E27FC236}">
                <ns2:creationId id="{F8824478-ACDD-4040-AA5A-04730551293B}"/>
              </a:ext>
            </a:extLst>
          </p:cNvPr>
          <p:cNvSpPr>
            <a:spLocks noGrp="1"/>
          </p:cNvSpPr>
          <p:nvPr/>
        </p:nvSpPr>
        <p:spPr>
          <a:xfrm>
            <a:off x="571500" y="5715000"/>
            <a:ext cx="11049000" cy="409575"/>
          </a:xfrm>
          <a:prstGeom prst="rect">
            <a:avLst/>
          </a:prstGeom>
          <a:solidFill>
            <a:srgbClr val="E0EEE8"/>
          </a:solidFill>
          <a:ln w="0">
            <a:noFill/>
          </a:ln>
        </p:spPr>
      </p:sp>
      <p:sp>
        <p:nvSpPr>
          <p:cNvPr id="11" name="">
            <a:extLst>
              <a:ext uri="{FF2B5EF4-FFF2-40B4-BE49-F238E27FC236}">
                <ns2:creationId id="{6F135AFA-F7AC-4CB4-9BA8-1E99433417B7}"/>
              </a:ext>
            </a:extLst>
          </p:cNvPr>
          <p:cNvSpPr>
            <a:spLocks noGrp="1"/>
          </p:cNvSpPr>
          <p:nvPr/>
        </p:nvSpPr>
        <p:spPr>
          <a:xfrm>
            <a:off x="742950" y="5791200"/>
            <a:ext cx="10668000" cy="32385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NOTEBOOK · lagged features and masks</a:t>
            </a:r>
          </a:p>
        </p:txBody>
      </p:sp>
      <p:sp>
        <p:nvSpPr>
          <p:cNvPr id="12" name="">
            <a:extLst>
              <a:ext uri="{FF2B5EF4-FFF2-40B4-BE49-F238E27FC236}">
                <ns2:creationId id="{6EC3B743-0A1C-4711-BADA-271695C27FE8}"/>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U.S. Soccer: counterattack GNNs with SkillCorner (2023)</a:t>
            </a:r>
          </a:p>
        </p:txBody>
      </p:sp>
      <p:sp>
        <p:nvSpPr>
          <p:cNvPr id="13" name="">
            <a:extLst>
              <a:ext uri="{FF2B5EF4-FFF2-40B4-BE49-F238E27FC236}">
                <ns2:creationId id="{E7D7E981-B0F4-4D88-9102-E38C02860A0C}"/>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DataBallPy preprocessing</a:t>
            </a:r>
          </a:p>
        </p:txBody>
      </p:sp>
      <p:sp>
        <p:nvSpPr>
          <p:cNvPr id="14" name="">
            <a:extLst>
              <a:ext uri="{FF2B5EF4-FFF2-40B4-BE49-F238E27FC236}">
                <ns2:creationId id="{810A7EC5-4099-496F-B807-0BD304658C0A}"/>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44 / 61</a:t>
            </a:r>
          </a:p>
        </p:txBody>
      </p:sp>
    </p:spTree>
    <p:extLst>
      <p:ext uri="{BB962C8B-B14F-4D97-AF65-F5344CB8AC3E}">
        <ns4:creationId val="602661977"/>
      </p:ext>
    </p:extLst>
  </p:cSld>
</p:sld>
</file>

<file path=ppt/slides/slide4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1028C148-9F76-45EB-9A95-580EE3AAB09C}"/>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D7016F6E-FF6A-4121-BABC-FA51236F3701}"/>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Dynamic graphs over time</a:t>
            </a:r>
          </a:p>
        </p:txBody>
      </p:sp>
      <p:sp>
        <p:nvSpPr>
          <p:cNvPr id="3" name="">
            <a:extLst>
              <a:ext uri="{FF2B5EF4-FFF2-40B4-BE49-F238E27FC236}">
                <ns2:creationId id="{F8804511-523F-4CC5-B063-132743D81401}"/>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C9A38620-3761-4714-AAF1-9FE4EFCBC1BE}"/>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Recompute spatial edges as players move</a:t>
            </a:r>
          </a:p>
        </p:txBody>
      </p:sp>
      <p:sp>
        <p:nvSpPr>
          <p:cNvPr id="5" name="">
            <a:extLst>
              <a:ext uri="{FF2B5EF4-FFF2-40B4-BE49-F238E27FC236}">
                <ns2:creationId id="{57F1A3AD-0E04-479D-BE2B-DE25C62E5801}"/>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EE71021B-F864-447C-851A-AFCDA875DD5C}"/>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Maintain player identities across snapshots</a:t>
            </a:r>
          </a:p>
        </p:txBody>
      </p:sp>
      <p:sp>
        <p:nvSpPr>
          <p:cNvPr id="7" name="">
            <a:extLst>
              <a:ext uri="{FF2B5EF4-FFF2-40B4-BE49-F238E27FC236}">
                <ns2:creationId id="{E393C52A-0C71-4C57-8692-A4A376A843F2}"/>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4CCC5EFD-2497-48FB-ADA0-EEB2F7D5931D}"/>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Model changing passing lanes and defensive relationships</a:t>
            </a:r>
          </a:p>
        </p:txBody>
      </p:sp>
      <p:pic>
        <p:nvPicPr>
          <p:cNvPr id="9" name="">
            <a:extLst>
              <a:ext uri="{FF2B5EF4-FFF2-40B4-BE49-F238E27FC236}">
                <ns2:creationId id="{2264D443-0E89-4E49-92FD-63593ADE7777}"/>
              </a:ext>
            </a:extLst>
          </p:cNvPr>
          <p:cNvPicPr>
            <a:picLocks noChangeAspect="1"/>
          </p:cNvPicPr>
          <p:nvPr/>
        </p:nvPicPr>
        <p:blipFill>
          <a:blip r:embed="R1694359227b040e5"/>
          <a:stretch/>
        </p:blipFill>
        <p:spPr>
          <a:xfrm>
            <a:off x="4095750" y="2186781"/>
            <a:ext cx="7620000" cy="2627313"/>
          </a:xfrm>
          <a:prstGeom prst="rect">
            <a:avLst/>
          </a:prstGeom>
        </p:spPr>
      </p:pic>
      <p:sp>
        <p:nvSpPr>
          <p:cNvPr id="10" name="">
            <a:extLst>
              <a:ext uri="{FF2B5EF4-FFF2-40B4-BE49-F238E27FC236}">
                <ns2:creationId id="{54F64A08-9733-4E3F-90F2-19BE03EFEBD1}"/>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U.S. Soccer: counterattack GNNs with SkillCorner (2023)</a:t>
            </a:r>
          </a:p>
        </p:txBody>
      </p:sp>
      <p:sp>
        <p:nvSpPr>
          <p:cNvPr id="11" name="">
            <a:extLst>
              <a:ext uri="{FF2B5EF4-FFF2-40B4-BE49-F238E27FC236}">
                <ns2:creationId id="{5A9FB8C3-1E4F-4B7A-A348-651C3AC59E50}"/>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PathCRF: player trajectories to events (2026)</a:t>
            </a:r>
          </a:p>
        </p:txBody>
      </p:sp>
      <p:sp>
        <p:nvSpPr>
          <p:cNvPr id="12" name="">
            <a:extLst>
              <a:ext uri="{FF2B5EF4-FFF2-40B4-BE49-F238E27FC236}">
                <ns2:creationId id="{8D1B4E53-25AE-442C-A213-D06F34282130}"/>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45 / 61</a:t>
            </a:r>
          </a:p>
        </p:txBody>
      </p:sp>
    </p:spTree>
    <p:extLst>
      <p:ext uri="{BB962C8B-B14F-4D97-AF65-F5344CB8AC3E}">
        <ns4:creationId val="420270074"/>
      </p:ext>
    </p:extLst>
  </p:cSld>
</p:sld>
</file>

<file path=ppt/slides/slide4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15239C21-8B3E-4019-B405-2864CF3586CC}"/>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AD0040F0-E7E5-4A3C-8E1D-6C9B30D2ABF6}"/>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Temporal edges between snapshots</a:t>
            </a:r>
          </a:p>
        </p:txBody>
      </p:sp>
      <p:sp>
        <p:nvSpPr>
          <p:cNvPr id="3" name="">
            <a:extLst>
              <a:ext uri="{FF2B5EF4-FFF2-40B4-BE49-F238E27FC236}">
                <ns2:creationId id="{D4DF76FC-8BA8-41DF-AA93-F8919A39B2FC}"/>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9DA3DC65-2458-43EE-A7C6-92339FECB12E}"/>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Link each player to their previous observed state</a:t>
            </a:r>
          </a:p>
        </p:txBody>
      </p:sp>
      <p:sp>
        <p:nvSpPr>
          <p:cNvPr id="5" name="">
            <a:extLst>
              <a:ext uri="{FF2B5EF4-FFF2-40B4-BE49-F238E27FC236}">
                <ns2:creationId id="{B3B4653E-A810-4757-9D7D-F78B2136D077}"/>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FB089E64-2710-4B7F-9529-07738AAAE36A}"/>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Retain spatial edges within each frame</a:t>
            </a:r>
          </a:p>
        </p:txBody>
      </p:sp>
      <p:sp>
        <p:nvSpPr>
          <p:cNvPr id="7" name="">
            <a:extLst>
              <a:ext uri="{FF2B5EF4-FFF2-40B4-BE49-F238E27FC236}">
                <ns2:creationId id="{903E0182-A4DD-4037-9679-CEB3B8C2581F}"/>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34552908-4AC8-40F2-8F82-CF09D094C48F}"/>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Direct historical connections toward the prediction time</a:t>
            </a:r>
          </a:p>
        </p:txBody>
      </p:sp>
      <p:pic>
        <p:nvPicPr>
          <p:cNvPr id="9" name="">
            <a:extLst>
              <a:ext uri="{FF2B5EF4-FFF2-40B4-BE49-F238E27FC236}">
                <ns2:creationId id="{68A30B7F-A3CE-4C22-B80C-B80592FB3B80}"/>
              </a:ext>
            </a:extLst>
          </p:cNvPr>
          <p:cNvPicPr>
            <a:picLocks noChangeAspect="1"/>
          </p:cNvPicPr>
          <p:nvPr/>
        </p:nvPicPr>
        <p:blipFill>
          <a:blip r:embed="Rb706ebcf1b5d4bee"/>
          <a:stretch/>
        </p:blipFill>
        <p:spPr>
          <a:xfrm>
            <a:off x="4258650" y="1333500"/>
            <a:ext cx="7294199" cy="4333875"/>
          </a:xfrm>
          <a:prstGeom prst="rect">
            <a:avLst/>
          </a:prstGeom>
        </p:spPr>
      </p:pic>
      <p:sp>
        <p:nvSpPr>
          <p:cNvPr id="10" name="">
            <a:extLst>
              <a:ext uri="{FF2B5EF4-FFF2-40B4-BE49-F238E27FC236}">
                <ns2:creationId id="{AF0A05E6-A23F-4AC9-B315-8B33440A73D2}"/>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PathCRF: player trajectories to events (2026)</a:t>
            </a:r>
          </a:p>
        </p:txBody>
      </p:sp>
      <p:sp>
        <p:nvSpPr>
          <p:cNvPr id="11" name="">
            <a:extLst>
              <a:ext uri="{FF2B5EF4-FFF2-40B4-BE49-F238E27FC236}">
                <ns2:creationId id="{CF87E75D-B1F8-439B-A58A-FBEFBCBA03E9}"/>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46 / 61</a:t>
            </a:r>
          </a:p>
        </p:txBody>
      </p:sp>
    </p:spTree>
    <p:extLst>
      <p:ext uri="{BB962C8B-B14F-4D97-AF65-F5344CB8AC3E}">
        <ns4:creationId val="736190497"/>
      </p:ext>
    </p:extLst>
  </p:cSld>
</p:sld>
</file>

<file path=ppt/slides/slide4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B60DC31F-BAB5-45E2-9090-1E55CF9103DF}"/>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AB748640-9416-48FC-9A74-FB3171B4D797}"/>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Recurrent temporal graph models</a:t>
            </a:r>
          </a:p>
        </p:txBody>
      </p:sp>
      <p:sp>
        <p:nvSpPr>
          <p:cNvPr id="3" name="">
            <a:extLst>
              <a:ext uri="{FF2B5EF4-FFF2-40B4-BE49-F238E27FC236}">
                <ns2:creationId id="{33617C5C-23BB-4E2D-8911-9F3D97F065B6}"/>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116D354C-993F-4EFF-85BB-B3542FBE9374}"/>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Encode each frame with a spatial GNN</a:t>
            </a:r>
          </a:p>
        </p:txBody>
      </p:sp>
      <p:sp>
        <p:nvSpPr>
          <p:cNvPr id="5" name="">
            <a:extLst>
              <a:ext uri="{FF2B5EF4-FFF2-40B4-BE49-F238E27FC236}">
                <ns2:creationId id="{4B07E83F-1BF3-49F9-905B-F79B8D5885AB}"/>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1A10A6E5-EA2B-4CA9-95EC-35EECC7C9BAD}"/>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Update a recurrent hidden state as frames arrive</a:t>
            </a:r>
          </a:p>
        </p:txBody>
      </p:sp>
      <p:sp>
        <p:nvSpPr>
          <p:cNvPr id="7" name="">
            <a:extLst>
              <a:ext uri="{FF2B5EF4-FFF2-40B4-BE49-F238E27FC236}">
                <ns2:creationId id="{8F79E400-0422-48D8-B65B-131665A09F70}"/>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215DE637-6A5E-480D-B035-34F96117C942}"/>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Predict from the accumulated historical state</a:t>
            </a:r>
          </a:p>
        </p:txBody>
      </p:sp>
      <p:pic>
        <p:nvPicPr>
          <p:cNvPr id="9" name="">
            <a:extLst>
              <a:ext uri="{FF2B5EF4-FFF2-40B4-BE49-F238E27FC236}">
                <ns2:creationId id="{1A0AB1C7-B1FB-4CDB-A5FB-1D5D50F7FB98}"/>
              </a:ext>
            </a:extLst>
          </p:cNvPr>
          <p:cNvPicPr>
            <a:picLocks noChangeAspect="1"/>
          </p:cNvPicPr>
          <p:nvPr/>
        </p:nvPicPr>
        <p:blipFill>
          <a:blip r:embed="R27f7bceeb4dc48bc"/>
          <a:stretch/>
        </p:blipFill>
        <p:spPr>
          <a:xfrm>
            <a:off x="4095750" y="1490491"/>
            <a:ext cx="7620000" cy="4019892"/>
          </a:xfrm>
          <a:prstGeom prst="rect">
            <a:avLst/>
          </a:prstGeom>
        </p:spPr>
      </p:pic>
      <p:sp>
        <p:nvSpPr>
          <p:cNvPr id="10" name="">
            <a:extLst>
              <a:ext uri="{FF2B5EF4-FFF2-40B4-BE49-F238E27FC236}">
                <ns2:creationId id="{80312E2D-F7F0-48B7-B4AC-7B9A8953923F}"/>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PyTorch Geometric Temporal architectures</a:t>
            </a:r>
          </a:p>
        </p:txBody>
      </p:sp>
      <p:sp>
        <p:nvSpPr>
          <p:cNvPr id="11" name="">
            <a:extLst>
              <a:ext uri="{FF2B5EF4-FFF2-40B4-BE49-F238E27FC236}">
                <ns2:creationId id="{D29539A7-8267-40AF-9D7C-1BFC0CBB3A3D}"/>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47 / 61</a:t>
            </a:r>
          </a:p>
        </p:txBody>
      </p:sp>
    </p:spTree>
    <p:extLst>
      <p:ext uri="{BB962C8B-B14F-4D97-AF65-F5344CB8AC3E}">
        <ns4:creationId val="1488190420"/>
      </p:ext>
    </p:extLst>
  </p:cSld>
</p:sld>
</file>

<file path=ppt/slides/slide4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D3B10CAF-9716-46BA-85BD-006175C8FD2F}"/>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5BEA8F0E-2696-4547-95DD-BDB014A51F17}"/>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Temporal convolution on graph history</a:t>
            </a:r>
          </a:p>
        </p:txBody>
      </p:sp>
      <p:sp>
        <p:nvSpPr>
          <p:cNvPr id="3" name="">
            <a:extLst>
              <a:ext uri="{FF2B5EF4-FFF2-40B4-BE49-F238E27FC236}">
                <ns2:creationId id="{FC14014F-84DB-4C4F-A5C6-7D6D3008BF31}"/>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B5D12CD1-9638-45C7-9471-A5D05E474EE4}"/>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Stack frame-level graph embeddings over time</a:t>
            </a:r>
          </a:p>
        </p:txBody>
      </p:sp>
      <p:sp>
        <p:nvSpPr>
          <p:cNvPr id="5" name="">
            <a:extLst>
              <a:ext uri="{FF2B5EF4-FFF2-40B4-BE49-F238E27FC236}">
                <ns2:creationId id="{C0065232-AEAB-481B-B814-E88EE762D592}"/>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2254E60A-1CD4-4DE6-988C-6B02AA1722EB}"/>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Apply causal filters across historical windows</a:t>
            </a:r>
          </a:p>
        </p:txBody>
      </p:sp>
      <p:sp>
        <p:nvSpPr>
          <p:cNvPr id="7" name="">
            <a:extLst>
              <a:ext uri="{FF2B5EF4-FFF2-40B4-BE49-F238E27FC236}">
                <ns2:creationId id="{1CC4016D-9183-4CBC-92A1-FBE7A1FEE36F}"/>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6CE930B4-5535-467D-AF65-6C88EBC7675F}"/>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Control the receptive field with layers and dilation</a:t>
            </a:r>
          </a:p>
        </p:txBody>
      </p:sp>
      <p:pic>
        <p:nvPicPr>
          <p:cNvPr id="9" name="">
            <a:extLst>
              <a:ext uri="{FF2B5EF4-FFF2-40B4-BE49-F238E27FC236}">
                <ns2:creationId id="{EC28A52B-01BB-41F6-A1CE-CF6AEE74D830}"/>
              </a:ext>
            </a:extLst>
          </p:cNvPr>
          <p:cNvPicPr>
            <a:picLocks noChangeAspect="1"/>
          </p:cNvPicPr>
          <p:nvPr/>
        </p:nvPicPr>
        <p:blipFill>
          <a:blip r:embed="R02a2c92d37944cc7"/>
          <a:stretch/>
        </p:blipFill>
        <p:spPr>
          <a:xfrm>
            <a:off x="4095750" y="1490491"/>
            <a:ext cx="7620000" cy="4019892"/>
          </a:xfrm>
          <a:prstGeom prst="rect">
            <a:avLst/>
          </a:prstGeom>
        </p:spPr>
      </p:pic>
      <p:sp>
        <p:nvSpPr>
          <p:cNvPr id="10" name="">
            <a:extLst>
              <a:ext uri="{FF2B5EF4-FFF2-40B4-BE49-F238E27FC236}">
                <ns2:creationId id="{B3899E9D-9F19-44B4-BA51-962493ADAFBF}"/>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Temporal convolution for sequence modeling</a:t>
            </a:r>
          </a:p>
        </p:txBody>
      </p:sp>
      <p:sp>
        <p:nvSpPr>
          <p:cNvPr id="11" name="">
            <a:extLst>
              <a:ext uri="{FF2B5EF4-FFF2-40B4-BE49-F238E27FC236}">
                <ns2:creationId id="{E07AA218-83DA-43F9-9C22-DAE91A446C11}"/>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48 / 61</a:t>
            </a:r>
          </a:p>
        </p:txBody>
      </p:sp>
    </p:spTree>
    <p:extLst>
      <p:ext uri="{BB962C8B-B14F-4D97-AF65-F5344CB8AC3E}">
        <ns4:creationId val="291198147"/>
      </p:ext>
    </p:extLst>
  </p:cSld>
</p:sld>
</file>

<file path=ppt/slides/slide4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C3CDF3E3-E44A-40E7-B159-2113277E841A}"/>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4623DE54-EAEE-496F-B797-C15FD4817C73}"/>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Causal temporal attention</a:t>
            </a:r>
          </a:p>
        </p:txBody>
      </p:sp>
      <p:sp>
        <p:nvSpPr>
          <p:cNvPr id="3" name="">
            <a:extLst>
              <a:ext uri="{FF2B5EF4-FFF2-40B4-BE49-F238E27FC236}">
                <ns2:creationId id="{9AD1B2F9-3114-47D7-95EA-A8059A6CFE5E}"/>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F7B6FA27-ED95-4024-B521-F846C30B98E1}"/>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Add time information to historical graph embeddings</a:t>
            </a:r>
          </a:p>
        </p:txBody>
      </p:sp>
      <p:sp>
        <p:nvSpPr>
          <p:cNvPr id="5" name="">
            <a:extLst>
              <a:ext uri="{FF2B5EF4-FFF2-40B4-BE49-F238E27FC236}">
                <ns2:creationId id="{8BA9E90D-ECF9-4639-9DA3-0EC14E2FC665}"/>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915CE290-809F-4216-996D-8DDAB277BC20}"/>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Attend to relevant earlier states</a:t>
            </a:r>
          </a:p>
        </p:txBody>
      </p:sp>
      <p:sp>
        <p:nvSpPr>
          <p:cNvPr id="7" name="">
            <a:extLst>
              <a:ext uri="{FF2B5EF4-FFF2-40B4-BE49-F238E27FC236}">
                <ns2:creationId id="{95D47A2D-75B8-47D0-AC83-68A180E0CD81}"/>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9267793D-F6CD-4BAD-96B5-E07DCF00CE02}"/>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Mask future frames and missing observations</a:t>
            </a:r>
          </a:p>
        </p:txBody>
      </p:sp>
      <p:pic>
        <p:nvPicPr>
          <p:cNvPr id="9" name="">
            <a:extLst>
              <a:ext uri="{FF2B5EF4-FFF2-40B4-BE49-F238E27FC236}">
                <ns2:creationId id="{B63B1F6C-5DAA-491F-8070-47351756E589}"/>
              </a:ext>
            </a:extLst>
          </p:cNvPr>
          <p:cNvPicPr>
            <a:picLocks noChangeAspect="1"/>
          </p:cNvPicPr>
          <p:nvPr/>
        </p:nvPicPr>
        <p:blipFill>
          <a:blip r:embed="R6ad116c6824b4083"/>
          <a:stretch/>
        </p:blipFill>
        <p:spPr>
          <a:xfrm>
            <a:off x="4095750" y="1490491"/>
            <a:ext cx="7620000" cy="4019892"/>
          </a:xfrm>
          <a:prstGeom prst="rect">
            <a:avLst/>
          </a:prstGeom>
        </p:spPr>
      </p:pic>
      <p:sp>
        <p:nvSpPr>
          <p:cNvPr id="10" name="">
            <a:extLst>
              <a:ext uri="{FF2B5EF4-FFF2-40B4-BE49-F238E27FC236}">
                <ns2:creationId id="{91B618CD-FBC3-45CE-B452-4871CF1687EE}"/>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Attention Is All You Need</a:t>
            </a:r>
          </a:p>
        </p:txBody>
      </p:sp>
      <p:sp>
        <p:nvSpPr>
          <p:cNvPr id="11" name="">
            <a:extLst>
              <a:ext uri="{FF2B5EF4-FFF2-40B4-BE49-F238E27FC236}">
                <ns2:creationId id="{0F33F706-6837-4C55-9B35-2870A007A289}"/>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PyTorch Geometric Temporal architectures</a:t>
            </a:r>
          </a:p>
        </p:txBody>
      </p:sp>
      <p:sp>
        <p:nvSpPr>
          <p:cNvPr id="12" name="">
            <a:extLst>
              <a:ext uri="{FF2B5EF4-FFF2-40B4-BE49-F238E27FC236}">
                <ns2:creationId id="{80823E28-DE8B-4EC9-9367-69B0389C5E3F}"/>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49 / 61</a:t>
            </a:r>
          </a:p>
        </p:txBody>
      </p:sp>
    </p:spTree>
    <p:extLst>
      <p:ext uri="{BB962C8B-B14F-4D97-AF65-F5344CB8AC3E}">
        <ns4:creationId val="485417641"/>
      </p:ext>
    </p:extLst>
  </p:cSld>
</p:sld>
</file>

<file path=ppt/slides/slide5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12AFDE10-E6B6-4B43-AC0B-A414729AAF75}"/>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3444B7CF-893A-439E-918A-96BB92AFD89D}"/>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Spatiotemporal message passing</a:t>
            </a:r>
          </a:p>
        </p:txBody>
      </p:sp>
      <p:sp>
        <p:nvSpPr>
          <p:cNvPr id="3" name="">
            <a:extLst>
              <a:ext uri="{FF2B5EF4-FFF2-40B4-BE49-F238E27FC236}">
                <ns2:creationId id="{B70EB1ED-8DC2-44EB-8189-8E373515ACE0}"/>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88E0D5AD-C4D9-49D1-B2D2-59B5C8249993}"/>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Connect spatial neighbors within each frame</a:t>
            </a:r>
          </a:p>
        </p:txBody>
      </p:sp>
      <p:sp>
        <p:nvSpPr>
          <p:cNvPr id="5" name="">
            <a:extLst>
              <a:ext uri="{FF2B5EF4-FFF2-40B4-BE49-F238E27FC236}">
                <ns2:creationId id="{E5A94669-DBEF-49E5-A678-85DAEFA1651A}"/>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24056E9C-B137-465F-9F9A-55C291086692}"/>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Connect player identities across observed time</a:t>
            </a:r>
          </a:p>
        </p:txBody>
      </p:sp>
      <p:sp>
        <p:nvSpPr>
          <p:cNvPr id="7" name="">
            <a:extLst>
              <a:ext uri="{FF2B5EF4-FFF2-40B4-BE49-F238E27FC236}">
                <ns2:creationId id="{90AC7227-8F0F-4984-AB2F-0FF9A7676D4E}"/>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21F571BA-442C-493A-BF53-38B4D8C85AF8}"/>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Learn updates over both relationship types</a:t>
            </a:r>
          </a:p>
        </p:txBody>
      </p:sp>
      <p:pic>
        <p:nvPicPr>
          <p:cNvPr id="9" name="">
            <a:extLst>
              <a:ext uri="{FF2B5EF4-FFF2-40B4-BE49-F238E27FC236}">
                <ns2:creationId id="{C85AEBD1-5939-4981-82DD-C7A51E4B274B}"/>
              </a:ext>
            </a:extLst>
          </p:cNvPr>
          <p:cNvPicPr>
            <a:picLocks noChangeAspect="1"/>
          </p:cNvPicPr>
          <p:nvPr/>
        </p:nvPicPr>
        <p:blipFill>
          <a:blip r:embed="R29bfdd34dc2d47e5"/>
          <a:stretch/>
        </p:blipFill>
        <p:spPr>
          <a:xfrm>
            <a:off x="4095750" y="1490491"/>
            <a:ext cx="7620000" cy="4019892"/>
          </a:xfrm>
          <a:prstGeom prst="rect">
            <a:avLst/>
          </a:prstGeom>
        </p:spPr>
      </p:pic>
      <p:sp>
        <p:nvSpPr>
          <p:cNvPr id="10" name="">
            <a:extLst>
              <a:ext uri="{FF2B5EF4-FFF2-40B4-BE49-F238E27FC236}">
                <ns2:creationId id="{672E68CA-1086-48C0-87E2-725CD20DA2A9}"/>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PyTorch Geometric Temporal architectures</a:t>
            </a:r>
          </a:p>
        </p:txBody>
      </p:sp>
      <p:sp>
        <p:nvSpPr>
          <p:cNvPr id="11" name="">
            <a:extLst>
              <a:ext uri="{FF2B5EF4-FFF2-40B4-BE49-F238E27FC236}">
                <ns2:creationId id="{4459AE84-E639-427B-80D3-49782662FC5C}"/>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PathCRF: player trajectories to events (2026)</a:t>
            </a:r>
          </a:p>
        </p:txBody>
      </p:sp>
      <p:sp>
        <p:nvSpPr>
          <p:cNvPr id="12" name="">
            <a:extLst>
              <a:ext uri="{FF2B5EF4-FFF2-40B4-BE49-F238E27FC236}">
                <ns2:creationId id="{77B8231B-BE9B-44D5-A4F2-362602A5283D}"/>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50 / 61</a:t>
            </a:r>
          </a:p>
        </p:txBody>
      </p:sp>
    </p:spTree>
    <p:extLst>
      <p:ext uri="{BB962C8B-B14F-4D97-AF65-F5344CB8AC3E}">
        <ns4:creationId val="1657249758"/>
      </p:ext>
    </p:extLst>
  </p:cSld>
</p:sld>
</file>

<file path=ppt/slides/slide5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C7EED029-7FF9-4ECF-B9E4-DE2ECA95B2E1}"/>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F67262F8-0919-4234-9C70-75384CC42B3E}"/>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SoccerMap: spatial neural prediction</a:t>
            </a:r>
          </a:p>
        </p:txBody>
      </p:sp>
      <p:sp>
        <p:nvSpPr>
          <p:cNvPr id="3" name="">
            <a:extLst>
              <a:ext uri="{FF2B5EF4-FFF2-40B4-BE49-F238E27FC236}">
                <ns2:creationId id="{24C9495F-8B05-4FD8-87CB-EA2DB82B6FBF}"/>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E6426E44-0DBA-437D-8392-1508CF8DFA1F}"/>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Convert tracking into spatial feature channels</a:t>
            </a:r>
          </a:p>
        </p:txBody>
      </p:sp>
      <p:sp>
        <p:nvSpPr>
          <p:cNvPr id="5" name="">
            <a:extLst>
              <a:ext uri="{FF2B5EF4-FFF2-40B4-BE49-F238E27FC236}">
                <ns2:creationId id="{205F27A4-DD32-4FA8-B4A5-28BBEAD88086}"/>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02815FAE-D797-41C5-85B3-B678E7ECB84F}"/>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Learn field-wide surfaces with convolutional networks</a:t>
            </a:r>
          </a:p>
        </p:txBody>
      </p:sp>
      <p:sp>
        <p:nvSpPr>
          <p:cNvPr id="7" name="">
            <a:extLst>
              <a:ext uri="{FF2B5EF4-FFF2-40B4-BE49-F238E27FC236}">
                <ns2:creationId id="{040995DC-3DE1-4AE7-BA48-D3D64A15A4AF}"/>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C3281CD0-DB2A-406C-9CC4-51923DFF74A2}"/>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Use distinct heads or models for distinct targets</a:t>
            </a:r>
          </a:p>
        </p:txBody>
      </p:sp>
      <p:pic>
        <p:nvPicPr>
          <p:cNvPr id="9" name="">
            <a:extLst>
              <a:ext uri="{FF2B5EF4-FFF2-40B4-BE49-F238E27FC236}">
                <ns2:creationId id="{A4CBFFE1-75DF-4417-8589-7F8F800AF3A0}"/>
              </a:ext>
            </a:extLst>
          </p:cNvPr>
          <p:cNvPicPr>
            <a:picLocks noChangeAspect="1"/>
          </p:cNvPicPr>
          <p:nvPr/>
        </p:nvPicPr>
        <p:blipFill>
          <a:blip r:embed="Re8bb3a82b5fe41d9"/>
          <a:stretch/>
        </p:blipFill>
        <p:spPr>
          <a:xfrm>
            <a:off x="4095750" y="1490491"/>
            <a:ext cx="7620000" cy="4019892"/>
          </a:xfrm>
          <a:prstGeom prst="rect">
            <a:avLst/>
          </a:prstGeom>
        </p:spPr>
      </p:pic>
      <p:sp>
        <p:nvSpPr>
          <p:cNvPr id="10" name="">
            <a:extLst>
              <a:ext uri="{FF2B5EF4-FFF2-40B4-BE49-F238E27FC236}">
                <ns2:creationId id="{0EE4C4F7-F0DF-4384-ACD5-9B784D1530DA}"/>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SoccerMap (2020)</a:t>
            </a:r>
          </a:p>
        </p:txBody>
      </p:sp>
      <p:sp>
        <p:nvSpPr>
          <p:cNvPr id="11" name="">
            <a:extLst>
              <a:ext uri="{FF2B5EF4-FFF2-40B4-BE49-F238E27FC236}">
                <ns2:creationId id="{82968882-A298-47BB-A2A7-4B47B875BA38}"/>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51 / 61</a:t>
            </a:r>
          </a:p>
        </p:txBody>
      </p:sp>
    </p:spTree>
    <p:extLst>
      <p:ext uri="{BB962C8B-B14F-4D97-AF65-F5344CB8AC3E}">
        <ns4:creationId val="862308762"/>
      </p:ext>
    </p:extLst>
  </p:cSld>
</p:sld>
</file>

<file path=ppt/slides/slide5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FA014B6D-481A-4404-A23F-4E51C2D6DD2C}"/>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95C99BA4-267B-4EEA-BF4C-4765C3E5036A}"/>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Bekkers: building a football graph</a:t>
            </a:r>
          </a:p>
        </p:txBody>
      </p:sp>
      <p:sp>
        <p:nvSpPr>
          <p:cNvPr id="3" name="">
            <a:extLst>
              <a:ext uri="{FF2B5EF4-FFF2-40B4-BE49-F238E27FC236}">
                <ns2:creationId id="{C023DBDE-7736-4D17-B9EE-785C056B2C41}"/>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D4A74E3E-2659-423E-B5DF-748E623FB37C}"/>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Represent players and ball as nodes</a:t>
            </a:r>
          </a:p>
        </p:txBody>
      </p:sp>
      <p:sp>
        <p:nvSpPr>
          <p:cNvPr id="5" name="">
            <a:extLst>
              <a:ext uri="{FF2B5EF4-FFF2-40B4-BE49-F238E27FC236}">
                <ns2:creationId id="{0D898E05-7C34-44C7-807B-442DDDEE5688}"/>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155E4490-36B7-4635-806C-0AD196F8CEF3}"/>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Encode team, motion and relative geometry</a:t>
            </a:r>
          </a:p>
        </p:txBody>
      </p:sp>
      <p:sp>
        <p:nvSpPr>
          <p:cNvPr id="7" name="">
            <a:extLst>
              <a:ext uri="{FF2B5EF4-FFF2-40B4-BE49-F238E27FC236}">
                <ns2:creationId id="{E3B87E95-8573-4E68-A921-559416E3AD34}"/>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F9D5689B-0606-4BB3-A8A8-1C0A475B2E73}"/>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Choose edges to suit the prediction task</a:t>
            </a:r>
          </a:p>
        </p:txBody>
      </p:sp>
      <p:pic>
        <p:nvPicPr>
          <p:cNvPr id="9" name="">
            <a:extLst>
              <a:ext uri="{FF2B5EF4-FFF2-40B4-BE49-F238E27FC236}">
                <ns2:creationId id="{511C5AFE-99C8-486C-ACD6-26CD3C46E6EA}"/>
              </a:ext>
            </a:extLst>
          </p:cNvPr>
          <p:cNvPicPr>
            <a:picLocks noChangeAspect="1"/>
          </p:cNvPicPr>
          <p:nvPr/>
        </p:nvPicPr>
        <p:blipFill>
          <a:blip r:embed="R32338dda25004883"/>
          <a:stretch/>
        </p:blipFill>
        <p:spPr>
          <a:xfrm>
            <a:off x="4796890" y="1333500"/>
            <a:ext cx="6217721" cy="4333875"/>
          </a:xfrm>
          <a:prstGeom prst="rect">
            <a:avLst/>
          </a:prstGeom>
        </p:spPr>
      </p:pic>
      <p:sp>
        <p:nvSpPr>
          <p:cNvPr id="10" name="">
            <a:extLst>
              <a:ext uri="{FF2B5EF4-FFF2-40B4-BE49-F238E27FC236}">
                <ns2:creationId id="{C9D48646-E913-4880-B047-72A1BA294830}"/>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Joris Bekkers: GraphEPV, PyData London 2025</a:t>
            </a:r>
          </a:p>
        </p:txBody>
      </p:sp>
      <p:sp>
        <p:nvSpPr>
          <p:cNvPr id="11" name="">
            <a:extLst>
              <a:ext uri="{FF2B5EF4-FFF2-40B4-BE49-F238E27FC236}">
                <ns2:creationId id="{D7C26A6F-B328-4944-A53E-708B302A6406}"/>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UnravelSports soccer GNN tutorial</a:t>
            </a:r>
          </a:p>
        </p:txBody>
      </p:sp>
      <p:sp>
        <p:nvSpPr>
          <p:cNvPr id="12" name="">
            <a:extLst>
              <a:ext uri="{FF2B5EF4-FFF2-40B4-BE49-F238E27FC236}">
                <ns2:creationId id="{3E222100-4CB7-42E4-92A3-5A133A6EB6D1}"/>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52 / 61</a:t>
            </a:r>
          </a:p>
        </p:txBody>
      </p:sp>
    </p:spTree>
    <p:extLst>
      <p:ext uri="{BB962C8B-B14F-4D97-AF65-F5344CB8AC3E}">
        <ns4:creationId val="1880376642"/>
      </p:ext>
    </p:extLst>
  </p:cSld>
</p:sld>
</file>

<file path=ppt/slides/slide5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AFFA8E20-CC3F-4CE1-8D6C-17A27D108668}"/>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2C9206C1-6173-4793-BF70-EC667BF4E7AB}"/>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Bekkers: GraphEPV scoring target</a:t>
            </a:r>
          </a:p>
        </p:txBody>
      </p:sp>
      <p:sp>
        <p:nvSpPr>
          <p:cNvPr id="3" name="">
            <a:extLst>
              <a:ext uri="{FF2B5EF4-FFF2-40B4-BE49-F238E27FC236}">
                <ns2:creationId id="{148A7EA0-3DB4-4F56-AE71-099579F1E25F}"/>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38F1645F-153B-4056-B6F5-666E07765DDC}"/>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One tracking frame becomes one graph</a:t>
            </a:r>
          </a:p>
        </p:txBody>
      </p:sp>
      <p:sp>
        <p:nvSpPr>
          <p:cNvPr id="5" name="">
            <a:extLst>
              <a:ext uri="{FF2B5EF4-FFF2-40B4-BE49-F238E27FC236}">
                <ns2:creationId id="{74A93DF8-1623-4399-8A10-78308662A816}"/>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74BD4E7B-1DD4-4FF3-9B0B-9CE1FE3EA82D}"/>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Label goals by the possession team within 10 seconds</a:t>
            </a:r>
          </a:p>
        </p:txBody>
      </p:sp>
      <p:sp>
        <p:nvSpPr>
          <p:cNvPr id="7" name="">
            <a:extLst>
              <a:ext uri="{FF2B5EF4-FFF2-40B4-BE49-F238E27FC236}">
                <ns2:creationId id="{A4EFF47C-3CDD-4978-ADF8-4E203FECEF73}"/>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675D0324-1CE8-4196-817F-C1DD84678822}"/>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Train a graph classifier to estimate that probability</a:t>
            </a:r>
          </a:p>
        </p:txBody>
      </p:sp>
      <p:pic>
        <p:nvPicPr>
          <p:cNvPr id="9" name="">
            <a:extLst>
              <a:ext uri="{FF2B5EF4-FFF2-40B4-BE49-F238E27FC236}">
                <ns2:creationId id="{9C0C5768-C509-4EFC-A7D1-BDD23DAB0BF7}"/>
              </a:ext>
            </a:extLst>
          </p:cNvPr>
          <p:cNvPicPr>
            <a:picLocks noChangeAspect="1"/>
          </p:cNvPicPr>
          <p:nvPr/>
        </p:nvPicPr>
        <p:blipFill>
          <a:blip r:embed="R23996b22fdd14ef2"/>
          <a:stretch/>
        </p:blipFill>
        <p:spPr>
          <a:xfrm>
            <a:off x="4095750" y="1397783"/>
            <a:ext cx="7620000" cy="4205309"/>
          </a:xfrm>
          <a:prstGeom prst="rect">
            <a:avLst/>
          </a:prstGeom>
        </p:spPr>
      </p:pic>
      <p:sp>
        <p:nvSpPr>
          <p:cNvPr id="10" name="">
            <a:extLst>
              <a:ext uri="{FF2B5EF4-FFF2-40B4-BE49-F238E27FC236}">
                <ns2:creationId id="{E8E3E222-AC5F-4C5A-96B7-9597D6333E79}"/>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Joris Bekkers: GraphEPV, PyData London 2025</a:t>
            </a:r>
          </a:p>
        </p:txBody>
      </p:sp>
      <p:sp>
        <p:nvSpPr>
          <p:cNvPr id="11" name="">
            <a:extLst>
              <a:ext uri="{FF2B5EF4-FFF2-40B4-BE49-F238E27FC236}">
                <ns2:creationId id="{505A3B99-E0E2-4E1D-BC98-2687836B0DED}"/>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UnravelSports soccer GNN tutorial</a:t>
            </a:r>
          </a:p>
        </p:txBody>
      </p:sp>
      <p:sp>
        <p:nvSpPr>
          <p:cNvPr id="12" name="">
            <a:extLst>
              <a:ext uri="{FF2B5EF4-FFF2-40B4-BE49-F238E27FC236}">
                <ns2:creationId id="{BA13C7CE-94A5-42B8-9767-A34D4BCF83D6}"/>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53 / 61</a:t>
            </a:r>
          </a:p>
        </p:txBody>
      </p:sp>
    </p:spTree>
    <p:extLst>
      <p:ext uri="{BB962C8B-B14F-4D97-AF65-F5344CB8AC3E}">
        <ns4:creationId val="289852068"/>
      </p:ext>
    </p:extLst>
  </p:cSld>
</p:sld>
</file>

<file path=ppt/slides/slide5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A5B7F0DC-FBAE-4F8B-94FB-DB431C6A595D}"/>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05ED1FEF-451C-46EC-9827-62E748770F33}"/>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GraphEPV and temporal extensions</a:t>
            </a:r>
          </a:p>
        </p:txBody>
      </p:sp>
      <p:sp>
        <p:nvSpPr>
          <p:cNvPr id="3" name="">
            <a:extLst>
              <a:ext uri="{FF2B5EF4-FFF2-40B4-BE49-F238E27FC236}">
                <ns2:creationId id="{3B40640D-BDE5-4B72-9F0D-0EE4D10C99FD}"/>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68D85103-840F-464F-92CC-274A997C0772}"/>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A frame model can use velocity features</a:t>
            </a:r>
          </a:p>
        </p:txBody>
      </p:sp>
      <p:sp>
        <p:nvSpPr>
          <p:cNvPr id="5" name="">
            <a:extLst>
              <a:ext uri="{FF2B5EF4-FFF2-40B4-BE49-F238E27FC236}">
                <ns2:creationId id="{E90407B3-791D-4721-8B5B-7FF250326837}"/>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CC298370-1FB4-41C0-A38C-434E0A24983B}"/>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History adds runs, pressure and changing lanes</a:t>
            </a:r>
          </a:p>
        </p:txBody>
      </p:sp>
      <p:sp>
        <p:nvSpPr>
          <p:cNvPr id="7" name="">
            <a:extLst>
              <a:ext uri="{FF2B5EF4-FFF2-40B4-BE49-F238E27FC236}">
                <ns2:creationId id="{D934627D-1084-4F2E-B63D-73B7CE361611}"/>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FD274CE1-D0C2-4529-9B0C-EA9A2CA1DDE9}"/>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Add temporal encoders with causal inputs</a:t>
            </a:r>
          </a:p>
        </p:txBody>
      </p:sp>
      <p:pic>
        <p:nvPicPr>
          <p:cNvPr id="9" name="">
            <a:extLst>
              <a:ext uri="{FF2B5EF4-FFF2-40B4-BE49-F238E27FC236}">
                <ns2:creationId id="{0F6CCD2D-2107-4C8F-A13A-6A0CF50A507F}"/>
              </a:ext>
            </a:extLst>
          </p:cNvPr>
          <p:cNvPicPr>
            <a:picLocks noChangeAspect="1"/>
          </p:cNvPicPr>
          <p:nvPr/>
        </p:nvPicPr>
        <p:blipFill>
          <a:blip r:embed="R2987e6fe3da944b5"/>
          <a:stretch/>
        </p:blipFill>
        <p:spPr>
          <a:xfrm>
            <a:off x="4258650" y="1333500"/>
            <a:ext cx="7294199" cy="4333875"/>
          </a:xfrm>
          <a:prstGeom prst="rect">
            <a:avLst/>
          </a:prstGeom>
        </p:spPr>
      </p:pic>
      <p:sp>
        <p:nvSpPr>
          <p:cNvPr id="10" name="">
            <a:extLst>
              <a:ext uri="{FF2B5EF4-FFF2-40B4-BE49-F238E27FC236}">
                <ns2:creationId id="{CE81D378-8527-497E-9F15-5FB858B70170}"/>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Joris Bekkers: GraphEPV, PyData London 2025</a:t>
            </a:r>
          </a:p>
        </p:txBody>
      </p:sp>
      <p:sp>
        <p:nvSpPr>
          <p:cNvPr id="11" name="">
            <a:extLst>
              <a:ext uri="{FF2B5EF4-FFF2-40B4-BE49-F238E27FC236}">
                <ns2:creationId id="{9BCDFADD-00A6-4006-8676-90D0F3D28001}"/>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UnravelSports soccer GNN tutorial</a:t>
            </a:r>
          </a:p>
        </p:txBody>
      </p:sp>
      <p:sp>
        <p:nvSpPr>
          <p:cNvPr id="12" name="">
            <a:extLst>
              <a:ext uri="{FF2B5EF4-FFF2-40B4-BE49-F238E27FC236}">
                <ns2:creationId id="{07FB70B3-D5FC-4578-951F-C70E0499333F}"/>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54 / 61</a:t>
            </a:r>
          </a:p>
        </p:txBody>
      </p:sp>
    </p:spTree>
    <p:extLst>
      <p:ext uri="{BB962C8B-B14F-4D97-AF65-F5344CB8AC3E}">
        <ns4:creationId val="777545885"/>
      </p:ext>
    </p:extLst>
  </p:cSld>
</p:sld>
</file>

<file path=ppt/slides/slide5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277E0361-A9AB-46E7-957A-54C14C0E63D0}"/>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D74C815B-D618-40B5-BEC4-661A35A145E1}"/>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Expected possession value</a:t>
            </a:r>
          </a:p>
        </p:txBody>
      </p:sp>
      <p:sp>
        <p:nvSpPr>
          <p:cNvPr id="3" name="">
            <a:extLst>
              <a:ext uri="{FF2B5EF4-FFF2-40B4-BE49-F238E27FC236}">
                <ns2:creationId id="{14EA0FB4-1E4E-4BE1-9B07-DA169B9C56AD}"/>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40653CC1-2BB5-4DCC-9E28-2A8820724CA9}"/>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Specify what outcome and horizon value means</a:t>
            </a:r>
          </a:p>
        </p:txBody>
      </p:sp>
      <p:sp>
        <p:nvSpPr>
          <p:cNvPr id="5" name="">
            <a:extLst>
              <a:ext uri="{FF2B5EF4-FFF2-40B4-BE49-F238E27FC236}">
                <ns2:creationId id="{7521A878-072E-486C-857F-99F15CBEAAA7}"/>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CAAF4548-8FEE-416E-BAFB-0C77A1CF6FF3}"/>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Combine action selection, success and continuation</a:t>
            </a:r>
          </a:p>
        </p:txBody>
      </p:sp>
      <p:sp>
        <p:nvSpPr>
          <p:cNvPr id="7" name="">
            <a:extLst>
              <a:ext uri="{FF2B5EF4-FFF2-40B4-BE49-F238E27FC236}">
                <ns2:creationId id="{EAEB16D7-C578-49BD-B41B-A87EE6262808}"/>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FBA61CC4-60F0-4DAE-AB66-269A96939AA6}"/>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Include the value of failure and turnovers</a:t>
            </a:r>
          </a:p>
        </p:txBody>
      </p:sp>
      <p:pic>
        <p:nvPicPr>
          <p:cNvPr id="9" name="">
            <a:extLst>
              <a:ext uri="{FF2B5EF4-FFF2-40B4-BE49-F238E27FC236}">
                <ns2:creationId id="{A7AD459B-54D3-4862-9A06-A4B513CE33A1}"/>
              </a:ext>
            </a:extLst>
          </p:cNvPr>
          <p:cNvPicPr>
            <a:picLocks noChangeAspect="1"/>
          </p:cNvPicPr>
          <p:nvPr/>
        </p:nvPicPr>
        <p:blipFill>
          <a:blip r:embed="R5a65151c3efe47a4"/>
          <a:stretch/>
        </p:blipFill>
        <p:spPr>
          <a:xfrm>
            <a:off x="4095750" y="1490491"/>
            <a:ext cx="7620000" cy="4019892"/>
          </a:xfrm>
          <a:prstGeom prst="rect">
            <a:avLst/>
          </a:prstGeom>
        </p:spPr>
      </p:pic>
      <p:sp>
        <p:nvSpPr>
          <p:cNvPr id="10" name="">
            <a:extLst>
              <a:ext uri="{FF2B5EF4-FFF2-40B4-BE49-F238E27FC236}">
                <ns2:creationId id="{9623A869-15A4-455D-BE04-4350DD638066}"/>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Fine-grained expected possession value (2021)</a:t>
            </a:r>
          </a:p>
        </p:txBody>
      </p:sp>
      <p:sp>
        <p:nvSpPr>
          <p:cNvPr id="11" name="">
            <a:extLst>
              <a:ext uri="{FF2B5EF4-FFF2-40B4-BE49-F238E27FC236}">
                <ns2:creationId id="{0652184B-91EE-4543-A68A-06E5AC8D75F6}"/>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DEFCON: GNN-based defensive EPV (2026)</a:t>
            </a:r>
          </a:p>
        </p:txBody>
      </p:sp>
      <p:sp>
        <p:nvSpPr>
          <p:cNvPr id="12" name="">
            <a:extLst>
              <a:ext uri="{FF2B5EF4-FFF2-40B4-BE49-F238E27FC236}">
                <ns2:creationId id="{EDD1C885-F500-4FB6-947A-193CD2D0D5A7}"/>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55 / 61</a:t>
            </a:r>
          </a:p>
        </p:txBody>
      </p:sp>
    </p:spTree>
    <p:extLst>
      <p:ext uri="{BB962C8B-B14F-4D97-AF65-F5344CB8AC3E}">
        <ns4:creationId val="964300556"/>
      </p:ext>
    </p:extLst>
  </p:cSld>
</p:sld>
</file>

<file path=ppt/slides/slide5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3B65BA86-D644-4961-B305-042E0A5D92EB}"/>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23982AE5-93CA-4A02-B6F8-855B61F35ECE}"/>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Observed passes and supplied EPV</a:t>
            </a:r>
          </a:p>
        </p:txBody>
      </p:sp>
      <p:sp>
        <p:nvSpPr>
          <p:cNvPr id="3" name="">
            <a:extLst>
              <a:ext uri="{FF2B5EF4-FFF2-40B4-BE49-F238E27FC236}">
                <ns2:creationId id="{2DF2C3E9-4890-4C07-B0C2-DDABA6997DA9}"/>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21BECDA4-D7D1-4E42-9978-21C94ACB6CDD}"/>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Inspect value changes on actual pass events</a:t>
            </a:r>
          </a:p>
        </p:txBody>
      </p:sp>
      <p:sp>
        <p:nvSpPr>
          <p:cNvPr id="5" name="">
            <a:extLst>
              <a:ext uri="{FF2B5EF4-FFF2-40B4-BE49-F238E27FC236}">
                <ns2:creationId id="{F8035DCC-6A15-464C-858E-B1C6002336F3}"/>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8A4B4606-43D6-4DF1-BDAA-8FD46FB734B9}"/>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Compare valuable actions with their tracking context</a:t>
            </a:r>
          </a:p>
        </p:txBody>
      </p:sp>
      <p:sp>
        <p:nvSpPr>
          <p:cNvPr id="7" name="">
            <a:extLst>
              <a:ext uri="{FF2B5EF4-FFF2-40B4-BE49-F238E27FC236}">
                <ns2:creationId id="{F6F86910-287D-4777-B6EE-B0DBC6B4B920}"/>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5E6DE770-807C-4752-B1E6-BB1592104D7D}"/>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Keep supplied predictions separate from our calculations</a:t>
            </a:r>
          </a:p>
        </p:txBody>
      </p:sp>
      <p:pic>
        <p:nvPicPr>
          <p:cNvPr id="9" name="">
            <a:extLst>
              <a:ext uri="{FF2B5EF4-FFF2-40B4-BE49-F238E27FC236}">
                <ns2:creationId id="{453DF08C-72C0-497C-889F-52E11BD08A95}"/>
              </a:ext>
            </a:extLst>
          </p:cNvPr>
          <p:cNvPicPr>
            <a:picLocks noChangeAspect="1"/>
          </p:cNvPicPr>
          <p:nvPr/>
        </p:nvPicPr>
        <p:blipFill>
          <a:blip r:embed="Raefdc8388d7b4ba9"/>
          <a:stretch/>
        </p:blipFill>
        <p:spPr>
          <a:xfrm>
            <a:off x="4261130" y="1333500"/>
            <a:ext cx="7289241" cy="4333875"/>
          </a:xfrm>
          <a:prstGeom prst="rect">
            <a:avLst/>
          </a:prstGeom>
        </p:spPr>
      </p:pic>
      <p:sp>
        <p:nvSpPr>
          <p:cNvPr id="10" name="">
            <a:extLst>
              <a:ext uri="{FF2B5EF4-FFF2-40B4-BE49-F238E27FC236}">
                <ns2:creationId id="{BE40CDF0-9AFC-452B-ACE7-6429903EC5D7}"/>
              </a:ext>
            </a:extLst>
          </p:cNvPr>
          <p:cNvSpPr>
            <a:spLocks noGrp="1"/>
          </p:cNvSpPr>
          <p:nvPr/>
        </p:nvSpPr>
        <p:spPr>
          <a:xfrm>
            <a:off x="571500" y="5715000"/>
            <a:ext cx="11049000" cy="409575"/>
          </a:xfrm>
          <a:prstGeom prst="rect">
            <a:avLst/>
          </a:prstGeom>
          <a:solidFill>
            <a:srgbClr val="E0EEE8"/>
          </a:solidFill>
          <a:ln w="0">
            <a:noFill/>
          </a:ln>
        </p:spPr>
      </p:sp>
      <p:sp>
        <p:nvSpPr>
          <p:cNvPr id="11" name="">
            <a:extLst>
              <a:ext uri="{FF2B5EF4-FFF2-40B4-BE49-F238E27FC236}">
                <ns2:creationId id="{72509E16-A185-473F-A0DE-DAC98C997B06}"/>
              </a:ext>
            </a:extLst>
          </p:cNvPr>
          <p:cNvSpPr>
            <a:spLocks noGrp="1"/>
          </p:cNvSpPr>
          <p:nvPr/>
        </p:nvSpPr>
        <p:spPr>
          <a:xfrm>
            <a:off x="742950" y="5791200"/>
            <a:ext cx="10668000" cy="32385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NOTEBOOK · supplied event-value fields</a:t>
            </a:r>
          </a:p>
        </p:txBody>
      </p:sp>
      <p:sp>
        <p:nvSpPr>
          <p:cNvPr id="12" name="">
            <a:extLst>
              <a:ext uri="{FF2B5EF4-FFF2-40B4-BE49-F238E27FC236}">
                <ns2:creationId id="{F2646AB5-2B0C-4760-9E37-A7ABB3A2F677}"/>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SkillCorner open data and schema</a:t>
            </a:r>
          </a:p>
        </p:txBody>
      </p:sp>
      <p:sp>
        <p:nvSpPr>
          <p:cNvPr id="13" name="">
            <a:extLst>
              <a:ext uri="{FF2B5EF4-FFF2-40B4-BE49-F238E27FC236}">
                <ns2:creationId id="{ECD30ADC-EFB4-4445-A7E1-8CC0E91091DB}"/>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Fine-grained expected possession value (2021)</a:t>
            </a:r>
          </a:p>
        </p:txBody>
      </p:sp>
      <p:sp>
        <p:nvSpPr>
          <p:cNvPr id="14" name="">
            <a:extLst>
              <a:ext uri="{FF2B5EF4-FFF2-40B4-BE49-F238E27FC236}">
                <ns2:creationId id="{3073F917-A42D-4479-923B-CF003CA24F15}"/>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56 / 61</a:t>
            </a:r>
          </a:p>
        </p:txBody>
      </p:sp>
    </p:spTree>
    <p:extLst>
      <p:ext uri="{BB962C8B-B14F-4D97-AF65-F5344CB8AC3E}">
        <ns4:creationId val="1686948838"/>
      </p:ext>
    </p:extLst>
  </p:cSld>
</p:sld>
</file>

<file path=ppt/slides/slide5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E01D48DD-3668-46F2-AC14-71A9AF425E5D}"/>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B47DDFF7-0BA6-43DF-A3E5-3C54E59A70D3}"/>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DEFCON: defensive contribution</a:t>
            </a:r>
          </a:p>
        </p:txBody>
      </p:sp>
      <p:sp>
        <p:nvSpPr>
          <p:cNvPr id="3" name="">
            <a:extLst>
              <a:ext uri="{FF2B5EF4-FFF2-40B4-BE49-F238E27FC236}">
                <ns2:creationId id="{79CAC622-70EB-42A7-AAB4-D23E6D6A617C}"/>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8A605DBB-1F2E-415C-96E5-E26F055C47D2}"/>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Use graph-based models for action components</a:t>
            </a:r>
          </a:p>
        </p:txBody>
      </p:sp>
      <p:sp>
        <p:nvSpPr>
          <p:cNvPr id="5" name="">
            <a:extLst>
              <a:ext uri="{FF2B5EF4-FFF2-40B4-BE49-F238E27FC236}">
                <ns2:creationId id="{CF9735A6-B7E4-4BC9-977D-B4DE8D3696EC}"/>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543758EA-4BCA-4ADF-99CF-0A706BA0BB79}"/>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Estimate the opponent’s possession value</a:t>
            </a:r>
          </a:p>
        </p:txBody>
      </p:sp>
      <p:sp>
        <p:nvSpPr>
          <p:cNvPr id="7" name="">
            <a:extLst>
              <a:ext uri="{FF2B5EF4-FFF2-40B4-BE49-F238E27FC236}">
                <ns2:creationId id="{D5C63B53-0DEB-44A8-A113-13328D6A4956}"/>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011113B2-FAF5-4A4E-8FA5-D18A1578E4E4}"/>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Account for defenders’ contribution to reducing danger</a:t>
            </a:r>
          </a:p>
        </p:txBody>
      </p:sp>
      <p:pic>
        <p:nvPicPr>
          <p:cNvPr id="9" name="">
            <a:extLst>
              <a:ext uri="{FF2B5EF4-FFF2-40B4-BE49-F238E27FC236}">
                <ns2:creationId id="{4230844F-DF41-4B4A-8995-98AF3821A56D}"/>
              </a:ext>
            </a:extLst>
          </p:cNvPr>
          <p:cNvPicPr>
            <a:picLocks noChangeAspect="1"/>
          </p:cNvPicPr>
          <p:nvPr/>
        </p:nvPicPr>
        <p:blipFill>
          <a:blip r:embed="R64a8450c6ba44b74"/>
          <a:stretch/>
        </p:blipFill>
        <p:spPr>
          <a:xfrm>
            <a:off x="4095750" y="1490491"/>
            <a:ext cx="7620000" cy="4019892"/>
          </a:xfrm>
          <a:prstGeom prst="rect">
            <a:avLst/>
          </a:prstGeom>
        </p:spPr>
      </p:pic>
      <p:sp>
        <p:nvSpPr>
          <p:cNvPr id="10" name="">
            <a:extLst>
              <a:ext uri="{FF2B5EF4-FFF2-40B4-BE49-F238E27FC236}">
                <ns2:creationId id="{2FA166C0-16DB-40C9-B034-95A3C6EC7EAE}"/>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DEFCON: GNN-based defensive EPV (2026)</a:t>
            </a:r>
          </a:p>
        </p:txBody>
      </p:sp>
      <p:sp>
        <p:nvSpPr>
          <p:cNvPr id="11" name="">
            <a:extLst>
              <a:ext uri="{FF2B5EF4-FFF2-40B4-BE49-F238E27FC236}">
                <ns2:creationId id="{DAD03B94-0CC1-4CAF-80EE-38085779EF76}"/>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57 / 61</a:t>
            </a:r>
          </a:p>
        </p:txBody>
      </p:sp>
    </p:spTree>
    <p:extLst>
      <p:ext uri="{BB962C8B-B14F-4D97-AF65-F5344CB8AC3E}">
        <ns4:creationId val="1936213084"/>
      </p:ext>
    </p:extLst>
  </p:cSld>
</p:sld>
</file>

<file path=ppt/slides/slide5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159A4AFD-632E-46A2-895F-ECB994DBAA6D}"/>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9C839B9C-98E3-4EF8-A962-7BBA71730F0A}"/>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U.S. Soccer: counterattack graphs</a:t>
            </a:r>
          </a:p>
        </p:txBody>
      </p:sp>
      <p:sp>
        <p:nvSpPr>
          <p:cNvPr id="3" name="">
            <a:extLst>
              <a:ext uri="{FF2B5EF4-FFF2-40B4-BE49-F238E27FC236}">
                <ns2:creationId id="{8DA43FF8-79D7-44E6-9649-DEFC8D36A5BE}"/>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BE92D54E-AD74-401D-8811-9B7B60174989}"/>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Build graphs from synchronized SkillCorner and events</a:t>
            </a:r>
          </a:p>
        </p:txBody>
      </p:sp>
      <p:sp>
        <p:nvSpPr>
          <p:cNvPr id="5" name="">
            <a:extLst>
              <a:ext uri="{FF2B5EF4-FFF2-40B4-BE49-F238E27FC236}">
                <ns2:creationId id="{D91BD60D-BC9A-44F2-B10C-786AD59A096E}"/>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7C035B54-D405-4017-8521-660C46CDC242}"/>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Define counterattack success explicitly</a:t>
            </a:r>
          </a:p>
        </p:txBody>
      </p:sp>
      <p:sp>
        <p:nvSpPr>
          <p:cNvPr id="7" name="">
            <a:extLst>
              <a:ext uri="{FF2B5EF4-FFF2-40B4-BE49-F238E27FC236}">
                <ns2:creationId id="{FFFF1D61-4899-4D17-878F-A6502BE0486E}"/>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CF0047C7-5A4E-4ACD-9A5F-60457B4EA9EB}"/>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Evaluate predictions on held-out sequences</a:t>
            </a:r>
          </a:p>
        </p:txBody>
      </p:sp>
      <p:pic>
        <p:nvPicPr>
          <p:cNvPr id="9" name="">
            <a:extLst>
              <a:ext uri="{FF2B5EF4-FFF2-40B4-BE49-F238E27FC236}">
                <ns2:creationId id="{8D41C018-6EF3-4990-B06E-D67D009E7E9E}"/>
              </a:ext>
            </a:extLst>
          </p:cNvPr>
          <p:cNvPicPr>
            <a:picLocks noChangeAspect="1"/>
          </p:cNvPicPr>
          <p:nvPr/>
        </p:nvPicPr>
        <p:blipFill>
          <a:blip r:embed="R98b70f15cf40499f"/>
          <a:stretch/>
        </p:blipFill>
        <p:spPr>
          <a:xfrm>
            <a:off x="4095750" y="1490491"/>
            <a:ext cx="7620000" cy="4019892"/>
          </a:xfrm>
          <a:prstGeom prst="rect">
            <a:avLst/>
          </a:prstGeom>
        </p:spPr>
      </p:pic>
      <p:sp>
        <p:nvSpPr>
          <p:cNvPr id="10" name="">
            <a:extLst>
              <a:ext uri="{FF2B5EF4-FFF2-40B4-BE49-F238E27FC236}">
                <ns2:creationId id="{4ADAD447-6379-49F8-BF4F-3AFBC6317EBD}"/>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U.S. Soccer: counterattack GNNs with SkillCorner (2023)</a:t>
            </a:r>
          </a:p>
        </p:txBody>
      </p:sp>
      <p:sp>
        <p:nvSpPr>
          <p:cNvPr id="11" name="">
            <a:extLst>
              <a:ext uri="{FF2B5EF4-FFF2-40B4-BE49-F238E27FC236}">
                <ns2:creationId id="{33B33F9B-333B-4683-ABE4-0C6B7202B4EC}"/>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58 / 61</a:t>
            </a:r>
          </a:p>
        </p:txBody>
      </p:sp>
    </p:spTree>
    <p:extLst>
      <p:ext uri="{BB962C8B-B14F-4D97-AF65-F5344CB8AC3E}">
        <ns4:creationId val="944074846"/>
      </p:ext>
    </p:extLst>
  </p:cSld>
</p:sld>
</file>

<file path=ppt/slides/slide5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76703D67-87F1-4636-B8A9-4B8A6B75E2F3}"/>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E51AA599-196C-460E-A6F6-A5D89CD0B582}"/>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TacticAI: corner-kick modeling</a:t>
            </a:r>
          </a:p>
        </p:txBody>
      </p:sp>
      <p:sp>
        <p:nvSpPr>
          <p:cNvPr id="3" name="">
            <a:extLst>
              <a:ext uri="{FF2B5EF4-FFF2-40B4-BE49-F238E27FC236}">
                <ns2:creationId id="{0113C792-9ED0-46E0-9B0C-1F072EF87205}"/>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FEC854CB-F15A-4647-A145-B67CB673BC9D}"/>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Predict receiver and shot outcomes</a:t>
            </a:r>
          </a:p>
        </p:txBody>
      </p:sp>
      <p:sp>
        <p:nvSpPr>
          <p:cNvPr id="5" name="">
            <a:extLst>
              <a:ext uri="{FF2B5EF4-FFF2-40B4-BE49-F238E27FC236}">
                <ns2:creationId id="{AA1B2139-D4EE-4285-AF2F-307F55F03816}"/>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0843027B-57CA-41FF-B413-D4315BDB3EE4}"/>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Represent player interactions with graph networks</a:t>
            </a:r>
          </a:p>
        </p:txBody>
      </p:sp>
      <p:sp>
        <p:nvSpPr>
          <p:cNvPr id="7" name="">
            <a:extLst>
              <a:ext uri="{FF2B5EF4-FFF2-40B4-BE49-F238E27FC236}">
                <ns2:creationId id="{B09623C6-04E5-4544-AA3C-93714F2B8356}"/>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536CD0B0-7CC9-487D-B115-1338C5B2F57A}"/>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Suggest alternative positional configurations</a:t>
            </a:r>
          </a:p>
        </p:txBody>
      </p:sp>
      <p:pic>
        <p:nvPicPr>
          <p:cNvPr id="9" name="">
            <a:extLst>
              <a:ext uri="{FF2B5EF4-FFF2-40B4-BE49-F238E27FC236}">
                <ns2:creationId id="{95C3DFA8-1ACC-4D89-8EB3-72435C4D6E22}"/>
              </a:ext>
            </a:extLst>
          </p:cNvPr>
          <p:cNvPicPr>
            <a:picLocks noChangeAspect="1"/>
          </p:cNvPicPr>
          <p:nvPr/>
        </p:nvPicPr>
        <p:blipFill>
          <a:blip r:embed="R90a24324b5104512"/>
          <a:stretch/>
        </p:blipFill>
        <p:spPr>
          <a:xfrm>
            <a:off x="4095750" y="1490491"/>
            <a:ext cx="7620000" cy="4019892"/>
          </a:xfrm>
          <a:prstGeom prst="rect">
            <a:avLst/>
          </a:prstGeom>
        </p:spPr>
      </p:pic>
      <p:sp>
        <p:nvSpPr>
          <p:cNvPr id="10" name="">
            <a:extLst>
              <a:ext uri="{FF2B5EF4-FFF2-40B4-BE49-F238E27FC236}">
                <ns2:creationId id="{A5D0B437-F357-4640-B28B-442E298C8EFB}"/>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TacticAI (2024)</a:t>
            </a:r>
          </a:p>
        </p:txBody>
      </p:sp>
      <p:sp>
        <p:nvSpPr>
          <p:cNvPr id="11" name="">
            <a:extLst>
              <a:ext uri="{FF2B5EF4-FFF2-40B4-BE49-F238E27FC236}">
                <ns2:creationId id="{AB777085-AA6C-41D7-8016-8DF300A90D35}"/>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59 / 61</a:t>
            </a:r>
          </a:p>
        </p:txBody>
      </p:sp>
    </p:spTree>
    <p:extLst>
      <p:ext uri="{BB962C8B-B14F-4D97-AF65-F5344CB8AC3E}">
        <ns4:creationId val="1894531958"/>
      </p:ext>
    </p:extLst>
  </p:cSld>
</p:sld>
</file>

<file path=ppt/slides/slide6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2" name="">
            <a:extLst>
              <a:ext uri="{FF2B5EF4-FFF2-40B4-BE49-F238E27FC236}">
                <ns2:creationId id="{93856080-52C2-493D-BE67-EFD5A710DF60}"/>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729584BA-878F-40D0-BB5B-70859913D188}"/>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Trajectory forecasting</a:t>
            </a:r>
          </a:p>
        </p:txBody>
      </p:sp>
      <p:sp>
        <p:nvSpPr>
          <p:cNvPr id="3" name="">
            <a:extLst>
              <a:ext uri="{FF2B5EF4-FFF2-40B4-BE49-F238E27FC236}">
                <ns2:creationId id="{347EB4D5-348D-4989-AA30-8DEBCB7F74FF}"/>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DF39A671-4954-47DD-9FA6-C81401043343}"/>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Encode observed player and team history</a:t>
            </a:r>
          </a:p>
        </p:txBody>
      </p:sp>
      <p:sp>
        <p:nvSpPr>
          <p:cNvPr id="5" name="">
            <a:extLst>
              <a:ext uri="{FF2B5EF4-FFF2-40B4-BE49-F238E27FC236}">
                <ns2:creationId id="{934D9771-AB4C-46B5-8CC3-CD0A9E8705AA}"/>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8B5A3D55-90CE-43D2-A336-F7DA199E0227}"/>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Generate multiple plausible continuations</a:t>
            </a:r>
          </a:p>
        </p:txBody>
      </p:sp>
      <p:sp>
        <p:nvSpPr>
          <p:cNvPr id="7" name="">
            <a:extLst>
              <a:ext uri="{FF2B5EF4-FFF2-40B4-BE49-F238E27FC236}">
                <ns2:creationId id="{1DBB4FFD-4936-4ECA-A9F5-C6D6BF8EC433}"/>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3CC9BFD3-274B-4585-8F51-5695CC7E6CBD}"/>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Evaluate geometry, tactical coherence and uncertainty</a:t>
            </a:r>
          </a:p>
        </p:txBody>
      </p:sp>
      <p:pic>
        <p:nvPicPr>
          <p:cNvPr id="9" name="">
            <a:extLst>
              <a:ext uri="{FF2B5EF4-FFF2-40B4-BE49-F238E27FC236}">
                <ns2:creationId id="{E2E5A378-AF57-4DEF-BC13-EB0167998B9D}"/>
              </a:ext>
            </a:extLst>
          </p:cNvPr>
          <p:cNvPicPr>
            <a:picLocks noChangeAspect="1"/>
          </p:cNvPicPr>
          <p:nvPr/>
        </p:nvPicPr>
        <p:blipFill>
          <a:blip r:embed="R1d6feab54eef415a"/>
          <a:stretch/>
        </p:blipFill>
        <p:spPr>
          <a:xfrm>
            <a:off x="4095750" y="1490491"/>
            <a:ext cx="7620000" cy="4019892"/>
          </a:xfrm>
          <a:prstGeom prst="rect">
            <a:avLst/>
          </a:prstGeom>
        </p:spPr>
      </p:pic>
      <p:sp>
        <p:nvSpPr>
          <p:cNvPr id="10" name="">
            <a:extLst>
              <a:ext uri="{FF2B5EF4-FFF2-40B4-BE49-F238E27FC236}">
                <ns2:creationId id="{A399DE37-676F-4B46-8BCD-452CC1F481F1}"/>
              </a:ext>
            </a:extLst>
          </p:cNvPr>
          <p:cNvSpPr>
            <a:spLocks noGrp="1"/>
          </p:cNvSpPr>
          <p:nvPr/>
        </p:nvSpPr>
        <p:spPr>
          <a:xfrm>
            <a:off x="571500" y="6257925"/>
            <a:ext cx="1009650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GenTac: trajectory forecasting (2026 preprint)</a:t>
            </a:r>
          </a:p>
        </p:txBody>
      </p:sp>
      <p:sp>
        <p:nvSpPr>
          <p:cNvPr id="11" name="">
            <a:extLst>
              <a:ext uri="{FF2B5EF4-FFF2-40B4-BE49-F238E27FC236}">
                <ns2:creationId id="{2023003A-5C28-4853-919A-C7C63CA82149}"/>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60 / 61</a:t>
            </a:r>
          </a:p>
        </p:txBody>
      </p:sp>
    </p:spTree>
    <p:extLst>
      <p:ext uri="{BB962C8B-B14F-4D97-AF65-F5344CB8AC3E}">
        <ns4:creationId val="851132915"/>
      </p:ext>
    </p:extLst>
  </p:cSld>
</p:sld>
</file>

<file path=ppt/slides/slide6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DD437C16-5F9A-48C0-A2C3-793E23EFB65D}"/>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0F80A9BE-2808-4CF5-9DDD-5B2C796D87ED}"/>
              </a:ext>
            </a:extLst>
          </p:cNvPr>
          <p:cNvSpPr>
            <a:spLocks noGrp="1"/>
          </p:cNvSpPr>
          <p:nvPr/>
        </p:nvSpPr>
        <p:spPr>
          <a:xfrm>
            <a:off x="571500" y="400050"/>
            <a:ext cx="11049000" cy="809625"/>
          </a:xfrm>
          <a:prstGeom prst="rect">
            <a:avLst/>
          </a:prstGeom>
          <a:noFill/>
          <a:ln w="0">
            <a:noFill/>
          </a:ln>
        </p:spPr>
        <p:txBody>
          <a:bodyPr/>
          <a:lstStyle>
            <a:defPPr>
              <a:defRPr sz="3000" b="1">
                <a:solidFill>
                  <a:srgbClr val="183A35"/>
                </a:solidFill>
                <a:latin typeface="Arial"/>
                <a:ea typeface="Arial"/>
                <a:cs typeface="Arial"/>
              </a:defRPr>
            </a:defPPr>
            <a:lvl1pPr>
              <a:defRPr sz="3000" b="1">
                <a:solidFill>
                  <a:srgbClr val="183A35"/>
                </a:solidFill>
                <a:latin typeface="Arial"/>
                <a:ea typeface="Arial"/>
                <a:cs typeface="Arial"/>
              </a:defRPr>
            </a:lvl1pPr>
            <a:lvl2pPr>
              <a:defRPr sz="3000" b="1">
                <a:solidFill>
                  <a:srgbClr val="183A35"/>
                </a:solidFill>
                <a:latin typeface="Arial"/>
                <a:ea typeface="Arial"/>
                <a:cs typeface="Arial"/>
              </a:defRPr>
            </a:lvl2pPr>
            <a:lvl3pPr>
              <a:defRPr sz="3000" b="1">
                <a:solidFill>
                  <a:srgbClr val="183A35"/>
                </a:solidFill>
                <a:latin typeface="Arial"/>
                <a:ea typeface="Arial"/>
                <a:cs typeface="Arial"/>
              </a:defRPr>
            </a:lvl3pPr>
            <a:lvl4pPr>
              <a:defRPr sz="3000" b="1">
                <a:solidFill>
                  <a:srgbClr val="183A35"/>
                </a:solidFill>
                <a:latin typeface="Arial"/>
                <a:ea typeface="Arial"/>
                <a:cs typeface="Arial"/>
              </a:defRPr>
            </a:lvl4pPr>
            <a:lvl5pPr>
              <a:defRPr sz="3000" b="1">
                <a:solidFill>
                  <a:srgbClr val="183A35"/>
                </a:solidFill>
                <a:latin typeface="Arial"/>
                <a:ea typeface="Arial"/>
                <a:cs typeface="Arial"/>
              </a:defRPr>
            </a:lvl5pPr>
            <a:lvl6pPr>
              <a:defRPr sz="3000" b="1">
                <a:solidFill>
                  <a:srgbClr val="183A35"/>
                </a:solidFill>
                <a:latin typeface="Arial"/>
                <a:ea typeface="Arial"/>
                <a:cs typeface="Arial"/>
              </a:defRPr>
            </a:lvl6pPr>
            <a:lvl7pPr>
              <a:defRPr sz="3000" b="1">
                <a:solidFill>
                  <a:srgbClr val="183A35"/>
                </a:solidFill>
                <a:latin typeface="Arial"/>
                <a:ea typeface="Arial"/>
                <a:cs typeface="Arial"/>
              </a:defRPr>
            </a:lvl7pPr>
            <a:lvl8pPr>
              <a:defRPr sz="3000" b="1">
                <a:solidFill>
                  <a:srgbClr val="183A35"/>
                </a:solidFill>
                <a:latin typeface="Arial"/>
                <a:ea typeface="Arial"/>
                <a:cs typeface="Arial"/>
              </a:defRPr>
            </a:lvl8pPr>
            <a:lvl9pPr>
              <a:defRPr sz="3000" b="1">
                <a:solidFill>
                  <a:srgbClr val="183A35"/>
                </a:solidFill>
                <a:latin typeface="Arial"/>
                <a:ea typeface="Arial"/>
                <a:cs typeface="Arial"/>
              </a:defRPr>
            </a:lvl9pPr>
          </a:lstStyle>
          <a:p>
            <a:pPr>
              <a:defRPr sz="3000" b="1">
                <a:solidFill>
                  <a:srgbClr val="183A35"/>
                </a:solidFill>
                <a:latin typeface="Arial"/>
                <a:ea typeface="Arial"/>
                <a:cs typeface="Arial"/>
              </a:defRPr>
            </a:pPr>
            <a:r>
              <a:rPr sz="3000" b="1">
                <a:solidFill>
                  <a:srgbClr val="183A35"/>
                </a:solidFill>
                <a:latin typeface="Arial"/>
                <a:ea typeface="Arial"/>
                <a:cs typeface="Arial"/>
              </a:rPr>
              <a:t>Validating tracking models</a:t>
            </a:r>
          </a:p>
        </p:txBody>
      </p:sp>
      <p:sp>
        <p:nvSpPr>
          <p:cNvPr id="3" name="">
            <a:extLst>
              <a:ext uri="{FF2B5EF4-FFF2-40B4-BE49-F238E27FC236}">
                <ns2:creationId id="{CC6BEF75-3F62-42A3-92E8-AC7AF82A97D2}"/>
              </a:ext>
            </a:extLst>
          </p:cNvPr>
          <p:cNvSpPr>
            <a:spLocks noGrp="1"/>
          </p:cNvSpPr>
          <p:nvPr/>
        </p:nvSpPr>
        <p:spPr>
          <a:xfrm>
            <a:off x="523875" y="1438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01</a:t>
            </a:r>
          </a:p>
        </p:txBody>
      </p:sp>
      <p:sp>
        <p:nvSpPr>
          <p:cNvPr id="4" name="">
            <a:extLst>
              <a:ext uri="{FF2B5EF4-FFF2-40B4-BE49-F238E27FC236}">
                <ns2:creationId id="{C971B63F-C8F2-48F1-993D-3A2542D03C66}"/>
              </a:ext>
            </a:extLst>
          </p:cNvPr>
          <p:cNvSpPr>
            <a:spLocks noGrp="1"/>
          </p:cNvSpPr>
          <p:nvPr/>
        </p:nvSpPr>
        <p:spPr>
          <a:xfrm>
            <a:off x="523875" y="1762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Split data by matches or independent sequences</a:t>
            </a:r>
          </a:p>
        </p:txBody>
      </p:sp>
      <p:sp>
        <p:nvSpPr>
          <p:cNvPr id="5" name="">
            <a:extLst>
              <a:ext uri="{FF2B5EF4-FFF2-40B4-BE49-F238E27FC236}">
                <ns2:creationId id="{BDE8F34C-2A9B-4408-98BA-597FFE085D41}"/>
              </a:ext>
            </a:extLst>
          </p:cNvPr>
          <p:cNvSpPr>
            <a:spLocks noGrp="1"/>
          </p:cNvSpPr>
          <p:nvPr/>
        </p:nvSpPr>
        <p:spPr>
          <a:xfrm>
            <a:off x="523875" y="27717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02</a:t>
            </a:r>
          </a:p>
        </p:txBody>
      </p:sp>
      <p:sp>
        <p:nvSpPr>
          <p:cNvPr id="6" name="">
            <a:extLst>
              <a:ext uri="{FF2B5EF4-FFF2-40B4-BE49-F238E27FC236}">
                <ns2:creationId id="{25DD08F1-097B-46D7-833F-BCF5A6C491F7}"/>
              </a:ext>
            </a:extLst>
          </p:cNvPr>
          <p:cNvSpPr>
            <a:spLocks noGrp="1"/>
          </p:cNvSpPr>
          <p:nvPr/>
        </p:nvSpPr>
        <p:spPr>
          <a:xfrm>
            <a:off x="523875" y="30956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Evaluate calibration and task-specific outcomes</a:t>
            </a:r>
          </a:p>
        </p:txBody>
      </p:sp>
      <p:sp>
        <p:nvSpPr>
          <p:cNvPr id="7" name="">
            <a:extLst>
              <a:ext uri="{FF2B5EF4-FFF2-40B4-BE49-F238E27FC236}">
                <ns2:creationId id="{7ED89B36-2D6E-4AF8-BAF6-C462C7396821}"/>
              </a:ext>
            </a:extLst>
          </p:cNvPr>
          <p:cNvSpPr>
            <a:spLocks noGrp="1"/>
          </p:cNvSpPr>
          <p:nvPr/>
        </p:nvSpPr>
        <p:spPr>
          <a:xfrm>
            <a:off x="523875" y="4105275"/>
            <a:ext cx="381000" cy="266700"/>
          </a:xfrm>
          <a:prstGeom prst="rect">
            <a:avLst/>
          </a:prstGeom>
          <a:noFill/>
          <a:ln w="0">
            <a:noFill/>
          </a:ln>
        </p:spPr>
        <p:txBody>
          <a:bodyPr/>
          <a:lstStyle>
            <a:defPPr>
              <a:defRPr sz="1200" b="1">
                <a:solidFill>
                  <a:srgbClr val="147D68"/>
                </a:solidFill>
                <a:latin typeface="Arial"/>
                <a:ea typeface="Arial"/>
                <a:cs typeface="Arial"/>
              </a:defRPr>
            </a:defPPr>
            <a:lvl1pPr>
              <a:defRPr sz="1200" b="1">
                <a:solidFill>
                  <a:srgbClr val="147D68"/>
                </a:solidFill>
                <a:latin typeface="Arial"/>
                <a:ea typeface="Arial"/>
                <a:cs typeface="Arial"/>
              </a:defRPr>
            </a:lvl1pPr>
            <a:lvl2pPr>
              <a:defRPr sz="1200" b="1">
                <a:solidFill>
                  <a:srgbClr val="147D68"/>
                </a:solidFill>
                <a:latin typeface="Arial"/>
                <a:ea typeface="Arial"/>
                <a:cs typeface="Arial"/>
              </a:defRPr>
            </a:lvl2pPr>
            <a:lvl3pPr>
              <a:defRPr sz="1200" b="1">
                <a:solidFill>
                  <a:srgbClr val="147D68"/>
                </a:solidFill>
                <a:latin typeface="Arial"/>
                <a:ea typeface="Arial"/>
                <a:cs typeface="Arial"/>
              </a:defRPr>
            </a:lvl3pPr>
            <a:lvl4pPr>
              <a:defRPr sz="1200" b="1">
                <a:solidFill>
                  <a:srgbClr val="147D68"/>
                </a:solidFill>
                <a:latin typeface="Arial"/>
                <a:ea typeface="Arial"/>
                <a:cs typeface="Arial"/>
              </a:defRPr>
            </a:lvl4pPr>
            <a:lvl5pPr>
              <a:defRPr sz="1200" b="1">
                <a:solidFill>
                  <a:srgbClr val="147D68"/>
                </a:solidFill>
                <a:latin typeface="Arial"/>
                <a:ea typeface="Arial"/>
                <a:cs typeface="Arial"/>
              </a:defRPr>
            </a:lvl5pPr>
            <a:lvl6pPr>
              <a:defRPr sz="1200" b="1">
                <a:solidFill>
                  <a:srgbClr val="147D68"/>
                </a:solidFill>
                <a:latin typeface="Arial"/>
                <a:ea typeface="Arial"/>
                <a:cs typeface="Arial"/>
              </a:defRPr>
            </a:lvl6pPr>
            <a:lvl7pPr>
              <a:defRPr sz="1200" b="1">
                <a:solidFill>
                  <a:srgbClr val="147D68"/>
                </a:solidFill>
                <a:latin typeface="Arial"/>
                <a:ea typeface="Arial"/>
                <a:cs typeface="Arial"/>
              </a:defRPr>
            </a:lvl7pPr>
            <a:lvl8pPr>
              <a:defRPr sz="1200" b="1">
                <a:solidFill>
                  <a:srgbClr val="147D68"/>
                </a:solidFill>
                <a:latin typeface="Arial"/>
                <a:ea typeface="Arial"/>
                <a:cs typeface="Arial"/>
              </a:defRPr>
            </a:lvl8pPr>
            <a:lvl9pPr>
              <a:defRPr sz="1200" b="1">
                <a:solidFill>
                  <a:srgbClr val="147D68"/>
                </a:solidFill>
                <a:latin typeface="Arial"/>
                <a:ea typeface="Arial"/>
                <a:cs typeface="Arial"/>
              </a:defRPr>
            </a:lvl9pPr>
          </a:lstStyle>
          <a:p>
            <a:pPr>
              <a:defRPr sz="1200" b="1">
                <a:solidFill>
                  <a:srgbClr val="147D68"/>
                </a:solidFill>
                <a:latin typeface="Arial"/>
                <a:ea typeface="Arial"/>
                <a:cs typeface="Arial"/>
              </a:defRPr>
            </a:pPr>
            <a:r>
              <a:rPr sz="1200" b="1">
                <a:solidFill>
                  <a:srgbClr val="147D68"/>
                </a:solidFill>
                <a:latin typeface="Arial"/>
                <a:ea typeface="Arial"/>
                <a:cs typeface="Arial"/>
              </a:rPr>
              <a:t>03</a:t>
            </a:r>
          </a:p>
        </p:txBody>
      </p:sp>
      <p:sp>
        <p:nvSpPr>
          <p:cNvPr id="8" name="">
            <a:extLst>
              <a:ext uri="{FF2B5EF4-FFF2-40B4-BE49-F238E27FC236}">
                <ns2:creationId id="{7AF30A76-915D-49F5-8B77-F6A49FF941B5}"/>
              </a:ext>
            </a:extLst>
          </p:cNvPr>
          <p:cNvSpPr>
            <a:spLocks noGrp="1"/>
          </p:cNvSpPr>
          <p:nvPr/>
        </p:nvSpPr>
        <p:spPr>
          <a:xfrm>
            <a:off x="523875" y="4429125"/>
            <a:ext cx="3238500" cy="1038225"/>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Stress-test missingness, direction and parameters</a:t>
            </a:r>
          </a:p>
        </p:txBody>
      </p:sp>
      <p:pic>
        <p:nvPicPr>
          <p:cNvPr id="9" name="">
            <a:extLst>
              <a:ext uri="{FF2B5EF4-FFF2-40B4-BE49-F238E27FC236}">
                <ns2:creationId id="{4E8DD60A-0D4F-4C18-9BE3-5F919A5371DF}"/>
              </a:ext>
            </a:extLst>
          </p:cNvPr>
          <p:cNvPicPr>
            <a:picLocks noChangeAspect="1"/>
          </p:cNvPicPr>
          <p:nvPr/>
        </p:nvPicPr>
        <p:blipFill>
          <a:blip r:embed="Rdac2ea60c81043cc"/>
          <a:stretch/>
        </p:blipFill>
        <p:spPr>
          <a:xfrm>
            <a:off x="4254473" y="1333500"/>
            <a:ext cx="7302555" cy="4333875"/>
          </a:xfrm>
          <a:prstGeom prst="rect">
            <a:avLst/>
          </a:prstGeom>
        </p:spPr>
      </p:pic>
      <p:sp>
        <p:nvSpPr>
          <p:cNvPr id="10" name="">
            <a:extLst>
              <a:ext uri="{FF2B5EF4-FFF2-40B4-BE49-F238E27FC236}">
                <ns2:creationId id="{0378A6A4-F7D1-4C4C-AE4D-C813FF6510D2}"/>
              </a:ext>
            </a:extLst>
          </p:cNvPr>
          <p:cNvSpPr>
            <a:spLocks noGrp="1"/>
          </p:cNvSpPr>
          <p:nvPr/>
        </p:nvSpPr>
        <p:spPr>
          <a:xfrm>
            <a:off x="5715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4"/>
              </a:rPr>
              <a:t>Fine-grained expected possession value (2021)</a:t>
            </a:r>
          </a:p>
        </p:txBody>
      </p:sp>
      <p:sp>
        <p:nvSpPr>
          <p:cNvPr id="11" name="">
            <a:extLst>
              <a:ext uri="{FF2B5EF4-FFF2-40B4-BE49-F238E27FC236}">
                <ns2:creationId id="{EB2B5784-972C-4175-BF45-0606FC79868C}"/>
              </a:ext>
            </a:extLst>
          </p:cNvPr>
          <p:cNvSpPr>
            <a:spLocks noGrp="1"/>
          </p:cNvSpPr>
          <p:nvPr/>
        </p:nvSpPr>
        <p:spPr>
          <a:xfrm>
            <a:off x="5715000" y="6257925"/>
            <a:ext cx="5048250" cy="381000"/>
          </a:xfrm>
          <a:prstGeom prst="rect">
            <a:avLst/>
          </a:prstGeom>
          <a:noFill/>
          <a:ln w="0">
            <a:noFill/>
          </a:ln>
        </p:spPr>
        <p:txBody>
          <a:bodyPr/>
          <a:lstStyle>
            <a:defPPr>
              <a:defRPr sz="900" b="0">
                <a:solidFill>
                  <a:srgbClr val="51645C"/>
                </a:solidFill>
                <a:latin typeface="Arial"/>
                <a:ea typeface="Arial"/>
                <a:cs typeface="Arial"/>
              </a:defRPr>
            </a:defPPr>
            <a:lvl1pPr>
              <a:defRPr sz="900" b="0">
                <a:solidFill>
                  <a:srgbClr val="51645C"/>
                </a:solidFill>
                <a:latin typeface="Arial"/>
                <a:ea typeface="Arial"/>
                <a:cs typeface="Arial"/>
              </a:defRPr>
            </a:lvl1pPr>
            <a:lvl2pPr>
              <a:defRPr sz="900" b="0">
                <a:solidFill>
                  <a:srgbClr val="51645C"/>
                </a:solidFill>
                <a:latin typeface="Arial"/>
                <a:ea typeface="Arial"/>
                <a:cs typeface="Arial"/>
              </a:defRPr>
            </a:lvl2pPr>
            <a:lvl3pPr>
              <a:defRPr sz="900" b="0">
                <a:solidFill>
                  <a:srgbClr val="51645C"/>
                </a:solidFill>
                <a:latin typeface="Arial"/>
                <a:ea typeface="Arial"/>
                <a:cs typeface="Arial"/>
              </a:defRPr>
            </a:lvl3pPr>
            <a:lvl4pPr>
              <a:defRPr sz="900" b="0">
                <a:solidFill>
                  <a:srgbClr val="51645C"/>
                </a:solidFill>
                <a:latin typeface="Arial"/>
                <a:ea typeface="Arial"/>
                <a:cs typeface="Arial"/>
              </a:defRPr>
            </a:lvl4pPr>
            <a:lvl5pPr>
              <a:defRPr sz="900" b="0">
                <a:solidFill>
                  <a:srgbClr val="51645C"/>
                </a:solidFill>
                <a:latin typeface="Arial"/>
                <a:ea typeface="Arial"/>
                <a:cs typeface="Arial"/>
              </a:defRPr>
            </a:lvl5pPr>
            <a:lvl6pPr>
              <a:defRPr sz="900" b="0">
                <a:solidFill>
                  <a:srgbClr val="51645C"/>
                </a:solidFill>
                <a:latin typeface="Arial"/>
                <a:ea typeface="Arial"/>
                <a:cs typeface="Arial"/>
              </a:defRPr>
            </a:lvl6pPr>
            <a:lvl7pPr>
              <a:defRPr sz="900" b="0">
                <a:solidFill>
                  <a:srgbClr val="51645C"/>
                </a:solidFill>
                <a:latin typeface="Arial"/>
                <a:ea typeface="Arial"/>
                <a:cs typeface="Arial"/>
              </a:defRPr>
            </a:lvl7pPr>
            <a:lvl8pPr>
              <a:defRPr sz="900" b="0">
                <a:solidFill>
                  <a:srgbClr val="51645C"/>
                </a:solidFill>
                <a:latin typeface="Arial"/>
                <a:ea typeface="Arial"/>
                <a:cs typeface="Arial"/>
              </a:defRPr>
            </a:lvl8pPr>
            <a:lvl9pPr>
              <a:defRPr sz="900" b="0">
                <a:solidFill>
                  <a:srgbClr val="51645C"/>
                </a:solidFill>
                <a:latin typeface="Arial"/>
                <a:ea typeface="Arial"/>
                <a:cs typeface="Arial"/>
              </a:defRPr>
            </a:lvl9pPr>
          </a:lstStyle>
          <a:p>
            <a:pPr>
              <a:defRPr sz="900" b="0">
                <a:solidFill>
                  <a:srgbClr val="51645C"/>
                </a:solidFill>
                <a:latin typeface="Arial"/>
                <a:ea typeface="Arial"/>
                <a:cs typeface="Arial"/>
              </a:defRPr>
            </a:pPr>
            <a:r>
              <a:rPr sz="900" b="0">
                <a:solidFill>
                  <a:srgbClr val="51645C"/>
                </a:solidFill>
                <a:latin typeface="Arial"/>
                <a:ea typeface="Arial"/>
                <a:cs typeface="Arial"/>
                <a:hlinkClick r:id="rIdWorkshop5"/>
              </a:rPr>
              <a:t>Dangerous Accessible Space: paper and implementation</a:t>
            </a:r>
          </a:p>
        </p:txBody>
      </p:sp>
      <p:sp>
        <p:nvSpPr>
          <p:cNvPr id="12" name="">
            <a:extLst>
              <a:ext uri="{FF2B5EF4-FFF2-40B4-BE49-F238E27FC236}">
                <ns2:creationId id="{7C646666-897F-4566-B206-3811F9ABA6E0}"/>
              </a:ext>
            </a:extLst>
          </p:cNvPr>
          <p:cNvSpPr>
            <a:spLocks noGrp="1"/>
          </p:cNvSpPr>
          <p:nvPr/>
        </p:nvSpPr>
        <p:spPr>
          <a:xfrm>
            <a:off x="11096625" y="6257925"/>
            <a:ext cx="857250" cy="285750"/>
          </a:xfrm>
          <a:prstGeom prst="rect">
            <a:avLst/>
          </a:prstGeom>
          <a:noFill/>
          <a:ln w="0">
            <a:noFill/>
          </a:ln>
        </p:spPr>
        <p:txBody>
          <a:bodyPr/>
          <a:lstStyle>
            <a:defPPr>
              <a:defRPr sz="1050" b="0">
                <a:solidFill>
                  <a:srgbClr val="51645C"/>
                </a:solidFill>
                <a:latin typeface="Arial"/>
                <a:ea typeface="Arial"/>
                <a:cs typeface="Arial"/>
              </a:defRPr>
            </a:defPPr>
            <a:lvl1pPr>
              <a:defRPr sz="1050" b="0">
                <a:solidFill>
                  <a:srgbClr val="51645C"/>
                </a:solidFill>
                <a:latin typeface="Arial"/>
                <a:ea typeface="Arial"/>
                <a:cs typeface="Arial"/>
              </a:defRPr>
            </a:lvl1pPr>
            <a:lvl2pPr>
              <a:defRPr sz="1050" b="0">
                <a:solidFill>
                  <a:srgbClr val="51645C"/>
                </a:solidFill>
                <a:latin typeface="Arial"/>
                <a:ea typeface="Arial"/>
                <a:cs typeface="Arial"/>
              </a:defRPr>
            </a:lvl2pPr>
            <a:lvl3pPr>
              <a:defRPr sz="1050" b="0">
                <a:solidFill>
                  <a:srgbClr val="51645C"/>
                </a:solidFill>
                <a:latin typeface="Arial"/>
                <a:ea typeface="Arial"/>
                <a:cs typeface="Arial"/>
              </a:defRPr>
            </a:lvl3pPr>
            <a:lvl4pPr>
              <a:defRPr sz="1050" b="0">
                <a:solidFill>
                  <a:srgbClr val="51645C"/>
                </a:solidFill>
                <a:latin typeface="Arial"/>
                <a:ea typeface="Arial"/>
                <a:cs typeface="Arial"/>
              </a:defRPr>
            </a:lvl4pPr>
            <a:lvl5pPr>
              <a:defRPr sz="1050" b="0">
                <a:solidFill>
                  <a:srgbClr val="51645C"/>
                </a:solidFill>
                <a:latin typeface="Arial"/>
                <a:ea typeface="Arial"/>
                <a:cs typeface="Arial"/>
              </a:defRPr>
            </a:lvl5pPr>
            <a:lvl6pPr>
              <a:defRPr sz="1050" b="0">
                <a:solidFill>
                  <a:srgbClr val="51645C"/>
                </a:solidFill>
                <a:latin typeface="Arial"/>
                <a:ea typeface="Arial"/>
                <a:cs typeface="Arial"/>
              </a:defRPr>
            </a:lvl6pPr>
            <a:lvl7pPr>
              <a:defRPr sz="1050" b="0">
                <a:solidFill>
                  <a:srgbClr val="51645C"/>
                </a:solidFill>
                <a:latin typeface="Arial"/>
                <a:ea typeface="Arial"/>
                <a:cs typeface="Arial"/>
              </a:defRPr>
            </a:lvl7pPr>
            <a:lvl8pPr>
              <a:defRPr sz="1050" b="0">
                <a:solidFill>
                  <a:srgbClr val="51645C"/>
                </a:solidFill>
                <a:latin typeface="Arial"/>
                <a:ea typeface="Arial"/>
                <a:cs typeface="Arial"/>
              </a:defRPr>
            </a:lvl8pPr>
            <a:lvl9pPr>
              <a:defRPr sz="1050" b="0">
                <a:solidFill>
                  <a:srgbClr val="51645C"/>
                </a:solidFill>
                <a:latin typeface="Arial"/>
                <a:ea typeface="Arial"/>
                <a:cs typeface="Arial"/>
              </a:defRPr>
            </a:lvl9pPr>
          </a:lstStyle>
          <a:p>
            <a:pPr>
              <a:defRPr sz="1050" b="0">
                <a:solidFill>
                  <a:srgbClr val="51645C"/>
                </a:solidFill>
                <a:latin typeface="Arial"/>
                <a:ea typeface="Arial"/>
                <a:cs typeface="Arial"/>
              </a:defRPr>
            </a:pPr>
            <a:r>
              <a:rPr sz="1050" b="0">
                <a:solidFill>
                  <a:srgbClr val="51645C"/>
                </a:solidFill>
                <a:latin typeface="Arial"/>
                <a:ea typeface="Arial"/>
                <a:cs typeface="Arial"/>
              </a:rPr>
              <a:t>61 / 61</a:t>
            </a:r>
          </a:p>
        </p:txBody>
      </p:sp>
    </p:spTree>
    <p:extLst>
      <p:ext uri="{BB962C8B-B14F-4D97-AF65-F5344CB8AC3E}">
        <ns4:creationId val="5516018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2026-10-20T02:44:35.6970000Z</dcterms:created>
  <dcterms:modified xsi:type="dcterms:W3CDTF">2026-10-20T02:44:35.6970000Z</dcterms:modified>
</coreProperties>
</file>
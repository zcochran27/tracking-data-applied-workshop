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ccdc5f4c9e486d" /><Relationship Type="http://schemas.openxmlformats.org/officeDocument/2006/relationships/extended-properties" Target="/docProps/app.xml" Id="R150890fae58446cc" /><Relationship Type="http://schemas.openxmlformats.org/officeDocument/2006/relationships/officeDocument" Target="/ppt/presentation.xml" Id="Ra295163f275f45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e17b29e2fe4579"/>
  </p:sldMasterIdLst>
  <p:notesMasterIdLst>
    <p:notesMasterId xmlns:r="http://schemas.openxmlformats.org/officeDocument/2006/relationships" r:id="Rff5b4163f5d1464e"/>
  </p:notesMasterIdLst>
  <p:sldIdLst>
    <p:sldId xmlns:r="http://schemas.openxmlformats.org/officeDocument/2006/relationships" id="256" r:id="R6fc2d4b90b044eff"/>
    <p:sldId xmlns:r="http://schemas.openxmlformats.org/officeDocument/2006/relationships" id="257" r:id="Rdfa61801acc845ee"/>
    <p:sldId xmlns:r="http://schemas.openxmlformats.org/officeDocument/2006/relationships" id="258" r:id="Rc441195d04514d17"/>
    <p:sldId xmlns:r="http://schemas.openxmlformats.org/officeDocument/2006/relationships" id="259" r:id="R7bea5e31a7b54e5c"/>
    <p:sldId xmlns:r="http://schemas.openxmlformats.org/officeDocument/2006/relationships" id="260" r:id="R8d4db27d0ee04825"/>
    <p:sldId xmlns:r="http://schemas.openxmlformats.org/officeDocument/2006/relationships" id="261" r:id="R7a7e9bafa73643fe"/>
    <p:sldId xmlns:r="http://schemas.openxmlformats.org/officeDocument/2006/relationships" id="262" r:id="R341584d280a14737"/>
    <p:sldId xmlns:r="http://schemas.openxmlformats.org/officeDocument/2006/relationships" id="263" r:id="R30fb9e3ad7d44a7f"/>
    <p:sldId xmlns:r="http://schemas.openxmlformats.org/officeDocument/2006/relationships" id="264" r:id="Re61ba5ab6a714269"/>
    <p:sldId xmlns:r="http://schemas.openxmlformats.org/officeDocument/2006/relationships" id="265" r:id="R3b210da8f3f14157"/>
    <p:sldId xmlns:r="http://schemas.openxmlformats.org/officeDocument/2006/relationships" id="266" r:id="Rbfd3e37857ef457a"/>
    <p:sldId xmlns:r="http://schemas.openxmlformats.org/officeDocument/2006/relationships" id="267" r:id="R8983432ef875425c"/>
    <p:sldId xmlns:r="http://schemas.openxmlformats.org/officeDocument/2006/relationships" id="268" r:id="R7da75f6c5a934ccb"/>
    <p:sldId xmlns:r="http://schemas.openxmlformats.org/officeDocument/2006/relationships" id="269" r:id="R5d0dd23fb8974704"/>
    <p:sldId xmlns:r="http://schemas.openxmlformats.org/officeDocument/2006/relationships" id="270" r:id="R6a68406aacb34cb8"/>
    <p:sldId xmlns:r="http://schemas.openxmlformats.org/officeDocument/2006/relationships" id="271" r:id="R68d1c16fe9204ca2"/>
    <p:sldId xmlns:r="http://schemas.openxmlformats.org/officeDocument/2006/relationships" id="272" r:id="R165ff93259184bb8"/>
    <p:sldId xmlns:r="http://schemas.openxmlformats.org/officeDocument/2006/relationships" id="273" r:id="Rd71f9d4e8e5647f9"/>
    <p:sldId xmlns:r="http://schemas.openxmlformats.org/officeDocument/2006/relationships" id="274" r:id="Ra953e709d4044f38"/>
    <p:sldId xmlns:r="http://schemas.openxmlformats.org/officeDocument/2006/relationships" id="275" r:id="R828a53945b454f61"/>
    <p:sldId xmlns:r="http://schemas.openxmlformats.org/officeDocument/2006/relationships" id="276" r:id="Rd638a118823f45e3"/>
    <p:sldId xmlns:r="http://schemas.openxmlformats.org/officeDocument/2006/relationships" id="277" r:id="R0e036f60e1e24a6e"/>
    <p:sldId xmlns:r="http://schemas.openxmlformats.org/officeDocument/2006/relationships" id="278" r:id="Rd7f7ebf910284e73"/>
    <p:sldId xmlns:r="http://schemas.openxmlformats.org/officeDocument/2006/relationships" id="279" r:id="Rb3b8fa517c9b4ba7"/>
    <p:sldId xmlns:r="http://schemas.openxmlformats.org/officeDocument/2006/relationships" id="280" r:id="R9f69a38f3bbb4114"/>
    <p:sldId xmlns:r="http://schemas.openxmlformats.org/officeDocument/2006/relationships" id="281" r:id="R7e6f18b3e81a41fd"/>
    <p:sldId xmlns:r="http://schemas.openxmlformats.org/officeDocument/2006/relationships" id="282" r:id="R9a7afe090def4e12"/>
    <p:sldId xmlns:r="http://schemas.openxmlformats.org/officeDocument/2006/relationships" id="283" r:id="R6f4257666e44469e"/>
    <p:sldId xmlns:r="http://schemas.openxmlformats.org/officeDocument/2006/relationships" id="284" r:id="R44989e1b0429462b"/>
    <p:sldId xmlns:r="http://schemas.openxmlformats.org/officeDocument/2006/relationships" id="285" r:id="R701b804839cd4283"/>
    <p:sldId xmlns:r="http://schemas.openxmlformats.org/officeDocument/2006/relationships" id="286" r:id="Rde9fac66953b49cc"/>
    <p:sldId xmlns:r="http://schemas.openxmlformats.org/officeDocument/2006/relationships" id="287" r:id="R37f6d30cc522402e"/>
    <p:sldId xmlns:r="http://schemas.openxmlformats.org/officeDocument/2006/relationships" id="288" r:id="Ra69cba05ce7e4b68"/>
    <p:sldId xmlns:r="http://schemas.openxmlformats.org/officeDocument/2006/relationships" id="289" r:id="R3fd314f148b14874"/>
    <p:sldId xmlns:r="http://schemas.openxmlformats.org/officeDocument/2006/relationships" id="290" r:id="Rbea969adb765435b"/>
    <p:sldId xmlns:r="http://schemas.openxmlformats.org/officeDocument/2006/relationships" id="291" r:id="Rc5b7c20bbd0f47cf"/>
    <p:sldId xmlns:r="http://schemas.openxmlformats.org/officeDocument/2006/relationships" id="292" r:id="R2f4fe3c892364ee7"/>
    <p:sldId xmlns:r="http://schemas.openxmlformats.org/officeDocument/2006/relationships" id="293" r:id="R449f14903c424cea"/>
    <p:sldId xmlns:r="http://schemas.openxmlformats.org/officeDocument/2006/relationships" id="294" r:id="R296a3b09d3b44d60"/>
    <p:sldId xmlns:r="http://schemas.openxmlformats.org/officeDocument/2006/relationships" id="295" r:id="Re9a5d7310ece4051"/>
    <p:sldId xmlns:r="http://schemas.openxmlformats.org/officeDocument/2006/relationships" id="296" r:id="R87fad50c7ede4ec0"/>
    <p:sldId xmlns:r="http://schemas.openxmlformats.org/officeDocument/2006/relationships" id="297" r:id="Rfb5fceb42e57429e"/>
    <p:sldId xmlns:r="http://schemas.openxmlformats.org/officeDocument/2006/relationships" id="298" r:id="R724116e66997422c"/>
    <p:sldId xmlns:r="http://schemas.openxmlformats.org/officeDocument/2006/relationships" id="299" r:id="R517dfa143cf84e7d"/>
    <p:sldId xmlns:r="http://schemas.openxmlformats.org/officeDocument/2006/relationships" id="300" r:id="R3bfffb52afdd4694"/>
    <p:sldId xmlns:r="http://schemas.openxmlformats.org/officeDocument/2006/relationships" id="301" r:id="Rd9cc973828fa46bd"/>
    <p:sldId xmlns:r="http://schemas.openxmlformats.org/officeDocument/2006/relationships" id="302" r:id="R16b93fb609c942ae"/>
    <p:sldId xmlns:r="http://schemas.openxmlformats.org/officeDocument/2006/relationships" id="303" r:id="Red89175516594b4d"/>
    <p:sldId xmlns:r="http://schemas.openxmlformats.org/officeDocument/2006/relationships" id="304" r:id="Rb43c2634eb694238"/>
    <p:sldId xmlns:r="http://schemas.openxmlformats.org/officeDocument/2006/relationships" id="305" r:id="R70c02de90f064ef5"/>
    <p:sldId xmlns:r="http://schemas.openxmlformats.org/officeDocument/2006/relationships" id="306" r:id="R04faeee6f48947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2b2633564d4469" /><Relationship Type="http://schemas.openxmlformats.org/officeDocument/2006/relationships/slideMaster" Target="/ppt/slideMasters/slideMaster1.xml" Id="R51e17b29e2fe4579" /><Relationship Type="http://schemas.openxmlformats.org/officeDocument/2006/relationships/notesMaster" Target="/ppt/notesMasters/notesMaster1.xml" Id="Rff5b4163f5d1464e" /><Relationship Type="http://schemas.openxmlformats.org/officeDocument/2006/relationships/presProps" Target="/ppt/presProps.xml" Id="R54497e93f1bb413e" /><Relationship Type="http://schemas.openxmlformats.org/officeDocument/2006/relationships/tableStyles" Target="/ppt/tableStyles.xml" Id="R715a1effa42244a5" /><Relationship Type="http://schemas.openxmlformats.org/officeDocument/2006/relationships/slide" Target="/ppt/slides/slide1.xml" Id="R6fc2d4b90b044eff" /><Relationship Type="http://schemas.openxmlformats.org/officeDocument/2006/relationships/slide" Target="/ppt/slides/slide2.xml" Id="Rdfa61801acc845ee" /><Relationship Type="http://schemas.openxmlformats.org/officeDocument/2006/relationships/slide" Target="/ppt/slides/slide3.xml" Id="Rc441195d04514d17" /><Relationship Type="http://schemas.openxmlformats.org/officeDocument/2006/relationships/slide" Target="/ppt/slides/slide4.xml" Id="R7bea5e31a7b54e5c" /><Relationship Type="http://schemas.openxmlformats.org/officeDocument/2006/relationships/slide" Target="/ppt/slides/slide5.xml" Id="R8d4db27d0ee04825" /><Relationship Type="http://schemas.openxmlformats.org/officeDocument/2006/relationships/slide" Target="/ppt/slides/slide6.xml" Id="R7a7e9bafa73643fe" /><Relationship Type="http://schemas.openxmlformats.org/officeDocument/2006/relationships/slide" Target="/ppt/slides/slide7.xml" Id="R341584d280a14737" /><Relationship Type="http://schemas.openxmlformats.org/officeDocument/2006/relationships/slide" Target="/ppt/slides/slide8.xml" Id="R30fb9e3ad7d44a7f" /><Relationship Type="http://schemas.openxmlformats.org/officeDocument/2006/relationships/slide" Target="/ppt/slides/slide9.xml" Id="Re61ba5ab6a714269" /><Relationship Type="http://schemas.openxmlformats.org/officeDocument/2006/relationships/slide" Target="/ppt/slides/slide10.xml" Id="R3b210da8f3f14157" /><Relationship Type="http://schemas.openxmlformats.org/officeDocument/2006/relationships/slide" Target="/ppt/slides/slide11.xml" Id="Rbfd3e37857ef457a" /><Relationship Type="http://schemas.openxmlformats.org/officeDocument/2006/relationships/slide" Target="/ppt/slides/slide12.xml" Id="R8983432ef875425c" /><Relationship Type="http://schemas.openxmlformats.org/officeDocument/2006/relationships/slide" Target="/ppt/slides/slide13.xml" Id="R7da75f6c5a934ccb" /><Relationship Type="http://schemas.openxmlformats.org/officeDocument/2006/relationships/slide" Target="/ppt/slides/slide14.xml" Id="R5d0dd23fb8974704" /><Relationship Type="http://schemas.openxmlformats.org/officeDocument/2006/relationships/slide" Target="/ppt/slides/slide15.xml" Id="R6a68406aacb34cb8" /><Relationship Type="http://schemas.openxmlformats.org/officeDocument/2006/relationships/slide" Target="/ppt/slides/slide16.xml" Id="R68d1c16fe9204ca2" /><Relationship Type="http://schemas.openxmlformats.org/officeDocument/2006/relationships/slide" Target="/ppt/slides/slide17.xml" Id="R165ff93259184bb8" /><Relationship Type="http://schemas.openxmlformats.org/officeDocument/2006/relationships/slide" Target="/ppt/slides/slide18.xml" Id="Rd71f9d4e8e5647f9" /><Relationship Type="http://schemas.openxmlformats.org/officeDocument/2006/relationships/slide" Target="/ppt/slides/slide19.xml" Id="Ra953e709d4044f38" /><Relationship Type="http://schemas.openxmlformats.org/officeDocument/2006/relationships/slide" Target="/ppt/slides/slide20.xml" Id="R828a53945b454f61" /><Relationship Type="http://schemas.openxmlformats.org/officeDocument/2006/relationships/slide" Target="/ppt/slides/slide21.xml" Id="Rd638a118823f45e3" /><Relationship Type="http://schemas.openxmlformats.org/officeDocument/2006/relationships/slide" Target="/ppt/slides/slide22.xml" Id="R0e036f60e1e24a6e" /><Relationship Type="http://schemas.openxmlformats.org/officeDocument/2006/relationships/slide" Target="/ppt/slides/slide23.xml" Id="Rd7f7ebf910284e73" /><Relationship Type="http://schemas.openxmlformats.org/officeDocument/2006/relationships/slide" Target="/ppt/slides/slide24.xml" Id="Rb3b8fa517c9b4ba7" /><Relationship Type="http://schemas.openxmlformats.org/officeDocument/2006/relationships/slide" Target="/ppt/slides/slide25.xml" Id="R9f69a38f3bbb4114" /><Relationship Type="http://schemas.openxmlformats.org/officeDocument/2006/relationships/slide" Target="/ppt/slides/slide26.xml" Id="R7e6f18b3e81a41fd" /><Relationship Type="http://schemas.openxmlformats.org/officeDocument/2006/relationships/slide" Target="/ppt/slides/slide27.xml" Id="R9a7afe090def4e12" /><Relationship Type="http://schemas.openxmlformats.org/officeDocument/2006/relationships/slide" Target="/ppt/slides/slide28.xml" Id="R6f4257666e44469e" /><Relationship Type="http://schemas.openxmlformats.org/officeDocument/2006/relationships/slide" Target="/ppt/slides/slide29.xml" Id="R44989e1b0429462b" /><Relationship Type="http://schemas.openxmlformats.org/officeDocument/2006/relationships/slide" Target="/ppt/slides/slide30.xml" Id="R701b804839cd4283" /><Relationship Type="http://schemas.openxmlformats.org/officeDocument/2006/relationships/slide" Target="/ppt/slides/slide31.xml" Id="Rde9fac66953b49cc" /><Relationship Type="http://schemas.openxmlformats.org/officeDocument/2006/relationships/slide" Target="/ppt/slides/slide32.xml" Id="R37f6d30cc522402e" /><Relationship Type="http://schemas.openxmlformats.org/officeDocument/2006/relationships/slide" Target="/ppt/slides/slide33.xml" Id="Ra69cba05ce7e4b68" /><Relationship Type="http://schemas.openxmlformats.org/officeDocument/2006/relationships/slide" Target="/ppt/slides/slide34.xml" Id="R3fd314f148b14874" /><Relationship Type="http://schemas.openxmlformats.org/officeDocument/2006/relationships/slide" Target="/ppt/slides/slide35.xml" Id="Rbea969adb765435b" /><Relationship Type="http://schemas.openxmlformats.org/officeDocument/2006/relationships/slide" Target="/ppt/slides/slide36.xml" Id="Rc5b7c20bbd0f47cf" /><Relationship Type="http://schemas.openxmlformats.org/officeDocument/2006/relationships/slide" Target="/ppt/slides/slide37.xml" Id="R2f4fe3c892364ee7" /><Relationship Type="http://schemas.openxmlformats.org/officeDocument/2006/relationships/slide" Target="/ppt/slides/slide38.xml" Id="R449f14903c424cea" /><Relationship Type="http://schemas.openxmlformats.org/officeDocument/2006/relationships/slide" Target="/ppt/slides/slide39.xml" Id="R296a3b09d3b44d60" /><Relationship Type="http://schemas.openxmlformats.org/officeDocument/2006/relationships/slide" Target="/ppt/slides/slide40.xml" Id="Re9a5d7310ece4051" /><Relationship Type="http://schemas.openxmlformats.org/officeDocument/2006/relationships/slide" Target="/ppt/slides/slide41.xml" Id="R87fad50c7ede4ec0" /><Relationship Type="http://schemas.openxmlformats.org/officeDocument/2006/relationships/slide" Target="/ppt/slides/slide42.xml" Id="Rfb5fceb42e57429e" /><Relationship Type="http://schemas.openxmlformats.org/officeDocument/2006/relationships/slide" Target="/ppt/slides/slide43.xml" Id="R724116e66997422c" /><Relationship Type="http://schemas.openxmlformats.org/officeDocument/2006/relationships/slide" Target="/ppt/slides/slide44.xml" Id="R517dfa143cf84e7d" /><Relationship Type="http://schemas.openxmlformats.org/officeDocument/2006/relationships/slide" Target="/ppt/slides/slide45.xml" Id="R3bfffb52afdd4694" /><Relationship Type="http://schemas.openxmlformats.org/officeDocument/2006/relationships/slide" Target="/ppt/slides/slide46.xml" Id="Rd9cc973828fa46bd" /><Relationship Type="http://schemas.openxmlformats.org/officeDocument/2006/relationships/slide" Target="/ppt/slides/slide47.xml" Id="R16b93fb609c942ae" /><Relationship Type="http://schemas.openxmlformats.org/officeDocument/2006/relationships/slide" Target="/ppt/slides/slide48.xml" Id="Red89175516594b4d" /><Relationship Type="http://schemas.openxmlformats.org/officeDocument/2006/relationships/slide" Target="/ppt/slides/slide49.xml" Id="Rb43c2634eb694238" /><Relationship Type="http://schemas.openxmlformats.org/officeDocument/2006/relationships/slide" Target="/ppt/slides/slide50.xml" Id="R70c02de90f064ef5" /><Relationship Type="http://schemas.openxmlformats.org/officeDocument/2006/relationships/slide" Target="/ppt/slides/slide51.xml" Id="R04faeee6f48947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0b2c2198364b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d48f537adf4d21" /><Relationship Type="http://schemas.openxmlformats.org/officeDocument/2006/relationships/notesMaster" Target="/ppt/notesMasters/notesMaster1.xml" Id="Rde9b89b767974f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fff700838d4f2c" /><Relationship Type="http://schemas.openxmlformats.org/officeDocument/2006/relationships/notesMaster" Target="/ppt/notesMasters/notesMaster1.xml" Id="Rccd1a1f512dd4c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4cc76543e84642" /><Relationship Type="http://schemas.openxmlformats.org/officeDocument/2006/relationships/notesMaster" Target="/ppt/notesMasters/notesMaster1.xml" Id="Rdc63318ad13443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986535417d4639" /><Relationship Type="http://schemas.openxmlformats.org/officeDocument/2006/relationships/notesMaster" Target="/ppt/notesMasters/notesMaster1.xml" Id="R07058bf9e8dc44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17d2d45a854772" /><Relationship Type="http://schemas.openxmlformats.org/officeDocument/2006/relationships/notesMaster" Target="/ppt/notesMasters/notesMaster1.xml" Id="Re0e5dfba41ae41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0203b5dd844cd9" /><Relationship Type="http://schemas.openxmlformats.org/officeDocument/2006/relationships/notesMaster" Target="/ppt/notesMasters/notesMaster1.xml" Id="R4977c404376545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b9bd3420c84e1e" /><Relationship Type="http://schemas.openxmlformats.org/officeDocument/2006/relationships/notesMaster" Target="/ppt/notesMasters/notesMaster1.xml" Id="Reecf73bac1bf4f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c9130ae61e46aa" /><Relationship Type="http://schemas.openxmlformats.org/officeDocument/2006/relationships/notesMaster" Target="/ppt/notesMasters/notesMaster1.xml" Id="R001c201f6a6f4f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d387a1aa334423" /><Relationship Type="http://schemas.openxmlformats.org/officeDocument/2006/relationships/notesMaster" Target="/ppt/notesMasters/notesMaster1.xml" Id="Re0d7d94895bf40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cd037237ee43da" /><Relationship Type="http://schemas.openxmlformats.org/officeDocument/2006/relationships/notesMaster" Target="/ppt/notesMasters/notesMaster1.xml" Id="Rd4812eca8ec848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5c2b22564f4684" /><Relationship Type="http://schemas.openxmlformats.org/officeDocument/2006/relationships/notesMaster" Target="/ppt/notesMasters/notesMaster1.xml" Id="R8901d5f1029140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9bb44999504d58" /><Relationship Type="http://schemas.openxmlformats.org/officeDocument/2006/relationships/notesMaster" Target="/ppt/notesMasters/notesMaster1.xml" Id="Rda4011b162c749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216ec78b3b4cd4" /><Relationship Type="http://schemas.openxmlformats.org/officeDocument/2006/relationships/notesMaster" Target="/ppt/notesMasters/notesMaster1.xml" Id="Rd26643e5d07340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472a9580374fe3" /><Relationship Type="http://schemas.openxmlformats.org/officeDocument/2006/relationships/notesMaster" Target="/ppt/notesMasters/notesMaster1.xml" Id="R30945dda1b7e43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707b42f3cc499a" /><Relationship Type="http://schemas.openxmlformats.org/officeDocument/2006/relationships/notesMaster" Target="/ppt/notesMasters/notesMaster1.xml" Id="R55037944064a437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8aa68944594ca0" /><Relationship Type="http://schemas.openxmlformats.org/officeDocument/2006/relationships/notesMaster" Target="/ppt/notesMasters/notesMaster1.xml" Id="R175af5f76eef4a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de69a373844706" /><Relationship Type="http://schemas.openxmlformats.org/officeDocument/2006/relationships/notesMaster" Target="/ppt/notesMasters/notesMaster1.xml" Id="R641ee48b233c4c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1beb38f2f2400b" /><Relationship Type="http://schemas.openxmlformats.org/officeDocument/2006/relationships/notesMaster" Target="/ppt/notesMasters/notesMaster1.xml" Id="R328e80fa6eb6447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a2227198b1c406e" /><Relationship Type="http://schemas.openxmlformats.org/officeDocument/2006/relationships/notesMaster" Target="/ppt/notesMasters/notesMaster1.xml" Id="Rd4080b23a03f449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3e8084c3191489f" /><Relationship Type="http://schemas.openxmlformats.org/officeDocument/2006/relationships/notesMaster" Target="/ppt/notesMasters/notesMaster1.xml" Id="R81a9be1ec95947d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5e15a44dc64f11" /><Relationship Type="http://schemas.openxmlformats.org/officeDocument/2006/relationships/notesMaster" Target="/ppt/notesMasters/notesMaster1.xml" Id="R7e43ffe5f8a7489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95ec037a97143ca" /><Relationship Type="http://schemas.openxmlformats.org/officeDocument/2006/relationships/notesMaster" Target="/ppt/notesMasters/notesMaster1.xml" Id="R25450c0ccbd44b4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bca9bffcac841d7" /><Relationship Type="http://schemas.openxmlformats.org/officeDocument/2006/relationships/notesMaster" Target="/ppt/notesMasters/notesMaster1.xml" Id="Rf8e9a0291c22415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aae1b22fecb492a" /><Relationship Type="http://schemas.openxmlformats.org/officeDocument/2006/relationships/notesMaster" Target="/ppt/notesMasters/notesMaster1.xml" Id="Rfeabd467a74c406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f3ce9b098cc437a" /><Relationship Type="http://schemas.openxmlformats.org/officeDocument/2006/relationships/notesMaster" Target="/ppt/notesMasters/notesMaster1.xml" Id="R8ef756378b004a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d46c36782dc4a2e" /><Relationship Type="http://schemas.openxmlformats.org/officeDocument/2006/relationships/notesMaster" Target="/ppt/notesMasters/notesMaster1.xml" Id="R845108889eb34fc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a2df2711b4647fc" /><Relationship Type="http://schemas.openxmlformats.org/officeDocument/2006/relationships/notesMaster" Target="/ppt/notesMasters/notesMaster1.xml" Id="R687850df69944a3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708de6919f84595" /><Relationship Type="http://schemas.openxmlformats.org/officeDocument/2006/relationships/notesMaster" Target="/ppt/notesMasters/notesMaster1.xml" Id="R665ff0d52011488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157d34dbd87437c" /><Relationship Type="http://schemas.openxmlformats.org/officeDocument/2006/relationships/notesMaster" Target="/ppt/notesMasters/notesMaster1.xml" Id="R332a2b0e282543c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c498542828949d7" /><Relationship Type="http://schemas.openxmlformats.org/officeDocument/2006/relationships/notesMaster" Target="/ppt/notesMasters/notesMaster1.xml" Id="R3c4b3ee90a79481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4ce457f6eaa4f42" /><Relationship Type="http://schemas.openxmlformats.org/officeDocument/2006/relationships/notesMaster" Target="/ppt/notesMasters/notesMaster1.xml" Id="R7dc77a46d124491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438f37c6f514a15" /><Relationship Type="http://schemas.openxmlformats.org/officeDocument/2006/relationships/notesMaster" Target="/ppt/notesMasters/notesMaster1.xml" Id="R17c0d669ba2d496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97f0da2f7bb4f24" /><Relationship Type="http://schemas.openxmlformats.org/officeDocument/2006/relationships/notesMaster" Target="/ppt/notesMasters/notesMaster1.xml" Id="R3f5fec08db724f7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58e81c66e5844d8" /><Relationship Type="http://schemas.openxmlformats.org/officeDocument/2006/relationships/notesMaster" Target="/ppt/notesMasters/notesMaster1.xml" Id="Reb11602c09cb4ac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b668f470f464f8b" /><Relationship Type="http://schemas.openxmlformats.org/officeDocument/2006/relationships/notesMaster" Target="/ppt/notesMasters/notesMaster1.xml" Id="R6b38890133f8411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024f9bb69634f17" /><Relationship Type="http://schemas.openxmlformats.org/officeDocument/2006/relationships/notesMaster" Target="/ppt/notesMasters/notesMaster1.xml" Id="R54ade8a672e946b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56a27484e29403f" /><Relationship Type="http://schemas.openxmlformats.org/officeDocument/2006/relationships/notesMaster" Target="/ppt/notesMasters/notesMaster1.xml" Id="Raef247f1b870453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ee1059124de4cda" /><Relationship Type="http://schemas.openxmlformats.org/officeDocument/2006/relationships/notesMaster" Target="/ppt/notesMasters/notesMaster1.xml" Id="R86cdf5011258490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bc9f0b2d1f74a3c" /><Relationship Type="http://schemas.openxmlformats.org/officeDocument/2006/relationships/notesMaster" Target="/ppt/notesMasters/notesMaster1.xml" Id="R9ab6a272f33e410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cb21fcdb50a4951" /><Relationship Type="http://schemas.openxmlformats.org/officeDocument/2006/relationships/notesMaster" Target="/ppt/notesMasters/notesMaster1.xml" Id="Rfcc72c13b7e44e1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6a9fec519094488" /><Relationship Type="http://schemas.openxmlformats.org/officeDocument/2006/relationships/notesMaster" Target="/ppt/notesMasters/notesMaster1.xml" Id="R6614688996da4bb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40a5c9dab2d444e" /><Relationship Type="http://schemas.openxmlformats.org/officeDocument/2006/relationships/notesMaster" Target="/ppt/notesMasters/notesMaster1.xml" Id="Rf11c204992c54db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fb5888e23e44a37" /><Relationship Type="http://schemas.openxmlformats.org/officeDocument/2006/relationships/notesMaster" Target="/ppt/notesMasters/notesMaster1.xml" Id="R35a394757bc6472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8185f09e28c41ba" /><Relationship Type="http://schemas.openxmlformats.org/officeDocument/2006/relationships/notesMaster" Target="/ppt/notesMasters/notesMaster1.xml" Id="Rfe174580c2dd453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76442df480349f3" /><Relationship Type="http://schemas.openxmlformats.org/officeDocument/2006/relationships/notesMaster" Target="/ppt/notesMasters/notesMaster1.xml" Id="Rf61f225a53d24eb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bc7c8426a3b4474" /><Relationship Type="http://schemas.openxmlformats.org/officeDocument/2006/relationships/notesMaster" Target="/ppt/notesMasters/notesMaster1.xml" Id="Reffbd7cf024d472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839c9d2ed5b4f97" /><Relationship Type="http://schemas.openxmlformats.org/officeDocument/2006/relationships/notesMaster" Target="/ppt/notesMasters/notesMaster1.xml" Id="R9b7021946ac041e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ee9cf16bf534b24" /><Relationship Type="http://schemas.openxmlformats.org/officeDocument/2006/relationships/notesMaster" Target="/ppt/notesMasters/notesMaster1.xml" Id="Rbc0f91e1997b427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d88e9c3f77424362" /><Relationship Type="http://schemas.openxmlformats.org/officeDocument/2006/relationships/notesMaster" Target="/ppt/notesMasters/notesMaster1.xml" Id="Rcced83ba1afa40f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b0f59ad636a473f" /><Relationship Type="http://schemas.openxmlformats.org/officeDocument/2006/relationships/notesMaster" Target="/ppt/notesMasters/notesMaster1.xml" Id="Rb08710c89b3c408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7b32a8850364b2e" /><Relationship Type="http://schemas.openxmlformats.org/officeDocument/2006/relationships/notesMaster" Target="/ppt/notesMasters/notesMaster1.xml" Id="R71573dae091742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match and the distinction between observed tracking, extrapolated tracking and derived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opening entries are linked. Full sources are in the reading list. Real sample: Brisbane vs Perth, 21 December 2024, match 1925299.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figure contains actual dataframe values; velocity columns are derived after loading.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load and inspect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rings mark extrapolated players according to raw is_detected. Coordinates can exist without a direct camera observation. All subsequent models inherit this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actual pitch dimensions. A visually plausible frame is a useful first check, but does not prove identity or position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snapshots are from the real selected clip. The notebook contains a full embedded animation.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play the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Friends of Tracking: pitch control and EPV tutorials</a:t>
            </a:r>
          </a:p>
          <a:p xmlns:a="http://schemas.openxmlformats.org/drawingml/2006/main">
            <a:r>
              <a:t>https://github.com/Friends-of-Tracking-Data-FoTD/LaurieOnTracking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is an actual 2 m proximity heuristic, not the full Vidal-Codina or PathCRF method. Pros: transparent and quick. Cons: aerial balls, duels and tracking uncertainty. Compare with supplied possession labels; evaluate timing-aware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inspect the candidate detector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ball path is annotated at supplied possession endpoints. This is an explanatory candidate sequence, not a validated recovered pass. Pros: converts continuous signals to actionable events. Cons: missing ball data and multi-touch ambiguity.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median outfield positions are shown separately by possession. Pros: summarizes organization beyond a team sheet. Cons: averaging mixes roles and game states; these are not asserted formation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Ward clustering of real centered x positions into three groups is a teaching baseline. It is not a validated named-formation classifier. Pros: interpretable. Cons: fixed line counts, overlaps and rotations.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shows supplied SkillCorner labels, not predictions from a classifier trained here. Pros: makes context explicit. Cons: taxonomy-dependent and sensitive to boundary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join phase intervals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Augmented possession and phases framework (2025)</a:t>
            </a:r>
          </a:p>
          <a:p xmlns:a="http://schemas.openxmlformats.org/drawingml/2006/main">
            <a:r>
              <a:t>https://doi.org/10.1177/22150218241290988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speed curves are shown. Pros: foundation for physical and tactical features. Cons: derivatives amplify noise; smoothing removes some short peaks.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sample’s cumulative distance excludes missing derivatives. No full-match extrapolation. Pros: simple workload volume measure. Cons: incomplete and extrapolated tracking affect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code uses [20,25) and [25,infinity) to avoid overlap; exact equality handling is a teaching convention. Pros: distinguishes intensity from volume. Cons: thresholds and exposure affect comparisons.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Shaded segments are our &gt;=1 s, no-merging teaching rule. They are not exact SkillCorner production sprint counts. Pros: repeated-effort view. Cons: sensitive to thresholds, smoothing and merging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uses real signed speed derivatives. A direction change can produce acceleration-vector magnitude without increasing scalar speed. Pros: captures bursts and braking. Cons: highly noise-sensitive; threshold crossing alone does not qualify a production explosive effort.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crossing is illustrative, not production-qualified. The published metric is the minimum interval within qualifying explosive accelerations. Start detection, &gt;0.7 s high-acceleration qualification and filtering matter.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observed crossing shown. No official Time to Sprint or Top 3 value is reconstructed. Pros: explosiveness/capacity. Cons: limited opportunities, sample size and qualification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frame-speed distribution illustrates why populations matter. SkillCorner describes PSV-99 over physical activities above 15 km/h. This histogram is not the official PSV-99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PSV-99 and Peak Velocity</a:t>
            </a:r>
          </a:p>
          <a:p xmlns:a="http://schemas.openxmlformats.org/drawingml/2006/main">
            <a:r>
              <a:t>https://skillcorner.com/articles/skillcorner-releases-new-peak-velocity-metric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figure uses our smoothed sample-speed estimates. It does not reproduce SkillCorner’s validated production Peak Velocity. Pros: interpretable capacity measure. Cons: noisy spikes, short exposure and preprocessing dependence.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PSV-99 and Peak Velocity</a:t>
            </a:r>
          </a:p>
          <a:p xmlns:a="http://schemas.openxmlformats.org/drawingml/2006/main">
            <a:r>
              <a:t>https://skillcorner.com/articles/skillcorner-releases-new-peak-velocity-metric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Hypothetical shot rays at a real ball location; no xG prediction is invented. Pros: familiar target and interpretable features. Cons: sparse shots, outcome imbalance and contextual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StatsBomb: Upgrading Expected Goals</a:t>
            </a:r>
          </a:p>
          <a:p xmlns:a="http://schemas.openxmlformats.org/drawingml/2006/main">
            <a:r>
              <a:t>https://blogarchive.statsbomb.com/articles/soccer/upgrading-expected-goals/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fitted DataBallPy open-play grid, not trained on this small sample. V(s)=P(shot|s)P(goal|shot,s)+sum P(successful move to s'|s)V(s'). Classic location xT does not use defender positions. State the model target and training domain.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Karun Singh: Expected Threat</a:t>
            </a:r>
          </a:p>
          <a:p xmlns:a="http://schemas.openxmlformats.org/drawingml/2006/main">
            <a:r>
              <a:t>https://karun.in/blog/expected-threat.html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fitted xT methodology</a:t>
            </a:r>
          </a:p>
          <a:p xmlns:a="http://schemas.openxmlformats.org/drawingml/2006/main">
            <a:r>
              <a:t>https://databallpy.readthedocs.io/en/main/features/xt_models.html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arrow is real ball displacement in the selected clip, not an assertion of a single completed pass. Attack direction is normalized and 105 m scaled to the model’s 106 m convention. Pros: simple action valuation. Cons: path-independent, no defender context or causal attribution.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xT lookup and endpoint difference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Karun Singh: Expected Threat</a:t>
            </a:r>
          </a:p>
          <a:p xmlns:a="http://schemas.openxmlformats.org/drawingml/2006/main">
            <a:r>
              <a:t>https://karun.in/blog/expected-threat.html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fitted xT methodology</a:t>
            </a:r>
          </a:p>
          <a:p xmlns:a="http://schemas.openxmlformats.org/drawingml/2006/main">
            <a:r>
              <a:t>https://databallpy.readthedocs.io/en/main/features/xt_models.html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frame, grid approximation to a Voronoi partition. Pros: quick and interpretable. Cons: hard boundaries and no movement, ball-flight or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space occupation</a:t>
            </a:r>
          </a:p>
          <a:p xmlns:a="http://schemas.openxmlformats.org/drawingml/2006/main">
            <a:r>
              <a:t>https://databallpy.readthedocs.io/en/main/features/space_occupation.html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player velocity with an illustrative ellipse. The covariance is not the exact Fernández/Bornn parameterization. Pros: smooth and motion-aware. Cons: hand-set influence scale and simplified movement 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Wide Open Spaces, Fernández &amp; Bornn (2018)</a:t>
            </a:r>
          </a:p>
          <a:p xmlns:a="http://schemas.openxmlformats.org/drawingml/2006/main">
            <a:r>
              <a:t>https://static.capabiliaserver.com/frontend/clients/barca/wp_prod/wp-content/uploads/2018/05/Wide-Open-Spaces.pdf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Space and Control in Soccer (2021)</a:t>
            </a:r>
          </a:p>
          <a:p xmlns:a="http://schemas.openxmlformats.org/drawingml/2006/main">
            <a:r>
              <a:t>https://www.frontiersin.org/journals/sports-and-active-living/articles/10.3389/fspor.2021.676179/full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logistic transformation bounds the team difference; it is not a calibrated possession probability. Pros: contested-space view. Cons: aggregation and covariance assumptions affect the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Wide Open Spaces, Fernández &amp; Bornn (2018)</a:t>
            </a:r>
          </a:p>
          <a:p xmlns:a="http://schemas.openxmlformats.org/drawingml/2006/main">
            <a:r>
              <a:t>https://static.capabiliaserver.com/frontend/clients/barca/wp_prod/wp-content/uploads/2018/05/Wide-Open-Spaces.pdf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space occupation</a:t>
            </a:r>
          </a:p>
          <a:p xmlns:a="http://schemas.openxmlformats.org/drawingml/2006/main">
            <a:r>
              <a:t>https://databallpy.readthedocs.io/en/main/features/space_occupation.html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frame with a simple 0.7 s projection and 5 m/s travel speed baseline. Pros: interpretable timing. Cons: no ball flight, acceleration optimization or interception-rate integration; not Spearman’s full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Space and Control in Soccer (2021)</a:t>
            </a:r>
          </a:p>
          <a:p xmlns:a="http://schemas.openxmlformats.org/drawingml/2006/main">
            <a:r>
              <a:t>https://www.frontiersin.org/journals/sports-and-active-living/articles/10.3389/fspor.2021.676179/full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Beyond Expected Goals, Spearman (2018)</a:t>
            </a:r>
          </a:p>
          <a:p xmlns:a="http://schemas.openxmlformats.org/drawingml/2006/main">
            <a:r>
              <a:t>https://static.hudl.com/craft/downloads/SSAC2018_Beyond_Expected_Goals.pdf?mtime=20180327111214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on actual tracking context, not a computed Spearman surface. Pros: physical link to passing. Cons: uncertain reactions, speed and ball parameters. Separate from the arrival-time teaching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Beyond Expected Goals, Spearman (2018)</a:t>
            </a:r>
          </a:p>
          <a:p xmlns:a="http://schemas.openxmlformats.org/drawingml/2006/main">
            <a:r>
              <a:t>https://static.hudl.com/craft/downloads/SSAC2018_Beyond_Expected_Goals.pdf?mtime=20180327111214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accessible-space xC inference on hypothetical endpoints at real teammate positions. Pros: interpretable risk. Cons: model calibration, ball speed and offside conventions; candidates are not observed choices.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candidate-pass risk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public-model output. Pros: incorporates ball and player movement. Cons: simulation assumptions and resolution; individual access can overlap.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public-model dangerous surface. Pros: links access and useful territory. Cons: danger definition and physical assumptions; DAS units are danger-weighted square metres.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model values on three frames. Pros: connects movement to changing opportunity. Cons: different team possession states and model noise must be checked; before/after changes alone are not causal credit.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supplied xthreat values for off-ball runs. The provider model is not reconstructed. Pros: visible unserved contributions. Cons: counterfactual assumptions, context and selection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SkillCorner: Expected Threat for off-ball runs</a:t>
            </a:r>
          </a:p>
          <a:p xmlns:a="http://schemas.openxmlformats.org/drawingml/2006/main">
            <a:r>
              <a:t>https://www.linkedin.com/posts/skillcorner_game-intelligence-expected-threat-activity-7057009275247689728-NVPh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radius graph. Pros: models relationships directly. Cons: radius edges miss distant tactical relationships; fully connected and learned connectivity are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edge-feature rows. Edge direction controls the sign of relative position. Team IDs should be encoded meaningfully rather than treated as numeric magnitudes.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schematic, not a trained result. Pros: relational inductive bias and shared updates. Cons: oversmoothing, connectivity choices and training requirements. Attention alone is not causal importance.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one-second lag and speed change on a real player. Explicit lag frame checks prevent bridging gaps. Instantaneous velocity adds motion information but is not a substitute for full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lagged features and masks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snapshots and a player trail. A sequence of spatial graphs retains team interactions that change with time; a static aggregate passing network does not.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topology with real player IDs. The notebook creates actual spatial and temporal edge records. Do not connect across substitutions or tracking gaps without an explicit rule; labels cannot leak future frames.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rather than a claim about a specific cited model’s GRU implementation. Pros: sequential processing with a compact state. Cons: long-history retention and sequence alignment. No trained inference is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Pros: parallel computation and explicit receptive field. Cons: window length, dilation and sampling-rate choices. Filters must not access future frames at prediction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Temporal convolution for sequence modeling</a:t>
            </a:r>
          </a:p>
          <a:p xmlns:a="http://schemas.openxmlformats.org/drawingml/2006/main">
            <a:r>
              <a:t>https://arxiv.org/abs/1803.01271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Pros: flexible history selection and long-range dependencies. Cons: data/computation requirements, masking and leakage; attention weights do not establish causal importance.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Attention Is All You Need</a:t>
            </a:r>
          </a:p>
          <a:p xmlns:a="http://schemas.openxmlformats.org/drawingml/2006/main">
            <a:r>
              <a:t>https://arxiv.org/abs/1706.03762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architecture schematic, not a reproduction of PathCRF. Pros: joint relational/time structure. Cons: graph size, identity errors and edge construction choices.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SoccerMap is a convolutional approach, not a GNN. Pros: field-wide outputs. Cons: rasterization and training data requirements; no pretrained inference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SoccerMap (2020)</a:t>
            </a:r>
          </a:p>
          <a:p xmlns:a="http://schemas.openxmlformats.org/drawingml/2006/main">
            <a:r>
              <a:t>https://arxiv.org/abs/2010.10202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Conceptual decomposition: sum over actions P(action|state) times outcome-conditional value, including failure. EPV is a framework/target, not a synonym for GNN. Different EPV definitions must not be mixed.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pass_epv_delta_for fields in SkillCorner dynamic events. This is the provider’s model output; not a reconstructed Fernández or DEFCON prediction. The field name is shown rather than assuming undocumented equivalence.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supplied event-value fields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only. Explain attribution assumptions before interpreting defensive credits. Actual frame is context, not DEFCON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The published balanced event-frame study uses reaching the penalty area as success; the repository’s additional all-frame dataset has different goal labels. Do not mix those datasets or quote them as equivalent.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The input illustration uses real tracking near a supplied corner-reception event; it is not the original TacticAI input or trained inference. Complete task-specific code/weights and licensed data are not released. Model-generated suggestions are not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schematic; no invented future trajectories are shown as learned output. GenTac is a recent preprint example. Distinguish forecasting and causal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GenTac: trajectory forecasting (2026 preprint)</a:t>
            </a:r>
          </a:p>
          <a:p xmlns:a="http://schemas.openxmlformats.org/drawingml/2006/main">
            <a:r>
              <a:t>https://arxiv.org/abs/2604.11786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split only, not measured performance. Event detection needs timing tolerances; probability models need calibration; tactical labels need a clear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cf55e2e76486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e557ca5a04fc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1907cddb88478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822bf2d6864e5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b2477a68e34b4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fbce17bdb545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CC9E0C-B9C1-4910-9B90-4CCBEC3BB7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566426B-EC91-4500-AE7D-3AD5B44707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5EC156C-3B56-455A-8FD1-36DD5460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57AD73-A980-4A17-8727-1757B9FFF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9EBAF2-A23A-4A24-85B9-51611A5F55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F0EA10B-069B-4B34-AB03-FC96821708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C50A16-15CE-403E-9397-4278E87A63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44996D-6CBA-4A2A-ACD5-7E90D10C9D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3EB6D6-DE1B-437D-9AB5-F910BCD12B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6C523B6-821D-4812-95A4-7C295D8A38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36303112c746b0" /><Relationship Type="http://schemas.openxmlformats.org/officeDocument/2006/relationships/slideLayout" Target="/ppt/slideLayouts/slideLayout1.xml" Id="R09269981496c44d4" /><Relationship Type="http://schemas.openxmlformats.org/officeDocument/2006/relationships/slideLayout" Target="/ppt/slideLayouts/slideLayout2.xml" Id="Rbe542ba3763b4bba" /><Relationship Type="http://schemas.openxmlformats.org/officeDocument/2006/relationships/slideLayout" Target="/ppt/slideLayouts/slideLayout3.xml" Id="R3e4b1d550048461d" /><Relationship Type="http://schemas.openxmlformats.org/officeDocument/2006/relationships/slideLayout" Target="/ppt/slideLayouts/slideLayout4.xml" Id="R68c5122e6f5a4fe4" /><Relationship Type="http://schemas.openxmlformats.org/officeDocument/2006/relationships/slideLayout" Target="/ppt/slideLayouts/slideLayout5.xml" Id="R0fe2d249b41e4096" /><Relationship Type="http://schemas.openxmlformats.org/officeDocument/2006/relationships/slideLayout" Target="/ppt/slideLayouts/slideLayout6.xml" Id="Raec0c3eb67c44e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269981496c44d4"/>
    <p:sldLayoutId xmlns:r="http://schemas.openxmlformats.org/officeDocument/2006/relationships" id="2147483650" r:id="Rbe542ba3763b4bba"/>
    <p:sldLayoutId xmlns:r="http://schemas.openxmlformats.org/officeDocument/2006/relationships" id="2147483651" r:id="R3e4b1d550048461d"/>
    <p:sldLayoutId xmlns:r="http://schemas.openxmlformats.org/officeDocument/2006/relationships" id="2147483652" r:id="R68c5122e6f5a4fe4"/>
    <p:sldLayoutId xmlns:r="http://schemas.openxmlformats.org/officeDocument/2006/relationships" id="2147483653" r:id="R0fe2d249b41e4096"/>
    <p:sldLayoutId xmlns:r="http://schemas.openxmlformats.org/officeDocument/2006/relationships" id="2147483654" r:id="Raec0c3eb67c44e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cb939bc69fe4d0b" /><ns0:Relationship Type="http://schemas.openxmlformats.org/officeDocument/2006/relationships/image" Target="/ppt/media/image.png" Id="Rb688811d08ee4cb9" /><ns0:Relationship Type="http://schemas.openxmlformats.org/officeDocument/2006/relationships/notesSlide" Target="/ppt/notesSlides/notesSlide1.xml" Id="R3d563c5de4864edb" /><ns0:Relationship Id="rIdWorkshop4" Type="http://schemas.openxmlformats.org/officeDocument/2006/relationships/hyperlink" Target="https://github.com/SkillCorner/opendata" TargetMode="External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ef7c34ab4c048fc" /><ns0:Relationship Type="http://schemas.openxmlformats.org/officeDocument/2006/relationships/image" Target="/ppt/media/image2.png" Id="R406f840567e443f8" /><ns0:Relationship Type="http://schemas.openxmlformats.org/officeDocument/2006/relationships/notesSlide" Target="/ppt/notesSlides/notesSlide2.xml" Id="Rbdcb330988434d6f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kloppy.pysport.org/reference/providers/skillcorner/" TargetMode="External" /><ns0:Relationship Id="rIdWorkshop6" Type="http://schemas.openxmlformats.org/officeDocument/2006/relationships/hyperlink" Target="https://databallpy.readthedocs.io/en/main/features/covered_distance_page.html" TargetMode="External" /><ns0:Relationship Id="rIdWorkshop7" Type="http://schemas.openxmlformats.org/officeDocument/2006/relationships/hyperlink" Target="https://github.com/SkillCorner/opendata" TargetMode="External" /><ns0:Relationship Id="rIdWorkshop8" Type="http://schemas.openxmlformats.org/officeDocument/2006/relationships/hyperlink" Target="https://kloppy.pysport.org/reference/providers/skillcorner/" TargetMode="External" /><ns0:Relationship Id="rIdWorkshop9" Type="http://schemas.openxmlformats.org/officeDocument/2006/relationships/hyperlink" Target="https://databallpy.readthedocs.io/en/main/features/covered_distance_page.html" TargetMode="External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6e3e87c073d43f4" /><ns0:Relationship Type="http://schemas.openxmlformats.org/officeDocument/2006/relationships/image" Target="/ppt/media/image3.png" Id="R65855df341c54ba6" /><ns0:Relationship Type="http://schemas.openxmlformats.org/officeDocument/2006/relationships/notesSlide" Target="/ppt/notesSlides/notesSlide3.xml" Id="R342622a4b8d14b10" /><ns0:Relationship Id="rIdWorkshop4" Type="http://schemas.openxmlformats.org/officeDocument/2006/relationships/hyperlink" Target="https://kloppy.pysport.org/reference/providers/skillcorner/" TargetMode="External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f45ef1655d94f62" /><ns0:Relationship Type="http://schemas.openxmlformats.org/officeDocument/2006/relationships/image" Target="/ppt/media/image4.png" Id="R5625499f02ec4ce4" /><ns0:Relationship Type="http://schemas.openxmlformats.org/officeDocument/2006/relationships/notesSlide" Target="/ppt/notesSlides/notesSlide4.xml" Id="R25503d8b0315486a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databallpy.readthedocs.io/en/main/getting_started/preprocessing_options.html" TargetMode="External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993a3aded4e4f3d" /><ns0:Relationship Type="http://schemas.openxmlformats.org/officeDocument/2006/relationships/image" Target="/ppt/media/image5.png" Id="R677634d21ac14a1d" /><ns0:Relationship Type="http://schemas.openxmlformats.org/officeDocument/2006/relationships/notesSlide" Target="/ppt/notesSlides/notesSlide5.xml" Id="R7892fe2a7f6b4ac1" /><ns0:Relationship Id="rIdWorkshop4" Type="http://schemas.openxmlformats.org/officeDocument/2006/relationships/hyperlink" Target="https://github.com/SkillCorner/opendata" TargetMode="External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4ca9b976d1a474a" /><ns0:Relationship Type="http://schemas.openxmlformats.org/officeDocument/2006/relationships/image" Target="/ppt/media/image6.png" Id="R316c171fac41482d" /><ns0:Relationship Type="http://schemas.openxmlformats.org/officeDocument/2006/relationships/notesSlide" Target="/ppt/notesSlides/notesSlide6.xml" Id="Rb164cd629e374713" /><ns0:Relationship Id="rIdWorkshop4" Type="http://schemas.openxmlformats.org/officeDocument/2006/relationships/hyperlink" Target="https://kloppy.pysport.org/reference/providers/skillcorner/" TargetMode="External" /><ns0:Relationship Id="rIdWorkshop5" Type="http://schemas.openxmlformats.org/officeDocument/2006/relationships/hyperlink" Target="https://github.com/Friends-of-Tracking-Data-FoTD/LaurieOnTracking" TargetMode="External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f5c71db3a014a90" /><ns0:Relationship Type="http://schemas.openxmlformats.org/officeDocument/2006/relationships/image" Target="/ppt/media/image7.png" Id="Re3a6fe188592415b" /><ns0:Relationship Type="http://schemas.openxmlformats.org/officeDocument/2006/relationships/notesSlide" Target="/ppt/notesSlides/notesSlide7.xml" Id="R7c5a3a5256a54117" /><ns0:Relationship Id="rIdWorkshop4" Type="http://schemas.openxmlformats.org/officeDocument/2006/relationships/hyperlink" Target="https://databallpy.readthedocs.io/en/main/getting_started/preprocessing_options.html" TargetMode="External" /><ns0:Relationship Id="rIdWorkshop5" Type="http://schemas.openxmlformats.org/officeDocument/2006/relationships/hyperlink" Target="https://github.com/hyunsungkim-ds/pathcrf" TargetMode="External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654a7c024a2405f" /><ns0:Relationship Type="http://schemas.openxmlformats.org/officeDocument/2006/relationships/image" Target="/ppt/media/image8.png" Id="R8f4b355548434819" /><ns0:Relationship Type="http://schemas.openxmlformats.org/officeDocument/2006/relationships/notesSlide" Target="/ppt/notesSlides/notesSlide8.xml" Id="R6dab1a2c338447f5" /><ns0:Relationship Id="rIdWorkshop4" Type="http://schemas.openxmlformats.org/officeDocument/2006/relationships/hyperlink" Target="https://github.com/hyunsungkim-ds/pathcrf" TargetMode="External" /><ns0:Relationship Id="rIdWorkshop5" Type="http://schemas.openxmlformats.org/officeDocument/2006/relationships/hyperlink" Target="https://databallpy.readthedocs.io/en/main/getting_started/preprocessing_options.html" TargetMode="External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f57d8aead7d471d" /><ns0:Relationship Type="http://schemas.openxmlformats.org/officeDocument/2006/relationships/image" Target="/ppt/media/image9.png" Id="R6ea6c3893a704533" /><ns0:Relationship Type="http://schemas.openxmlformats.org/officeDocument/2006/relationships/notesSlide" Target="/ppt/notesSlides/notesSlide9.xml" Id="R7484f2641b574e5e" /><ns0:Relationship Id="rIdWorkshop4" Type="http://schemas.openxmlformats.org/officeDocument/2006/relationships/hyperlink" Target="https://static.capabiliaserver.com/frontend/clients/barca/wp_prod/wp-content/uploads/2020/01/83c87dfe-barca_poster_shaw.pdf" TargetMode="External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132eaa390da4a62" /><ns0:Relationship Type="http://schemas.openxmlformats.org/officeDocument/2006/relationships/image" Target="/ppt/media/image10.png" Id="Rc39ff4471c4b4400" /><ns0:Relationship Type="http://schemas.openxmlformats.org/officeDocument/2006/relationships/notesSlide" Target="/ppt/notesSlides/notesSlide10.xml" Id="R3d40e73cb83c42c0" /><ns0:Relationship Id="rIdWorkshop4" Type="http://schemas.openxmlformats.org/officeDocument/2006/relationships/hyperlink" Target="https://static.capabiliaserver.com/frontend/clients/barca/wp_prod/wp-content/uploads/2020/01/83c87dfe-barca_poster_shaw.pdf" TargetMode="External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7a027333e7d48de" /><ns0:Relationship Type="http://schemas.openxmlformats.org/officeDocument/2006/relationships/image" Target="/ppt/media/image11.png" Id="Re24a50a915b94122" /><ns0:Relationship Type="http://schemas.openxmlformats.org/officeDocument/2006/relationships/notesSlide" Target="/ppt/notesSlides/notesSlide11.xml" Id="R8b165921fbf34383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doi.org/10.1177/22150218241290988" TargetMode="External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c1d0c58a7f9410d" /><ns0:Relationship Type="http://schemas.openxmlformats.org/officeDocument/2006/relationships/image" Target="/ppt/media/image12.png" Id="R3e8bf4b4c98a417d" /><ns0:Relationship Type="http://schemas.openxmlformats.org/officeDocument/2006/relationships/notesSlide" Target="/ppt/notesSlides/notesSlide12.xml" Id="Rb086fd25d25c4c20" /><ns0:Relationship Id="rIdWorkshop4" Type="http://schemas.openxmlformats.org/officeDocument/2006/relationships/hyperlink" Target="https://databallpy.readthedocs.io/en/main/getting_started/preprocessing_options.html" TargetMode="External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c072d7b748745d5" /><ns0:Relationship Type="http://schemas.openxmlformats.org/officeDocument/2006/relationships/image" Target="/ppt/media/image13.png" Id="Rfe575a6cebb14485" /><ns0:Relationship Type="http://schemas.openxmlformats.org/officeDocument/2006/relationships/notesSlide" Target="/ppt/notesSlides/notesSlide13.xml" Id="Rc83d777be57a4d6d" /><ns0:Relationship Id="rIdWorkshop4" Type="http://schemas.openxmlformats.org/officeDocument/2006/relationships/hyperlink" Target="https://databallpy.readthedocs.io/en/main/features/covered_distance_page.html" TargetMode="External" /><ns0:Relationship Id="rIdWorkshop5" Type="http://schemas.openxmlformats.org/officeDocument/2006/relationships/hyperlink" Target="https://skillcorner.com/us/articles/scouted-brazilian-centre-backs" TargetMode="External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19743cd44d64e4c" /><ns0:Relationship Type="http://schemas.openxmlformats.org/officeDocument/2006/relationships/image" Target="/ppt/media/image14.png" Id="R6ab9b6b1229b4270" /><ns0:Relationship Type="http://schemas.openxmlformats.org/officeDocument/2006/relationships/notesSlide" Target="/ppt/notesSlides/notesSlide14.xml" Id="R9ad9fb3bba4b43ef" /><ns0:Relationship Id="rIdWorkshop4" Type="http://schemas.openxmlformats.org/officeDocument/2006/relationships/hyperlink" Target="https://skillcorner.com/us/articles/scouted-brazilian-centre-backs" TargetMode="External" /><ns0:Relationship Id="rIdWorkshop5" Type="http://schemas.openxmlformats.org/officeDocument/2006/relationships/hyperlink" Target="https://databallpy.readthedocs.io/en/main/features/covered_distance_page.html" TargetMode="External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fe8163a782b453a" /><ns0:Relationship Type="http://schemas.openxmlformats.org/officeDocument/2006/relationships/image" Target="/ppt/media/image15.png" Id="R65de8208718c487e" /><ns0:Relationship Type="http://schemas.openxmlformats.org/officeDocument/2006/relationships/notesSlide" Target="/ppt/notesSlides/notesSlide15.xml" Id="Rb9c64164eb1544f2" /><ns0:Relationship Id="rIdWorkshop4" Type="http://schemas.openxmlformats.org/officeDocument/2006/relationships/hyperlink" Target="https://skillcorner.com/us/articles/scouted-brazilian-centre-backs" TargetMode="External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6ef6d58cc614c13" /><ns0:Relationship Type="http://schemas.openxmlformats.org/officeDocument/2006/relationships/image" Target="/ppt/media/image16.png" Id="R760771223d434cff" /><ns0:Relationship Type="http://schemas.openxmlformats.org/officeDocument/2006/relationships/notesSlide" Target="/ppt/notesSlides/notesSlide16.xml" Id="Rcc0824a939b94834" /><ns0:Relationship Id="rIdWorkshop4" Type="http://schemas.openxmlformats.org/officeDocument/2006/relationships/hyperlink" Target="https://databallpy.readthedocs.io/en/main/getting_started/preprocessing_options.html" TargetMode="External" /><ns0:Relationship Id="rIdWorkshop5" Type="http://schemas.openxmlformats.org/officeDocument/2006/relationships/hyperlink" Target="https://skillcorner.com/articles/new-feature-explosive-accelerations" TargetMode="External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bae61ba3ea9485f" /><ns0:Relationship Type="http://schemas.openxmlformats.org/officeDocument/2006/relationships/image" Target="/ppt/media/image17.png" Id="R8471575b3e4b42e8" /><ns0:Relationship Type="http://schemas.openxmlformats.org/officeDocument/2006/relationships/notesSlide" Target="/ppt/notesSlides/notesSlide17.xml" Id="R6f5a5584b9104e2b" /><ns0:Relationship Id="rIdWorkshop4" Type="http://schemas.openxmlformats.org/officeDocument/2006/relationships/hyperlink" Target="https://skillcorner.com/articles/new-feature-explosive-accelerations" TargetMode="External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f1461982ac94bf3" /><ns0:Relationship Type="http://schemas.openxmlformats.org/officeDocument/2006/relationships/image" Target="/ppt/media/image18.png" Id="Rf3b46827c7f94d85" /><ns0:Relationship Type="http://schemas.openxmlformats.org/officeDocument/2006/relationships/notesSlide" Target="/ppt/notesSlides/notesSlide18.xml" Id="Rcbbf95a08b4644bd" /><ns0:Relationship Id="rIdWorkshop4" Type="http://schemas.openxmlformats.org/officeDocument/2006/relationships/hyperlink" Target="https://skillcorner.com/articles/new-feature-explosive-accelerations" TargetMode="External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d9eb22da67d40e9" /><ns0:Relationship Type="http://schemas.openxmlformats.org/officeDocument/2006/relationships/image" Target="/ppt/media/image19.png" Id="Rd4b6f8647110429d" /><ns0:Relationship Type="http://schemas.openxmlformats.org/officeDocument/2006/relationships/notesSlide" Target="/ppt/notesSlides/notesSlide19.xml" Id="R459baed56ca845d8" /><ns0:Relationship Id="rIdWorkshop4" Type="http://schemas.openxmlformats.org/officeDocument/2006/relationships/hyperlink" Target="https://skillcorner.com/articles/skillcorner-releases-new-peak-velocity-metric" TargetMode="External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989bbe79f5e45cb" /><ns0:Relationship Type="http://schemas.openxmlformats.org/officeDocument/2006/relationships/image" Target="/ppt/media/image20.png" Id="Rb4d18f3bf23844d4" /><ns0:Relationship Type="http://schemas.openxmlformats.org/officeDocument/2006/relationships/notesSlide" Target="/ppt/notesSlides/notesSlide20.xml" Id="R564206bf5d714293" /><ns0:Relationship Id="rIdWorkshop4" Type="http://schemas.openxmlformats.org/officeDocument/2006/relationships/hyperlink" Target="https://skillcorner.com/articles/skillcorner-releases-new-peak-velocity-metric" TargetMode="External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54e0afd215e449d" /><ns0:Relationship Type="http://schemas.openxmlformats.org/officeDocument/2006/relationships/image" Target="/ppt/media/image21.png" Id="R0deea74a25ac4e5b" /><ns0:Relationship Type="http://schemas.openxmlformats.org/officeDocument/2006/relationships/notesSlide" Target="/ppt/notesSlides/notesSlide21.xml" Id="Ref719476b756439c" /><ns0:Relationship Id="rIdWorkshop4" Type="http://schemas.openxmlformats.org/officeDocument/2006/relationships/hyperlink" Target="https://blogarchive.statsbomb.com/articles/soccer/upgrading-expected-goals/" TargetMode="External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127bab7bee646b6" /><ns0:Relationship Type="http://schemas.openxmlformats.org/officeDocument/2006/relationships/image" Target="/ppt/media/image22.png" Id="Rc80efde59e784f6a" /><ns0:Relationship Type="http://schemas.openxmlformats.org/officeDocument/2006/relationships/notesSlide" Target="/ppt/notesSlides/notesSlide22.xml" Id="Racf1a6c89e2c43dd" /><ns0:Relationship Id="rIdWorkshop4" Type="http://schemas.openxmlformats.org/officeDocument/2006/relationships/hyperlink" Target="https://karun.in/blog/expected-threat.html" TargetMode="External" /><ns0:Relationship Id="rIdWorkshop5" Type="http://schemas.openxmlformats.org/officeDocument/2006/relationships/hyperlink" Target="https://databallpy.readthedocs.io/en/main/features/xt_models.html" TargetMode="External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1e13269718f4b3c" /><ns0:Relationship Type="http://schemas.openxmlformats.org/officeDocument/2006/relationships/image" Target="/ppt/media/image23.png" Id="Rc989ccc24317416a" /><ns0:Relationship Type="http://schemas.openxmlformats.org/officeDocument/2006/relationships/notesSlide" Target="/ppt/notesSlides/notesSlide23.xml" Id="R0dbb8ab7bc2f405e" /><ns0:Relationship Id="rIdWorkshop4" Type="http://schemas.openxmlformats.org/officeDocument/2006/relationships/hyperlink" Target="https://karun.in/blog/expected-threat.html" TargetMode="External" /><ns0:Relationship Id="rIdWorkshop5" Type="http://schemas.openxmlformats.org/officeDocument/2006/relationships/hyperlink" Target="https://databallpy.readthedocs.io/en/main/features/xt_models.html" TargetMode="External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28d231d25ff47b3" /><ns0:Relationship Type="http://schemas.openxmlformats.org/officeDocument/2006/relationships/image" Target="/ppt/media/image24.png" Id="R89024a1ac6f5436e" /><ns0:Relationship Type="http://schemas.openxmlformats.org/officeDocument/2006/relationships/notesSlide" Target="/ppt/notesSlides/notesSlide24.xml" Id="R9e238fc4e1884e84" /><ns0:Relationship Id="rIdWorkshop4" Type="http://schemas.openxmlformats.org/officeDocument/2006/relationships/hyperlink" Target="https://databallpy.readthedocs.io/en/main/features/space_occupation.html" TargetMode="External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d029d9ef3eb4330" /><ns0:Relationship Type="http://schemas.openxmlformats.org/officeDocument/2006/relationships/image" Target="/ppt/media/image25.png" Id="R92c211bdd126404e" /><ns0:Relationship Type="http://schemas.openxmlformats.org/officeDocument/2006/relationships/notesSlide" Target="/ppt/notesSlides/notesSlide25.xml" Id="R66f4ce8d1a744761" /><ns0:Relationship Id="rIdWorkshop4" Type="http://schemas.openxmlformats.org/officeDocument/2006/relationships/hyperlink" Target="https://static.capabiliaserver.com/frontend/clients/barca/wp_prod/wp-content/uploads/2018/05/Wide-Open-Spaces.pdf" TargetMode="External" /><ns0:Relationship Id="rIdWorkshop5" Type="http://schemas.openxmlformats.org/officeDocument/2006/relationships/hyperlink" Target="https://www.frontiersin.org/journals/sports-and-active-living/articles/10.3389/fspor.2021.676179/full" TargetMode="External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ed0f00b424848a8" /><ns0:Relationship Type="http://schemas.openxmlformats.org/officeDocument/2006/relationships/image" Target="/ppt/media/image26.png" Id="Rc9dafb77e0f248bc" /><ns0:Relationship Type="http://schemas.openxmlformats.org/officeDocument/2006/relationships/notesSlide" Target="/ppt/notesSlides/notesSlide26.xml" Id="R413a017260c64962" /><ns0:Relationship Id="rIdWorkshop4" Type="http://schemas.openxmlformats.org/officeDocument/2006/relationships/hyperlink" Target="https://static.capabiliaserver.com/frontend/clients/barca/wp_prod/wp-content/uploads/2018/05/Wide-Open-Spaces.pdf" TargetMode="External" /><ns0:Relationship Id="rIdWorkshop5" Type="http://schemas.openxmlformats.org/officeDocument/2006/relationships/hyperlink" Target="https://databallpy.readthedocs.io/en/main/features/space_occupation.html" TargetMode="External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87ff342cdee4874" /><ns0:Relationship Type="http://schemas.openxmlformats.org/officeDocument/2006/relationships/image" Target="/ppt/media/image27.png" Id="Rb7d3b9a2d4864980" /><ns0:Relationship Type="http://schemas.openxmlformats.org/officeDocument/2006/relationships/notesSlide" Target="/ppt/notesSlides/notesSlide27.xml" Id="Reee35444cd604bd1" /><ns0:Relationship Id="rIdWorkshop4" Type="http://schemas.openxmlformats.org/officeDocument/2006/relationships/hyperlink" Target="https://www.frontiersin.org/journals/sports-and-active-living/articles/10.3389/fspor.2021.676179/full" TargetMode="External" /><ns0:Relationship Id="rIdWorkshop5" Type="http://schemas.openxmlformats.org/officeDocument/2006/relationships/hyperlink" Target="https://static.hudl.com/craft/downloads/SSAC2018_Beyond_Expected_Goals.pdf?mtime=20180327111214" TargetMode="External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d073545ab484e72" /><ns0:Relationship Type="http://schemas.openxmlformats.org/officeDocument/2006/relationships/image" Target="/ppt/media/image28.png" Id="R5ac67f62c96040dd" /><ns0:Relationship Type="http://schemas.openxmlformats.org/officeDocument/2006/relationships/notesSlide" Target="/ppt/notesSlides/notesSlide28.xml" Id="R0201e963ef164d4a" /><ns0:Relationship Id="rIdWorkshop4" Type="http://schemas.openxmlformats.org/officeDocument/2006/relationships/hyperlink" Target="https://static.hudl.com/craft/downloads/SSAC2018_Beyond_Expected_Goals.pdf?mtime=20180327111214" TargetMode="External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89a5b15854e494d" /><ns0:Relationship Type="http://schemas.openxmlformats.org/officeDocument/2006/relationships/image" Target="/ppt/media/image29.png" Id="Rf840b1e8f7834e4a" /><ns0:Relationship Type="http://schemas.openxmlformats.org/officeDocument/2006/relationships/notesSlide" Target="/ppt/notesSlides/notesSlide29.xml" Id="R9cad4bb8e9dc45c0" /><ns0:Relationship Id="rIdWorkshop4" Type="http://schemas.openxmlformats.org/officeDocument/2006/relationships/hyperlink" Target="https://databallpy.readthedocs.io/en/main/features/dangerous_accessible_space.html" TargetMode="External" /><ns0:Relationship Id="rIdWorkshop5" Type="http://schemas.openxmlformats.org/officeDocument/2006/relationships/hyperlink" Target="https://github.com/jonas-bischofberger/accessible-space" TargetMode="External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4e71819af574494" /><ns0:Relationship Type="http://schemas.openxmlformats.org/officeDocument/2006/relationships/image" Target="/ppt/media/image30.png" Id="R9ed9cef630b048ea" /><ns0:Relationship Type="http://schemas.openxmlformats.org/officeDocument/2006/relationships/notesSlide" Target="/ppt/notesSlides/notesSlide30.xml" Id="R0694d73733f5482a" /><ns0:Relationship Id="rIdWorkshop4" Type="http://schemas.openxmlformats.org/officeDocument/2006/relationships/hyperlink" Target="https://github.com/jonas-bischofberger/accessible-space" TargetMode="External" /><ns0:Relationship Id="rIdWorkshop5" Type="http://schemas.openxmlformats.org/officeDocument/2006/relationships/hyperlink" Target="https://databallpy.readthedocs.io/en/main/features/dangerous_accessible_space.html" TargetMode="External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a68c2aa8fac46cd" /><ns0:Relationship Type="http://schemas.openxmlformats.org/officeDocument/2006/relationships/image" Target="/ppt/media/image31.png" Id="R0f66c3153ee248f8" /><ns0:Relationship Type="http://schemas.openxmlformats.org/officeDocument/2006/relationships/notesSlide" Target="/ppt/notesSlides/notesSlide31.xml" Id="Rc65920b22c2147b2" /><ns0:Relationship Id="rIdWorkshop4" Type="http://schemas.openxmlformats.org/officeDocument/2006/relationships/hyperlink" Target="https://github.com/jonas-bischofberger/accessible-space" TargetMode="External" /><ns0:Relationship Id="rIdWorkshop5" Type="http://schemas.openxmlformats.org/officeDocument/2006/relationships/hyperlink" Target="https://databallpy.readthedocs.io/en/main/features/dangerous_accessible_space.html" TargetMode="External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3f573f402a54b88" /><ns0:Relationship Type="http://schemas.openxmlformats.org/officeDocument/2006/relationships/image" Target="/ppt/media/image32.png" Id="R9beb95274bd6482d" /><ns0:Relationship Type="http://schemas.openxmlformats.org/officeDocument/2006/relationships/notesSlide" Target="/ppt/notesSlides/notesSlide32.xml" Id="R59c195206ba54ef2" /><ns0:Relationship Id="rIdWorkshop4" Type="http://schemas.openxmlformats.org/officeDocument/2006/relationships/hyperlink" Target="https://github.com/jonas-bischofberger/accessible-space" TargetMode="External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91eb476960e4041" /><ns0:Relationship Type="http://schemas.openxmlformats.org/officeDocument/2006/relationships/image" Target="/ppt/media/image33.png" Id="R29262f7946e544de" /><ns0:Relationship Type="http://schemas.openxmlformats.org/officeDocument/2006/relationships/notesSlide" Target="/ppt/notesSlides/notesSlide33.xml" Id="Rd07958e5d546477f" /><ns0:Relationship Id="rIdWorkshop4" Type="http://schemas.openxmlformats.org/officeDocument/2006/relationships/hyperlink" Target="https://www.linkedin.com/posts/skillcorner_game-intelligence-expected-threat-activity-7057009275247689728-NVPh" TargetMode="External" /><ns0:Relationship Id="rIdWorkshop5" Type="http://schemas.openxmlformats.org/officeDocument/2006/relationships/hyperlink" Target="https://github.com/SkillCorner/opendata" TargetMode="External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fab84cffa4242da" /><ns0:Relationship Type="http://schemas.openxmlformats.org/officeDocument/2006/relationships/image" Target="/ppt/media/image34.png" Id="Rd918631d189f43fe" /><ns0:Relationship Type="http://schemas.openxmlformats.org/officeDocument/2006/relationships/notesSlide" Target="/ppt/notesSlides/notesSlide34.xml" Id="Rc3111838db0342fc" /><ns0:Relationship Id="rIdWorkshop4" Type="http://schemas.openxmlformats.org/officeDocument/2006/relationships/hyperlink" Target="https://github.com/USSoccerFederation/ussf_ssac_23_soccer_gnn" TargetMode="External" /><ns0:Relationship Id="rIdWorkshop5" Type="http://schemas.openxmlformats.org/officeDocument/2006/relationships/hyperlink" Target="https://www.nature.com/articles/s41467-024-45965-x" TargetMode="External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87d2d69964d46e8" /><ns0:Relationship Type="http://schemas.openxmlformats.org/officeDocument/2006/relationships/image" Target="/ppt/media/image35.png" Id="R3051eaa0c1134a25" /><ns0:Relationship Type="http://schemas.openxmlformats.org/officeDocument/2006/relationships/notesSlide" Target="/ppt/notesSlides/notesSlide35.xml" Id="Rfd355c7d6bbb4cb5" /><ns0:Relationship Id="rIdWorkshop4" Type="http://schemas.openxmlformats.org/officeDocument/2006/relationships/hyperlink" Target="https://github.com/USSoccerFederation/ussf_ssac_23_soccer_gnn" TargetMode="External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a9c0a59667040dc" /><ns0:Relationship Type="http://schemas.openxmlformats.org/officeDocument/2006/relationships/image" Target="/ppt/media/image36.png" Id="R60bc8571ea654c8a" /><ns0:Relationship Type="http://schemas.openxmlformats.org/officeDocument/2006/relationships/notesSlide" Target="/ppt/notesSlides/notesSlide36.xml" Id="R6576ab0c2ba84916" /><ns0:Relationship Id="rIdWorkshop4" Type="http://schemas.openxmlformats.org/officeDocument/2006/relationships/hyperlink" Target="https://www.nature.com/articles/s41467-024-45965-x" TargetMode="External" /><ns0:Relationship Id="rIdWorkshop5" Type="http://schemas.openxmlformats.org/officeDocument/2006/relationships/hyperlink" Target="https://github.com/hyunsungkim-ds/defcon" TargetMode="External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2be33e08a794dfa" /><ns0:Relationship Type="http://schemas.openxmlformats.org/officeDocument/2006/relationships/image" Target="/ppt/media/image37.png" Id="R9d26d41e2ee14702" /><ns0:Relationship Type="http://schemas.openxmlformats.org/officeDocument/2006/relationships/notesSlide" Target="/ppt/notesSlides/notesSlide37.xml" Id="R0b87d01fc8224d3f" /><ns0:Relationship Id="rIdWorkshop4" Type="http://schemas.openxmlformats.org/officeDocument/2006/relationships/hyperlink" Target="https://github.com/USSoccerFederation/ussf_ssac_23_soccer_gnn" TargetMode="External" /><ns0:Relationship Id="rIdWorkshop5" Type="http://schemas.openxmlformats.org/officeDocument/2006/relationships/hyperlink" Target="https://databallpy.readthedocs.io/en/main/getting_started/preprocessing_options.html" TargetMode="External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434f6399ace47b5" /><ns0:Relationship Type="http://schemas.openxmlformats.org/officeDocument/2006/relationships/image" Target="/ppt/media/image38.png" Id="Ra7c377b28014432e" /><ns0:Relationship Type="http://schemas.openxmlformats.org/officeDocument/2006/relationships/notesSlide" Target="/ppt/notesSlides/notesSlide38.xml" Id="R5ab85f4d8e5d44d2" /><ns0:Relationship Id="rIdWorkshop4" Type="http://schemas.openxmlformats.org/officeDocument/2006/relationships/hyperlink" Target="https://github.com/USSoccerFederation/ussf_ssac_23_soccer_gnn" TargetMode="External" /><ns0:Relationship Id="rIdWorkshop5" Type="http://schemas.openxmlformats.org/officeDocument/2006/relationships/hyperlink" Target="https://github.com/hyunsungkim-ds/pathcrf" TargetMode="External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81b3bd1510847c7" /><ns0:Relationship Type="http://schemas.openxmlformats.org/officeDocument/2006/relationships/image" Target="/ppt/media/image39.png" Id="R15f7465a5af8413f" /><ns0:Relationship Type="http://schemas.openxmlformats.org/officeDocument/2006/relationships/notesSlide" Target="/ppt/notesSlides/notesSlide39.xml" Id="R9e4178b202314b3d" /><ns0:Relationship Id="rIdWorkshop4" Type="http://schemas.openxmlformats.org/officeDocument/2006/relationships/hyperlink" Target="https://github.com/hyunsungkim-ds/pathcrf" TargetMode="External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de8fec6d4354833" /><ns0:Relationship Type="http://schemas.openxmlformats.org/officeDocument/2006/relationships/image" Target="/ppt/media/image40.png" Id="Rc6b3f6c9690c42a6" /><ns0:Relationship Type="http://schemas.openxmlformats.org/officeDocument/2006/relationships/notesSlide" Target="/ppt/notesSlides/notesSlide40.xml" Id="Rc0f45dc1c2e44eb0" /><ns0:Relationship Id="rIdWorkshop4" Type="http://schemas.openxmlformats.org/officeDocument/2006/relationships/hyperlink" Target="https://pytorch-geometric-temporal.readthedocs.io/en/latest/modules/root.html" TargetMode="External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0649c45e9714e35" /><ns0:Relationship Type="http://schemas.openxmlformats.org/officeDocument/2006/relationships/image" Target="/ppt/media/image41.png" Id="R7e278b50004148b3" /><ns0:Relationship Type="http://schemas.openxmlformats.org/officeDocument/2006/relationships/notesSlide" Target="/ppt/notesSlides/notesSlide41.xml" Id="Raf1a3bfe15f24912" /><ns0:Relationship Id="rIdWorkshop4" Type="http://schemas.openxmlformats.org/officeDocument/2006/relationships/hyperlink" Target="https://arxiv.org/abs/1803.01271" TargetMode="External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ac39231dbe441a0" /><ns0:Relationship Type="http://schemas.openxmlformats.org/officeDocument/2006/relationships/image" Target="/ppt/media/image42.png" Id="R93f79a959cc14cea" /><ns0:Relationship Type="http://schemas.openxmlformats.org/officeDocument/2006/relationships/notesSlide" Target="/ppt/notesSlides/notesSlide42.xml" Id="R8eb43eceee3d4a15" /><ns0:Relationship Id="rIdWorkshop4" Type="http://schemas.openxmlformats.org/officeDocument/2006/relationships/hyperlink" Target="https://arxiv.org/abs/1706.03762" TargetMode="External" /><ns0:Relationship Id="rIdWorkshop5" Type="http://schemas.openxmlformats.org/officeDocument/2006/relationships/hyperlink" Target="https://pytorch-geometric-temporal.readthedocs.io/en/latest/modules/root.html" TargetMode="External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2e2875a5380466f" /><ns0:Relationship Type="http://schemas.openxmlformats.org/officeDocument/2006/relationships/image" Target="/ppt/media/image43.png" Id="R576d1b0eac8749fd" /><ns0:Relationship Type="http://schemas.openxmlformats.org/officeDocument/2006/relationships/notesSlide" Target="/ppt/notesSlides/notesSlide43.xml" Id="R380bd3c2b9f546b3" /><ns0:Relationship Id="rIdWorkshop4" Type="http://schemas.openxmlformats.org/officeDocument/2006/relationships/hyperlink" Target="https://pytorch-geometric-temporal.readthedocs.io/en/latest/modules/root.html" TargetMode="External" /><ns0:Relationship Id="rIdWorkshop5" Type="http://schemas.openxmlformats.org/officeDocument/2006/relationships/hyperlink" Target="https://github.com/hyunsungkim-ds/pathcrf" TargetMode="External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9e6fdaff0334ee2" /><ns0:Relationship Type="http://schemas.openxmlformats.org/officeDocument/2006/relationships/image" Target="/ppt/media/image44.png" Id="Rcf1c999aac8441b3" /><ns0:Relationship Type="http://schemas.openxmlformats.org/officeDocument/2006/relationships/notesSlide" Target="/ppt/notesSlides/notesSlide44.xml" Id="R00ed52f720084498" /><ns0:Relationship Id="rIdWorkshop4" Type="http://schemas.openxmlformats.org/officeDocument/2006/relationships/hyperlink" Target="https://arxiv.org/abs/2010.10202" TargetMode="External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d47027d6eb149c7" /><ns0:Relationship Type="http://schemas.openxmlformats.org/officeDocument/2006/relationships/image" Target="/ppt/media/image45.png" Id="R26bb1d0df16f46d6" /><ns0:Relationship Type="http://schemas.openxmlformats.org/officeDocument/2006/relationships/notesSlide" Target="/ppt/notesSlides/notesSlide45.xml" Id="Rdc0fb47b647b41df" /><ns0:Relationship Id="rIdWorkshop4" Type="http://schemas.openxmlformats.org/officeDocument/2006/relationships/hyperlink" Target="https://pmc.ncbi.nlm.nih.gov/articles/PMC8570314/" TargetMode="External" /><ns0:Relationship Id="rIdWorkshop5" Type="http://schemas.openxmlformats.org/officeDocument/2006/relationships/hyperlink" Target="https://github.com/hyunsungkim-ds/defcon" TargetMode="External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570e58a3c48488f" /><ns0:Relationship Type="http://schemas.openxmlformats.org/officeDocument/2006/relationships/image" Target="/ppt/media/image46.png" Id="Re1398f2664df4e72" /><ns0:Relationship Type="http://schemas.openxmlformats.org/officeDocument/2006/relationships/notesSlide" Target="/ppt/notesSlides/notesSlide46.xml" Id="Rc451c681b8184158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pmc.ncbi.nlm.nih.gov/articles/PMC8570314/" TargetMode="External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6172f31e8c541a8" /><ns0:Relationship Type="http://schemas.openxmlformats.org/officeDocument/2006/relationships/image" Target="/ppt/media/image47.png" Id="Rb5ef273b901445df" /><ns0:Relationship Type="http://schemas.openxmlformats.org/officeDocument/2006/relationships/notesSlide" Target="/ppt/notesSlides/notesSlide47.xml" Id="R4ce555c249804e90" /><ns0:Relationship Id="rIdWorkshop4" Type="http://schemas.openxmlformats.org/officeDocument/2006/relationships/hyperlink" Target="https://github.com/hyunsungkim-ds/defcon" TargetMode="External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12518203271431a" /><ns0:Relationship Type="http://schemas.openxmlformats.org/officeDocument/2006/relationships/image" Target="/ppt/media/image48.png" Id="Ra3ae4f5398804f75" /><ns0:Relationship Type="http://schemas.openxmlformats.org/officeDocument/2006/relationships/notesSlide" Target="/ppt/notesSlides/notesSlide48.xml" Id="R781b8c1bc4334caa" /><ns0:Relationship Id="rIdWorkshop4" Type="http://schemas.openxmlformats.org/officeDocument/2006/relationships/hyperlink" Target="https://github.com/USSoccerFederation/ussf_ssac_23_soccer_gnn" TargetMode="External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2e53d54c2e14eb7" /><ns0:Relationship Type="http://schemas.openxmlformats.org/officeDocument/2006/relationships/image" Target="/ppt/media/image49.png" Id="R74bf2d57b657477c" /><ns0:Relationship Type="http://schemas.openxmlformats.org/officeDocument/2006/relationships/notesSlide" Target="/ppt/notesSlides/notesSlide49.xml" Id="R693c40087d254c88" /><ns0:Relationship Id="rIdWorkshop4" Type="http://schemas.openxmlformats.org/officeDocument/2006/relationships/hyperlink" Target="https://www.nature.com/articles/s41467-024-45965-x" TargetMode="External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7e9fd5dbbfd44c4" /><ns0:Relationship Type="http://schemas.openxmlformats.org/officeDocument/2006/relationships/image" Target="/ppt/media/image50.png" Id="Re4827591c0534996" /><ns0:Relationship Type="http://schemas.openxmlformats.org/officeDocument/2006/relationships/notesSlide" Target="/ppt/notesSlides/notesSlide50.xml" Id="Rc4494e5b2f0e4373" /><ns0:Relationship Id="rIdWorkshop4" Type="http://schemas.openxmlformats.org/officeDocument/2006/relationships/hyperlink" Target="https://arxiv.org/abs/2604.11786" TargetMode="External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dddab80bf374ec2" /><ns0:Relationship Type="http://schemas.openxmlformats.org/officeDocument/2006/relationships/image" Target="/ppt/media/image51.png" Id="Re5947af96e6a4248" /><ns0:Relationship Type="http://schemas.openxmlformats.org/officeDocument/2006/relationships/notesSlide" Target="/ppt/notesSlides/notesSlide51.xml" Id="Rb77e710f8c224450" /><ns0:Relationship Id="rIdWorkshop4" Type="http://schemas.openxmlformats.org/officeDocument/2006/relationships/hyperlink" Target="https://pmc.ncbi.nlm.nih.gov/articles/PMC8570314/" TargetMode="External" /><ns0:Relationship Id="rIdWorkshop5" Type="http://schemas.openxmlformats.org/officeDocument/2006/relationships/hyperlink" Target="https://github.com/jonas-bischofberger/accessible-space" TargetMode="External" /></ns0: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63FA13DB-A863-4742-B672-E7B9321589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55D96BD-7DDF-44D1-8743-68256E6D5D1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Data Applied</a:t>
            </a:r>
          </a:p>
        </p:txBody>
      </p:sp>
      <p:sp>
        <p:nvSpPr>
          <p:cNvPr id="3" name="">
            <a:extLst>
              <a:ext uri="{FF2B5EF4-FFF2-40B4-BE49-F238E27FC236}">
                <ns2:creationId id="{76DACAA0-D657-4E82-8274-4EA211E4D22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2D297DB-E3D5-4602-8FC1-AF8DA442A5E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Soccer analytics with SkillCorner</a:t>
            </a:r>
          </a:p>
        </p:txBody>
      </p:sp>
      <p:sp>
        <p:nvSpPr>
          <p:cNvPr id="5" name="">
            <a:extLst>
              <a:ext uri="{FF2B5EF4-FFF2-40B4-BE49-F238E27FC236}">
                <ns2:creationId id="{B3330F01-339C-4FD1-B13A-BFCA61777E6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BB0BA2A-0385-4E9A-9D42-CF376F7ADCA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From coordinates to football questions</a:t>
            </a:r>
          </a:p>
        </p:txBody>
      </p:sp>
      <p:sp>
        <p:nvSpPr>
          <p:cNvPr id="7" name="">
            <a:extLst>
              <a:ext uri="{FF2B5EF4-FFF2-40B4-BE49-F238E27FC236}">
                <ns2:creationId id="{13BDC93D-89C5-4237-89DF-50805E85368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14CE74F-9F78-4AD5-9946-538737B83B2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Methods, assumptions and interpretation</a:t>
            </a:r>
          </a:p>
        </p:txBody>
      </p:sp>
      <p:pic>
        <p:nvPicPr>
          <p:cNvPr id="9" name="">
            <a:extLst>
              <a:ext uri="{FF2B5EF4-FFF2-40B4-BE49-F238E27FC236}">
                <ns2:creationId id="{7E11FC57-B307-40AE-8C25-A183AF5B8702}"/>
              </a:ext>
            </a:extLst>
          </p:cNvPr>
          <p:cNvPicPr>
            <a:picLocks noChangeAspect="1"/>
          </p:cNvPicPr>
          <p:nvPr/>
        </p:nvPicPr>
        <p:blipFill>
          <a:blip r:embed="Rb688811d08ee4cb9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A643595-9965-4245-94F3-AB4840553EC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3884EE10-D1A6-48F9-9714-041AB5369F4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 / 51</a:t>
            </a:r>
          </a:p>
        </p:txBody>
      </p:sp>
    </p:spTree>
    <p:extLst>
      <p:ext uri="{BB962C8B-B14F-4D97-AF65-F5344CB8AC3E}">
        <ns4:creationId val="1067535383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EDB78212-6F7C-4CFF-99D0-F895FBD362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6063E579-5972-4F25-BC61-D443FC9122E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Data and documentation</a:t>
            </a:r>
          </a:p>
        </p:txBody>
      </p:sp>
      <p:sp>
        <p:nvSpPr>
          <p:cNvPr id="3" name="">
            <a:extLst>
              <a:ext uri="{FF2B5EF4-FFF2-40B4-BE49-F238E27FC236}">
                <ns2:creationId id="{4B737467-560A-4B96-B961-EA614388DD2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F1D84E8-821C-4E04-8D11-D9370D17FEE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4"/>
              </a:rPr>
              <a:t>SkillCorner/opendata: tracking and supplied labels</a:t>
            </a:r>
          </a:p>
        </p:txBody>
      </p:sp>
      <p:sp>
        <p:nvSpPr>
          <p:cNvPr id="5" name="">
            <a:extLst>
              <a:ext uri="{FF2B5EF4-FFF2-40B4-BE49-F238E27FC236}">
                <ns2:creationId id="{7C4C0120-C4AD-49BA-9FB2-F4CE9F2FB23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46924D4-1C5D-4DBF-AE70-7F06A450450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5"/>
              </a:rPr>
              <a:t>kloppy: load and standardize</a:t>
            </a:r>
          </a:p>
        </p:txBody>
      </p:sp>
      <p:sp>
        <p:nvSpPr>
          <p:cNvPr id="7" name="">
            <a:extLst>
              <a:ext uri="{FF2B5EF4-FFF2-40B4-BE49-F238E27FC236}">
                <ns2:creationId id="{6A2AB569-EB7D-4B81-9D52-E4CFECCCB9E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1011EB6-C27D-4A3C-9664-D699679B05A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6"/>
              </a:rPr>
              <a:t>DataBallPy: metric explanations and models</a:t>
            </a:r>
          </a:p>
        </p:txBody>
      </p:sp>
      <p:pic>
        <p:nvPicPr>
          <p:cNvPr id="9" name="">
            <a:extLst>
              <a:ext uri="{FF2B5EF4-FFF2-40B4-BE49-F238E27FC236}">
                <ns2:creationId id="{A3E5907C-6B22-4EC3-9185-A964354BDF19}"/>
              </a:ext>
            </a:extLst>
          </p:cNvPr>
          <p:cNvPicPr>
            <a:picLocks noChangeAspect="1"/>
          </p:cNvPicPr>
          <p:nvPr/>
        </p:nvPicPr>
        <p:blipFill>
          <a:blip r:embed="R406f840567e443f8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3215CF4-208B-425A-994D-E4EFE1CD49A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7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623DC155-8330-43E0-9DA7-E5F9A5642F27}"/>
              </a:ext>
            </a:extLst>
          </p:cNvPr>
          <p:cNvSpPr>
            <a:spLocks noGrp="1"/>
          </p:cNvSpPr>
          <p:nvPr/>
        </p:nvSpPr>
        <p:spPr>
          <a:xfrm>
            <a:off x="4000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8"/>
              </a:rPr>
              <a:t>kloppy SkillCorner loader</a:t>
            </a:r>
          </a:p>
        </p:txBody>
      </p:sp>
      <p:sp>
        <p:nvSpPr>
          <p:cNvPr id="12" name="">
            <a:extLst>
              <a:ext uri="{FF2B5EF4-FFF2-40B4-BE49-F238E27FC236}">
                <ns2:creationId id="{5563AE93-4989-465B-908A-E4884B761CD5}"/>
              </a:ext>
            </a:extLst>
          </p:cNvPr>
          <p:cNvSpPr>
            <a:spLocks noGrp="1"/>
          </p:cNvSpPr>
          <p:nvPr/>
        </p:nvSpPr>
        <p:spPr>
          <a:xfrm>
            <a:off x="7429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9"/>
              </a:rPr>
              <a:t>DataBallPy covered distance</a:t>
            </a:r>
          </a:p>
        </p:txBody>
      </p:sp>
      <p:sp>
        <p:nvSpPr>
          <p:cNvPr id="13" name="">
            <a:extLst>
              <a:ext uri="{FF2B5EF4-FFF2-40B4-BE49-F238E27FC236}">
                <ns2:creationId id="{D6A1B9DF-D3A9-40F5-A5AA-90EE082AA33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 / 51</a:t>
            </a:r>
          </a:p>
        </p:txBody>
      </p:sp>
    </p:spTree>
    <p:extLst>
      <p:ext uri="{BB962C8B-B14F-4D97-AF65-F5344CB8AC3E}">
        <ns4:creationId val="1656869086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59EF0EC7-F310-4C67-95AD-B190E29F0E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EBDD41B-C4EE-4151-9174-8A965E92B4B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Loading tracking data</a:t>
            </a:r>
          </a:p>
        </p:txBody>
      </p:sp>
      <p:sp>
        <p:nvSpPr>
          <p:cNvPr id="3" name="">
            <a:extLst>
              <a:ext uri="{FF2B5EF4-FFF2-40B4-BE49-F238E27FC236}">
                <ns2:creationId id="{6928D448-3A75-4F28-99C1-5D40EA8FF27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C91FD51-7437-4E99-B832-B22E91F7EAA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Load match metadata and JSONL with kloppy</a:t>
            </a:r>
          </a:p>
        </p:txBody>
      </p:sp>
      <p:sp>
        <p:nvSpPr>
          <p:cNvPr id="5" name="">
            <a:extLst>
              <a:ext uri="{FF2B5EF4-FFF2-40B4-BE49-F238E27FC236}">
                <ns2:creationId id="{D3177C2B-E96B-4C7A-9A25-D489206175C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F4D4C20-3AB3-465B-851F-8B0F6502F9B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Retain frame IDs, periods and native metres</a:t>
            </a:r>
          </a:p>
        </p:txBody>
      </p:sp>
      <p:sp>
        <p:nvSpPr>
          <p:cNvPr id="7" name="">
            <a:extLst>
              <a:ext uri="{FF2B5EF4-FFF2-40B4-BE49-F238E27FC236}">
                <ns2:creationId id="{1D2980ED-2690-4093-9EC1-179FDEA836E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DA80B70-7EC1-4CED-B842-A53DA2A4E18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to a dataframe for analysis</a:t>
            </a:r>
          </a:p>
        </p:txBody>
      </p:sp>
      <p:pic>
        <p:nvPicPr>
          <p:cNvPr id="9" name="">
            <a:extLst>
              <a:ext uri="{FF2B5EF4-FFF2-40B4-BE49-F238E27FC236}">
                <ns2:creationId id="{E3BA33E6-7AF1-4F04-8C53-8810FEFC49C7}"/>
              </a:ext>
            </a:extLst>
          </p:cNvPr>
          <p:cNvPicPr>
            <a:picLocks noChangeAspect="1"/>
          </p:cNvPicPr>
          <p:nvPr/>
        </p:nvPicPr>
        <p:blipFill>
          <a:blip r:embed="R65855df341c54ba6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AB052B0-F801-4E46-A4ED-582D713C0FB6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5595409E-C412-4024-AA92-D85D172C263C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load and inspect</a:t>
            </a:r>
          </a:p>
        </p:txBody>
      </p:sp>
      <p:sp>
        <p:nvSpPr>
          <p:cNvPr id="12" name="">
            <a:extLst>
              <a:ext uri="{FF2B5EF4-FFF2-40B4-BE49-F238E27FC236}">
                <ns2:creationId id="{40E461F0-DC5F-4744-8E31-F7CFD6773A3A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kloppy SkillCorner loader</a:t>
            </a:r>
          </a:p>
        </p:txBody>
      </p:sp>
      <p:sp>
        <p:nvSpPr>
          <p:cNvPr id="13" name="">
            <a:extLst>
              <a:ext uri="{FF2B5EF4-FFF2-40B4-BE49-F238E27FC236}">
                <ns2:creationId id="{33811F1A-9E77-428E-AFFC-79AFD35AF12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 / 51</a:t>
            </a:r>
          </a:p>
        </p:txBody>
      </p:sp>
    </p:spTree>
    <p:extLst>
      <p:ext uri="{BB962C8B-B14F-4D97-AF65-F5344CB8AC3E}">
        <ns4:creationId val="155681920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993365F6-B6C6-436C-B797-667FF37805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A5FDE7D-577F-458E-B128-6142F24ED6A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quality and visibility</a:t>
            </a:r>
          </a:p>
        </p:txBody>
      </p:sp>
      <p:sp>
        <p:nvSpPr>
          <p:cNvPr id="3" name="">
            <a:extLst>
              <a:ext uri="{FF2B5EF4-FFF2-40B4-BE49-F238E27FC236}">
                <ns2:creationId id="{DE84731E-B769-45C8-9716-02960C41BBA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1567D59C-EBD8-4F60-9E18-9B1BEBAC044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detected from extrapolated positions</a:t>
            </a:r>
          </a:p>
        </p:txBody>
      </p:sp>
      <p:sp>
        <p:nvSpPr>
          <p:cNvPr id="5" name="">
            <a:extLst>
              <a:ext uri="{FF2B5EF4-FFF2-40B4-BE49-F238E27FC236}">
                <ns2:creationId id="{AB2AE5CA-413C-463D-A3E0-0DE0FC930EA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8A9D2A7-F7B8-4257-A15C-1EF9CB80D2AB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missingness and coverage visible</a:t>
            </a:r>
          </a:p>
        </p:txBody>
      </p:sp>
      <p:sp>
        <p:nvSpPr>
          <p:cNvPr id="7" name="">
            <a:extLst>
              <a:ext uri="{FF2B5EF4-FFF2-40B4-BE49-F238E27FC236}">
                <ns2:creationId id="{CDFEFDF3-8FAD-4957-8F66-AA29463CA54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D329B51-501D-402D-B3F2-9B9283FFC32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Avoid derivatives across gaps or periods</a:t>
            </a:r>
          </a:p>
        </p:txBody>
      </p:sp>
      <p:pic>
        <p:nvPicPr>
          <p:cNvPr id="9" name="">
            <a:extLst>
              <a:ext uri="{FF2B5EF4-FFF2-40B4-BE49-F238E27FC236}">
                <ns2:creationId id="{D7E627D7-4765-4E38-B631-F20DED03D18D}"/>
              </a:ext>
            </a:extLst>
          </p:cNvPr>
          <p:cNvPicPr>
            <a:picLocks noChangeAspect="1"/>
          </p:cNvPicPr>
          <p:nvPr/>
        </p:nvPicPr>
        <p:blipFill>
          <a:blip r:embed="R5625499f02ec4ce4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BABED11-A5F8-4BA8-8D90-7134F6E0228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161F860A-BB9A-4B51-8E79-CCCE87002D4F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2" name="">
            <a:extLst>
              <a:ext uri="{FF2B5EF4-FFF2-40B4-BE49-F238E27FC236}">
                <ns2:creationId id="{D6BFF5B4-20FC-4551-8CA6-BE19B10C87E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 / 51</a:t>
            </a:r>
          </a:p>
        </p:txBody>
      </p:sp>
    </p:spTree>
    <p:extLst>
      <p:ext uri="{BB962C8B-B14F-4D97-AF65-F5344CB8AC3E}">
        <ns4:creationId val="66147742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DD8B6BD-DFAF-4848-B363-25DAED84E5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2DA1F62-4997-49DB-A566-28642260680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Plotting a tracking frame</a:t>
            </a:r>
          </a:p>
        </p:txBody>
      </p:sp>
      <p:sp>
        <p:nvSpPr>
          <p:cNvPr id="3" name="">
            <a:extLst>
              <a:ext uri="{FF2B5EF4-FFF2-40B4-BE49-F238E27FC236}">
                <ns2:creationId id="{DB8C8058-98B9-49FD-9305-3887FCCA88C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02A7643-3D77-4471-AB61-F1F22FE676E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Draw the pitch in the data’s coordinate system</a:t>
            </a:r>
          </a:p>
        </p:txBody>
      </p:sp>
      <p:sp>
        <p:nvSpPr>
          <p:cNvPr id="5" name="">
            <a:extLst>
              <a:ext uri="{FF2B5EF4-FFF2-40B4-BE49-F238E27FC236}">
                <ns2:creationId id="{ED5BA2EB-F28F-4D79-B5AD-CC6AF5A6541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628EC3D-2765-4AFB-ACA9-CB11B0993B1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Color by team and identify the ball</a:t>
            </a:r>
          </a:p>
        </p:txBody>
      </p:sp>
      <p:sp>
        <p:nvSpPr>
          <p:cNvPr id="7" name="">
            <a:extLst>
              <a:ext uri="{FF2B5EF4-FFF2-40B4-BE49-F238E27FC236}">
                <ns2:creationId id="{9ABFFF9A-5643-490D-89FD-D4EDAB95F29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7C10B32-6D5E-4791-9FE6-1D241C63D05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direction before calculating goal-related features</a:t>
            </a:r>
          </a:p>
        </p:txBody>
      </p:sp>
      <p:pic>
        <p:nvPicPr>
          <p:cNvPr id="9" name="">
            <a:extLst>
              <a:ext uri="{FF2B5EF4-FFF2-40B4-BE49-F238E27FC236}">
                <ns2:creationId id="{1AD52642-82C4-4258-B9DE-F746D4235D1D}"/>
              </a:ext>
            </a:extLst>
          </p:cNvPr>
          <p:cNvPicPr>
            <a:picLocks noChangeAspect="1"/>
          </p:cNvPicPr>
          <p:nvPr/>
        </p:nvPicPr>
        <p:blipFill>
          <a:blip r:embed="R677634d21ac14a1d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BEC59A7-362A-4E64-AB23-AC3FCFB6D2D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54C9C8D6-4C57-4E9F-83AE-E27D17DF879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 / 51</a:t>
            </a:r>
          </a:p>
        </p:txBody>
      </p:sp>
    </p:spTree>
    <p:extLst>
      <p:ext uri="{BB962C8B-B14F-4D97-AF65-F5344CB8AC3E}">
        <ns4:creationId val="70262698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86A7A916-2137-46E0-BB56-F9C2FDBF55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009BEE9-59CF-4D2B-AE90-4DE72B27B71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Animating a sequence</a:t>
            </a:r>
          </a:p>
        </p:txBody>
      </p:sp>
      <p:sp>
        <p:nvSpPr>
          <p:cNvPr id="3" name="">
            <a:extLst>
              <a:ext uri="{FF2B5EF4-FFF2-40B4-BE49-F238E27FC236}">
                <ns2:creationId id="{FE411CE1-A5D2-4766-AAA7-041D59DD270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164AF2C-DBEF-4B67-B4E0-6B9B628A351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player identities consistent across frames</a:t>
            </a:r>
          </a:p>
        </p:txBody>
      </p:sp>
      <p:sp>
        <p:nvSpPr>
          <p:cNvPr id="5" name="">
            <a:extLst>
              <a:ext uri="{FF2B5EF4-FFF2-40B4-BE49-F238E27FC236}">
                <ns2:creationId id="{EAB97B42-9CF1-43DA-B0D6-B8DECE946DB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180DD2B-3364-4A7B-9901-A7D6C7CD690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playback to inspect motion and tactical context</a:t>
            </a:r>
          </a:p>
        </p:txBody>
      </p:sp>
      <p:sp>
        <p:nvSpPr>
          <p:cNvPr id="7" name="">
            <a:extLst>
              <a:ext uri="{FF2B5EF4-FFF2-40B4-BE49-F238E27FC236}">
                <ns2:creationId id="{EE5DEFCA-CE4B-4830-BAAD-7CD45284596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D9BCE21-4533-4DE5-BBB1-DE8AE8EF913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Overlay model outputs on the same sequence</a:t>
            </a:r>
          </a:p>
        </p:txBody>
      </p:sp>
      <p:pic>
        <p:nvPicPr>
          <p:cNvPr id="9" name="">
            <a:extLst>
              <a:ext uri="{FF2B5EF4-FFF2-40B4-BE49-F238E27FC236}">
                <ns2:creationId id="{5B862425-A3A3-45FC-9BD5-5E46EC422388}"/>
              </a:ext>
            </a:extLst>
          </p:cNvPr>
          <p:cNvPicPr>
            <a:picLocks noChangeAspect="1"/>
          </p:cNvPicPr>
          <p:nvPr/>
        </p:nvPicPr>
        <p:blipFill>
          <a:blip r:embed="R316c171fac41482d"/>
          <a:stretch/>
        </p:blipFill>
        <p:spPr>
          <a:xfrm>
            <a:off x="4095750" y="2561828"/>
            <a:ext cx="7620000" cy="1877219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63A3DED-EEC4-4BB1-8A84-5523034F6867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64952553-EEFD-4F81-B440-DDE6CE49FC14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play the sequence</a:t>
            </a:r>
          </a:p>
        </p:txBody>
      </p:sp>
      <p:sp>
        <p:nvSpPr>
          <p:cNvPr id="12" name="">
            <a:extLst>
              <a:ext uri="{FF2B5EF4-FFF2-40B4-BE49-F238E27FC236}">
                <ns2:creationId id="{0E28F022-5C77-4903-8F1F-65C2DC1609B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kloppy SkillCorner loader</a:t>
            </a:r>
          </a:p>
        </p:txBody>
      </p:sp>
      <p:sp>
        <p:nvSpPr>
          <p:cNvPr id="13" name="">
            <a:extLst>
              <a:ext uri="{FF2B5EF4-FFF2-40B4-BE49-F238E27FC236}">
                <ns2:creationId id="{32558BD5-1FA0-45F4-AA03-70D02A48B4D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Friends of Tracking: pitch control and EPV tutorials</a:t>
            </a:r>
          </a:p>
        </p:txBody>
      </p:sp>
      <p:sp>
        <p:nvSpPr>
          <p:cNvPr id="14" name="">
            <a:extLst>
              <a:ext uri="{FF2B5EF4-FFF2-40B4-BE49-F238E27FC236}">
                <ns2:creationId id="{62C8A980-98BE-49EA-A66D-362ED04B6E9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 / 51</a:t>
            </a:r>
          </a:p>
        </p:txBody>
      </p:sp>
    </p:spTree>
    <p:extLst>
      <p:ext uri="{BB962C8B-B14F-4D97-AF65-F5344CB8AC3E}">
        <ns4:creationId val="827309183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7B38A840-6E0E-4BC4-999B-5CA04FED3E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E24B96F-EFE3-466E-9B0F-09FB215E40E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Possession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4D70F650-1A05-42DE-B108-C72D1A47879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C57FC24-0F59-4A5F-8BD8-32A21E09DAE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Find the nearest player inside a candidate zone</a:t>
            </a:r>
          </a:p>
        </p:txBody>
      </p:sp>
      <p:sp>
        <p:nvSpPr>
          <p:cNvPr id="5" name="">
            <a:extLst>
              <a:ext uri="{FF2B5EF4-FFF2-40B4-BE49-F238E27FC236}">
                <ns2:creationId id="{C77959F2-B82E-43B7-A35B-0D017A09BEF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91558AA-7A9D-44AC-BF88-3E2908E3628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ball motion to distinguish touches from flyovers</a:t>
            </a:r>
          </a:p>
        </p:txBody>
      </p:sp>
      <p:sp>
        <p:nvSpPr>
          <p:cNvPr id="7" name="">
            <a:extLst>
              <a:ext uri="{FF2B5EF4-FFF2-40B4-BE49-F238E27FC236}">
                <ns2:creationId id="{EF8B2916-642C-46DE-91AD-2B8F73D0C71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5426D43-0132-4D46-BE69-0881CA80A93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Leave ambiguous frames unassigned</a:t>
            </a:r>
          </a:p>
        </p:txBody>
      </p:sp>
      <p:pic>
        <p:nvPicPr>
          <p:cNvPr id="9" name="">
            <a:extLst>
              <a:ext uri="{FF2B5EF4-FFF2-40B4-BE49-F238E27FC236}">
                <ns2:creationId id="{480DDB2B-4111-4F23-8732-DB749D2423DF}"/>
              </a:ext>
            </a:extLst>
          </p:cNvPr>
          <p:cNvPicPr>
            <a:picLocks noChangeAspect="1"/>
          </p:cNvPicPr>
          <p:nvPr/>
        </p:nvPicPr>
        <p:blipFill>
          <a:blip r:embed="Re3a6fe188592415b"/>
          <a:stretch/>
        </p:blipFill>
        <p:spPr>
          <a:xfrm>
            <a:off x="4246089" y="1333500"/>
            <a:ext cx="731932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6003A64-A67E-4E99-84F9-BF5EC011950C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DC77B43-B162-4360-B007-1A14F6EA727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inspect the candidate detector</a:t>
            </a:r>
          </a:p>
        </p:txBody>
      </p:sp>
      <p:sp>
        <p:nvSpPr>
          <p:cNvPr id="12" name="">
            <a:extLst>
              <a:ext uri="{FF2B5EF4-FFF2-40B4-BE49-F238E27FC236}">
                <ns2:creationId id="{983C8B70-6E48-42BD-B54F-08F0A22591B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preprocessing</a:t>
            </a:r>
          </a:p>
        </p:txBody>
      </p:sp>
      <p:sp>
        <p:nvSpPr>
          <p:cNvPr id="13" name="">
            <a:extLst>
              <a:ext uri="{FF2B5EF4-FFF2-40B4-BE49-F238E27FC236}">
                <ns2:creationId id="{729503A4-4774-4360-9836-87D89CBD631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4" name="">
            <a:extLst>
              <a:ext uri="{FF2B5EF4-FFF2-40B4-BE49-F238E27FC236}">
                <ns2:creationId id="{C28F2A5A-F727-48BA-9406-774A8BE4DDD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7 / 51</a:t>
            </a:r>
          </a:p>
        </p:txBody>
      </p:sp>
    </p:spTree>
    <p:extLst>
      <p:ext uri="{BB962C8B-B14F-4D97-AF65-F5344CB8AC3E}">
        <ns4:creationId val="1777635553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14191BE0-42D2-4A1F-A0E1-4E0B6CD5CD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F102D90-D2D5-48FA-9954-E1A5F34C10C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Pass-event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DDFFA808-E819-4E02-8164-7FFF0F2BEC2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9C60F69-6A6C-4E2A-B3DE-FC3B8831F3B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Detect release, ball travel and reception cues</a:t>
            </a:r>
          </a:p>
        </p:txBody>
      </p:sp>
      <p:sp>
        <p:nvSpPr>
          <p:cNvPr id="5" name="">
            <a:extLst>
              <a:ext uri="{FF2B5EF4-FFF2-40B4-BE49-F238E27FC236}">
                <ns2:creationId id="{9580A1E5-9D70-4FE3-9DA1-3D20FF0FCDE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C0FB0CD-E50F-4E78-A9C0-2782570DA65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 a change between plausible player possessions</a:t>
            </a:r>
          </a:p>
        </p:txBody>
      </p:sp>
      <p:sp>
        <p:nvSpPr>
          <p:cNvPr id="7" name="">
            <a:extLst>
              <a:ext uri="{FF2B5EF4-FFF2-40B4-BE49-F238E27FC236}">
                <ns2:creationId id="{A5498994-9C2F-4B97-83E9-B35A7B00842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D2CE243-3183-41C7-B488-EEECE8ECE62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Validate event timing against video or labels</a:t>
            </a:r>
          </a:p>
        </p:txBody>
      </p:sp>
      <p:pic>
        <p:nvPicPr>
          <p:cNvPr id="9" name="">
            <a:extLst>
              <a:ext uri="{FF2B5EF4-FFF2-40B4-BE49-F238E27FC236}">
                <ns2:creationId id="{0283E05D-19C4-4E58-B9EF-28A347F8497C}"/>
              </a:ext>
            </a:extLst>
          </p:cNvPr>
          <p:cNvPicPr>
            <a:picLocks noChangeAspect="1"/>
          </p:cNvPicPr>
          <p:nvPr/>
        </p:nvPicPr>
        <p:blipFill>
          <a:blip r:embed="R8f4b355548434819"/>
          <a:stretch/>
        </p:blipFill>
        <p:spPr>
          <a:xfrm>
            <a:off x="4905756" y="1333500"/>
            <a:ext cx="599998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9FE8D5F5-3123-4399-B185-4616DE6537A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PathCRF: player trajectories to events (2026)</a:t>
            </a:r>
          </a:p>
        </p:txBody>
      </p:sp>
      <p:sp>
        <p:nvSpPr>
          <p:cNvPr id="11" name="">
            <a:extLst>
              <a:ext uri="{FF2B5EF4-FFF2-40B4-BE49-F238E27FC236}">
                <ns2:creationId id="{6EE05103-75CF-4C57-AE34-59C19CCC803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2" name="">
            <a:extLst>
              <a:ext uri="{FF2B5EF4-FFF2-40B4-BE49-F238E27FC236}">
                <ns2:creationId id="{58CB8C73-6F7A-414E-B6AD-3E75D11898F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8 / 51</a:t>
            </a:r>
          </a:p>
        </p:txBody>
      </p:sp>
    </p:spTree>
    <p:extLst>
      <p:ext uri="{BB962C8B-B14F-4D97-AF65-F5344CB8AC3E}">
        <ns4:creationId val="29181874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303EC067-81EE-425A-BFD5-86AAE0FDED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8EC52A7-1759-432A-A0C3-5164197337D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Formation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6D39B57F-7A93-4F8E-8A0F-3E9C9410573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248FDD30-2A4B-4CDC-89ED-57A06016587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Remove team translation with centered coordinates</a:t>
            </a:r>
          </a:p>
        </p:txBody>
      </p:sp>
      <p:sp>
        <p:nvSpPr>
          <p:cNvPr id="5" name="">
            <a:extLst>
              <a:ext uri="{FF2B5EF4-FFF2-40B4-BE49-F238E27FC236}">
                <ns2:creationId id="{89C27891-0DC1-4399-B61C-A2B38D6BA5F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1121D47-D7A2-470D-8B9A-0933756C4B8B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in-possession and defensive samples</a:t>
            </a:r>
          </a:p>
        </p:txBody>
      </p:sp>
      <p:sp>
        <p:nvSpPr>
          <p:cNvPr id="7" name="">
            <a:extLst>
              <a:ext uri="{FF2B5EF4-FFF2-40B4-BE49-F238E27FC236}">
                <ns2:creationId id="{87A44A15-C459-437D-A09F-3129A9E49E1C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CB62A51-74BD-497D-8D6E-D81AA2ADBD9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stable role locations over a window</a:t>
            </a:r>
          </a:p>
        </p:txBody>
      </p:sp>
      <p:pic>
        <p:nvPicPr>
          <p:cNvPr id="9" name="">
            <a:extLst>
              <a:ext uri="{FF2B5EF4-FFF2-40B4-BE49-F238E27FC236}">
                <ns2:creationId id="{B16F5B21-BE1D-48C7-B67A-1B3FDBB92CDA}"/>
              </a:ext>
            </a:extLst>
          </p:cNvPr>
          <p:cNvPicPr>
            <a:picLocks noChangeAspect="1"/>
          </p:cNvPicPr>
          <p:nvPr/>
        </p:nvPicPr>
        <p:blipFill>
          <a:blip r:embed="R6ea6c3893a704533"/>
          <a:stretch/>
        </p:blipFill>
        <p:spPr>
          <a:xfrm>
            <a:off x="4095750" y="1430808"/>
            <a:ext cx="7620000" cy="4139259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A7251C0-3AF6-402A-A9B4-07E717BC718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Shaw &amp; Glickman: Dynamic Analysis of Team Strategy</a:t>
            </a:r>
          </a:p>
        </p:txBody>
      </p:sp>
      <p:sp>
        <p:nvSpPr>
          <p:cNvPr id="11" name="">
            <a:extLst>
              <a:ext uri="{FF2B5EF4-FFF2-40B4-BE49-F238E27FC236}">
                <ns2:creationId id="{098E2AE4-F5B0-463E-8B01-0D5E85697EA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9 / 51</a:t>
            </a:r>
          </a:p>
        </p:txBody>
      </p:sp>
    </p:spTree>
    <p:extLst>
      <p:ext uri="{BB962C8B-B14F-4D97-AF65-F5344CB8AC3E}">
        <ns4:creationId val="679800193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580078ED-1AF3-4C87-B14E-E6467F806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09E24CE-8A1F-416C-8BE8-251ED6922BB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Player-role and line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8BDBAF52-819F-41FB-BD53-F70C9EE6207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41B2EE4-3415-455B-B1C4-0188779CB67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Group longitudinal positions into candidate lines</a:t>
            </a:r>
          </a:p>
        </p:txBody>
      </p:sp>
      <p:sp>
        <p:nvSpPr>
          <p:cNvPr id="5" name="">
            <a:extLst>
              <a:ext uri="{FF2B5EF4-FFF2-40B4-BE49-F238E27FC236}">
                <ns2:creationId id="{2510ADD9-8EFD-42C0-9BB3-D4A229F936B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A3788A2-ACE0-486D-BAEB-A9A6FF0C6B6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Assign roles consistently through player exchanges</a:t>
            </a:r>
          </a:p>
        </p:txBody>
      </p:sp>
      <p:sp>
        <p:nvSpPr>
          <p:cNvPr id="7" name="">
            <a:extLst>
              <a:ext uri="{FF2B5EF4-FFF2-40B4-BE49-F238E27FC236}">
                <ns2:creationId id="{15DE5174-3E2F-4826-BF3B-CA7A5E07FA4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31C7090-56C5-411F-BDF4-22ADF296030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Treat cluster count as a modeling choice</a:t>
            </a:r>
          </a:p>
        </p:txBody>
      </p:sp>
      <p:pic>
        <p:nvPicPr>
          <p:cNvPr id="9" name="">
            <a:extLst>
              <a:ext uri="{FF2B5EF4-FFF2-40B4-BE49-F238E27FC236}">
                <ns2:creationId id="{84115C77-D7D0-4262-A349-2F91FF1172DE}"/>
              </a:ext>
            </a:extLst>
          </p:cNvPr>
          <p:cNvPicPr>
            <a:picLocks noChangeAspect="1"/>
          </p:cNvPicPr>
          <p:nvPr/>
        </p:nvPicPr>
        <p:blipFill>
          <a:blip r:embed="Rc39ff4471c4b4400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24D309D-DA3A-45C4-8C0F-B51B838845E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Shaw &amp; Glickman: Dynamic Analysis of Team Strategy</a:t>
            </a:r>
          </a:p>
        </p:txBody>
      </p:sp>
      <p:sp>
        <p:nvSpPr>
          <p:cNvPr id="11" name="">
            <a:extLst>
              <a:ext uri="{FF2B5EF4-FFF2-40B4-BE49-F238E27FC236}">
                <ns2:creationId id="{8AF47C57-60CE-4CD9-8E4F-E14CEF3EC088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10 / 51</a:t>
            </a:r>
          </a:p>
        </p:txBody>
      </p:sp>
    </p:spTree>
    <p:extLst>
      <p:ext uri="{BB962C8B-B14F-4D97-AF65-F5344CB8AC3E}">
        <ns4:creationId val="1077158865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9F5CA508-F94D-42CE-A3F2-64292EADD7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90B951C-82FD-4A92-97E3-7DCA6670F62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Phase-of-play segmentation</a:t>
            </a:r>
          </a:p>
        </p:txBody>
      </p:sp>
      <p:sp>
        <p:nvSpPr>
          <p:cNvPr id="3" name="">
            <a:extLst>
              <a:ext uri="{FF2B5EF4-FFF2-40B4-BE49-F238E27FC236}">
                <ns2:creationId id="{CA74639A-5A38-48E8-8F51-BF8AA2E80F5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98FD8C9-1B25-4475-A545-7E8D7664450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phases as intervals rather than single events</a:t>
            </a:r>
          </a:p>
        </p:txBody>
      </p:sp>
      <p:sp>
        <p:nvSpPr>
          <p:cNvPr id="5" name="">
            <a:extLst>
              <a:ext uri="{FF2B5EF4-FFF2-40B4-BE49-F238E27FC236}">
                <ns2:creationId id="{687B33E1-309F-4244-BBF9-4F2897E4BB3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8D9E792-9AEB-4F7A-9DAA-2428551AB44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Join intervals to tracking by period and frame</a:t>
            </a:r>
          </a:p>
        </p:txBody>
      </p:sp>
      <p:sp>
        <p:nvSpPr>
          <p:cNvPr id="7" name="">
            <a:extLst>
              <a:ext uri="{FF2B5EF4-FFF2-40B4-BE49-F238E27FC236}">
                <ns2:creationId id="{4710F407-E8CC-4F39-A77D-7391E17DB11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412F852-1804-47DC-8574-08D8BA1B8C0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structure and effort within tactical context</a:t>
            </a:r>
          </a:p>
        </p:txBody>
      </p:sp>
      <p:pic>
        <p:nvPicPr>
          <p:cNvPr id="9" name="">
            <a:extLst>
              <a:ext uri="{FF2B5EF4-FFF2-40B4-BE49-F238E27FC236}">
                <ns2:creationId id="{03C8EA21-7F65-43CE-A2D8-D128FCF7FA2D}"/>
              </a:ext>
            </a:extLst>
          </p:cNvPr>
          <p:cNvPicPr>
            <a:picLocks noChangeAspect="1"/>
          </p:cNvPicPr>
          <p:nvPr/>
        </p:nvPicPr>
        <p:blipFill>
          <a:blip r:embed="Re24a50a915b94122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FD92B69-A013-4DFC-98E4-89CBCD7CC3EB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426C60AA-4341-4380-8760-B6962A39757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join phase intervals</a:t>
            </a:r>
          </a:p>
        </p:txBody>
      </p:sp>
      <p:sp>
        <p:nvSpPr>
          <p:cNvPr id="12" name="">
            <a:extLst>
              <a:ext uri="{FF2B5EF4-FFF2-40B4-BE49-F238E27FC236}">
                <ns2:creationId id="{CF214BE7-BE55-42CA-9574-F6A4E6E6E5A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5FAF9DB0-1645-4694-850D-776F2FC25BF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Augmented possession and phases framework (2025)</a:t>
            </a:r>
          </a:p>
        </p:txBody>
      </p:sp>
      <p:sp>
        <p:nvSpPr>
          <p:cNvPr id="14" name="">
            <a:extLst>
              <a:ext uri="{FF2B5EF4-FFF2-40B4-BE49-F238E27FC236}">
                <ns2:creationId id="{94D0E98F-3F43-45A9-80CB-150D8DCF64B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11 / 51</a:t>
            </a:r>
          </a:p>
        </p:txBody>
      </p:sp>
    </p:spTree>
    <p:extLst>
      <p:ext uri="{BB962C8B-B14F-4D97-AF65-F5344CB8AC3E}">
        <ns4:creationId val="1730824990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72337F06-F4E6-4258-94FE-AC93D0DEA2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ABD3C45-BB84-4F0A-90BF-C8CCD086FAA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Estimating player speed</a:t>
            </a:r>
          </a:p>
        </p:txBody>
      </p:sp>
      <p:sp>
        <p:nvSpPr>
          <p:cNvPr id="3" name="">
            <a:extLst>
              <a:ext uri="{FF2B5EF4-FFF2-40B4-BE49-F238E27FC236}">
                <ns2:creationId id="{B1F94CBF-FA39-4DFC-A781-6D56082C928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61AC72ED-FC66-4D1F-846A-51839E7B152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Smooth positions within valid continuous segments</a:t>
            </a:r>
          </a:p>
        </p:txBody>
      </p:sp>
      <p:sp>
        <p:nvSpPr>
          <p:cNvPr id="5" name="">
            <a:extLst>
              <a:ext uri="{FF2B5EF4-FFF2-40B4-BE49-F238E27FC236}">
                <ns2:creationId id="{BFEB54D0-EB26-4C4C-9654-68A1B8A2332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B752DC4-0C18-44D0-B22E-4DA9958D148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Differentiate coordinates using elapsed time</a:t>
            </a:r>
          </a:p>
        </p:txBody>
      </p:sp>
      <p:sp>
        <p:nvSpPr>
          <p:cNvPr id="7" name="">
            <a:extLst>
              <a:ext uri="{FF2B5EF4-FFF2-40B4-BE49-F238E27FC236}">
                <ns2:creationId id="{BDB53497-21B6-4341-BF31-9FB25F19FCB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BBABA83-CBE2-4074-A7F3-8B65832B34D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m/s to km/h for running bands</a:t>
            </a:r>
          </a:p>
        </p:txBody>
      </p:sp>
      <p:pic>
        <p:nvPicPr>
          <p:cNvPr id="9" name="">
            <a:extLst>
              <a:ext uri="{FF2B5EF4-FFF2-40B4-BE49-F238E27FC236}">
                <ns2:creationId id="{0251D763-2787-47BF-B975-3BEDBCEF4838}"/>
              </a:ext>
            </a:extLst>
          </p:cNvPr>
          <p:cNvPicPr>
            <a:picLocks noChangeAspect="1"/>
          </p:cNvPicPr>
          <p:nvPr/>
        </p:nvPicPr>
        <p:blipFill>
          <a:blip r:embed="R3e8bf4b4c98a417d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2F42E23-D0EA-488A-9B18-86417A11702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preprocessing</a:t>
            </a:r>
          </a:p>
        </p:txBody>
      </p:sp>
      <p:sp>
        <p:nvSpPr>
          <p:cNvPr id="11" name="">
            <a:extLst>
              <a:ext uri="{FF2B5EF4-FFF2-40B4-BE49-F238E27FC236}">
                <ns2:creationId id="{3D27B684-7F7F-43F4-AAFC-7CC3886F057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12 / 51</a:t>
            </a:r>
          </a:p>
        </p:txBody>
      </p:sp>
    </p:spTree>
    <p:extLst>
      <p:ext uri="{BB962C8B-B14F-4D97-AF65-F5344CB8AC3E}">
        <ns4:creationId val="2046208188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1B121CA6-E0EF-463B-8DE9-DE3D6955EF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73F3060-A549-4C05-8C54-1477305153D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covered</a:t>
            </a:r>
          </a:p>
        </p:txBody>
      </p:sp>
      <p:sp>
        <p:nvSpPr>
          <p:cNvPr id="3" name="">
            <a:extLst>
              <a:ext uri="{FF2B5EF4-FFF2-40B4-BE49-F238E27FC236}">
                <ns2:creationId id="{355D104A-5794-4439-B150-D4E2B6D0CF3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B8216949-C27C-4E9F-B62F-8D5F9CF407D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speed across valid intervals</a:t>
            </a:r>
          </a:p>
        </p:txBody>
      </p:sp>
      <p:sp>
        <p:nvSpPr>
          <p:cNvPr id="5" name="">
            <a:extLst>
              <a:ext uri="{FF2B5EF4-FFF2-40B4-BE49-F238E27FC236}">
                <ns2:creationId id="{20DCAE8E-167C-49FF-9BEF-D124AA3C42C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7340FAD-6B9A-4506-82F8-AF369B28666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≈ Σ speed × Δt</a:t>
            </a:r>
          </a:p>
        </p:txBody>
      </p:sp>
      <p:sp>
        <p:nvSpPr>
          <p:cNvPr id="7" name="">
            <a:extLst>
              <a:ext uri="{FF2B5EF4-FFF2-40B4-BE49-F238E27FC236}">
                <ns2:creationId id="{900BE30F-91BA-406C-B3F1-3B0C56CD1C5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2B3A173-68F6-42D8-96CF-355BCA68ACC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Report coverage alongside the total</a:t>
            </a:r>
          </a:p>
        </p:txBody>
      </p:sp>
      <p:pic>
        <p:nvPicPr>
          <p:cNvPr id="9" name="">
            <a:extLst>
              <a:ext uri="{FF2B5EF4-FFF2-40B4-BE49-F238E27FC236}">
                <ns2:creationId id="{B662FCBA-18F6-47F4-93D6-5E1DC9FA2C2A}"/>
              </a:ext>
            </a:extLst>
          </p:cNvPr>
          <p:cNvPicPr>
            <a:picLocks noChangeAspect="1"/>
          </p:cNvPicPr>
          <p:nvPr/>
        </p:nvPicPr>
        <p:blipFill>
          <a:blip r:embed="Rfe575a6cebb14485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99ED0E5-71DA-465E-BCC3-CAB0886688F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covered distance</a:t>
            </a:r>
          </a:p>
        </p:txBody>
      </p:sp>
      <p:sp>
        <p:nvSpPr>
          <p:cNvPr id="11" name="">
            <a:extLst>
              <a:ext uri="{FF2B5EF4-FFF2-40B4-BE49-F238E27FC236}">
                <ns2:creationId id="{D7A3B8D5-A161-4D09-83DB-071FB517BB7B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physical thresholds and time-to metrics</a:t>
            </a:r>
          </a:p>
        </p:txBody>
      </p:sp>
      <p:sp>
        <p:nvSpPr>
          <p:cNvPr id="12" name="">
            <a:extLst>
              <a:ext uri="{FF2B5EF4-FFF2-40B4-BE49-F238E27FC236}">
                <ns2:creationId id="{A81EBDCA-3527-4E38-AB14-6A1D50079F6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13 / 51</a:t>
            </a:r>
          </a:p>
        </p:txBody>
      </p:sp>
    </p:spTree>
    <p:extLst>
      <p:ext uri="{BB962C8B-B14F-4D97-AF65-F5344CB8AC3E}">
        <ns4:creationId val="1357967259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329A7B41-A3E6-4B98-A2D3-8C74509613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FD94A54-0B48-40EC-AA59-B2443A15C28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High-speed and sprint distance</a:t>
            </a:r>
          </a:p>
        </p:txBody>
      </p:sp>
      <p:sp>
        <p:nvSpPr>
          <p:cNvPr id="3" name="">
            <a:extLst>
              <a:ext uri="{FF2B5EF4-FFF2-40B4-BE49-F238E27FC236}">
                <ns2:creationId id="{EBB1ED43-BB9A-49AA-A4AD-24BD6507A02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5A88EB8-F6B9-47E4-9CEF-54539243C12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HSR: documented men’s band 20–25 km/h</a:t>
            </a:r>
          </a:p>
        </p:txBody>
      </p:sp>
      <p:sp>
        <p:nvSpPr>
          <p:cNvPr id="5" name="">
            <a:extLst>
              <a:ext uri="{FF2B5EF4-FFF2-40B4-BE49-F238E27FC236}">
                <ns2:creationId id="{6BCECD38-1087-46DF-B342-7031B55C994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C42EFCC-EC5F-41E2-9688-19D7C371B4F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Sprint: above 25 km/h</a:t>
            </a:r>
          </a:p>
        </p:txBody>
      </p:sp>
      <p:sp>
        <p:nvSpPr>
          <p:cNvPr id="7" name="">
            <a:extLst>
              <a:ext uri="{FF2B5EF4-FFF2-40B4-BE49-F238E27FC236}">
                <ns2:creationId id="{3621A0A5-3216-423E-BE27-114DB4174D8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F02FB9C-F535-4E37-965E-80F7D39D27E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Accumulate distance separately in each band</a:t>
            </a:r>
          </a:p>
        </p:txBody>
      </p:sp>
      <p:pic>
        <p:nvPicPr>
          <p:cNvPr id="9" name="">
            <a:extLst>
              <a:ext uri="{FF2B5EF4-FFF2-40B4-BE49-F238E27FC236}">
                <ns2:creationId id="{88697FF5-8BF0-41BD-A580-E0AF7F9F43E4}"/>
              </a:ext>
            </a:extLst>
          </p:cNvPr>
          <p:cNvPicPr>
            <a:picLocks noChangeAspect="1"/>
          </p:cNvPicPr>
          <p:nvPr/>
        </p:nvPicPr>
        <p:blipFill>
          <a:blip r:embed="R6ab9b6b1229b4270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3DB82F49-CF02-4A15-9D99-F60BEA351B07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physical thresholds and time-to metrics</a:t>
            </a:r>
          </a:p>
        </p:txBody>
      </p:sp>
      <p:sp>
        <p:nvSpPr>
          <p:cNvPr id="11" name="">
            <a:extLst>
              <a:ext uri="{FF2B5EF4-FFF2-40B4-BE49-F238E27FC236}">
                <ns2:creationId id="{A76EB191-B2CB-4E06-8FDE-52A9B9996970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covered distance</a:t>
            </a:r>
          </a:p>
        </p:txBody>
      </p:sp>
      <p:sp>
        <p:nvSpPr>
          <p:cNvPr id="12" name="">
            <a:extLst>
              <a:ext uri="{FF2B5EF4-FFF2-40B4-BE49-F238E27FC236}">
                <ns2:creationId id="{2C2A335B-BA0E-453D-A9D9-0DE43A96E56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14 / 51</a:t>
            </a:r>
          </a:p>
        </p:txBody>
      </p:sp>
    </p:spTree>
    <p:extLst>
      <p:ext uri="{BB962C8B-B14F-4D97-AF65-F5344CB8AC3E}">
        <ns4:creationId val="207237962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17212A6-6DAD-4CAB-A1E1-ABE4F10136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BF7766A-18E0-486B-824C-4B19552F889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Sprint-effort counts</a:t>
            </a:r>
          </a:p>
        </p:txBody>
      </p:sp>
      <p:sp>
        <p:nvSpPr>
          <p:cNvPr id="3" name="">
            <a:extLst>
              <a:ext uri="{FF2B5EF4-FFF2-40B4-BE49-F238E27FC236}">
                <ns2:creationId id="{27EA1414-55EC-4F45-A7F9-2021DAE9D2A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63C46EF-63CD-4621-B948-CC46A525B10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Group consecutive threshold-exceeding frames</a:t>
            </a:r>
          </a:p>
        </p:txBody>
      </p:sp>
      <p:sp>
        <p:nvSpPr>
          <p:cNvPr id="5" name="">
            <a:extLst>
              <a:ext uri="{FF2B5EF4-FFF2-40B4-BE49-F238E27FC236}">
                <ns2:creationId id="{DC88104F-D7B2-4358-9765-EF8834019D5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50D9261-93F6-4617-A647-B2CAB3B5F80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Require a stated minimum duration</a:t>
            </a:r>
          </a:p>
        </p:txBody>
      </p:sp>
      <p:sp>
        <p:nvSpPr>
          <p:cNvPr id="7" name="">
            <a:extLst>
              <a:ext uri="{FF2B5EF4-FFF2-40B4-BE49-F238E27FC236}">
                <ns2:creationId id="{8DF10826-1B8C-4D4F-A8F9-4A15A2A9433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D61D69F-D1BC-4EAF-83C2-60BBE9BA85C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Define whether brief gaps are merged</a:t>
            </a:r>
          </a:p>
        </p:txBody>
      </p:sp>
      <p:pic>
        <p:nvPicPr>
          <p:cNvPr id="9" name="">
            <a:extLst>
              <a:ext uri="{FF2B5EF4-FFF2-40B4-BE49-F238E27FC236}">
                <ns2:creationId id="{719095C2-C3ED-45A9-A939-43FB39432B6F}"/>
              </a:ext>
            </a:extLst>
          </p:cNvPr>
          <p:cNvPicPr>
            <a:picLocks noChangeAspect="1"/>
          </p:cNvPicPr>
          <p:nvPr/>
        </p:nvPicPr>
        <p:blipFill>
          <a:blip r:embed="R65de8208718c487e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3EE2C83-E785-419F-8F0C-88A2AA922A8B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physical thresholds and time-to metrics</a:t>
            </a:r>
          </a:p>
        </p:txBody>
      </p:sp>
      <p:sp>
        <p:nvSpPr>
          <p:cNvPr id="11" name="">
            <a:extLst>
              <a:ext uri="{FF2B5EF4-FFF2-40B4-BE49-F238E27FC236}">
                <ns2:creationId id="{109FF363-0136-4C0E-AB4A-0CD197773AF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15 / 51</a:t>
            </a:r>
          </a:p>
        </p:txBody>
      </p:sp>
    </p:spTree>
    <p:extLst>
      <p:ext uri="{BB962C8B-B14F-4D97-AF65-F5344CB8AC3E}">
        <ns4:creationId val="162623269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15B2A1A7-D512-42AB-832B-C7E204A14E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FB7D5428-88C1-41F8-8172-B2BB46C7CBA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Acceleration and deceleration</a:t>
            </a:r>
          </a:p>
        </p:txBody>
      </p:sp>
      <p:sp>
        <p:nvSpPr>
          <p:cNvPr id="3" name="">
            <a:extLst>
              <a:ext uri="{FF2B5EF4-FFF2-40B4-BE49-F238E27FC236}">
                <ns2:creationId id="{5D9A595A-AE27-495D-97EB-0C578AA302E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63EE10F-73C0-4BAB-B549-DCAADDE2DC2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Differentiate scalar speed for speeding up or slowing down</a:t>
            </a:r>
          </a:p>
        </p:txBody>
      </p:sp>
      <p:sp>
        <p:nvSpPr>
          <p:cNvPr id="5" name="">
            <a:extLst>
              <a:ext uri="{FF2B5EF4-FFF2-40B4-BE49-F238E27FC236}">
                <ns2:creationId id="{42E0B03B-BCCF-477C-9007-A1938CB078F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E7CD774-E9E1-4D1B-9C54-4CB7AB9758E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signed acceleration distinct from vector magnitude</a:t>
            </a:r>
          </a:p>
        </p:txBody>
      </p:sp>
      <p:sp>
        <p:nvSpPr>
          <p:cNvPr id="7" name="">
            <a:extLst>
              <a:ext uri="{FF2B5EF4-FFF2-40B4-BE49-F238E27FC236}">
                <ns2:creationId id="{7805AB2E-DF9A-4EEC-AB18-0658B8E0BB0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CEE134D-EE8E-4D8D-AFD9-DCF08574671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duration as well as peak acceleration</a:t>
            </a:r>
          </a:p>
        </p:txBody>
      </p:sp>
      <p:pic>
        <p:nvPicPr>
          <p:cNvPr id="9" name="">
            <a:extLst>
              <a:ext uri="{FF2B5EF4-FFF2-40B4-BE49-F238E27FC236}">
                <ns2:creationId id="{59C1CDAA-D023-42A6-B7B1-C8D2819740C0}"/>
              </a:ext>
            </a:extLst>
          </p:cNvPr>
          <p:cNvPicPr>
            <a:picLocks noChangeAspect="1"/>
          </p:cNvPicPr>
          <p:nvPr/>
        </p:nvPicPr>
        <p:blipFill>
          <a:blip r:embed="R760771223d434cff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034618A-3335-46F7-A8A8-EA4631E8D68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preprocessing</a:t>
            </a:r>
          </a:p>
        </p:txBody>
      </p:sp>
      <p:sp>
        <p:nvSpPr>
          <p:cNvPr id="11" name="">
            <a:extLst>
              <a:ext uri="{FF2B5EF4-FFF2-40B4-BE49-F238E27FC236}">
                <ns2:creationId id="{4E78CAB4-2706-45F2-B3F8-BB4A532C97D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explosive accelerations</a:t>
            </a:r>
          </a:p>
        </p:txBody>
      </p:sp>
      <p:sp>
        <p:nvSpPr>
          <p:cNvPr id="12" name="">
            <a:extLst>
              <a:ext uri="{FF2B5EF4-FFF2-40B4-BE49-F238E27FC236}">
                <ns2:creationId id="{2FFF04FB-C75A-4796-9425-564927F57A50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16 / 51</a:t>
            </a:r>
          </a:p>
        </p:txBody>
      </p:sp>
    </p:spTree>
    <p:extLst>
      <p:ext uri="{BB962C8B-B14F-4D97-AF65-F5344CB8AC3E}">
        <ns4:creationId val="2122990914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E2261112-B3DA-4408-83AF-C57861EE65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F83B84C-5169-4C1E-A2D1-E69EC424E30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Time to high-speed running</a:t>
            </a:r>
          </a:p>
        </p:txBody>
      </p:sp>
      <p:sp>
        <p:nvSpPr>
          <p:cNvPr id="3" name="">
            <a:extLst>
              <a:ext uri="{FF2B5EF4-FFF2-40B4-BE49-F238E27FC236}">
                <ns2:creationId id="{93D9FC8E-D4FA-46E2-A970-9214CE1D87FC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22564B1-2DA2-4840-951B-EA1C84DF3759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 measures the 9 → 20 km/h interval</a:t>
            </a:r>
          </a:p>
        </p:txBody>
      </p:sp>
      <p:sp>
        <p:nvSpPr>
          <p:cNvPr id="5" name="">
            <a:extLst>
              <a:ext uri="{FF2B5EF4-FFF2-40B4-BE49-F238E27FC236}">
                <ns2:creationId id="{8611CAA7-0C88-401C-B9ED-F043C94CD2A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BD63C77-FB5F-48BC-B47B-657F3A4A6FF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a qualifying explosive acceleration</a:t>
            </a:r>
          </a:p>
        </p:txBody>
      </p:sp>
      <p:sp>
        <p:nvSpPr>
          <p:cNvPr id="7" name="">
            <a:extLst>
              <a:ext uri="{FF2B5EF4-FFF2-40B4-BE49-F238E27FC236}">
                <ns2:creationId id="{AE78DDF5-7711-4280-A1B5-36F8B32039E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34A7D23-6DA9-4418-ADD6-78408E16C79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speed trajectory, not just peak speed</a:t>
            </a:r>
          </a:p>
        </p:txBody>
      </p:sp>
      <p:pic>
        <p:nvPicPr>
          <p:cNvPr id="9" name="">
            <a:extLst>
              <a:ext uri="{FF2B5EF4-FFF2-40B4-BE49-F238E27FC236}">
                <ns2:creationId id="{B8EBB6CD-ED52-4EA2-934E-164BDCE05C89}"/>
              </a:ext>
            </a:extLst>
          </p:cNvPr>
          <p:cNvPicPr>
            <a:picLocks noChangeAspect="1"/>
          </p:cNvPicPr>
          <p:nvPr/>
        </p:nvPicPr>
        <p:blipFill>
          <a:blip r:embed="R8471575b3e4b42e8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154B1D4-30C1-4E9B-98AA-C0C462E45C2A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explosive accelerations</a:t>
            </a:r>
          </a:p>
        </p:txBody>
      </p:sp>
      <p:sp>
        <p:nvSpPr>
          <p:cNvPr id="11" name="">
            <a:extLst>
              <a:ext uri="{FF2B5EF4-FFF2-40B4-BE49-F238E27FC236}">
                <ns2:creationId id="{11A0C077-BEB4-4A12-B86A-65F5A5ECCB68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17 / 51</a:t>
            </a:r>
          </a:p>
        </p:txBody>
      </p:sp>
    </p:spTree>
    <p:extLst>
      <p:ext uri="{BB962C8B-B14F-4D97-AF65-F5344CB8AC3E}">
        <ns4:creationId val="657631266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C45CA827-27EE-4608-AA7F-964D573A4F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CC83F9F-2108-492D-B651-93AA18CEEFE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Time to sprint</a:t>
            </a:r>
          </a:p>
        </p:txBody>
      </p:sp>
      <p:sp>
        <p:nvSpPr>
          <p:cNvPr id="3" name="">
            <a:extLst>
              <a:ext uri="{FF2B5EF4-FFF2-40B4-BE49-F238E27FC236}">
                <ns2:creationId id="{EDF17223-2A1F-4DEA-8E8D-8DDA96869AB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CA3D04F-DBEB-4F5F-A7A8-2F703BCD805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 measures the 9 → 25 km/h interval</a:t>
            </a:r>
          </a:p>
        </p:txBody>
      </p:sp>
      <p:sp>
        <p:nvSpPr>
          <p:cNvPr id="5" name="">
            <a:extLst>
              <a:ext uri="{FF2B5EF4-FFF2-40B4-BE49-F238E27FC236}">
                <ns2:creationId id="{CD8BF323-639E-4A45-846C-F5FEBACB83E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BE8DAD1-1BD3-471F-A493-BD25AD242E3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 quick top speed does not imply a quick acceleration</a:t>
            </a:r>
          </a:p>
        </p:txBody>
      </p:sp>
      <p:sp>
        <p:nvSpPr>
          <p:cNvPr id="7" name="">
            <a:extLst>
              <a:ext uri="{FF2B5EF4-FFF2-40B4-BE49-F238E27FC236}">
                <ns2:creationId id="{BA0E573F-601F-4138-AE5A-31DAD3E63F8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3E12965-CA99-4AD6-BE75-65C32E6E59F0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the qualifying effort before reporting the metric</a:t>
            </a:r>
          </a:p>
        </p:txBody>
      </p:sp>
      <p:pic>
        <p:nvPicPr>
          <p:cNvPr id="9" name="">
            <a:extLst>
              <a:ext uri="{FF2B5EF4-FFF2-40B4-BE49-F238E27FC236}">
                <ns2:creationId id="{9B9EC2E3-EF6B-4C09-91EF-A1F66DC12D32}"/>
              </a:ext>
            </a:extLst>
          </p:cNvPr>
          <p:cNvPicPr>
            <a:picLocks noChangeAspect="1"/>
          </p:cNvPicPr>
          <p:nvPr/>
        </p:nvPicPr>
        <p:blipFill>
          <a:blip r:embed="Rf3b46827c7f94d85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FAD3FBAA-EA46-464F-975C-03C987BD9844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explosive accelerations</a:t>
            </a:r>
          </a:p>
        </p:txBody>
      </p:sp>
      <p:sp>
        <p:nvSpPr>
          <p:cNvPr id="11" name="">
            <a:extLst>
              <a:ext uri="{FF2B5EF4-FFF2-40B4-BE49-F238E27FC236}">
                <ns2:creationId id="{BD140FB4-03F7-4ADD-99E1-66FF1FFA697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18 / 51</a:t>
            </a:r>
          </a:p>
        </p:txBody>
      </p:sp>
    </p:spTree>
    <p:extLst>
      <p:ext uri="{BB962C8B-B14F-4D97-AF65-F5344CB8AC3E}">
        <ns4:creationId val="87635093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F54498D9-A9EC-4307-9EC7-F5D7D31DFD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6D673462-01D2-46F0-A015-66F5B989136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PSV-99: activity-based speed capacity</a:t>
            </a:r>
          </a:p>
        </p:txBody>
      </p:sp>
      <p:sp>
        <p:nvSpPr>
          <p:cNvPr id="3" name="">
            <a:extLst>
              <a:ext uri="{FF2B5EF4-FFF2-40B4-BE49-F238E27FC236}">
                <ns2:creationId id="{B02CADFB-FE90-4BA7-9F57-60575B807D87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210891F-67E7-426F-9891-6F34B102905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SkillCorner’s defined activity population</a:t>
            </a:r>
          </a:p>
        </p:txBody>
      </p:sp>
      <p:sp>
        <p:nvSpPr>
          <p:cNvPr id="5" name="">
            <a:extLst>
              <a:ext uri="{FF2B5EF4-FFF2-40B4-BE49-F238E27FC236}">
                <ns2:creationId id="{0D6D9CA2-DBB8-41C9-9213-08548E95A7C7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BC5D925-32DD-4823-B853-26E9B8AB6F3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Summarize high-speed activity rather than all frames</a:t>
            </a:r>
          </a:p>
        </p:txBody>
      </p:sp>
      <p:sp>
        <p:nvSpPr>
          <p:cNvPr id="7" name="">
            <a:extLst>
              <a:ext uri="{FF2B5EF4-FFF2-40B4-BE49-F238E27FC236}">
                <ns2:creationId id="{ED9C0091-B152-4BE5-85A1-4DD66558ADE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619B3D9-39B8-4FA7-9A85-923885AD996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Do not substitute an all-frame percentile</a:t>
            </a:r>
          </a:p>
        </p:txBody>
      </p:sp>
      <p:pic>
        <p:nvPicPr>
          <p:cNvPr id="9" name="">
            <a:extLst>
              <a:ext uri="{FF2B5EF4-FFF2-40B4-BE49-F238E27FC236}">
                <ns2:creationId id="{9206578E-E4E4-4377-A8EC-DC1F6BED1F25}"/>
              </a:ext>
            </a:extLst>
          </p:cNvPr>
          <p:cNvPicPr>
            <a:picLocks noChangeAspect="1"/>
          </p:cNvPicPr>
          <p:nvPr/>
        </p:nvPicPr>
        <p:blipFill>
          <a:blip r:embed="Rd4b6f8647110429d"/>
          <a:stretch/>
        </p:blipFill>
        <p:spPr>
          <a:xfrm>
            <a:off x="4246089" y="1333500"/>
            <a:ext cx="731932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E790BDE-BE8B-4EC9-8967-9516C03D59E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PSV-99 and Peak Velocity</a:t>
            </a:r>
          </a:p>
        </p:txBody>
      </p:sp>
      <p:sp>
        <p:nvSpPr>
          <p:cNvPr id="11" name="">
            <a:extLst>
              <a:ext uri="{FF2B5EF4-FFF2-40B4-BE49-F238E27FC236}">
                <ns2:creationId id="{C3601155-AE67-40D0-A265-F7596243E01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19 / 51</a:t>
            </a:r>
          </a:p>
        </p:txBody>
      </p:sp>
    </p:spTree>
    <p:extLst>
      <p:ext uri="{BB962C8B-B14F-4D97-AF65-F5344CB8AC3E}">
        <ns4:creationId val="1085802662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B4EE7274-F8A1-49C6-8E79-302E9DEDE5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537D146-6101-46AB-BEA4-F09D6F529BF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Peak Velocity: absolute top speed</a:t>
            </a:r>
          </a:p>
        </p:txBody>
      </p:sp>
      <p:sp>
        <p:nvSpPr>
          <p:cNvPr id="3" name="">
            <a:extLst>
              <a:ext uri="{FF2B5EF4-FFF2-40B4-BE49-F238E27FC236}">
                <ns2:creationId id="{0A02CD80-F517-46A2-A493-414791836E5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19AAB95-A958-4CA1-8984-C863587EC39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Identify the highest reliably measured speed</a:t>
            </a:r>
          </a:p>
        </p:txBody>
      </p:sp>
      <p:sp>
        <p:nvSpPr>
          <p:cNvPr id="5" name="">
            <a:extLst>
              <a:ext uri="{FF2B5EF4-FFF2-40B4-BE49-F238E27FC236}">
                <ns2:creationId id="{21EB7188-148F-43A9-9B14-8D7DE736A185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0BE1916-8CF9-43B9-883E-C0B434840A5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quality of the peak interval</a:t>
            </a:r>
          </a:p>
        </p:txBody>
      </p:sp>
      <p:sp>
        <p:nvSpPr>
          <p:cNvPr id="7" name="">
            <a:extLst>
              <a:ext uri="{FF2B5EF4-FFF2-40B4-BE49-F238E27FC236}">
                <ns2:creationId id="{B69D8725-152E-4FC7-B314-4F9D34596456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F5A6B48-E08C-4BE0-BB18-19AD5644B88E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sample maxima separate from production metrics</a:t>
            </a:r>
          </a:p>
        </p:txBody>
      </p:sp>
      <p:pic>
        <p:nvPicPr>
          <p:cNvPr id="9" name="">
            <a:extLst>
              <a:ext uri="{FF2B5EF4-FFF2-40B4-BE49-F238E27FC236}">
                <ns2:creationId id="{E1F05BF2-238A-482C-948C-2DFC2C0C377D}"/>
              </a:ext>
            </a:extLst>
          </p:cNvPr>
          <p:cNvPicPr>
            <a:picLocks noChangeAspect="1"/>
          </p:cNvPicPr>
          <p:nvPr/>
        </p:nvPicPr>
        <p:blipFill>
          <a:blip r:embed="Rb4d18f3bf23844d4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156151F-00D5-4F4D-BB75-88B176ECBBA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PSV-99 and Peak Velocity</a:t>
            </a:r>
          </a:p>
        </p:txBody>
      </p:sp>
      <p:sp>
        <p:nvSpPr>
          <p:cNvPr id="11" name="">
            <a:extLst>
              <a:ext uri="{FF2B5EF4-FFF2-40B4-BE49-F238E27FC236}">
                <ns2:creationId id="{CF004A3D-FB3C-4825-853C-5237892A644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20 / 51</a:t>
            </a:r>
          </a:p>
        </p:txBody>
      </p:sp>
    </p:spTree>
    <p:extLst>
      <p:ext uri="{BB962C8B-B14F-4D97-AF65-F5344CB8AC3E}">
        <ns4:creationId val="2122923283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7C60F43B-EC2B-425C-BB16-6B71903401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4FB4E4E-85FC-4DAE-9F32-7336CF17815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goals: shot quality</a:t>
            </a:r>
          </a:p>
        </p:txBody>
      </p:sp>
      <p:sp>
        <p:nvSpPr>
          <p:cNvPr id="3" name="">
            <a:extLst>
              <a:ext uri="{FF2B5EF4-FFF2-40B4-BE49-F238E27FC236}">
                <ns2:creationId id="{B44935DA-E26B-475F-962A-6961C2930E2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8D5EC72-1EE2-4C99-9B56-D4C4D3F2606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and angle form a simple feature baseline</a:t>
            </a:r>
          </a:p>
        </p:txBody>
      </p:sp>
      <p:sp>
        <p:nvSpPr>
          <p:cNvPr id="5" name="">
            <a:extLst>
              <a:ext uri="{FF2B5EF4-FFF2-40B4-BE49-F238E27FC236}">
                <ns2:creationId id="{0119C2F5-B03F-4ADF-97BA-D2843AA6CEF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A93048A-F9AC-4EA8-ABAF-8710EEF3928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adds keeper and defender context</a:t>
            </a:r>
          </a:p>
        </p:txBody>
      </p:sp>
      <p:sp>
        <p:nvSpPr>
          <p:cNvPr id="7" name="">
            <a:extLst>
              <a:ext uri="{FF2B5EF4-FFF2-40B4-BE49-F238E27FC236}">
                <ns2:creationId id="{3365E8C5-25D6-4FB7-B990-73BFBB91DF96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28B181D-0C2E-4D4D-B6E8-613192A227F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Fit and calibrate on many labeled shots</a:t>
            </a:r>
          </a:p>
        </p:txBody>
      </p:sp>
      <p:pic>
        <p:nvPicPr>
          <p:cNvPr id="9" name="">
            <a:extLst>
              <a:ext uri="{FF2B5EF4-FFF2-40B4-BE49-F238E27FC236}">
                <ns2:creationId id="{98E312E5-5DDA-47DA-A34E-EF1DBF46AB0C}"/>
              </a:ext>
            </a:extLst>
          </p:cNvPr>
          <p:cNvPicPr>
            <a:picLocks noChangeAspect="1"/>
          </p:cNvPicPr>
          <p:nvPr/>
        </p:nvPicPr>
        <p:blipFill>
          <a:blip r:embed="R0deea74a25ac4e5b"/>
          <a:stretch/>
        </p:blipFill>
        <p:spPr>
          <a:xfrm>
            <a:off x="4910814" y="1333500"/>
            <a:ext cx="598987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1A4571D-E2CA-4028-8282-1E7544E03BF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StatsBomb: Upgrading Expected Goals</a:t>
            </a:r>
          </a:p>
        </p:txBody>
      </p:sp>
      <p:sp>
        <p:nvSpPr>
          <p:cNvPr id="11" name="">
            <a:extLst>
              <a:ext uri="{FF2B5EF4-FFF2-40B4-BE49-F238E27FC236}">
                <ns2:creationId id="{603290BC-39BE-4BD6-84E9-80101A9F41A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21 / 51</a:t>
            </a:r>
          </a:p>
        </p:txBody>
      </p:sp>
    </p:spTree>
    <p:extLst>
      <p:ext uri="{BB962C8B-B14F-4D97-AF65-F5344CB8AC3E}">
        <ns4:creationId val="1243637479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2697D920-1ABB-419A-8BCB-D75847FC60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4C3EEF0-D747-4840-8406-A045EC19A1C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Threat: location value</a:t>
            </a:r>
          </a:p>
        </p:txBody>
      </p:sp>
      <p:sp>
        <p:nvSpPr>
          <p:cNvPr id="3" name="">
            <a:extLst>
              <a:ext uri="{FF2B5EF4-FFF2-40B4-BE49-F238E27FC236}">
                <ns2:creationId id="{BF2E06B3-9D63-4993-BB7C-1F0D2F3379D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B688B213-4E36-4207-BD71-9772F13B9AD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Divide the pitch into states</a:t>
            </a:r>
          </a:p>
        </p:txBody>
      </p:sp>
      <p:sp>
        <p:nvSpPr>
          <p:cNvPr id="5" name="">
            <a:extLst>
              <a:ext uri="{FF2B5EF4-FFF2-40B4-BE49-F238E27FC236}">
                <ns2:creationId id="{8BD90692-26C9-4C6A-9829-AF10083D293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2DFD260-4312-40C7-B76A-282A162DB8E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shooting reward with future movement value</a:t>
            </a:r>
          </a:p>
        </p:txBody>
      </p:sp>
      <p:sp>
        <p:nvSpPr>
          <p:cNvPr id="7" name="">
            <a:extLst>
              <a:ext uri="{FF2B5EF4-FFF2-40B4-BE49-F238E27FC236}">
                <ns2:creationId id="{08425251-F4AB-4A8D-B06D-347D137D452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EEA05F5-49D2-4ED9-95E5-012B55F5F96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Iterate the transition equation to value continuation</a:t>
            </a:r>
          </a:p>
        </p:txBody>
      </p:sp>
      <p:pic>
        <p:nvPicPr>
          <p:cNvPr id="9" name="">
            <a:extLst>
              <a:ext uri="{FF2B5EF4-FFF2-40B4-BE49-F238E27FC236}">
                <ns2:creationId id="{F85A8A1D-70C3-48EB-82CE-0F04FFE8AE65}"/>
              </a:ext>
            </a:extLst>
          </p:cNvPr>
          <p:cNvPicPr>
            <a:picLocks noChangeAspect="1"/>
          </p:cNvPicPr>
          <p:nvPr/>
        </p:nvPicPr>
        <p:blipFill>
          <a:blip r:embed="Rc80efde59e784f6a"/>
          <a:stretch/>
        </p:blipFill>
        <p:spPr>
          <a:xfrm>
            <a:off x="4427703" y="1333500"/>
            <a:ext cx="695609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96F6259-29E4-450E-BF97-D4DFB3A027C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Karun Singh: Expected Threat</a:t>
            </a:r>
          </a:p>
        </p:txBody>
      </p:sp>
      <p:sp>
        <p:nvSpPr>
          <p:cNvPr id="11" name="">
            <a:extLst>
              <a:ext uri="{FF2B5EF4-FFF2-40B4-BE49-F238E27FC236}">
                <ns2:creationId id="{29D00E96-BE9E-4BCB-8BB2-73F59E819B39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fitted xT methodology</a:t>
            </a:r>
          </a:p>
        </p:txBody>
      </p:sp>
      <p:sp>
        <p:nvSpPr>
          <p:cNvPr id="12" name="">
            <a:extLst>
              <a:ext uri="{FF2B5EF4-FFF2-40B4-BE49-F238E27FC236}">
                <ns2:creationId id="{2F4B6631-C3E6-4D6A-AABA-7C7CFFDE8AE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22 / 51</a:t>
            </a:r>
          </a:p>
        </p:txBody>
      </p:sp>
    </p:spTree>
    <p:extLst>
      <p:ext uri="{BB962C8B-B14F-4D97-AF65-F5344CB8AC3E}">
        <ns4:creationId val="198381094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AF897E5D-41DB-4032-A40A-A2ECEE865A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0F95623-F014-42D8-90A0-AA3B77D5F0C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Threat gained</a:t>
            </a:r>
          </a:p>
        </p:txBody>
      </p:sp>
      <p:sp>
        <p:nvSpPr>
          <p:cNvPr id="3" name="">
            <a:extLst>
              <a:ext uri="{FF2B5EF4-FFF2-40B4-BE49-F238E27FC236}">
                <ns2:creationId id="{1B920E15-D2E1-4585-9775-8E9C1DD2292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5FAF203-9D17-4AAD-9B2E-623CB84837F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Look up the value at both endpoints</a:t>
            </a:r>
          </a:p>
        </p:txBody>
      </p:sp>
      <p:sp>
        <p:nvSpPr>
          <p:cNvPr id="5" name="">
            <a:extLst>
              <a:ext uri="{FF2B5EF4-FFF2-40B4-BE49-F238E27FC236}">
                <ns2:creationId id="{1E58D290-6477-4CA0-92FC-1416A52D598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A8487DB-35D6-4CBC-80DC-558165C1158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Completed-action value: V(end) − V(start)</a:t>
            </a:r>
          </a:p>
        </p:txBody>
      </p:sp>
      <p:sp>
        <p:nvSpPr>
          <p:cNvPr id="7" name="">
            <a:extLst>
              <a:ext uri="{FF2B5EF4-FFF2-40B4-BE49-F238E27FC236}">
                <ns2:creationId id="{E6B261B7-FB58-41EB-9051-7C7365812DE6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E9B4EB4A-A338-44E3-A074-8970E9413C3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tracking context to explain what location-only xT misses</a:t>
            </a:r>
          </a:p>
        </p:txBody>
      </p:sp>
      <p:pic>
        <p:nvPicPr>
          <p:cNvPr id="9" name="">
            <a:extLst>
              <a:ext uri="{FF2B5EF4-FFF2-40B4-BE49-F238E27FC236}">
                <ns2:creationId id="{60B36FBB-8C9D-4090-9E26-51806616EED3}"/>
              </a:ext>
            </a:extLst>
          </p:cNvPr>
          <p:cNvPicPr>
            <a:picLocks noChangeAspect="1"/>
          </p:cNvPicPr>
          <p:nvPr/>
        </p:nvPicPr>
        <p:blipFill>
          <a:blip r:embed="Rc989ccc24317416a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6454D3C8-4CE3-4049-B87B-927D4B0DCFE6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E680DF6C-BED6-4151-B8EF-4D92A4697555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xT lookup and endpoint difference</a:t>
            </a:r>
          </a:p>
        </p:txBody>
      </p:sp>
      <p:sp>
        <p:nvSpPr>
          <p:cNvPr id="12" name="">
            <a:extLst>
              <a:ext uri="{FF2B5EF4-FFF2-40B4-BE49-F238E27FC236}">
                <ns2:creationId id="{F5D0E694-DDE6-48BF-9EF2-984B58EFC8BA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Karun Singh: Expected Threat</a:t>
            </a:r>
          </a:p>
        </p:txBody>
      </p:sp>
      <p:sp>
        <p:nvSpPr>
          <p:cNvPr id="13" name="">
            <a:extLst>
              <a:ext uri="{FF2B5EF4-FFF2-40B4-BE49-F238E27FC236}">
                <ns2:creationId id="{759DDAF6-C57E-4112-A762-1489B0DD27DA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fitted xT methodology</a:t>
            </a:r>
          </a:p>
        </p:txBody>
      </p:sp>
      <p:sp>
        <p:nvSpPr>
          <p:cNvPr id="14" name="">
            <a:extLst>
              <a:ext uri="{FF2B5EF4-FFF2-40B4-BE49-F238E27FC236}">
                <ns2:creationId id="{EEB405C0-5238-454D-B1C3-57046BEB56E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23 / 51</a:t>
            </a:r>
          </a:p>
        </p:txBody>
      </p:sp>
    </p:spTree>
    <p:extLst>
      <p:ext uri="{BB962C8B-B14F-4D97-AF65-F5344CB8AC3E}">
        <ns4:creationId val="354229073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7C17F29-3001-4600-9892-E5A663A7F5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5F944B8-84A7-4758-A398-593428C9E3E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Voronoi space control</a:t>
            </a:r>
          </a:p>
        </p:txBody>
      </p:sp>
      <p:sp>
        <p:nvSpPr>
          <p:cNvPr id="3" name="">
            <a:extLst>
              <a:ext uri="{FF2B5EF4-FFF2-40B4-BE49-F238E27FC236}">
                <ns2:creationId id="{76DF4562-3E41-4E11-A68D-D5ACF807D3D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91F053E-2AD1-4A4D-B96F-050AA8F1389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Assign every location to its closest player</a:t>
            </a:r>
          </a:p>
        </p:txBody>
      </p:sp>
      <p:sp>
        <p:nvSpPr>
          <p:cNvPr id="5" name="">
            <a:extLst>
              <a:ext uri="{FF2B5EF4-FFF2-40B4-BE49-F238E27FC236}">
                <ns2:creationId id="{07223768-978E-432F-9995-FC8A9E04222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DAC7720-B40B-4D83-B83C-C9E56172824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player regions by team</a:t>
            </a:r>
          </a:p>
        </p:txBody>
      </p:sp>
      <p:sp>
        <p:nvSpPr>
          <p:cNvPr id="7" name="">
            <a:extLst>
              <a:ext uri="{FF2B5EF4-FFF2-40B4-BE49-F238E27FC236}">
                <ns2:creationId id="{0A272D4F-22B6-411F-AEAF-0707A68E1FE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21CFAD6-C456-4B8A-BB8E-B0369AEFD83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as a geometric baseline</a:t>
            </a:r>
          </a:p>
        </p:txBody>
      </p:sp>
      <p:pic>
        <p:nvPicPr>
          <p:cNvPr id="9" name="">
            <a:extLst>
              <a:ext uri="{FF2B5EF4-FFF2-40B4-BE49-F238E27FC236}">
                <ns2:creationId id="{085D5131-ECF7-4A1E-92C3-91E87347EFAF}"/>
              </a:ext>
            </a:extLst>
          </p:cNvPr>
          <p:cNvPicPr>
            <a:picLocks noChangeAspect="1"/>
          </p:cNvPicPr>
          <p:nvPr/>
        </p:nvPicPr>
        <p:blipFill>
          <a:blip r:embed="R89024a1ac6f5436e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C2A7BDE-29F5-424F-B3A7-67ECAD6B22A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space occupation</a:t>
            </a:r>
          </a:p>
        </p:txBody>
      </p:sp>
      <p:sp>
        <p:nvSpPr>
          <p:cNvPr id="11" name="">
            <a:extLst>
              <a:ext uri="{FF2B5EF4-FFF2-40B4-BE49-F238E27FC236}">
                <ns2:creationId id="{82004CEE-B123-42BA-94FC-A41DE2AAEDB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24 / 51</a:t>
            </a:r>
          </a:p>
        </p:txBody>
      </p:sp>
    </p:spTree>
    <p:extLst>
      <p:ext uri="{BB962C8B-B14F-4D97-AF65-F5344CB8AC3E}">
        <ns4:creationId val="15374510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915CEA9E-024D-4958-8D48-F996992564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899EED2-E6E7-482F-87B7-06A99EFB601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Gaussian player influence</a:t>
            </a:r>
          </a:p>
        </p:txBody>
      </p:sp>
      <p:sp>
        <p:nvSpPr>
          <p:cNvPr id="3" name="">
            <a:extLst>
              <a:ext uri="{FF2B5EF4-FFF2-40B4-BE49-F238E27FC236}">
                <ns2:creationId id="{C614DF39-4D81-4D2B-8B44-BC5325030F3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511A1F6-450E-4EAB-AA7D-F7D8F7BB19B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Project influence in the player’s movement direction</a:t>
            </a:r>
          </a:p>
        </p:txBody>
      </p:sp>
      <p:sp>
        <p:nvSpPr>
          <p:cNvPr id="5" name="">
            <a:extLst>
              <a:ext uri="{FF2B5EF4-FFF2-40B4-BE49-F238E27FC236}">
                <ns2:creationId id="{7F1DAB4C-33C5-46A1-B0BA-0ACC4E61B91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7543BF9-4BCB-4A69-AABD-3A7C93E3E9EC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Let covariance describe directional reach</a:t>
            </a:r>
          </a:p>
        </p:txBody>
      </p:sp>
      <p:sp>
        <p:nvSpPr>
          <p:cNvPr id="7" name="">
            <a:extLst>
              <a:ext uri="{FF2B5EF4-FFF2-40B4-BE49-F238E27FC236}">
                <ns2:creationId id="{F2184EFD-E2D8-476E-A383-2C98BFF96B6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0923537-6C9C-4780-AA04-907A63B2C9A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individual surface before aggregating</a:t>
            </a:r>
          </a:p>
        </p:txBody>
      </p:sp>
      <p:pic>
        <p:nvPicPr>
          <p:cNvPr id="9" name="">
            <a:extLst>
              <a:ext uri="{FF2B5EF4-FFF2-40B4-BE49-F238E27FC236}">
                <ns2:creationId id="{44142274-0C30-4BBF-AF61-38FA30A84FD2}"/>
              </a:ext>
            </a:extLst>
          </p:cNvPr>
          <p:cNvPicPr>
            <a:picLocks noChangeAspect="1"/>
          </p:cNvPicPr>
          <p:nvPr/>
        </p:nvPicPr>
        <p:blipFill>
          <a:blip r:embed="R92c211bdd126404e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AF506D8-A78F-4D44-B6B0-5C2F7B73F4E4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Wide Open Spaces, Fernández &amp; Bornn (2018)</a:t>
            </a:r>
          </a:p>
        </p:txBody>
      </p:sp>
      <p:sp>
        <p:nvSpPr>
          <p:cNvPr id="11" name="">
            <a:extLst>
              <a:ext uri="{FF2B5EF4-FFF2-40B4-BE49-F238E27FC236}">
                <ns2:creationId id="{B6983074-B141-4B8D-B21C-5D374B4D63B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Space and Control in Soccer (2021)</a:t>
            </a:r>
          </a:p>
        </p:txBody>
      </p:sp>
      <p:sp>
        <p:nvSpPr>
          <p:cNvPr id="12" name="">
            <a:extLst>
              <a:ext uri="{FF2B5EF4-FFF2-40B4-BE49-F238E27FC236}">
                <ns2:creationId id="{D10AA5EB-7884-4EA3-8D42-9C1EEF775CC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25 / 51</a:t>
            </a:r>
          </a:p>
        </p:txBody>
      </p:sp>
    </p:spTree>
    <p:extLst>
      <p:ext uri="{BB962C8B-B14F-4D97-AF65-F5344CB8AC3E}">
        <ns4:creationId val="64300786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95CB93A2-D292-49F4-ADF1-FADE6F8486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202AF4E-044F-4B0C-8E05-D97E0AFF5C0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Gaussian team control</a:t>
            </a:r>
          </a:p>
        </p:txBody>
      </p:sp>
      <p:sp>
        <p:nvSpPr>
          <p:cNvPr id="3" name="">
            <a:extLst>
              <a:ext uri="{FF2B5EF4-FFF2-40B4-BE49-F238E27FC236}">
                <ns2:creationId id="{E9900296-4F30-4C86-B491-6BBA33D6445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765C26F-DD9E-4074-980B-54878367CBE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individual influence by team</a:t>
            </a:r>
          </a:p>
        </p:txBody>
      </p:sp>
      <p:sp>
        <p:nvSpPr>
          <p:cNvPr id="5" name="">
            <a:extLst>
              <a:ext uri="{FF2B5EF4-FFF2-40B4-BE49-F238E27FC236}">
                <ns2:creationId id="{D698F1AF-9541-4141-BEB3-4F3F91BCC7C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27E5D9B-C26C-434F-ADE5-D984482F579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team influence continuously across the pitch</a:t>
            </a:r>
          </a:p>
        </p:txBody>
      </p:sp>
      <p:sp>
        <p:nvSpPr>
          <p:cNvPr id="7" name="">
            <a:extLst>
              <a:ext uri="{FF2B5EF4-FFF2-40B4-BE49-F238E27FC236}">
                <ns2:creationId id="{2AE3025C-643F-4CD8-BDE1-195910A715A7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DC9CAAE-81D8-4451-A328-EB82568E0E8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Interpret the result as an influence score</a:t>
            </a:r>
          </a:p>
        </p:txBody>
      </p:sp>
      <p:pic>
        <p:nvPicPr>
          <p:cNvPr id="9" name="">
            <a:extLst>
              <a:ext uri="{FF2B5EF4-FFF2-40B4-BE49-F238E27FC236}">
                <ns2:creationId id="{614C7E90-E006-4C4A-96F4-D525F55B4439}"/>
              </a:ext>
            </a:extLst>
          </p:cNvPr>
          <p:cNvPicPr>
            <a:picLocks noChangeAspect="1"/>
          </p:cNvPicPr>
          <p:nvPr/>
        </p:nvPicPr>
        <p:blipFill>
          <a:blip r:embed="Rc9dafb77e0f248bc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B470918-DAE9-4B0F-9FAE-7B1441F7CFE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Wide Open Spaces, Fernández &amp; Bornn (2018)</a:t>
            </a:r>
          </a:p>
        </p:txBody>
      </p:sp>
      <p:sp>
        <p:nvSpPr>
          <p:cNvPr id="11" name="">
            <a:extLst>
              <a:ext uri="{FF2B5EF4-FFF2-40B4-BE49-F238E27FC236}">
                <ns2:creationId id="{BC0B4A8C-D66E-4142-ACAD-1B9B4064383F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space occupation</a:t>
            </a:r>
          </a:p>
        </p:txBody>
      </p:sp>
      <p:sp>
        <p:nvSpPr>
          <p:cNvPr id="12" name="">
            <a:extLst>
              <a:ext uri="{FF2B5EF4-FFF2-40B4-BE49-F238E27FC236}">
                <ns2:creationId id="{379CAD4F-5E7C-4AD4-900E-339134A12A8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26 / 51</a:t>
            </a:r>
          </a:p>
        </p:txBody>
      </p:sp>
    </p:spTree>
    <p:extLst>
      <p:ext uri="{BB962C8B-B14F-4D97-AF65-F5344CB8AC3E}">
        <ns4:creationId val="1128228568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720AD6E1-AD8A-4ABC-924F-F6089EC90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F1D5EBA2-4914-4EC6-8320-36B8CA432A1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Arrival-time control</a:t>
            </a:r>
          </a:p>
        </p:txBody>
      </p:sp>
      <p:sp>
        <p:nvSpPr>
          <p:cNvPr id="3" name="">
            <a:extLst>
              <a:ext uri="{FF2B5EF4-FFF2-40B4-BE49-F238E27FC236}">
                <ns2:creationId id="{DDAC4FFB-3106-4EB6-84F7-1E9BCB9DA1A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78EB3D9-5744-4B1C-A6CD-E115F288344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reaction and travel time to each location</a:t>
            </a:r>
          </a:p>
        </p:txBody>
      </p:sp>
      <p:sp>
        <p:nvSpPr>
          <p:cNvPr id="5" name="">
            <a:extLst>
              <a:ext uri="{FF2B5EF4-FFF2-40B4-BE49-F238E27FC236}">
                <ns2:creationId id="{0692C88E-7157-48A9-95F2-FB52380BAEF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54A65D3-964B-4BBC-8AFA-9B7BF21945C0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earliest arrival for each team</a:t>
            </a:r>
          </a:p>
        </p:txBody>
      </p:sp>
      <p:sp>
        <p:nvSpPr>
          <p:cNvPr id="7" name="">
            <a:extLst>
              <a:ext uri="{FF2B5EF4-FFF2-40B4-BE49-F238E27FC236}">
                <ns2:creationId id="{42559072-0116-4933-A8C7-E1B18499743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48E51B0-BBFE-42C5-9241-7CF5189EEDDC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Test sensitivity to movement assumptions</a:t>
            </a:r>
          </a:p>
        </p:txBody>
      </p:sp>
      <p:pic>
        <p:nvPicPr>
          <p:cNvPr id="9" name="">
            <a:extLst>
              <a:ext uri="{FF2B5EF4-FFF2-40B4-BE49-F238E27FC236}">
                <ns2:creationId id="{E707C48C-A32A-4DE1-81BE-67F0827A2230}"/>
              </a:ext>
            </a:extLst>
          </p:cNvPr>
          <p:cNvPicPr>
            <a:picLocks noChangeAspect="1"/>
          </p:cNvPicPr>
          <p:nvPr/>
        </p:nvPicPr>
        <p:blipFill>
          <a:blip r:embed="Rb7d3b9a2d4864980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C57C0F2-C3A6-4837-B149-DFDEDD3D2F8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Space and Control in Soccer (2021)</a:t>
            </a:r>
          </a:p>
        </p:txBody>
      </p:sp>
      <p:sp>
        <p:nvSpPr>
          <p:cNvPr id="11" name="">
            <a:extLst>
              <a:ext uri="{FF2B5EF4-FFF2-40B4-BE49-F238E27FC236}">
                <ns2:creationId id="{01927B29-A073-45F0-8611-B1C94C652E2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Beyond Expected Goals, Spearman (2018)</a:t>
            </a:r>
          </a:p>
        </p:txBody>
      </p:sp>
      <p:sp>
        <p:nvSpPr>
          <p:cNvPr id="12" name="">
            <a:extLst>
              <a:ext uri="{FF2B5EF4-FFF2-40B4-BE49-F238E27FC236}">
                <ns2:creationId id="{DC4EEDDA-342A-4C64-8619-E7E1747D4E8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27 / 51</a:t>
            </a:r>
          </a:p>
        </p:txBody>
      </p:sp>
    </p:spTree>
    <p:extLst>
      <p:ext uri="{BB962C8B-B14F-4D97-AF65-F5344CB8AC3E}">
        <ns4:creationId val="1122990926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EDFE590C-179B-4AD1-9374-87EBCEBB52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EB5FD06-F1B2-4F45-A9E5-97DF8D61196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Ball-aware pitch control</a:t>
            </a:r>
          </a:p>
        </p:txBody>
      </p:sp>
      <p:sp>
        <p:nvSpPr>
          <p:cNvPr id="3" name="">
            <a:extLst>
              <a:ext uri="{FF2B5EF4-FFF2-40B4-BE49-F238E27FC236}">
                <ns2:creationId id="{64D3F1BA-B4C4-48D1-9F92-FC700F4A6B0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293F1B7-4546-49D5-B494-E1D2EE709103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how long the ball takes to reach a target</a:t>
            </a:r>
          </a:p>
        </p:txBody>
      </p:sp>
      <p:sp>
        <p:nvSpPr>
          <p:cNvPr id="5" name="">
            <a:extLst>
              <a:ext uri="{FF2B5EF4-FFF2-40B4-BE49-F238E27FC236}">
                <ns2:creationId id="{7453960B-44C3-4492-8D12-F6968764080E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8BE326A-66F7-48E3-9270-9EB9D720F7E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player interception and control over that interval</a:t>
            </a:r>
          </a:p>
        </p:txBody>
      </p:sp>
      <p:sp>
        <p:nvSpPr>
          <p:cNvPr id="7" name="">
            <a:extLst>
              <a:ext uri="{FF2B5EF4-FFF2-40B4-BE49-F238E27FC236}">
                <ns2:creationId id="{B27EB94C-FC3B-444C-B943-493741CF9AF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C002923-72B2-4A8E-B99F-DB8CFDC5B6F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competing control rates</a:t>
            </a:r>
          </a:p>
        </p:txBody>
      </p:sp>
      <p:pic>
        <p:nvPicPr>
          <p:cNvPr id="9" name="">
            <a:extLst>
              <a:ext uri="{FF2B5EF4-FFF2-40B4-BE49-F238E27FC236}">
                <ns2:creationId id="{3DDD327B-B427-4E83-BAEB-30150F0E8874}"/>
              </a:ext>
            </a:extLst>
          </p:cNvPr>
          <p:cNvPicPr>
            <a:picLocks noChangeAspect="1"/>
          </p:cNvPicPr>
          <p:nvPr/>
        </p:nvPicPr>
        <p:blipFill>
          <a:blip r:embed="R5ac67f62c96040dd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66CB3E72-22D2-46B2-BFE5-4B4EB05AC27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Beyond Expected Goals, Spearman (2018)</a:t>
            </a:r>
          </a:p>
        </p:txBody>
      </p:sp>
      <p:sp>
        <p:nvSpPr>
          <p:cNvPr id="11" name="">
            <a:extLst>
              <a:ext uri="{FF2B5EF4-FFF2-40B4-BE49-F238E27FC236}">
                <ns2:creationId id="{1285128C-0D0E-46BE-8878-A4C9E275C46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28 / 51</a:t>
            </a:r>
          </a:p>
        </p:txBody>
      </p:sp>
    </p:spTree>
    <p:extLst>
      <p:ext uri="{BB962C8B-B14F-4D97-AF65-F5344CB8AC3E}">
        <ns4:creationId val="556941633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DC8FF72B-A9B5-4B94-8773-16F92C20D1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1C4D7C2-C77C-4676-AE5E-F57C12E7EFB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pass completion</a:t>
            </a:r>
          </a:p>
        </p:txBody>
      </p:sp>
      <p:sp>
        <p:nvSpPr>
          <p:cNvPr id="3" name="">
            <a:extLst>
              <a:ext uri="{FF2B5EF4-FFF2-40B4-BE49-F238E27FC236}">
                <ns2:creationId id="{27D2807F-CD03-475B-8D40-F979331D3B2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0EF23D4-FFEB-478B-A31F-13E1A901F53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Specify a passer and candidate destination</a:t>
            </a:r>
          </a:p>
        </p:txBody>
      </p:sp>
      <p:sp>
        <p:nvSpPr>
          <p:cNvPr id="5" name="">
            <a:extLst>
              <a:ext uri="{FF2B5EF4-FFF2-40B4-BE49-F238E27FC236}">
                <ns2:creationId id="{A8FC8D0F-CD47-488C-ABF6-1351726949F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43F7467-30F4-4685-853B-3DB708E0CE7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ball travel and interception opportunities</a:t>
            </a:r>
          </a:p>
        </p:txBody>
      </p:sp>
      <p:sp>
        <p:nvSpPr>
          <p:cNvPr id="7" name="">
            <a:extLst>
              <a:ext uri="{FF2B5EF4-FFF2-40B4-BE49-F238E27FC236}">
                <ns2:creationId id="{3C027504-C71B-4255-97FA-6A1466146F3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630911C-35AC-4030-BB76-ED8B70D4BF3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reliability on labeled attempts</a:t>
            </a:r>
          </a:p>
        </p:txBody>
      </p:sp>
      <p:pic>
        <p:nvPicPr>
          <p:cNvPr id="9" name="">
            <a:extLst>
              <a:ext uri="{FF2B5EF4-FFF2-40B4-BE49-F238E27FC236}">
                <ns2:creationId id="{5B9CAA9C-09EC-473A-AF75-146540DC4873}"/>
              </a:ext>
            </a:extLst>
          </p:cNvPr>
          <p:cNvPicPr>
            <a:picLocks noChangeAspect="1"/>
          </p:cNvPicPr>
          <p:nvPr/>
        </p:nvPicPr>
        <p:blipFill>
          <a:blip r:embed="Rf840b1e8f7834e4a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7921FC1-E88F-43CD-B5F9-0EE8075EE703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99AF3D35-BD6B-49CC-BFBC-805A5B781BDF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candidate-pass risk</a:t>
            </a:r>
          </a:p>
        </p:txBody>
      </p:sp>
      <p:sp>
        <p:nvSpPr>
          <p:cNvPr id="12" name="">
            <a:extLst>
              <a:ext uri="{FF2B5EF4-FFF2-40B4-BE49-F238E27FC236}">
                <ns2:creationId id="{A6244BF4-0879-4191-A7DF-495BA32E8CE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DataBallPy DAS and expected completion</a:t>
            </a:r>
          </a:p>
        </p:txBody>
      </p:sp>
      <p:sp>
        <p:nvSpPr>
          <p:cNvPr id="13" name="">
            <a:extLst>
              <a:ext uri="{FF2B5EF4-FFF2-40B4-BE49-F238E27FC236}">
                <ns2:creationId id="{7F332C86-8F52-465E-9ECA-D6E02897F1CF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4" name="">
            <a:extLst>
              <a:ext uri="{FF2B5EF4-FFF2-40B4-BE49-F238E27FC236}">
                <ns2:creationId id="{3109C208-A4FE-4C6C-8A13-FC90475645E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29 / 51</a:t>
            </a:r>
          </a:p>
        </p:txBody>
      </p:sp>
    </p:spTree>
    <p:extLst>
      <p:ext uri="{BB962C8B-B14F-4D97-AF65-F5344CB8AC3E}">
        <ns4:creationId val="924397481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14F11A88-9B58-4974-8A49-811C3739F8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8A31FE2-421B-4E7E-8DBC-D6F52C24447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Accessible space</a:t>
            </a:r>
          </a:p>
        </p:txBody>
      </p:sp>
      <p:sp>
        <p:nvSpPr>
          <p:cNvPr id="3" name="">
            <a:extLst>
              <a:ext uri="{FF2B5EF4-FFF2-40B4-BE49-F238E27FC236}">
                <ns2:creationId id="{DF78CD56-7F02-4C52-AABE-0343A31609A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CBB5953-1630-4B44-BF36-6E6BDC53DEE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passes across directions and speeds</a:t>
            </a:r>
          </a:p>
        </p:txBody>
      </p:sp>
      <p:sp>
        <p:nvSpPr>
          <p:cNvPr id="5" name="">
            <a:extLst>
              <a:ext uri="{FF2B5EF4-FFF2-40B4-BE49-F238E27FC236}">
                <ns2:creationId id="{085E8944-FAEF-4824-97FF-704595CCB1D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7BD0AE0-9D31-4589-9485-EE1D2EB89327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where the attacking team can receive</a:t>
            </a:r>
          </a:p>
        </p:txBody>
      </p:sp>
      <p:sp>
        <p:nvSpPr>
          <p:cNvPr id="7" name="">
            <a:extLst>
              <a:ext uri="{FF2B5EF4-FFF2-40B4-BE49-F238E27FC236}">
                <ns2:creationId id="{CB94FFEC-AD03-4F4B-B801-442A361AD776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81A2F14-A70C-40C5-AAFB-D9E3622191A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accessibility across the pitch</a:t>
            </a:r>
          </a:p>
        </p:txBody>
      </p:sp>
      <p:pic>
        <p:nvPicPr>
          <p:cNvPr id="9" name="">
            <a:extLst>
              <a:ext uri="{FF2B5EF4-FFF2-40B4-BE49-F238E27FC236}">
                <ns2:creationId id="{88DFD459-491F-4ED3-BB55-070CD9CA9C1D}"/>
              </a:ext>
            </a:extLst>
          </p:cNvPr>
          <p:cNvPicPr>
            <a:picLocks noChangeAspect="1"/>
          </p:cNvPicPr>
          <p:nvPr/>
        </p:nvPicPr>
        <p:blipFill>
          <a:blip r:embed="R9ed9cef630b048ea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E196AF4-DEC7-440C-AFD3-BEED773A150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Dangerous Accessible Space: paper and implementation</a:t>
            </a:r>
          </a:p>
        </p:txBody>
      </p:sp>
      <p:sp>
        <p:nvSpPr>
          <p:cNvPr id="11" name="">
            <a:extLst>
              <a:ext uri="{FF2B5EF4-FFF2-40B4-BE49-F238E27FC236}">
                <ns2:creationId id="{02FE9E32-50DE-4E1F-9C50-F631BF7292A1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DAS and expected completion</a:t>
            </a:r>
          </a:p>
        </p:txBody>
      </p:sp>
      <p:sp>
        <p:nvSpPr>
          <p:cNvPr id="12" name="">
            <a:extLst>
              <a:ext uri="{FF2B5EF4-FFF2-40B4-BE49-F238E27FC236}">
                <ns2:creationId id="{31EFEC06-79BD-4A95-8C8E-32EE2D91816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30 / 51</a:t>
            </a:r>
          </a:p>
        </p:txBody>
      </p:sp>
    </p:spTree>
    <p:extLst>
      <p:ext uri="{BB962C8B-B14F-4D97-AF65-F5344CB8AC3E}">
        <ns4:creationId val="605586532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A100F0C3-F4A6-44A3-8CCC-5472AC25A8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8A844201-549C-4A6C-AD47-7F73F13D3EA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Dangerous accessible space</a:t>
            </a:r>
          </a:p>
        </p:txBody>
      </p:sp>
      <p:sp>
        <p:nvSpPr>
          <p:cNvPr id="3" name="">
            <a:extLst>
              <a:ext uri="{FF2B5EF4-FFF2-40B4-BE49-F238E27FC236}">
                <ns2:creationId id="{A3FEBD55-0512-4B53-B25D-C9F8CB42355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E8C5FB8-E49F-4963-9649-CC2679F8B96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Weight accessible locations by goal danger</a:t>
            </a:r>
          </a:p>
        </p:txBody>
      </p:sp>
      <p:sp>
        <p:nvSpPr>
          <p:cNvPr id="5" name="">
            <a:extLst>
              <a:ext uri="{FF2B5EF4-FFF2-40B4-BE49-F238E27FC236}">
                <ns2:creationId id="{B18E3A6A-E8A8-43F7-A6A0-6CE60811FF1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AF26CCEB-8FED-4F1F-99BE-D04CA9883B4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to obtain danger-weighted space</a:t>
            </a:r>
          </a:p>
        </p:txBody>
      </p:sp>
      <p:sp>
        <p:nvSpPr>
          <p:cNvPr id="7" name="">
            <a:extLst>
              <a:ext uri="{FF2B5EF4-FFF2-40B4-BE49-F238E27FC236}">
                <ns2:creationId id="{633C81EC-9438-492F-8120-605DF2E6C9B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B1AAEF0-DE7C-4F4C-B27A-0F26700CB0F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danger-weighted area distinct from scoring probability</a:t>
            </a:r>
          </a:p>
        </p:txBody>
      </p:sp>
      <p:pic>
        <p:nvPicPr>
          <p:cNvPr id="9" name="">
            <a:extLst>
              <a:ext uri="{FF2B5EF4-FFF2-40B4-BE49-F238E27FC236}">
                <ns2:creationId id="{4FD7AFD5-B443-4838-9201-07A216D5B615}"/>
              </a:ext>
            </a:extLst>
          </p:cNvPr>
          <p:cNvPicPr>
            <a:picLocks noChangeAspect="1"/>
          </p:cNvPicPr>
          <p:nvPr/>
        </p:nvPicPr>
        <p:blipFill>
          <a:blip r:embed="R0f66c3153ee248f8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B7F2D3F-8940-4471-9B36-58CC3484DDD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Dangerous Accessible Space: paper and implementation</a:t>
            </a:r>
          </a:p>
        </p:txBody>
      </p:sp>
      <p:sp>
        <p:nvSpPr>
          <p:cNvPr id="11" name="">
            <a:extLst>
              <a:ext uri="{FF2B5EF4-FFF2-40B4-BE49-F238E27FC236}">
                <ns2:creationId id="{04D70103-6C37-4918-9671-E4DC5B8682A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DAS and expected completion</a:t>
            </a:r>
          </a:p>
        </p:txBody>
      </p:sp>
      <p:sp>
        <p:nvSpPr>
          <p:cNvPr id="12" name="">
            <a:extLst>
              <a:ext uri="{FF2B5EF4-FFF2-40B4-BE49-F238E27FC236}">
                <ns2:creationId id="{797C4E5A-CF51-4C0B-9109-6400DDD55C3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31 / 51</a:t>
            </a:r>
          </a:p>
        </p:txBody>
      </p:sp>
    </p:spTree>
    <p:extLst>
      <p:ext uri="{BB962C8B-B14F-4D97-AF65-F5344CB8AC3E}">
        <ns4:creationId val="446965267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5119ABB4-533A-47D6-93D1-A54EFFB1BB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D4F0632-4E09-4CEC-9D44-9DAD25B85B3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Changes in dangerous space</a:t>
            </a:r>
          </a:p>
        </p:txBody>
      </p:sp>
      <p:sp>
        <p:nvSpPr>
          <p:cNvPr id="3" name="">
            <a:extLst>
              <a:ext uri="{FF2B5EF4-FFF2-40B4-BE49-F238E27FC236}">
                <ns2:creationId id="{0AA652C7-1D4A-4E05-9DC9-C27744D900C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7AFD307-51B8-4ABC-977E-0360181D1AF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model on successive real frames</a:t>
            </a:r>
          </a:p>
        </p:txBody>
      </p:sp>
      <p:sp>
        <p:nvSpPr>
          <p:cNvPr id="5" name="">
            <a:extLst>
              <a:ext uri="{FF2B5EF4-FFF2-40B4-BE49-F238E27FC236}">
                <ns2:creationId id="{35E8E25A-0934-44D2-83C3-72800A76EA5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B677258-8720-43B3-A6FF-599F5128ADC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Report AS and DAS on their own scales</a:t>
            </a:r>
          </a:p>
        </p:txBody>
      </p:sp>
      <p:sp>
        <p:nvSpPr>
          <p:cNvPr id="7" name="">
            <a:extLst>
              <a:ext uri="{FF2B5EF4-FFF2-40B4-BE49-F238E27FC236}">
                <ns2:creationId id="{06961258-9B00-44B3-A453-C4175099D6F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BD92BB0-8A30-46AF-9CC0-116AD652FAF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movements that change available options</a:t>
            </a:r>
          </a:p>
        </p:txBody>
      </p:sp>
      <p:pic>
        <p:nvPicPr>
          <p:cNvPr id="9" name="">
            <a:extLst>
              <a:ext uri="{FF2B5EF4-FFF2-40B4-BE49-F238E27FC236}">
                <ns2:creationId id="{B2B49F67-4B1C-4DE6-80E2-D5DB059F58E7}"/>
              </a:ext>
            </a:extLst>
          </p:cNvPr>
          <p:cNvPicPr>
            <a:picLocks noChangeAspect="1"/>
          </p:cNvPicPr>
          <p:nvPr/>
        </p:nvPicPr>
        <p:blipFill>
          <a:blip r:embed="R9beb95274bd6482d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67F0C40-5829-4336-8B0C-3E1383EE5B8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Dangerous Accessible Space: paper and implementation</a:t>
            </a:r>
          </a:p>
        </p:txBody>
      </p:sp>
      <p:sp>
        <p:nvSpPr>
          <p:cNvPr id="11" name="">
            <a:extLst>
              <a:ext uri="{FF2B5EF4-FFF2-40B4-BE49-F238E27FC236}">
                <ns2:creationId id="{BB82AC7C-8EF1-4E08-83C7-04D3304B9F88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32 / 51</a:t>
            </a:r>
          </a:p>
        </p:txBody>
      </p:sp>
    </p:spTree>
    <p:extLst>
      <p:ext uri="{BB962C8B-B14F-4D97-AF65-F5344CB8AC3E}">
        <ns4:creationId val="1385764823"/>
      </p:ext>
    </p:extLst>
  </p:cSld>
</p:sld>
</file>

<file path=ppt/slides/slide3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4142CD5D-8AC3-4FC3-A1C5-FB11AB7264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0345D834-16CA-4C32-B234-EF34EC8B35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Off-ball run threat</a:t>
            </a:r>
          </a:p>
        </p:txBody>
      </p:sp>
      <p:sp>
        <p:nvSpPr>
          <p:cNvPr id="3" name="">
            <a:extLst>
              <a:ext uri="{FF2B5EF4-FFF2-40B4-BE49-F238E27FC236}">
                <ns2:creationId id="{DDBE58E4-8092-4F62-AE73-5FF7B2324D0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5646B81-E6A0-4339-B264-236EA6C7EF7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a run even when no pass is made</a:t>
            </a:r>
          </a:p>
        </p:txBody>
      </p:sp>
      <p:sp>
        <p:nvSpPr>
          <p:cNvPr id="5" name="">
            <a:extLst>
              <a:ext uri="{FF2B5EF4-FFF2-40B4-BE49-F238E27FC236}">
                <ns2:creationId id="{31FC4D60-24ED-4330-BDFA-430971D7F457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F562AE6-B69E-4E76-9C92-8AAE7E3F6BD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SkillCorner’s target considers a run being served</a:t>
            </a:r>
          </a:p>
        </p:txBody>
      </p:sp>
      <p:sp>
        <p:nvSpPr>
          <p:cNvPr id="7" name="">
            <a:extLst>
              <a:ext uri="{FF2B5EF4-FFF2-40B4-BE49-F238E27FC236}">
                <ns2:creationId id="{BB24FED4-0E43-41DE-85A7-14B20329364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ABD8D69-B887-431C-91F4-BB6A22DD27D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run threat from location-based event xT</a:t>
            </a:r>
          </a:p>
        </p:txBody>
      </p:sp>
      <p:pic>
        <p:nvPicPr>
          <p:cNvPr id="9" name="">
            <a:extLst>
              <a:ext uri="{FF2B5EF4-FFF2-40B4-BE49-F238E27FC236}">
                <ns2:creationId id="{0408CE66-2893-4C6A-B58A-FDACED2F1E16}"/>
              </a:ext>
            </a:extLst>
          </p:cNvPr>
          <p:cNvPicPr>
            <a:picLocks noChangeAspect="1"/>
          </p:cNvPicPr>
          <p:nvPr/>
        </p:nvPicPr>
        <p:blipFill>
          <a:blip r:embed="R29262f7946e544de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DD19318A-2EAE-499B-9BB4-9EE560201E6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SkillCorner: Expected Threat for off-ball runs</a:t>
            </a:r>
          </a:p>
        </p:txBody>
      </p:sp>
      <p:sp>
        <p:nvSpPr>
          <p:cNvPr id="11" name="">
            <a:extLst>
              <a:ext uri="{FF2B5EF4-FFF2-40B4-BE49-F238E27FC236}">
                <ns2:creationId id="{66D93A2D-97BD-48CE-A488-1895135E8616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2" name="">
            <a:extLst>
              <a:ext uri="{FF2B5EF4-FFF2-40B4-BE49-F238E27FC236}">
                <ns2:creationId id="{E3EF3FB8-74FB-4D97-AE4B-EF4F683F2BD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33 / 51</a:t>
            </a:r>
          </a:p>
        </p:txBody>
      </p:sp>
    </p:spTree>
    <p:extLst>
      <p:ext uri="{BB962C8B-B14F-4D97-AF65-F5344CB8AC3E}">
        <ns4:creationId val="549521873"/>
      </p:ext>
    </p:extLst>
  </p:cSld>
</p:sld>
</file>

<file path=ppt/slides/slide3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606CD664-F78B-462A-949C-1AC2E21C07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766DAE7-17F8-49EE-BBE1-E872D74B694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as a spatial graph</a:t>
            </a:r>
          </a:p>
        </p:txBody>
      </p:sp>
      <p:sp>
        <p:nvSpPr>
          <p:cNvPr id="3" name="">
            <a:extLst>
              <a:ext uri="{FF2B5EF4-FFF2-40B4-BE49-F238E27FC236}">
                <ns2:creationId id="{FB0159D5-5DE1-4023-8F39-0054C36BD70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D96B4D1-CD42-4502-B743-1DCE25A76B3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players as nodes</a:t>
            </a:r>
          </a:p>
        </p:txBody>
      </p:sp>
      <p:sp>
        <p:nvSpPr>
          <p:cNvPr id="5" name="">
            <a:extLst>
              <a:ext uri="{FF2B5EF4-FFF2-40B4-BE49-F238E27FC236}">
                <ns2:creationId id="{38E6654D-A8F6-472B-A1B2-FEB2C5F5B2F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DB04786-CE0C-4B87-8942-2831E9BC14B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Choose relationships that define spatial edges</a:t>
            </a:r>
          </a:p>
        </p:txBody>
      </p:sp>
      <p:sp>
        <p:nvSpPr>
          <p:cNvPr id="7" name="">
            <a:extLst>
              <a:ext uri="{FF2B5EF4-FFF2-40B4-BE49-F238E27FC236}">
                <ns2:creationId id="{155881B1-C9CA-47C8-A1D0-AD9EC82F280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3695751-A34B-456F-A305-8CB29AE6964E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Preserve identities while avoiding arbitrary row-order effects</a:t>
            </a:r>
          </a:p>
        </p:txBody>
      </p:sp>
      <p:pic>
        <p:nvPicPr>
          <p:cNvPr id="9" name="">
            <a:extLst>
              <a:ext uri="{FF2B5EF4-FFF2-40B4-BE49-F238E27FC236}">
                <ns2:creationId id="{3D22AA03-568E-4FFE-9553-A71C94EC6B46}"/>
              </a:ext>
            </a:extLst>
          </p:cNvPr>
          <p:cNvPicPr>
            <a:picLocks noChangeAspect="1"/>
          </p:cNvPicPr>
          <p:nvPr/>
        </p:nvPicPr>
        <p:blipFill>
          <a:blip r:embed="Rd918631d189f43fe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57872B0-BF40-42C8-896D-51460DF624F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67837A81-FC55-4F12-801B-F1CB062A7EA3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TacticAI (2024)</a:t>
            </a:r>
          </a:p>
        </p:txBody>
      </p:sp>
      <p:sp>
        <p:nvSpPr>
          <p:cNvPr id="12" name="">
            <a:extLst>
              <a:ext uri="{FF2B5EF4-FFF2-40B4-BE49-F238E27FC236}">
                <ns2:creationId id="{C62869BA-963E-4418-A408-2818EFCDFF7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34 / 51</a:t>
            </a:r>
          </a:p>
        </p:txBody>
      </p:sp>
    </p:spTree>
    <p:extLst>
      <p:ext uri="{BB962C8B-B14F-4D97-AF65-F5344CB8AC3E}">
        <ns4:creationId val="943373204"/>
      </p:ext>
    </p:extLst>
  </p:cSld>
</p:sld>
</file>

<file path=ppt/slides/slide3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42A44909-2FBD-4BE8-9F97-24141616AB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1AC8AC0-ED87-4EFC-9652-E268AEC1CCC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Node and edge features</a:t>
            </a:r>
          </a:p>
        </p:txBody>
      </p:sp>
      <p:sp>
        <p:nvSpPr>
          <p:cNvPr id="3" name="">
            <a:extLst>
              <a:ext uri="{FF2B5EF4-FFF2-40B4-BE49-F238E27FC236}">
                <ns2:creationId id="{E8E991F2-8EF6-4927-A790-FA1C9958554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EC39048-C9A4-47CD-BCEA-4288FF9E0709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Nodes: position, velocity, team and possession</a:t>
            </a:r>
          </a:p>
        </p:txBody>
      </p:sp>
      <p:sp>
        <p:nvSpPr>
          <p:cNvPr id="5" name="">
            <a:extLst>
              <a:ext uri="{FF2B5EF4-FFF2-40B4-BE49-F238E27FC236}">
                <ns2:creationId id="{DABA38AA-B88B-4AC4-B974-82F8A5459BC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2B9CD90-CD12-4C6C-ABED-8673F85DB00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Edges: distance, relative position and team relation</a:t>
            </a:r>
          </a:p>
        </p:txBody>
      </p:sp>
      <p:sp>
        <p:nvSpPr>
          <p:cNvPr id="7" name="">
            <a:extLst>
              <a:ext uri="{FF2B5EF4-FFF2-40B4-BE49-F238E27FC236}">
                <ns2:creationId id="{98DADBDC-1E23-4C45-B648-BAFEED27EA7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8390EF2-39A1-409B-BFF6-8160C4D39CA5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Normalize and mask missing features explicitly</a:t>
            </a:r>
          </a:p>
        </p:txBody>
      </p:sp>
      <p:pic>
        <p:nvPicPr>
          <p:cNvPr id="9" name="">
            <a:extLst>
              <a:ext uri="{FF2B5EF4-FFF2-40B4-BE49-F238E27FC236}">
                <ns2:creationId id="{F7A9C752-C602-43CE-ABB5-B39B66025FAD}"/>
              </a:ext>
            </a:extLst>
          </p:cNvPr>
          <p:cNvPicPr>
            <a:picLocks noChangeAspect="1"/>
          </p:cNvPicPr>
          <p:nvPr/>
        </p:nvPicPr>
        <p:blipFill>
          <a:blip r:embed="R3051eaa0c1134a25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ADC7F36-FD5D-41F5-ABE8-A9A7C196ECF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7747E308-234F-4933-98AC-12203D62A73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35 / 51</a:t>
            </a:r>
          </a:p>
        </p:txBody>
      </p:sp>
    </p:spTree>
    <p:extLst>
      <p:ext uri="{BB962C8B-B14F-4D97-AF65-F5344CB8AC3E}">
        <ns4:creationId val="865567830"/>
      </p:ext>
    </p:extLst>
  </p:cSld>
</p:sld>
</file>

<file path=ppt/slides/slide3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CC9FF9A9-D689-416C-859C-1AFDA618B0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29163BF-3688-4499-A951-5D6DC9D7E02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Graph neural message passing</a:t>
            </a:r>
          </a:p>
        </p:txBody>
      </p:sp>
      <p:sp>
        <p:nvSpPr>
          <p:cNvPr id="3" name="">
            <a:extLst>
              <a:ext uri="{FF2B5EF4-FFF2-40B4-BE49-F238E27FC236}">
                <ns2:creationId id="{9015F5D1-BBAD-4B27-9DEE-FC3EFCE508F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BA149AB-943B-41CB-BD54-983BD838289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Create messages from players and their relationships</a:t>
            </a:r>
          </a:p>
        </p:txBody>
      </p:sp>
      <p:sp>
        <p:nvSpPr>
          <p:cNvPr id="5" name="">
            <a:extLst>
              <a:ext uri="{FF2B5EF4-FFF2-40B4-BE49-F238E27FC236}">
                <ns2:creationId id="{7472ACB6-239B-440F-92A3-C7BC4F02A0A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743705F-CBBD-4229-9BC2-5278772E519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neighbour messages with shared functions</a:t>
            </a:r>
          </a:p>
        </p:txBody>
      </p:sp>
      <p:sp>
        <p:nvSpPr>
          <p:cNvPr id="7" name="">
            <a:extLst>
              <a:ext uri="{FF2B5EF4-FFF2-40B4-BE49-F238E27FC236}">
                <ns2:creationId id="{158BF815-1A3A-4FAB-951C-FA7A3C4EF5E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C493DD2-652B-431B-AD6C-57A2A897F85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Update player representations for a prediction task</a:t>
            </a:r>
          </a:p>
        </p:txBody>
      </p:sp>
      <p:pic>
        <p:nvPicPr>
          <p:cNvPr id="9" name="">
            <a:extLst>
              <a:ext uri="{FF2B5EF4-FFF2-40B4-BE49-F238E27FC236}">
                <ns2:creationId id="{98E6AE46-27FE-46FC-B42B-0095B4235509}"/>
              </a:ext>
            </a:extLst>
          </p:cNvPr>
          <p:cNvPicPr>
            <a:picLocks noChangeAspect="1"/>
          </p:cNvPicPr>
          <p:nvPr/>
        </p:nvPicPr>
        <p:blipFill>
          <a:blip r:embed="R60bc8571ea654c8a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A80501A-4FED-43D2-BF14-C9A8584ECCA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TacticAI (2024)</a:t>
            </a:r>
          </a:p>
        </p:txBody>
      </p:sp>
      <p:sp>
        <p:nvSpPr>
          <p:cNvPr id="11" name="">
            <a:extLst>
              <a:ext uri="{FF2B5EF4-FFF2-40B4-BE49-F238E27FC236}">
                <ns2:creationId id="{41141FBC-F951-495F-9767-673F2E532804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DEFCON: GNN-based defensive EPV (2026)</a:t>
            </a:r>
          </a:p>
        </p:txBody>
      </p:sp>
      <p:sp>
        <p:nvSpPr>
          <p:cNvPr id="12" name="">
            <a:extLst>
              <a:ext uri="{FF2B5EF4-FFF2-40B4-BE49-F238E27FC236}">
                <ns2:creationId id="{883C7440-EE7F-4B93-90EB-2D3950890CB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36 / 51</a:t>
            </a:r>
          </a:p>
        </p:txBody>
      </p:sp>
    </p:spTree>
    <p:extLst>
      <p:ext uri="{BB962C8B-B14F-4D97-AF65-F5344CB8AC3E}">
        <ns4:creationId val="586598994"/>
      </p:ext>
    </p:extLst>
  </p:cSld>
</p:sld>
</file>

<file path=ppt/slides/slide3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10782650-36B4-4890-A96B-EC907F614B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C2B40FA-19B7-48F6-B354-C6D25FD9D59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node features</a:t>
            </a:r>
          </a:p>
        </p:txBody>
      </p:sp>
      <p:sp>
        <p:nvSpPr>
          <p:cNvPr id="3" name="">
            <a:extLst>
              <a:ext uri="{FF2B5EF4-FFF2-40B4-BE49-F238E27FC236}">
                <ns2:creationId id="{41137E6F-48EB-483A-8C78-84A4A35AAAD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7BFBDD9-0D0F-47AE-9185-14905B94565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Add lagged speed, displacement and relative movement</a:t>
            </a:r>
          </a:p>
        </p:txBody>
      </p:sp>
      <p:sp>
        <p:nvSpPr>
          <p:cNvPr id="5" name="">
            <a:extLst>
              <a:ext uri="{FF2B5EF4-FFF2-40B4-BE49-F238E27FC236}">
                <ns2:creationId id="{4FBC54DC-1BF2-4EEB-AAD1-137CA315A1A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B756190-A2C0-492E-BCC1-5F2AB3AEFFC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rolling history only up to prediction time</a:t>
            </a:r>
          </a:p>
        </p:txBody>
      </p:sp>
      <p:sp>
        <p:nvSpPr>
          <p:cNvPr id="7" name="">
            <a:extLst>
              <a:ext uri="{FF2B5EF4-FFF2-40B4-BE49-F238E27FC236}">
                <ns2:creationId id="{BF82B242-917B-4AAB-A80D-3E7F4B9BA25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45EFA84-02BB-4798-88F7-1B91A6676B95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Include elapsed time and missing-history masks</a:t>
            </a:r>
          </a:p>
        </p:txBody>
      </p:sp>
      <p:pic>
        <p:nvPicPr>
          <p:cNvPr id="9" name="">
            <a:extLst>
              <a:ext uri="{FF2B5EF4-FFF2-40B4-BE49-F238E27FC236}">
                <ns2:creationId id="{A157617A-E503-427F-B7F5-48D4412E8A0B}"/>
              </a:ext>
            </a:extLst>
          </p:cNvPr>
          <p:cNvPicPr>
            <a:picLocks noChangeAspect="1"/>
          </p:cNvPicPr>
          <p:nvPr/>
        </p:nvPicPr>
        <p:blipFill>
          <a:blip r:embed="R9d26d41e2ee14702"/>
          <a:stretch/>
        </p:blipFill>
        <p:spPr>
          <a:xfrm>
            <a:off x="4188868" y="1333500"/>
            <a:ext cx="743376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71EF776-13B6-42CC-85B7-63C32D67C76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6491ACA9-BD17-4D67-982F-1902AECB3144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lagged features and masks</a:t>
            </a:r>
          </a:p>
        </p:txBody>
      </p:sp>
      <p:sp>
        <p:nvSpPr>
          <p:cNvPr id="12" name="">
            <a:extLst>
              <a:ext uri="{FF2B5EF4-FFF2-40B4-BE49-F238E27FC236}">
                <ns2:creationId id="{CD452E9C-0DE1-476A-AAA0-33966AE7103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3" name="">
            <a:extLst>
              <a:ext uri="{FF2B5EF4-FFF2-40B4-BE49-F238E27FC236}">
                <ns2:creationId id="{3C3870FA-997E-4109-BB0C-A66F2DDB23F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4" name="">
            <a:extLst>
              <a:ext uri="{FF2B5EF4-FFF2-40B4-BE49-F238E27FC236}">
                <ns2:creationId id="{1C2FB441-60D1-4C29-87BF-8658B8AF69B0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37 / 51</a:t>
            </a:r>
          </a:p>
        </p:txBody>
      </p:sp>
    </p:spTree>
    <p:extLst>
      <p:ext uri="{BB962C8B-B14F-4D97-AF65-F5344CB8AC3E}">
        <ns4:creationId val="1898896063"/>
      </p:ext>
    </p:extLst>
  </p:cSld>
</p:sld>
</file>

<file path=ppt/slides/slide3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AE2D3B16-F7AF-4D41-9F65-E65AE0BD93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8EA21B3-CFF6-401F-80AD-783127F2E4B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Dynamic graphs over time</a:t>
            </a:r>
          </a:p>
        </p:txBody>
      </p:sp>
      <p:sp>
        <p:nvSpPr>
          <p:cNvPr id="3" name="">
            <a:extLst>
              <a:ext uri="{FF2B5EF4-FFF2-40B4-BE49-F238E27FC236}">
                <ns2:creationId id="{17AB5FD6-DC2B-42D1-98D5-CB9FD919DA77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D704D72-4E06-43E2-A24F-C3EB211A1DD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Recompute spatial edges as players move</a:t>
            </a:r>
          </a:p>
        </p:txBody>
      </p:sp>
      <p:sp>
        <p:nvSpPr>
          <p:cNvPr id="5" name="">
            <a:extLst>
              <a:ext uri="{FF2B5EF4-FFF2-40B4-BE49-F238E27FC236}">
                <ns2:creationId id="{96D2CA35-1856-4B53-AE63-586425B2A15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CB523DB-CE46-40FE-A8A1-37158749011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Maintain player identities across snapshots</a:t>
            </a:r>
          </a:p>
        </p:txBody>
      </p:sp>
      <p:sp>
        <p:nvSpPr>
          <p:cNvPr id="7" name="">
            <a:extLst>
              <a:ext uri="{FF2B5EF4-FFF2-40B4-BE49-F238E27FC236}">
                <ns2:creationId id="{36472FE6-0B58-4374-91B0-6801FDCF4E4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CC04000-4D26-4AA0-BD01-92C2CD6133DB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Model changing passing lanes and defensive relationships</a:t>
            </a:r>
          </a:p>
        </p:txBody>
      </p:sp>
      <p:pic>
        <p:nvPicPr>
          <p:cNvPr id="9" name="">
            <a:extLst>
              <a:ext uri="{FF2B5EF4-FFF2-40B4-BE49-F238E27FC236}">
                <ns2:creationId id="{6C348163-E902-4C7D-8529-5F8DAAD41513}"/>
              </a:ext>
            </a:extLst>
          </p:cNvPr>
          <p:cNvPicPr>
            <a:picLocks noChangeAspect="1"/>
          </p:cNvPicPr>
          <p:nvPr/>
        </p:nvPicPr>
        <p:blipFill>
          <a:blip r:embed="Ra7c377b28014432e"/>
          <a:stretch/>
        </p:blipFill>
        <p:spPr>
          <a:xfrm>
            <a:off x="4095750" y="2186781"/>
            <a:ext cx="7620000" cy="2627313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CEBE775-AAB6-416F-874F-A53FE3C8F99D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58F33713-16DC-421F-A54E-870796EB132E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2" name="">
            <a:extLst>
              <a:ext uri="{FF2B5EF4-FFF2-40B4-BE49-F238E27FC236}">
                <ns2:creationId id="{64824B2C-6ED5-49A7-8019-4779519C70B2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38 / 51</a:t>
            </a:r>
          </a:p>
        </p:txBody>
      </p:sp>
    </p:spTree>
    <p:extLst>
      <p:ext uri="{BB962C8B-B14F-4D97-AF65-F5344CB8AC3E}">
        <ns4:creationId val="436983443"/>
      </p:ext>
    </p:extLst>
  </p:cSld>
</p:sld>
</file>

<file path=ppt/slides/slide3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C319EE6C-CFFA-4558-BA8E-86F69FB504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EC493AA-CB1E-4FC1-BA62-48A5D0412FF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edges between snapshots</a:t>
            </a:r>
          </a:p>
        </p:txBody>
      </p:sp>
      <p:sp>
        <p:nvSpPr>
          <p:cNvPr id="3" name="">
            <a:extLst>
              <a:ext uri="{FF2B5EF4-FFF2-40B4-BE49-F238E27FC236}">
                <ns2:creationId id="{1118ADCC-AF8A-4E14-ADC7-22E8C9FB7AF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7E6BCB8-E5CF-4955-84C2-38B64306D84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Link each player to their previous observed state</a:t>
            </a:r>
          </a:p>
        </p:txBody>
      </p:sp>
      <p:sp>
        <p:nvSpPr>
          <p:cNvPr id="5" name="">
            <a:extLst>
              <a:ext uri="{FF2B5EF4-FFF2-40B4-BE49-F238E27FC236}">
                <ns2:creationId id="{CE849216-3AF9-4547-A4EE-6F5E17E0E76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89F5D7B-1A30-42EA-88BA-35CF0477BFC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Retain spatial edges within each frame</a:t>
            </a:r>
          </a:p>
        </p:txBody>
      </p:sp>
      <p:sp>
        <p:nvSpPr>
          <p:cNvPr id="7" name="">
            <a:extLst>
              <a:ext uri="{FF2B5EF4-FFF2-40B4-BE49-F238E27FC236}">
                <ns2:creationId id="{D7C00E3E-B91B-45E3-A686-F3BA8F0BAD3A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97D50F9-A814-45AB-B325-62943B2E4EA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Direct historical connections toward the prediction time</a:t>
            </a:r>
          </a:p>
        </p:txBody>
      </p:sp>
      <p:pic>
        <p:nvPicPr>
          <p:cNvPr id="9" name="">
            <a:extLst>
              <a:ext uri="{FF2B5EF4-FFF2-40B4-BE49-F238E27FC236}">
                <ns2:creationId id="{7BB2D090-DF09-49A1-8EC8-99B9C4A91C37}"/>
              </a:ext>
            </a:extLst>
          </p:cNvPr>
          <p:cNvPicPr>
            <a:picLocks noChangeAspect="1"/>
          </p:cNvPicPr>
          <p:nvPr/>
        </p:nvPicPr>
        <p:blipFill>
          <a:blip r:embed="R15f7465a5af8413f"/>
          <a:stretch/>
        </p:blipFill>
        <p:spPr>
          <a:xfrm>
            <a:off x="4258650" y="1333500"/>
            <a:ext cx="72941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2AEE39E-ADAF-4D39-9180-E1764E3F37E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PathCRF: player trajectories to events (2026)</a:t>
            </a:r>
          </a:p>
        </p:txBody>
      </p:sp>
      <p:sp>
        <p:nvSpPr>
          <p:cNvPr id="11" name="">
            <a:extLst>
              <a:ext uri="{FF2B5EF4-FFF2-40B4-BE49-F238E27FC236}">
                <ns2:creationId id="{254F1FFF-D659-459A-B1C0-7F95F404791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39 / 51</a:t>
            </a:r>
          </a:p>
        </p:txBody>
      </p:sp>
    </p:spTree>
    <p:extLst>
      <p:ext uri="{BB962C8B-B14F-4D97-AF65-F5344CB8AC3E}">
        <ns4:creationId val="1137254737"/>
      </p:ext>
    </p:extLst>
  </p:cSld>
</p:sld>
</file>

<file path=ppt/slides/slide4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23B2254F-649E-4093-9BC6-62A8A6AB81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648E206D-B715-4BB5-9133-5B3FDEECA6D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Recurrent temporal graph models</a:t>
            </a:r>
          </a:p>
        </p:txBody>
      </p:sp>
      <p:sp>
        <p:nvSpPr>
          <p:cNvPr id="3" name="">
            <a:extLst>
              <a:ext uri="{FF2B5EF4-FFF2-40B4-BE49-F238E27FC236}">
                <ns2:creationId id="{F7112F0F-908E-4956-9CEE-8C7CC3937B8C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6CA8A8F-3603-4D97-8F08-AE29963EBF0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Encode each frame with a spatial GNN</a:t>
            </a:r>
          </a:p>
        </p:txBody>
      </p:sp>
      <p:sp>
        <p:nvSpPr>
          <p:cNvPr id="5" name="">
            <a:extLst>
              <a:ext uri="{FF2B5EF4-FFF2-40B4-BE49-F238E27FC236}">
                <ns2:creationId id="{2752A30A-7EF4-40B6-B7CD-95C90AC7B7E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146CAEC-C580-4B32-9715-D0BBB0F1E860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Update a recurrent hidden state as frames arrive</a:t>
            </a:r>
          </a:p>
        </p:txBody>
      </p:sp>
      <p:sp>
        <p:nvSpPr>
          <p:cNvPr id="7" name="">
            <a:extLst>
              <a:ext uri="{FF2B5EF4-FFF2-40B4-BE49-F238E27FC236}">
                <ns2:creationId id="{B59719B2-7AD3-467F-BF9B-9B78F20BC85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428EE76-99B9-4336-AB54-A5E12E29424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Predict from the accumulated historical state</a:t>
            </a:r>
          </a:p>
        </p:txBody>
      </p:sp>
      <p:pic>
        <p:nvPicPr>
          <p:cNvPr id="9" name="">
            <a:extLst>
              <a:ext uri="{FF2B5EF4-FFF2-40B4-BE49-F238E27FC236}">
                <ns2:creationId id="{DF5B132B-951D-4554-9D68-C0753FF374F8}"/>
              </a:ext>
            </a:extLst>
          </p:cNvPr>
          <p:cNvPicPr>
            <a:picLocks noChangeAspect="1"/>
          </p:cNvPicPr>
          <p:nvPr/>
        </p:nvPicPr>
        <p:blipFill>
          <a:blip r:embed="Rc6b3f6c9690c42a6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B383D6AB-836A-4E80-A24C-48C412465FB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PyTorch Geometric Temporal architectures</a:t>
            </a:r>
          </a:p>
        </p:txBody>
      </p:sp>
      <p:sp>
        <p:nvSpPr>
          <p:cNvPr id="11" name="">
            <a:extLst>
              <a:ext uri="{FF2B5EF4-FFF2-40B4-BE49-F238E27FC236}">
                <ns2:creationId id="{61F8E564-9DD6-4555-A48E-557218D78F8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40 / 51</a:t>
            </a:r>
          </a:p>
        </p:txBody>
      </p:sp>
    </p:spTree>
    <p:extLst>
      <p:ext uri="{BB962C8B-B14F-4D97-AF65-F5344CB8AC3E}">
        <ns4:creationId val="448513158"/>
      </p:ext>
    </p:extLst>
  </p:cSld>
</p:sld>
</file>

<file path=ppt/slides/slide4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2FADF4F7-D004-4507-BAC7-18376C0F5F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80DCC382-A193-4438-8B13-A86DA9F6775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convolution on graph history</a:t>
            </a:r>
          </a:p>
        </p:txBody>
      </p:sp>
      <p:sp>
        <p:nvSpPr>
          <p:cNvPr id="3" name="">
            <a:extLst>
              <a:ext uri="{FF2B5EF4-FFF2-40B4-BE49-F238E27FC236}">
                <ns2:creationId id="{A417A7A2-F2D7-42FA-AFA9-595054934B8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5DF1358-4AEC-47A2-AF31-0D8DC24E31E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Stack frame-level graph embeddings over time</a:t>
            </a:r>
          </a:p>
        </p:txBody>
      </p:sp>
      <p:sp>
        <p:nvSpPr>
          <p:cNvPr id="5" name="">
            <a:extLst>
              <a:ext uri="{FF2B5EF4-FFF2-40B4-BE49-F238E27FC236}">
                <ns2:creationId id="{2AF8FD49-C823-4D2F-8A1A-9BB820D0C48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124BA98-A97E-40BD-87C9-0000AB7A508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Apply causal filters across historical windows</a:t>
            </a:r>
          </a:p>
        </p:txBody>
      </p:sp>
      <p:sp>
        <p:nvSpPr>
          <p:cNvPr id="7" name="">
            <a:extLst>
              <a:ext uri="{FF2B5EF4-FFF2-40B4-BE49-F238E27FC236}">
                <ns2:creationId id="{94AEC82D-43D1-48ED-821D-B2394AA1E99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114AF6A-A1C5-4F56-B0E8-6F4C04DA7F1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Control the receptive field with layers and dilation</a:t>
            </a:r>
          </a:p>
        </p:txBody>
      </p:sp>
      <p:pic>
        <p:nvPicPr>
          <p:cNvPr id="9" name="">
            <a:extLst>
              <a:ext uri="{FF2B5EF4-FFF2-40B4-BE49-F238E27FC236}">
                <ns2:creationId id="{BBEEF5A1-829A-4406-A2FA-CA3257740E44}"/>
              </a:ext>
            </a:extLst>
          </p:cNvPr>
          <p:cNvPicPr>
            <a:picLocks noChangeAspect="1"/>
          </p:cNvPicPr>
          <p:nvPr/>
        </p:nvPicPr>
        <p:blipFill>
          <a:blip r:embed="R7e278b50004148b3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F8C2B20-9252-4763-BF6B-14C8866EAFC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Temporal convolution for sequence modeling</a:t>
            </a:r>
          </a:p>
        </p:txBody>
      </p:sp>
      <p:sp>
        <p:nvSpPr>
          <p:cNvPr id="11" name="">
            <a:extLst>
              <a:ext uri="{FF2B5EF4-FFF2-40B4-BE49-F238E27FC236}">
                <ns2:creationId id="{38774BB9-AA11-4BC5-AD1B-86D984F178B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41 / 51</a:t>
            </a:r>
          </a:p>
        </p:txBody>
      </p:sp>
    </p:spTree>
    <p:extLst>
      <p:ext uri="{BB962C8B-B14F-4D97-AF65-F5344CB8AC3E}">
        <ns4:creationId val="680709347"/>
      </p:ext>
    </p:extLst>
  </p:cSld>
</p:sld>
</file>

<file path=ppt/slides/slide4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C939663A-5F34-4733-BA6F-7847CD5ED7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145CA24-6035-4B27-8EB6-B914F034833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Causal temporal attention</a:t>
            </a:r>
          </a:p>
        </p:txBody>
      </p:sp>
      <p:sp>
        <p:nvSpPr>
          <p:cNvPr id="3" name="">
            <a:extLst>
              <a:ext uri="{FF2B5EF4-FFF2-40B4-BE49-F238E27FC236}">
                <ns2:creationId id="{80638EAC-E4FC-4F5D-9DB1-086427FA248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3A457C9-03EE-451F-B37D-390BCB5DC9B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Add time information to historical graph embeddings</a:t>
            </a:r>
          </a:p>
        </p:txBody>
      </p:sp>
      <p:sp>
        <p:nvSpPr>
          <p:cNvPr id="5" name="">
            <a:extLst>
              <a:ext uri="{FF2B5EF4-FFF2-40B4-BE49-F238E27FC236}">
                <ns2:creationId id="{7A7932D9-239F-4A38-90F4-9B20EB21434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10D24DE-30DC-43DD-A5E9-FDA85B913E27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Attend to relevant earlier states</a:t>
            </a:r>
          </a:p>
        </p:txBody>
      </p:sp>
      <p:sp>
        <p:nvSpPr>
          <p:cNvPr id="7" name="">
            <a:extLst>
              <a:ext uri="{FF2B5EF4-FFF2-40B4-BE49-F238E27FC236}">
                <ns2:creationId id="{8F295804-F114-4707-94A8-F1E5DE72FA8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3454578-EBC9-4363-9F0E-2CA087B4468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Mask future frames and missing observations</a:t>
            </a:r>
          </a:p>
        </p:txBody>
      </p:sp>
      <p:pic>
        <p:nvPicPr>
          <p:cNvPr id="9" name="">
            <a:extLst>
              <a:ext uri="{FF2B5EF4-FFF2-40B4-BE49-F238E27FC236}">
                <ns2:creationId id="{C6EACBF0-7B23-4B14-A4C7-17F312844405}"/>
              </a:ext>
            </a:extLst>
          </p:cNvPr>
          <p:cNvPicPr>
            <a:picLocks noChangeAspect="1"/>
          </p:cNvPicPr>
          <p:nvPr/>
        </p:nvPicPr>
        <p:blipFill>
          <a:blip r:embed="R93f79a959cc14cea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9EB2BA8-FBFC-4278-8D9C-AD52B51EE6B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Attention Is All You Need</a:t>
            </a:r>
          </a:p>
        </p:txBody>
      </p:sp>
      <p:sp>
        <p:nvSpPr>
          <p:cNvPr id="11" name="">
            <a:extLst>
              <a:ext uri="{FF2B5EF4-FFF2-40B4-BE49-F238E27FC236}">
                <ns2:creationId id="{E720EE2D-39A0-4967-8CE8-EBBEE109AF19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PyTorch Geometric Temporal architectures</a:t>
            </a:r>
          </a:p>
        </p:txBody>
      </p:sp>
      <p:sp>
        <p:nvSpPr>
          <p:cNvPr id="12" name="">
            <a:extLst>
              <a:ext uri="{FF2B5EF4-FFF2-40B4-BE49-F238E27FC236}">
                <ns2:creationId id="{83EC3E8A-9314-4147-B731-AE175B94EEB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42 / 51</a:t>
            </a:r>
          </a:p>
        </p:txBody>
      </p:sp>
    </p:spTree>
    <p:extLst>
      <p:ext uri="{BB962C8B-B14F-4D97-AF65-F5344CB8AC3E}">
        <ns4:creationId val="755264574"/>
      </p:ext>
    </p:extLst>
  </p:cSld>
</p:sld>
</file>

<file path=ppt/slides/slide4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0E567E8C-6372-4CFF-ABFC-7EBE94D1C1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7496A21-74AA-4248-8142-F2FAE873F94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Spatiotemporal message passing</a:t>
            </a:r>
          </a:p>
        </p:txBody>
      </p:sp>
      <p:sp>
        <p:nvSpPr>
          <p:cNvPr id="3" name="">
            <a:extLst>
              <a:ext uri="{FF2B5EF4-FFF2-40B4-BE49-F238E27FC236}">
                <ns2:creationId id="{40AD54E0-D841-45FA-8C9F-A3D445D53BE7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1FA9113-1FA5-4D9E-BBFF-EC73A9CCF55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Connect spatial neighbors within each frame</a:t>
            </a:r>
          </a:p>
        </p:txBody>
      </p:sp>
      <p:sp>
        <p:nvSpPr>
          <p:cNvPr id="5" name="">
            <a:extLst>
              <a:ext uri="{FF2B5EF4-FFF2-40B4-BE49-F238E27FC236}">
                <ns2:creationId id="{21F770DA-DCBE-42B2-912D-372876FF1265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0F7B170-B357-4C82-B2F7-1DAC06FE4BA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Connect player identities across observed time</a:t>
            </a:r>
          </a:p>
        </p:txBody>
      </p:sp>
      <p:sp>
        <p:nvSpPr>
          <p:cNvPr id="7" name="">
            <a:extLst>
              <a:ext uri="{FF2B5EF4-FFF2-40B4-BE49-F238E27FC236}">
                <ns2:creationId id="{2BC3C555-5E03-4980-8A29-756253DA996C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B405D3E-28DE-42C9-BC40-28E79A555D9C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Learn updates over both relationship types</a:t>
            </a:r>
          </a:p>
        </p:txBody>
      </p:sp>
      <p:pic>
        <p:nvPicPr>
          <p:cNvPr id="9" name="">
            <a:extLst>
              <a:ext uri="{FF2B5EF4-FFF2-40B4-BE49-F238E27FC236}">
                <ns2:creationId id="{AD32BFC4-9566-47C7-A2A5-E3037F0BA19D}"/>
              </a:ext>
            </a:extLst>
          </p:cNvPr>
          <p:cNvPicPr>
            <a:picLocks noChangeAspect="1"/>
          </p:cNvPicPr>
          <p:nvPr/>
        </p:nvPicPr>
        <p:blipFill>
          <a:blip r:embed="R576d1b0eac8749fd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0B57ABA-B3D8-4021-8C09-AC696D498DC4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PyTorch Geometric Temporal architectures</a:t>
            </a:r>
          </a:p>
        </p:txBody>
      </p:sp>
      <p:sp>
        <p:nvSpPr>
          <p:cNvPr id="11" name="">
            <a:extLst>
              <a:ext uri="{FF2B5EF4-FFF2-40B4-BE49-F238E27FC236}">
                <ns2:creationId id="{B4F7E4F1-361D-47E9-A02A-BF95B0B6F994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2" name="">
            <a:extLst>
              <a:ext uri="{FF2B5EF4-FFF2-40B4-BE49-F238E27FC236}">
                <ns2:creationId id="{741E3330-7BAE-494E-B7E3-B2FA5EFA9C94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43 / 51</a:t>
            </a:r>
          </a:p>
        </p:txBody>
      </p:sp>
    </p:spTree>
    <p:extLst>
      <p:ext uri="{BB962C8B-B14F-4D97-AF65-F5344CB8AC3E}">
        <ns4:creationId val="513323061"/>
      </p:ext>
    </p:extLst>
  </p:cSld>
</p:sld>
</file>

<file path=ppt/slides/slide4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DE002684-209B-4D39-8164-29E4798C84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46A4D2C-CE41-4BC9-B6A2-19BDE964296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SoccerMap: spatial neural prediction</a:t>
            </a:r>
          </a:p>
        </p:txBody>
      </p:sp>
      <p:sp>
        <p:nvSpPr>
          <p:cNvPr id="3" name="">
            <a:extLst>
              <a:ext uri="{FF2B5EF4-FFF2-40B4-BE49-F238E27FC236}">
                <ns2:creationId id="{2C1CA321-E319-4B04-A6F9-609D3511108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1251AB3-F1AD-47C3-A5CB-0A9E4C0EAA1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tracking into spatial feature channels</a:t>
            </a:r>
          </a:p>
        </p:txBody>
      </p:sp>
      <p:sp>
        <p:nvSpPr>
          <p:cNvPr id="5" name="">
            <a:extLst>
              <a:ext uri="{FF2B5EF4-FFF2-40B4-BE49-F238E27FC236}">
                <ns2:creationId id="{2F2F2F1A-10E0-45B5-822A-310CC96D243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50BA6F2-B6E4-409C-8281-3E159B09614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Learn field-wide surfaces with convolutional networks</a:t>
            </a:r>
          </a:p>
        </p:txBody>
      </p:sp>
      <p:sp>
        <p:nvSpPr>
          <p:cNvPr id="7" name="">
            <a:extLst>
              <a:ext uri="{FF2B5EF4-FFF2-40B4-BE49-F238E27FC236}">
                <ns2:creationId id="{C4ACC3A6-D8BE-4480-94D4-D46469ED8CD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D354712-3BB4-4B47-B385-EE02E311C7E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distinct heads or models for distinct targets</a:t>
            </a:r>
          </a:p>
        </p:txBody>
      </p:sp>
      <p:pic>
        <p:nvPicPr>
          <p:cNvPr id="9" name="">
            <a:extLst>
              <a:ext uri="{FF2B5EF4-FFF2-40B4-BE49-F238E27FC236}">
                <ns2:creationId id="{E2997C79-8E02-4443-BDA4-0BCC268CAEFB}"/>
              </a:ext>
            </a:extLst>
          </p:cNvPr>
          <p:cNvPicPr>
            <a:picLocks noChangeAspect="1"/>
          </p:cNvPicPr>
          <p:nvPr/>
        </p:nvPicPr>
        <p:blipFill>
          <a:blip r:embed="Rcf1c999aac8441b3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E8CB318-063C-4924-93F3-F5E112C9B31B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SoccerMap (2020)</a:t>
            </a:r>
          </a:p>
        </p:txBody>
      </p:sp>
      <p:sp>
        <p:nvSpPr>
          <p:cNvPr id="11" name="">
            <a:extLst>
              <a:ext uri="{FF2B5EF4-FFF2-40B4-BE49-F238E27FC236}">
                <ns2:creationId id="{22E67643-B780-4943-A31B-1FA623330FD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44 / 51</a:t>
            </a:r>
          </a:p>
        </p:txBody>
      </p:sp>
    </p:spTree>
    <p:extLst>
      <p:ext uri="{BB962C8B-B14F-4D97-AF65-F5344CB8AC3E}">
        <ns4:creationId val="1465339080"/>
      </p:ext>
    </p:extLst>
  </p:cSld>
</p:sld>
</file>

<file path=ppt/slides/slide4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7DCED159-4153-490A-8052-1E3DF85C55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3E39E3A-D3D5-43BC-B068-345AA27D3A7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possession value</a:t>
            </a:r>
          </a:p>
        </p:txBody>
      </p:sp>
      <p:sp>
        <p:nvSpPr>
          <p:cNvPr id="3" name="">
            <a:extLst>
              <a:ext uri="{FF2B5EF4-FFF2-40B4-BE49-F238E27FC236}">
                <ns2:creationId id="{F41065EE-0918-4BE3-A7ED-E16C52980A4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8713BD0-1BD5-431A-9B26-5DB660C9E28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Specify what outcome and horizon value means</a:t>
            </a:r>
          </a:p>
        </p:txBody>
      </p:sp>
      <p:sp>
        <p:nvSpPr>
          <p:cNvPr id="5" name="">
            <a:extLst>
              <a:ext uri="{FF2B5EF4-FFF2-40B4-BE49-F238E27FC236}">
                <ns2:creationId id="{D97772C1-74E1-4F0B-96A8-09D600B1E71E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F09D1AD-4D65-4295-977D-C719A2BCBE21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action selection, success and continuation</a:t>
            </a:r>
          </a:p>
        </p:txBody>
      </p:sp>
      <p:sp>
        <p:nvSpPr>
          <p:cNvPr id="7" name="">
            <a:extLst>
              <a:ext uri="{FF2B5EF4-FFF2-40B4-BE49-F238E27FC236}">
                <ns2:creationId id="{4ADCEB94-4857-477F-B721-ABF81226AAB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2A632C9-5017-4C06-87F2-254EFB5C9E75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Include the value of failure and turnovers</a:t>
            </a:r>
          </a:p>
        </p:txBody>
      </p:sp>
      <p:pic>
        <p:nvPicPr>
          <p:cNvPr id="9" name="">
            <a:extLst>
              <a:ext uri="{FF2B5EF4-FFF2-40B4-BE49-F238E27FC236}">
                <ns2:creationId id="{4EE10E6D-D304-4E28-8E2E-81748EC197B8}"/>
              </a:ext>
            </a:extLst>
          </p:cNvPr>
          <p:cNvPicPr>
            <a:picLocks noChangeAspect="1"/>
          </p:cNvPicPr>
          <p:nvPr/>
        </p:nvPicPr>
        <p:blipFill>
          <a:blip r:embed="R26bb1d0df16f46d6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61483B52-0D59-40F0-AF6F-2B210DD1938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Fine-grained expected possession value (2021)</a:t>
            </a:r>
          </a:p>
        </p:txBody>
      </p:sp>
      <p:sp>
        <p:nvSpPr>
          <p:cNvPr id="11" name="">
            <a:extLst>
              <a:ext uri="{FF2B5EF4-FFF2-40B4-BE49-F238E27FC236}">
                <ns2:creationId id="{FF4F01FF-9E88-4784-83B3-4B4F8EA705F4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DEFCON: GNN-based defensive EPV (2026)</a:t>
            </a:r>
          </a:p>
        </p:txBody>
      </p:sp>
      <p:sp>
        <p:nvSpPr>
          <p:cNvPr id="12" name="">
            <a:extLst>
              <a:ext uri="{FF2B5EF4-FFF2-40B4-BE49-F238E27FC236}">
                <ns2:creationId id="{F163990F-E276-4E47-BC55-E87D6924CAC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45 / 51</a:t>
            </a:r>
          </a:p>
        </p:txBody>
      </p:sp>
    </p:spTree>
    <p:extLst>
      <p:ext uri="{BB962C8B-B14F-4D97-AF65-F5344CB8AC3E}">
        <ns4:creationId val="605178331"/>
      </p:ext>
    </p:extLst>
  </p:cSld>
</p:sld>
</file>

<file path=ppt/slides/slide4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73EF0D5A-7D5F-4560-88C0-4EC581E519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6E5A952-F094-4827-9387-CA51D2A5A85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Observed passes and supplied EPV</a:t>
            </a:r>
          </a:p>
        </p:txBody>
      </p:sp>
      <p:sp>
        <p:nvSpPr>
          <p:cNvPr id="3" name="">
            <a:extLst>
              <a:ext uri="{FF2B5EF4-FFF2-40B4-BE49-F238E27FC236}">
                <ns2:creationId id="{499EAD3F-8125-4413-BD54-11CDE741559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3534C28-6FCE-40A4-8AEF-E0252DD65C8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value changes on actual pass events</a:t>
            </a:r>
          </a:p>
        </p:txBody>
      </p:sp>
      <p:sp>
        <p:nvSpPr>
          <p:cNvPr id="5" name="">
            <a:extLst>
              <a:ext uri="{FF2B5EF4-FFF2-40B4-BE49-F238E27FC236}">
                <ns2:creationId id="{F2E72002-F8EC-40AE-8703-2D64E5971FD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67D1B46-1DEA-431D-980F-209C14993BC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valuable actions with their tracking context</a:t>
            </a:r>
          </a:p>
        </p:txBody>
      </p:sp>
      <p:sp>
        <p:nvSpPr>
          <p:cNvPr id="7" name="">
            <a:extLst>
              <a:ext uri="{FF2B5EF4-FFF2-40B4-BE49-F238E27FC236}">
                <ns2:creationId id="{9B17D01E-0094-49B4-A8F6-3E8B8D24B8E1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88EBD18-65A9-4227-96C2-1531C0CAFBA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supplied predictions separate from our calculations</a:t>
            </a:r>
          </a:p>
        </p:txBody>
      </p:sp>
      <p:pic>
        <p:nvPicPr>
          <p:cNvPr id="9" name="">
            <a:extLst>
              <a:ext uri="{FF2B5EF4-FFF2-40B4-BE49-F238E27FC236}">
                <ns2:creationId id="{17E2CA83-A3B5-4083-B292-3A4ABFA0E8DE}"/>
              </a:ext>
            </a:extLst>
          </p:cNvPr>
          <p:cNvPicPr>
            <a:picLocks noChangeAspect="1"/>
          </p:cNvPicPr>
          <p:nvPr/>
        </p:nvPicPr>
        <p:blipFill>
          <a:blip r:embed="Re1398f2664df4e72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73325CD-7234-4945-B7F2-574B98049036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1A889FB7-B361-44BB-AC51-BCA7623253BC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NOTEBOOK · supplied event-value fields</a:t>
            </a:r>
          </a:p>
        </p:txBody>
      </p:sp>
      <p:sp>
        <p:nvSpPr>
          <p:cNvPr id="12" name="">
            <a:extLst>
              <a:ext uri="{FF2B5EF4-FFF2-40B4-BE49-F238E27FC236}">
                <ns2:creationId id="{16AECF3C-A21A-4403-BE5F-7846DB2C2C2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9E503D6A-C495-4726-99AD-D7D3C0027AE8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Fine-grained expected possession value (2021)</a:t>
            </a:r>
          </a:p>
        </p:txBody>
      </p:sp>
      <p:sp>
        <p:nvSpPr>
          <p:cNvPr id="14" name="">
            <a:extLst>
              <a:ext uri="{FF2B5EF4-FFF2-40B4-BE49-F238E27FC236}">
                <ns2:creationId id="{E6C137E9-8AB5-4ADF-A645-8BD8B598E30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46 / 51</a:t>
            </a:r>
          </a:p>
        </p:txBody>
      </p:sp>
    </p:spTree>
    <p:extLst>
      <p:ext uri="{BB962C8B-B14F-4D97-AF65-F5344CB8AC3E}">
        <ns4:creationId val="1811178288"/>
      </p:ext>
    </p:extLst>
  </p:cSld>
</p:sld>
</file>

<file path=ppt/slides/slide4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B3E54985-3508-40ED-BDC5-C8EA43DC66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7315F9B-7AEC-46D1-AA66-8AE98149C1E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DEFCON: defensive contribution</a:t>
            </a:r>
          </a:p>
        </p:txBody>
      </p:sp>
      <p:sp>
        <p:nvSpPr>
          <p:cNvPr id="3" name="">
            <a:extLst>
              <a:ext uri="{FF2B5EF4-FFF2-40B4-BE49-F238E27FC236}">
                <ns2:creationId id="{E5A3F487-A925-4B53-BA37-1F58B43EACF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C562846-D54E-4C76-B3A8-41BA65955B5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graph-based models for action components</a:t>
            </a:r>
          </a:p>
        </p:txBody>
      </p:sp>
      <p:sp>
        <p:nvSpPr>
          <p:cNvPr id="5" name="">
            <a:extLst>
              <a:ext uri="{FF2B5EF4-FFF2-40B4-BE49-F238E27FC236}">
                <ns2:creationId id="{6DBD9562-E5FE-4E23-B2AF-7B0792A247A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94C39305-F9E3-4661-9B22-BD530BD24D1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the opponent’s possession value</a:t>
            </a:r>
          </a:p>
        </p:txBody>
      </p:sp>
      <p:sp>
        <p:nvSpPr>
          <p:cNvPr id="7" name="">
            <a:extLst>
              <a:ext uri="{FF2B5EF4-FFF2-40B4-BE49-F238E27FC236}">
                <ns2:creationId id="{DABC7B82-6345-4944-9907-515C7C72274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D82ED79-0B23-4825-8F59-3FF8640AE36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Account for defenders’ contribution to reducing danger</a:t>
            </a:r>
          </a:p>
        </p:txBody>
      </p:sp>
      <p:pic>
        <p:nvPicPr>
          <p:cNvPr id="9" name="">
            <a:extLst>
              <a:ext uri="{FF2B5EF4-FFF2-40B4-BE49-F238E27FC236}">
                <ns2:creationId id="{8209CD2A-27E7-4B3E-8A8A-E8D28557C048}"/>
              </a:ext>
            </a:extLst>
          </p:cNvPr>
          <p:cNvPicPr>
            <a:picLocks noChangeAspect="1"/>
          </p:cNvPicPr>
          <p:nvPr/>
        </p:nvPicPr>
        <p:blipFill>
          <a:blip r:embed="Rb5ef273b901445df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47ED4EB-DF45-4268-A3BE-C19B123AEB5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DEFCON: GNN-based defensive EPV (2026)</a:t>
            </a:r>
          </a:p>
        </p:txBody>
      </p:sp>
      <p:sp>
        <p:nvSpPr>
          <p:cNvPr id="11" name="">
            <a:extLst>
              <a:ext uri="{FF2B5EF4-FFF2-40B4-BE49-F238E27FC236}">
                <ns2:creationId id="{63BAAEC5-E523-4B43-8D13-711F187E0A2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47 / 51</a:t>
            </a:r>
          </a:p>
        </p:txBody>
      </p:sp>
    </p:spTree>
    <p:extLst>
      <p:ext uri="{BB962C8B-B14F-4D97-AF65-F5344CB8AC3E}">
        <ns4:creationId val="911167474"/>
      </p:ext>
    </p:extLst>
  </p:cSld>
</p:sld>
</file>

<file path=ppt/slides/slide4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AF10F181-5C34-454A-A825-FA1FED9607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87F1EA9-C672-47E7-A442-2FD25BB67C8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U.S. Soccer: counterattack graphs</a:t>
            </a:r>
          </a:p>
        </p:txBody>
      </p:sp>
      <p:sp>
        <p:nvSpPr>
          <p:cNvPr id="3" name="">
            <a:extLst>
              <a:ext uri="{FF2B5EF4-FFF2-40B4-BE49-F238E27FC236}">
                <ns2:creationId id="{A5734D6A-1060-4B24-960C-4B196C46A60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ADA927A-DD48-4795-A1DC-D49E902C88A3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Build graphs from synchronized SkillCorner and events</a:t>
            </a:r>
          </a:p>
        </p:txBody>
      </p:sp>
      <p:sp>
        <p:nvSpPr>
          <p:cNvPr id="5" name="">
            <a:extLst>
              <a:ext uri="{FF2B5EF4-FFF2-40B4-BE49-F238E27FC236}">
                <ns2:creationId id="{690BC682-9679-4945-A728-B26A7A16E26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91D93D30-02D2-42C3-85B3-8971B1C8E7BB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Define counterattack success explicitly</a:t>
            </a:r>
          </a:p>
        </p:txBody>
      </p:sp>
      <p:sp>
        <p:nvSpPr>
          <p:cNvPr id="7" name="">
            <a:extLst>
              <a:ext uri="{FF2B5EF4-FFF2-40B4-BE49-F238E27FC236}">
                <ns2:creationId id="{B0DE00A5-35A5-4D9A-ADC8-7B2359B6701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5F636AB-5731-43EA-A8C8-418434B0134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predictions on held-out sequences</a:t>
            </a:r>
          </a:p>
        </p:txBody>
      </p:sp>
      <p:pic>
        <p:nvPicPr>
          <p:cNvPr id="9" name="">
            <a:extLst>
              <a:ext uri="{FF2B5EF4-FFF2-40B4-BE49-F238E27FC236}">
                <ns2:creationId id="{6EFE6975-862E-496D-A2E4-64701C0F9C39}"/>
              </a:ext>
            </a:extLst>
          </p:cNvPr>
          <p:cNvPicPr>
            <a:picLocks noChangeAspect="1"/>
          </p:cNvPicPr>
          <p:nvPr/>
        </p:nvPicPr>
        <p:blipFill>
          <a:blip r:embed="Ra3ae4f5398804f75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BC5CAD3-8EAC-4E59-B243-D2B073D1D93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50B7DF6B-41FA-4154-9CFE-67B3A20F04F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48 / 51</a:t>
            </a:r>
          </a:p>
        </p:txBody>
      </p:sp>
    </p:spTree>
    <p:extLst>
      <p:ext uri="{BB962C8B-B14F-4D97-AF65-F5344CB8AC3E}">
        <ns4:creationId val="1402024475"/>
      </p:ext>
    </p:extLst>
  </p:cSld>
</p:sld>
</file>

<file path=ppt/slides/slide4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58631596-714C-44DC-9DA4-7DE17093D8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6BC9C465-79DA-4478-8514-7F61DA5F4F9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TacticAI: corner-kick modeling</a:t>
            </a:r>
          </a:p>
        </p:txBody>
      </p:sp>
      <p:sp>
        <p:nvSpPr>
          <p:cNvPr id="3" name="">
            <a:extLst>
              <a:ext uri="{FF2B5EF4-FFF2-40B4-BE49-F238E27FC236}">
                <ns2:creationId id="{093ACABA-579B-41D4-A15A-FEECFB499F4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0E9896F-84DF-4AA5-8E29-AF9D7FB206B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Predict receiver and shot outcomes</a:t>
            </a:r>
          </a:p>
        </p:txBody>
      </p:sp>
      <p:sp>
        <p:nvSpPr>
          <p:cNvPr id="5" name="">
            <a:extLst>
              <a:ext uri="{FF2B5EF4-FFF2-40B4-BE49-F238E27FC236}">
                <ns2:creationId id="{0F79EBDD-3887-4270-BB9A-4CFF5F58FD1E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8D3C6EA-726C-494E-9DF5-5CE285B49100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player interactions with graph networks</a:t>
            </a:r>
          </a:p>
        </p:txBody>
      </p:sp>
      <p:sp>
        <p:nvSpPr>
          <p:cNvPr id="7" name="">
            <a:extLst>
              <a:ext uri="{FF2B5EF4-FFF2-40B4-BE49-F238E27FC236}">
                <ns2:creationId id="{818A6E8C-EE90-4766-BEB9-2E157E75079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CDD4379-D09F-456B-9A1E-260BEF4445F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Suggest alternative positional configurations</a:t>
            </a:r>
          </a:p>
        </p:txBody>
      </p:sp>
      <p:pic>
        <p:nvPicPr>
          <p:cNvPr id="9" name="">
            <a:extLst>
              <a:ext uri="{FF2B5EF4-FFF2-40B4-BE49-F238E27FC236}">
                <ns2:creationId id="{28C595F3-A367-485F-B171-AED7FA3D5CC7}"/>
              </a:ext>
            </a:extLst>
          </p:cNvPr>
          <p:cNvPicPr>
            <a:picLocks noChangeAspect="1"/>
          </p:cNvPicPr>
          <p:nvPr/>
        </p:nvPicPr>
        <p:blipFill>
          <a:blip r:embed="R74bf2d57b657477c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3663A6C-AD9E-4116-848A-3A22107419D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TacticAI (2024)</a:t>
            </a:r>
          </a:p>
        </p:txBody>
      </p:sp>
      <p:sp>
        <p:nvSpPr>
          <p:cNvPr id="11" name="">
            <a:extLst>
              <a:ext uri="{FF2B5EF4-FFF2-40B4-BE49-F238E27FC236}">
                <ns2:creationId id="{A3E395A9-F9F9-4742-BF6A-5196F1FFFAA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49 / 51</a:t>
            </a:r>
          </a:p>
        </p:txBody>
      </p:sp>
    </p:spTree>
    <p:extLst>
      <p:ext uri="{BB962C8B-B14F-4D97-AF65-F5344CB8AC3E}">
        <ns4:creationId val="702480023"/>
      </p:ext>
    </p:extLst>
  </p:cSld>
</p:sld>
</file>

<file path=ppt/slides/slide5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A21411DB-254B-4154-9104-0468F5CBD2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5738D81-66A1-4184-AFAD-1371F9FD921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Trajectory forecasting</a:t>
            </a:r>
          </a:p>
        </p:txBody>
      </p:sp>
      <p:sp>
        <p:nvSpPr>
          <p:cNvPr id="3" name="">
            <a:extLst>
              <a:ext uri="{FF2B5EF4-FFF2-40B4-BE49-F238E27FC236}">
                <ns2:creationId id="{C47E9E22-726B-4E00-AD1D-5A5DDB43DFF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2491391-F9AD-4AD9-BAD4-0E3776216D1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Encode observed player and team history</a:t>
            </a:r>
          </a:p>
        </p:txBody>
      </p:sp>
      <p:sp>
        <p:nvSpPr>
          <p:cNvPr id="5" name="">
            <a:extLst>
              <a:ext uri="{FF2B5EF4-FFF2-40B4-BE49-F238E27FC236}">
                <ns2:creationId id="{CB2E3CBD-37D4-4415-AC0E-3A3FCEA23F3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B71517E-578F-427E-8D6E-2CF03C22DDF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Generate multiple plausible continuations</a:t>
            </a:r>
          </a:p>
        </p:txBody>
      </p:sp>
      <p:sp>
        <p:nvSpPr>
          <p:cNvPr id="7" name="">
            <a:extLst>
              <a:ext uri="{FF2B5EF4-FFF2-40B4-BE49-F238E27FC236}">
                <ns2:creationId id="{FDCC9D02-A39B-4223-B821-2D691196AEE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CE3701A-6C5E-4184-A94F-15D9B0788EA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geometry, tactical coherence and uncertainty</a:t>
            </a:r>
          </a:p>
        </p:txBody>
      </p:sp>
      <p:pic>
        <p:nvPicPr>
          <p:cNvPr id="9" name="">
            <a:extLst>
              <a:ext uri="{FF2B5EF4-FFF2-40B4-BE49-F238E27FC236}">
                <ns2:creationId id="{3A009D36-1F10-41D1-BCA5-B09CEA3F9747}"/>
              </a:ext>
            </a:extLst>
          </p:cNvPr>
          <p:cNvPicPr>
            <a:picLocks noChangeAspect="1"/>
          </p:cNvPicPr>
          <p:nvPr/>
        </p:nvPicPr>
        <p:blipFill>
          <a:blip r:embed="Re4827591c0534996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C87E386-8B79-41C0-A232-B164C7779AD7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GenTac: trajectory forecasting (2026 preprint)</a:t>
            </a:r>
          </a:p>
        </p:txBody>
      </p:sp>
      <p:sp>
        <p:nvSpPr>
          <p:cNvPr id="11" name="">
            <a:extLst>
              <a:ext uri="{FF2B5EF4-FFF2-40B4-BE49-F238E27FC236}">
                <ns2:creationId id="{07295513-CD13-4BF7-BAE1-238A678292F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50 / 51</a:t>
            </a:r>
          </a:p>
        </p:txBody>
      </p:sp>
    </p:spTree>
    <p:extLst>
      <p:ext uri="{BB962C8B-B14F-4D97-AF65-F5344CB8AC3E}">
        <ns4:creationId val="1026991502"/>
      </p:ext>
    </p:extLst>
  </p:cSld>
</p:sld>
</file>

<file path=ppt/slides/slide5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2C6AEE17-3DCB-4AA5-AA4E-2E8316CC1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1AD20E7-67F8-4610-AC5E-544293EC094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Validating tracking models</a:t>
            </a:r>
          </a:p>
        </p:txBody>
      </p:sp>
      <p:sp>
        <p:nvSpPr>
          <p:cNvPr id="3" name="">
            <a:extLst>
              <a:ext uri="{FF2B5EF4-FFF2-40B4-BE49-F238E27FC236}">
                <ns2:creationId id="{55474F93-2B39-46AE-9CFB-8C1AFB08496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6A9F105-4ED7-4B8B-B1D3-914668EC356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Split data by matches or independent sequences</a:t>
            </a:r>
          </a:p>
        </p:txBody>
      </p:sp>
      <p:sp>
        <p:nvSpPr>
          <p:cNvPr id="5" name="">
            <a:extLst>
              <a:ext uri="{FF2B5EF4-FFF2-40B4-BE49-F238E27FC236}">
                <ns2:creationId id="{FBB3B639-7499-4149-8B29-587610F1F81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7D1E15C-224C-4352-8777-3947FFAEBD3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calibration and task-specific outcomes</a:t>
            </a:r>
          </a:p>
        </p:txBody>
      </p:sp>
      <p:sp>
        <p:nvSpPr>
          <p:cNvPr id="7" name="">
            <a:extLst>
              <a:ext uri="{FF2B5EF4-FFF2-40B4-BE49-F238E27FC236}">
                <ns2:creationId id="{40922BD4-C481-47BD-852D-0A065B7A177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1A37A64-2EB1-48F8-A1A6-2F7585CF0BA0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Stress-test missingness, direction and parameters</a:t>
            </a:r>
          </a:p>
        </p:txBody>
      </p:sp>
      <p:pic>
        <p:nvPicPr>
          <p:cNvPr id="9" name="">
            <a:extLst>
              <a:ext uri="{FF2B5EF4-FFF2-40B4-BE49-F238E27FC236}">
                <ns2:creationId id="{ED552905-061E-424B-B944-8B7511FC63B1}"/>
              </a:ext>
            </a:extLst>
          </p:cNvPr>
          <p:cNvPicPr>
            <a:picLocks noChangeAspect="1"/>
          </p:cNvPicPr>
          <p:nvPr/>
        </p:nvPicPr>
        <p:blipFill>
          <a:blip r:embed="Re5947af96e6a4248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660FC5A2-320A-4C91-89A4-BC9E5A3985A7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Fine-grained expected possession value (2021)</a:t>
            </a:r>
          </a:p>
        </p:txBody>
      </p:sp>
      <p:sp>
        <p:nvSpPr>
          <p:cNvPr id="11" name="">
            <a:extLst>
              <a:ext uri="{FF2B5EF4-FFF2-40B4-BE49-F238E27FC236}">
                <ns2:creationId id="{53C18E0C-B7C1-440B-87AF-D332C527037E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2" name="">
            <a:extLst>
              <a:ext uri="{FF2B5EF4-FFF2-40B4-BE49-F238E27FC236}">
                <ns2:creationId id="{526532AC-73B4-4D42-BEF7-4C5916125F2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51 / 51</a:t>
            </a:r>
          </a:p>
        </p:txBody>
      </p:sp>
    </p:spTree>
    <p:extLst>
      <p:ext uri="{BB962C8B-B14F-4D97-AF65-F5344CB8AC3E}">
        <ns4:creationId val="5012754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2026-10-20T02:35:24.1670000Z</dcterms:created>
  <dcterms:modified xsi:type="dcterms:W3CDTF">2026-10-20T02:35:24.1670000Z</dcterms:modified>
</coreProperties>
</file>
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  <Default Extension="mp4" ContentType="video/mp4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dbdb6a1a37a4eb9" /><Relationship Type="http://schemas.openxmlformats.org/officeDocument/2006/relationships/extended-properties" Target="/docProps/app.xml" Id="R33b02add1e824679" /><Relationship Type="http://schemas.openxmlformats.org/officeDocument/2006/relationships/officeDocument" Target="/ppt/presentation.xml" Id="R5efdb840c60b469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d8d296a4f804ab3"/>
  </p:sldMasterIdLst>
  <p:notesMasterIdLst>
    <p:notesMasterId xmlns:r="http://schemas.openxmlformats.org/officeDocument/2006/relationships" r:id="R7071d36a95a94794"/>
  </p:notesMasterIdLst>
  <p:sldIdLst>
    <p:sldId xmlns:r="http://schemas.openxmlformats.org/officeDocument/2006/relationships" id="256" r:id="R46356be764fb4ebf"/>
    <p:sldId xmlns:r="http://schemas.openxmlformats.org/officeDocument/2006/relationships" id="257" r:id="R9685eabb0c24432c"/>
    <p:sldId xmlns:r="http://schemas.openxmlformats.org/officeDocument/2006/relationships" id="258" r:id="R497b499982f44f56"/>
    <p:sldId xmlns:r="http://schemas.openxmlformats.org/officeDocument/2006/relationships" id="259" r:id="Re82da068f7194ffb"/>
    <p:sldId xmlns:r="http://schemas.openxmlformats.org/officeDocument/2006/relationships" id="260" r:id="R9e32b8986f964bf9"/>
    <p:sldId xmlns:r="http://schemas.openxmlformats.org/officeDocument/2006/relationships" id="261" r:id="R046f5703ab944a45"/>
    <p:sldId xmlns:r="http://schemas.openxmlformats.org/officeDocument/2006/relationships" id="262" r:id="Rd532c1a5b0bf4bbc"/>
    <p:sldId xmlns:r="http://schemas.openxmlformats.org/officeDocument/2006/relationships" id="263" r:id="R9bc4e7380d464b7a"/>
    <p:sldId xmlns:r="http://schemas.openxmlformats.org/officeDocument/2006/relationships" id="264" r:id="R6fd171f0d2d3426a"/>
    <p:sldId xmlns:r="http://schemas.openxmlformats.org/officeDocument/2006/relationships" id="265" r:id="Rd2d3db1ce43c4514"/>
    <p:sldId xmlns:r="http://schemas.openxmlformats.org/officeDocument/2006/relationships" id="266" r:id="Rbc9a4e9471884be6"/>
    <p:sldId xmlns:r="http://schemas.openxmlformats.org/officeDocument/2006/relationships" id="267" r:id="R01f9966b38f14929"/>
    <p:sldId xmlns:r="http://schemas.openxmlformats.org/officeDocument/2006/relationships" id="268" r:id="Ra26c8dd350fe4393"/>
    <p:sldId xmlns:r="http://schemas.openxmlformats.org/officeDocument/2006/relationships" id="269" r:id="R5f0ab7e7603c42ba"/>
    <p:sldId xmlns:r="http://schemas.openxmlformats.org/officeDocument/2006/relationships" id="270" r:id="Rceadae314ae14812"/>
    <p:sldId xmlns:r="http://schemas.openxmlformats.org/officeDocument/2006/relationships" id="271" r:id="Rdeaf0eaace35489d"/>
    <p:sldId xmlns:r="http://schemas.openxmlformats.org/officeDocument/2006/relationships" id="272" r:id="R72a6eab44ca441cd"/>
    <p:sldId xmlns:r="http://schemas.openxmlformats.org/officeDocument/2006/relationships" id="273" r:id="R9617f4587af2458f"/>
    <p:sldId xmlns:r="http://schemas.openxmlformats.org/officeDocument/2006/relationships" id="274" r:id="R1b707220229c4efb"/>
    <p:sldId xmlns:r="http://schemas.openxmlformats.org/officeDocument/2006/relationships" id="275" r:id="Rc01261d300804291"/>
    <p:sldId xmlns:r="http://schemas.openxmlformats.org/officeDocument/2006/relationships" id="276" r:id="R903c1b96aef14150"/>
    <p:sldId xmlns:r="http://schemas.openxmlformats.org/officeDocument/2006/relationships" id="277" r:id="R95a95f96b85e433f"/>
    <p:sldId xmlns:r="http://schemas.openxmlformats.org/officeDocument/2006/relationships" id="278" r:id="R164deab90b2e48e5"/>
    <p:sldId xmlns:r="http://schemas.openxmlformats.org/officeDocument/2006/relationships" id="279" r:id="R3efad100fa404cf5"/>
    <p:sldId xmlns:r="http://schemas.openxmlformats.org/officeDocument/2006/relationships" id="280" r:id="R92bb22151c074a93"/>
    <p:sldId xmlns:r="http://schemas.openxmlformats.org/officeDocument/2006/relationships" id="281" r:id="Rddbd5f059d804298"/>
    <p:sldId xmlns:r="http://schemas.openxmlformats.org/officeDocument/2006/relationships" id="282" r:id="R3ef8dedecc38470f"/>
    <p:sldId xmlns:r="http://schemas.openxmlformats.org/officeDocument/2006/relationships" id="283" r:id="R56be55cce6174bf6"/>
    <p:sldId xmlns:r="http://schemas.openxmlformats.org/officeDocument/2006/relationships" id="284" r:id="Rf3225a6c7c944837"/>
    <p:sldId xmlns:r="http://schemas.openxmlformats.org/officeDocument/2006/relationships" id="285" r:id="R439c48a64b154602"/>
    <p:sldId xmlns:r="http://schemas.openxmlformats.org/officeDocument/2006/relationships" id="286" r:id="Rca90e2efd2af4092"/>
    <p:sldId xmlns:r="http://schemas.openxmlformats.org/officeDocument/2006/relationships" id="287" r:id="R2c94c81a49214f08"/>
    <p:sldId xmlns:r="http://schemas.openxmlformats.org/officeDocument/2006/relationships" id="288" r:id="R2f21ea38d55d422a"/>
    <p:sldId xmlns:r="http://schemas.openxmlformats.org/officeDocument/2006/relationships" id="289" r:id="R18ecf8f5723b45eb"/>
    <p:sldId xmlns:r="http://schemas.openxmlformats.org/officeDocument/2006/relationships" id="290" r:id="R5a9e3e95e1d04c7c"/>
    <p:sldId xmlns:r="http://schemas.openxmlformats.org/officeDocument/2006/relationships" id="291" r:id="R550078fce6754a71"/>
    <p:sldId xmlns:r="http://schemas.openxmlformats.org/officeDocument/2006/relationships" id="292" r:id="R6f500464526b44e5"/>
    <p:sldId xmlns:r="http://schemas.openxmlformats.org/officeDocument/2006/relationships" id="293" r:id="R08a41dfd69ff43af"/>
    <p:sldId xmlns:r="http://schemas.openxmlformats.org/officeDocument/2006/relationships" id="294" r:id="Rdeecc4b919c54494"/>
    <p:sldId xmlns:r="http://schemas.openxmlformats.org/officeDocument/2006/relationships" id="295" r:id="R09840fc509c64230"/>
    <p:sldId xmlns:r="http://schemas.openxmlformats.org/officeDocument/2006/relationships" id="296" r:id="Ra6a0861a75b249de"/>
    <p:sldId xmlns:r="http://schemas.openxmlformats.org/officeDocument/2006/relationships" id="297" r:id="R27c6c394bcc64df5"/>
    <p:sldId xmlns:r="http://schemas.openxmlformats.org/officeDocument/2006/relationships" id="298" r:id="R5e1367953c9e4d5d"/>
    <p:sldId xmlns:r="http://schemas.openxmlformats.org/officeDocument/2006/relationships" id="299" r:id="Re90f3e07fc664a3b"/>
    <p:sldId xmlns:r="http://schemas.openxmlformats.org/officeDocument/2006/relationships" id="300" r:id="Rd1ed71d669414f4a"/>
    <p:sldId xmlns:r="http://schemas.openxmlformats.org/officeDocument/2006/relationships" id="301" r:id="Ref92be49fbd54a55"/>
    <p:sldId xmlns:r="http://schemas.openxmlformats.org/officeDocument/2006/relationships" id="302" r:id="R5dd1a3902146442b"/>
    <p:sldId xmlns:r="http://schemas.openxmlformats.org/officeDocument/2006/relationships" id="303" r:id="Rcc438a9a504a4468"/>
    <p:sldId xmlns:r="http://schemas.openxmlformats.org/officeDocument/2006/relationships" id="304" r:id="R56eaad0923e145ac"/>
    <p:sldId xmlns:r="http://schemas.openxmlformats.org/officeDocument/2006/relationships" id="305" r:id="Rb194e6579886418f"/>
    <p:sldId xmlns:r="http://schemas.openxmlformats.org/officeDocument/2006/relationships" id="306" r:id="Rf6ad6d165bc04865"/>
    <p:sldId xmlns:r="http://schemas.openxmlformats.org/officeDocument/2006/relationships" id="307" r:id="Red6d499fe96c4f41"/>
    <p:sldId xmlns:r="http://schemas.openxmlformats.org/officeDocument/2006/relationships" id="308" r:id="R61439a55ef40451b"/>
    <p:sldId xmlns:r="http://schemas.openxmlformats.org/officeDocument/2006/relationships" id="309" r:id="R39a83f8dbe564718"/>
    <p:sldId xmlns:r="http://schemas.openxmlformats.org/officeDocument/2006/relationships" id="310" r:id="R2401854e61994d8e"/>
    <p:sldId xmlns:r="http://schemas.openxmlformats.org/officeDocument/2006/relationships" id="311" r:id="Rbfcea1527a894c03"/>
    <p:sldId xmlns:r="http://schemas.openxmlformats.org/officeDocument/2006/relationships" id="312" r:id="R0df0f5207df74441"/>
    <p:sldId xmlns:r="http://schemas.openxmlformats.org/officeDocument/2006/relationships" id="313" r:id="R8afb32ff49714bae"/>
    <p:sldId xmlns:r="http://schemas.openxmlformats.org/officeDocument/2006/relationships" id="314" r:id="R7347870a1e724966"/>
    <p:sldId xmlns:r="http://schemas.openxmlformats.org/officeDocument/2006/relationships" id="315" r:id="Rbbf63e7db70246e8"/>
    <p:sldId xmlns:r="http://schemas.openxmlformats.org/officeDocument/2006/relationships" id="316" r:id="R855d51da024b45aa"/>
    <p:sldId xmlns:r="http://schemas.openxmlformats.org/officeDocument/2006/relationships" id="317" r:id="Re1f08935c5ef432a"/>
    <p:sldId xmlns:r="http://schemas.openxmlformats.org/officeDocument/2006/relationships" id="318" r:id="R6412bb1c44864e90"/>
    <p:sldId xmlns:r="http://schemas.openxmlformats.org/officeDocument/2006/relationships" id="319" r:id="R7ce699886a5d433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8bf66591c2b4581" /><Relationship Type="http://schemas.openxmlformats.org/officeDocument/2006/relationships/slideMaster" Target="/ppt/slideMasters/slideMaster1.xml" Id="Rcd8d296a4f804ab3" /><Relationship Type="http://schemas.openxmlformats.org/officeDocument/2006/relationships/notesMaster" Target="/ppt/notesMasters/notesMaster1.xml" Id="R7071d36a95a94794" /><Relationship Type="http://schemas.openxmlformats.org/officeDocument/2006/relationships/presProps" Target="/ppt/presProps.xml" Id="R87246ecc5dae4dcc" /><Relationship Type="http://schemas.openxmlformats.org/officeDocument/2006/relationships/tableStyles" Target="/ppt/tableStyles.xml" Id="R212a2eae9f5d4ebe" /><Relationship Type="http://schemas.openxmlformats.org/officeDocument/2006/relationships/slide" Target="/ppt/slides/slide1.xml" Id="R46356be764fb4ebf" /><Relationship Type="http://schemas.openxmlformats.org/officeDocument/2006/relationships/slide" Target="/ppt/slides/slide2.xml" Id="R9685eabb0c24432c" /><Relationship Type="http://schemas.openxmlformats.org/officeDocument/2006/relationships/slide" Target="/ppt/slides/slide3.xml" Id="R497b499982f44f56" /><Relationship Type="http://schemas.openxmlformats.org/officeDocument/2006/relationships/slide" Target="/ppt/slides/slide4.xml" Id="Re82da068f7194ffb" /><Relationship Type="http://schemas.openxmlformats.org/officeDocument/2006/relationships/slide" Target="/ppt/slides/slide5.xml" Id="R9e32b8986f964bf9" /><Relationship Type="http://schemas.openxmlformats.org/officeDocument/2006/relationships/slide" Target="/ppt/slides/slide6.xml" Id="R046f5703ab944a45" /><Relationship Type="http://schemas.openxmlformats.org/officeDocument/2006/relationships/slide" Target="/ppt/slides/slide7.xml" Id="Rd532c1a5b0bf4bbc" /><Relationship Type="http://schemas.openxmlformats.org/officeDocument/2006/relationships/slide" Target="/ppt/slides/slide8.xml" Id="R9bc4e7380d464b7a" /><Relationship Type="http://schemas.openxmlformats.org/officeDocument/2006/relationships/slide" Target="/ppt/slides/slide9.xml" Id="R6fd171f0d2d3426a" /><Relationship Type="http://schemas.openxmlformats.org/officeDocument/2006/relationships/slide" Target="/ppt/slides/slide10.xml" Id="Rd2d3db1ce43c4514" /><Relationship Type="http://schemas.openxmlformats.org/officeDocument/2006/relationships/slide" Target="/ppt/slides/slide11.xml" Id="Rbc9a4e9471884be6" /><Relationship Type="http://schemas.openxmlformats.org/officeDocument/2006/relationships/slide" Target="/ppt/slides/slide12.xml" Id="R01f9966b38f14929" /><Relationship Type="http://schemas.openxmlformats.org/officeDocument/2006/relationships/slide" Target="/ppt/slides/slide13.xml" Id="Ra26c8dd350fe4393" /><Relationship Type="http://schemas.openxmlformats.org/officeDocument/2006/relationships/slide" Target="/ppt/slides/slide14.xml" Id="R5f0ab7e7603c42ba" /><Relationship Type="http://schemas.openxmlformats.org/officeDocument/2006/relationships/slide" Target="/ppt/slides/slide15.xml" Id="Rceadae314ae14812" /><Relationship Type="http://schemas.openxmlformats.org/officeDocument/2006/relationships/slide" Target="/ppt/slides/slide16.xml" Id="Rdeaf0eaace35489d" /><Relationship Type="http://schemas.openxmlformats.org/officeDocument/2006/relationships/slide" Target="/ppt/slides/slide17.xml" Id="R72a6eab44ca441cd" /><Relationship Type="http://schemas.openxmlformats.org/officeDocument/2006/relationships/slide" Target="/ppt/slides/slide18.xml" Id="R9617f4587af2458f" /><Relationship Type="http://schemas.openxmlformats.org/officeDocument/2006/relationships/slide" Target="/ppt/slides/slide19.xml" Id="R1b707220229c4efb" /><Relationship Type="http://schemas.openxmlformats.org/officeDocument/2006/relationships/slide" Target="/ppt/slides/slide20.xml" Id="Rc01261d300804291" /><Relationship Type="http://schemas.openxmlformats.org/officeDocument/2006/relationships/slide" Target="/ppt/slides/slide21.xml" Id="R903c1b96aef14150" /><Relationship Type="http://schemas.openxmlformats.org/officeDocument/2006/relationships/slide" Target="/ppt/slides/slide22.xml" Id="R95a95f96b85e433f" /><Relationship Type="http://schemas.openxmlformats.org/officeDocument/2006/relationships/slide" Target="/ppt/slides/slide23.xml" Id="R164deab90b2e48e5" /><Relationship Type="http://schemas.openxmlformats.org/officeDocument/2006/relationships/slide" Target="/ppt/slides/slide24.xml" Id="R3efad100fa404cf5" /><Relationship Type="http://schemas.openxmlformats.org/officeDocument/2006/relationships/slide" Target="/ppt/slides/slide25.xml" Id="R92bb22151c074a93" /><Relationship Type="http://schemas.openxmlformats.org/officeDocument/2006/relationships/slide" Target="/ppt/slides/slide26.xml" Id="Rddbd5f059d804298" /><Relationship Type="http://schemas.openxmlformats.org/officeDocument/2006/relationships/slide" Target="/ppt/slides/slide27.xml" Id="R3ef8dedecc38470f" /><Relationship Type="http://schemas.openxmlformats.org/officeDocument/2006/relationships/slide" Target="/ppt/slides/slide28.xml" Id="R56be55cce6174bf6" /><Relationship Type="http://schemas.openxmlformats.org/officeDocument/2006/relationships/slide" Target="/ppt/slides/slide29.xml" Id="Rf3225a6c7c944837" /><Relationship Type="http://schemas.openxmlformats.org/officeDocument/2006/relationships/slide" Target="/ppt/slides/slide30.xml" Id="R439c48a64b154602" /><Relationship Type="http://schemas.openxmlformats.org/officeDocument/2006/relationships/slide" Target="/ppt/slides/slide31.xml" Id="Rca90e2efd2af4092" /><Relationship Type="http://schemas.openxmlformats.org/officeDocument/2006/relationships/slide" Target="/ppt/slides/slide32.xml" Id="R2c94c81a49214f08" /><Relationship Type="http://schemas.openxmlformats.org/officeDocument/2006/relationships/slide" Target="/ppt/slides/slide33.xml" Id="R2f21ea38d55d422a" /><Relationship Type="http://schemas.openxmlformats.org/officeDocument/2006/relationships/slide" Target="/ppt/slides/slide34.xml" Id="R18ecf8f5723b45eb" /><Relationship Type="http://schemas.openxmlformats.org/officeDocument/2006/relationships/slide" Target="/ppt/slides/slide35.xml" Id="R5a9e3e95e1d04c7c" /><Relationship Type="http://schemas.openxmlformats.org/officeDocument/2006/relationships/slide" Target="/ppt/slides/slide36.xml" Id="R550078fce6754a71" /><Relationship Type="http://schemas.openxmlformats.org/officeDocument/2006/relationships/slide" Target="/ppt/slides/slide37.xml" Id="R6f500464526b44e5" /><Relationship Type="http://schemas.openxmlformats.org/officeDocument/2006/relationships/slide" Target="/ppt/slides/slide38.xml" Id="R08a41dfd69ff43af" /><Relationship Type="http://schemas.openxmlformats.org/officeDocument/2006/relationships/slide" Target="/ppt/slides/slide39.xml" Id="Rdeecc4b919c54494" /><Relationship Type="http://schemas.openxmlformats.org/officeDocument/2006/relationships/slide" Target="/ppt/slides/slide40.xml" Id="R09840fc509c64230" /><Relationship Type="http://schemas.openxmlformats.org/officeDocument/2006/relationships/slide" Target="/ppt/slides/slide41.xml" Id="Ra6a0861a75b249de" /><Relationship Type="http://schemas.openxmlformats.org/officeDocument/2006/relationships/slide" Target="/ppt/slides/slide42.xml" Id="R27c6c394bcc64df5" /><Relationship Type="http://schemas.openxmlformats.org/officeDocument/2006/relationships/slide" Target="/ppt/slides/slide43.xml" Id="R5e1367953c9e4d5d" /><Relationship Type="http://schemas.openxmlformats.org/officeDocument/2006/relationships/slide" Target="/ppt/slides/slide44.xml" Id="Re90f3e07fc664a3b" /><Relationship Type="http://schemas.openxmlformats.org/officeDocument/2006/relationships/slide" Target="/ppt/slides/slide45.xml" Id="Rd1ed71d669414f4a" /><Relationship Type="http://schemas.openxmlformats.org/officeDocument/2006/relationships/slide" Target="/ppt/slides/slide46.xml" Id="Ref92be49fbd54a55" /><Relationship Type="http://schemas.openxmlformats.org/officeDocument/2006/relationships/slide" Target="/ppt/slides/slide47.xml" Id="R5dd1a3902146442b" /><Relationship Type="http://schemas.openxmlformats.org/officeDocument/2006/relationships/slide" Target="/ppt/slides/slide48.xml" Id="Rcc438a9a504a4468" /><Relationship Type="http://schemas.openxmlformats.org/officeDocument/2006/relationships/slide" Target="/ppt/slides/slide49.xml" Id="R56eaad0923e145ac" /><Relationship Type="http://schemas.openxmlformats.org/officeDocument/2006/relationships/slide" Target="/ppt/slides/slide50.xml" Id="Rb194e6579886418f" /><Relationship Type="http://schemas.openxmlformats.org/officeDocument/2006/relationships/slide" Target="/ppt/slides/slide51.xml" Id="Rf6ad6d165bc04865" /><Relationship Type="http://schemas.openxmlformats.org/officeDocument/2006/relationships/slide" Target="/ppt/slides/slide52.xml" Id="Red6d499fe96c4f41" /><Relationship Type="http://schemas.openxmlformats.org/officeDocument/2006/relationships/slide" Target="/ppt/slides/slide53.xml" Id="R61439a55ef40451b" /><Relationship Type="http://schemas.openxmlformats.org/officeDocument/2006/relationships/slide" Target="/ppt/slides/slide54.xml" Id="R39a83f8dbe564718" /><Relationship Type="http://schemas.openxmlformats.org/officeDocument/2006/relationships/slide" Target="/ppt/slides/slide55.xml" Id="R2401854e61994d8e" /><Relationship Type="http://schemas.openxmlformats.org/officeDocument/2006/relationships/slide" Target="/ppt/slides/slide56.xml" Id="Rbfcea1527a894c03" /><Relationship Type="http://schemas.openxmlformats.org/officeDocument/2006/relationships/slide" Target="/ppt/slides/slide57.xml" Id="R0df0f5207df74441" /><Relationship Type="http://schemas.openxmlformats.org/officeDocument/2006/relationships/slide" Target="/ppt/slides/slide58.xml" Id="R8afb32ff49714bae" /><Relationship Type="http://schemas.openxmlformats.org/officeDocument/2006/relationships/slide" Target="/ppt/slides/slide59.xml" Id="R7347870a1e724966" /><Relationship Type="http://schemas.openxmlformats.org/officeDocument/2006/relationships/slide" Target="/ppt/slides/slide60.xml" Id="Rbbf63e7db70246e8" /><Relationship Type="http://schemas.openxmlformats.org/officeDocument/2006/relationships/slide" Target="/ppt/slides/slide61.xml" Id="R855d51da024b45aa" /><Relationship Type="http://schemas.openxmlformats.org/officeDocument/2006/relationships/slide" Target="/ppt/slides/slide62.xml" Id="Re1f08935c5ef432a" /><Relationship Type="http://schemas.openxmlformats.org/officeDocument/2006/relationships/slide" Target="/ppt/slides/slide63.xml" Id="R6412bb1c44864e90" /><Relationship Type="http://schemas.openxmlformats.org/officeDocument/2006/relationships/slide" Target="/ppt/slides/slide64.xml" Id="R7ce699886a5d433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78213238606476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2fc50c725934982" /><Relationship Type="http://schemas.openxmlformats.org/officeDocument/2006/relationships/notesMaster" Target="/ppt/notesMasters/notesMaster1.xml" Id="R5ee7df0a2c4247d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a75e6bd87864c8e" /><Relationship Type="http://schemas.openxmlformats.org/officeDocument/2006/relationships/notesMaster" Target="/ppt/notesMasters/notesMaster1.xml" Id="R2d3c2c5e47e4439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334663c643545df" /><Relationship Type="http://schemas.openxmlformats.org/officeDocument/2006/relationships/notesMaster" Target="/ppt/notesMasters/notesMaster1.xml" Id="Rd34e5aa9e9d04b6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454e1cab4e84d49" /><Relationship Type="http://schemas.openxmlformats.org/officeDocument/2006/relationships/notesMaster" Target="/ppt/notesMasters/notesMaster1.xml" Id="Rc56c727ee5fc45c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7455aee09a048b2" /><Relationship Type="http://schemas.openxmlformats.org/officeDocument/2006/relationships/notesMaster" Target="/ppt/notesMasters/notesMaster1.xml" Id="Ra1ad2cead1bd452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f1c63ce926b49d1" /><Relationship Type="http://schemas.openxmlformats.org/officeDocument/2006/relationships/notesMaster" Target="/ppt/notesMasters/notesMaster1.xml" Id="R02bfc70c6d5e499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4a5760f29514f29" /><Relationship Type="http://schemas.openxmlformats.org/officeDocument/2006/relationships/notesMaster" Target="/ppt/notesMasters/notesMaster1.xml" Id="R77ebb2611556431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9ba20c7cc5f4fe1" /><Relationship Type="http://schemas.openxmlformats.org/officeDocument/2006/relationships/notesMaster" Target="/ppt/notesMasters/notesMaster1.xml" Id="R3670cae62c3f4a0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24789b58d4f440b" /><Relationship Type="http://schemas.openxmlformats.org/officeDocument/2006/relationships/notesMaster" Target="/ppt/notesMasters/notesMaster1.xml" Id="Rc244638f35194dd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ae5fef3c79b4c25" /><Relationship Type="http://schemas.openxmlformats.org/officeDocument/2006/relationships/notesMaster" Target="/ppt/notesMasters/notesMaster1.xml" Id="R8bf2738118634a6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aa88e5bd1c645e1" /><Relationship Type="http://schemas.openxmlformats.org/officeDocument/2006/relationships/notesMaster" Target="/ppt/notesMasters/notesMaster1.xml" Id="Re71b14e1334b453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0f0ec1ceb7248f0" /><Relationship Type="http://schemas.openxmlformats.org/officeDocument/2006/relationships/notesMaster" Target="/ppt/notesMasters/notesMaster1.xml" Id="R8e0bb3eca8ce497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2c44f54e4734c2a" /><Relationship Type="http://schemas.openxmlformats.org/officeDocument/2006/relationships/notesMaster" Target="/ppt/notesMasters/notesMaster1.xml" Id="R3acf6f1ccb2d47c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4c02625b07d4e37" /><Relationship Type="http://schemas.openxmlformats.org/officeDocument/2006/relationships/notesMaster" Target="/ppt/notesMasters/notesMaster1.xml" Id="R13252b372128466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22be2b6f1814b1d" /><Relationship Type="http://schemas.openxmlformats.org/officeDocument/2006/relationships/notesMaster" Target="/ppt/notesMasters/notesMaster1.xml" Id="R0a1d53c2892c41f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ef77e133fa24641" /><Relationship Type="http://schemas.openxmlformats.org/officeDocument/2006/relationships/notesMaster" Target="/ppt/notesMasters/notesMaster1.xml" Id="R8de0a5d7a1a145d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5ff9df4fa7f4416" /><Relationship Type="http://schemas.openxmlformats.org/officeDocument/2006/relationships/notesMaster" Target="/ppt/notesMasters/notesMaster1.xml" Id="R4aadbda56b62458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0f7035312674497" /><Relationship Type="http://schemas.openxmlformats.org/officeDocument/2006/relationships/notesMaster" Target="/ppt/notesMasters/notesMaster1.xml" Id="Radb7bd46c6774d18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f7e9a4097a34bd3" /><Relationship Type="http://schemas.openxmlformats.org/officeDocument/2006/relationships/notesMaster" Target="/ppt/notesMasters/notesMaster1.xml" Id="R25554ef4cd384b0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287330eb2c142eb" /><Relationship Type="http://schemas.openxmlformats.org/officeDocument/2006/relationships/notesMaster" Target="/ppt/notesMasters/notesMaster1.xml" Id="Rfc262163bbf54084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4569525c55d5474c" /><Relationship Type="http://schemas.openxmlformats.org/officeDocument/2006/relationships/notesMaster" Target="/ppt/notesMasters/notesMaster1.xml" Id="R9170c8c22450475d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1f51cdd59c7e4271" /><Relationship Type="http://schemas.openxmlformats.org/officeDocument/2006/relationships/notesMaster" Target="/ppt/notesMasters/notesMaster1.xml" Id="Raa59bf6f205444c4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042975e3325d4ad4" /><Relationship Type="http://schemas.openxmlformats.org/officeDocument/2006/relationships/notesMaster" Target="/ppt/notesMasters/notesMaster1.xml" Id="Rab2c6edf45f3451d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e184f172ae7e4946" /><Relationship Type="http://schemas.openxmlformats.org/officeDocument/2006/relationships/notesMaster" Target="/ppt/notesMasters/notesMaster1.xml" Id="R9be2d0ecf4df41c1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fdbe0c74abd941fd" /><Relationship Type="http://schemas.openxmlformats.org/officeDocument/2006/relationships/notesMaster" Target="/ppt/notesMasters/notesMaster1.xml" Id="R23b90794e3e64a45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92048f5d167e4875" /><Relationship Type="http://schemas.openxmlformats.org/officeDocument/2006/relationships/notesMaster" Target="/ppt/notesMasters/notesMaster1.xml" Id="Rb854c63c53f64490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b8de1294d7164f0d" /><Relationship Type="http://schemas.openxmlformats.org/officeDocument/2006/relationships/notesMaster" Target="/ppt/notesMasters/notesMaster1.xml" Id="Rb0539e78574f4089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035be579bb6d42e9" /><Relationship Type="http://schemas.openxmlformats.org/officeDocument/2006/relationships/notesMaster" Target="/ppt/notesMasters/notesMaster1.xml" Id="R91695446020143b3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fead8d9a29d24d81" /><Relationship Type="http://schemas.openxmlformats.org/officeDocument/2006/relationships/notesMaster" Target="/ppt/notesMasters/notesMaster1.xml" Id="Re03165804fed4995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13e689bd279d4165" /><Relationship Type="http://schemas.openxmlformats.org/officeDocument/2006/relationships/notesMaster" Target="/ppt/notesMasters/notesMaster1.xml" Id="R4a76a158c6ab49f3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cc4678b370524e7c" /><Relationship Type="http://schemas.openxmlformats.org/officeDocument/2006/relationships/notesMaster" Target="/ppt/notesMasters/notesMaster1.xml" Id="Rd18874a169b7497b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9ce82b8f436f4180" /><Relationship Type="http://schemas.openxmlformats.org/officeDocument/2006/relationships/notesMaster" Target="/ppt/notesMasters/notesMaster1.xml" Id="Racf8ae79ce2a4242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e6c0c57273e345a0" /><Relationship Type="http://schemas.openxmlformats.org/officeDocument/2006/relationships/notesMaster" Target="/ppt/notesMasters/notesMaster1.xml" Id="R5a4f0c300b364bcc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ac74e316f8a2450c" /><Relationship Type="http://schemas.openxmlformats.org/officeDocument/2006/relationships/notesMaster" Target="/ppt/notesMasters/notesMaster1.xml" Id="R47a662c4d7be416f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b95c998ba2bd4338" /><Relationship Type="http://schemas.openxmlformats.org/officeDocument/2006/relationships/notesMaster" Target="/ppt/notesMasters/notesMaster1.xml" Id="R1e93865999ed45a5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21208f8359ad4e0a" /><Relationship Type="http://schemas.openxmlformats.org/officeDocument/2006/relationships/notesMaster" Target="/ppt/notesMasters/notesMaster1.xml" Id="Rbba4226cbf4c402c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cae7a53d31a04386" /><Relationship Type="http://schemas.openxmlformats.org/officeDocument/2006/relationships/notesMaster" Target="/ppt/notesMasters/notesMaster1.xml" Id="Rd03616bc12954063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f63572c0e69d493d" /><Relationship Type="http://schemas.openxmlformats.org/officeDocument/2006/relationships/notesMaster" Target="/ppt/notesMasters/notesMaster1.xml" Id="R25348db46a55410a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1cce34fe2c1b4be3" /><Relationship Type="http://schemas.openxmlformats.org/officeDocument/2006/relationships/notesMaster" Target="/ppt/notesMasters/notesMaster1.xml" Id="Rf6b778e468484b2d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f7f81f52424d433f" /><Relationship Type="http://schemas.openxmlformats.org/officeDocument/2006/relationships/notesMaster" Target="/ppt/notesMasters/notesMaster1.xml" Id="Ra80c2f1f424043ce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10de4572114e4908" /><Relationship Type="http://schemas.openxmlformats.org/officeDocument/2006/relationships/notesMaster" Target="/ppt/notesMasters/notesMaster1.xml" Id="R42c7cb56f3914ab3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8755d76186a04411" /><Relationship Type="http://schemas.openxmlformats.org/officeDocument/2006/relationships/notesMaster" Target="/ppt/notesMasters/notesMaster1.xml" Id="R9fb23ecb77eb42e3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167d7966cf35422a" /><Relationship Type="http://schemas.openxmlformats.org/officeDocument/2006/relationships/notesMaster" Target="/ppt/notesMasters/notesMaster1.xml" Id="R06e4391e91904597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01bba01eaa5b403a" /><Relationship Type="http://schemas.openxmlformats.org/officeDocument/2006/relationships/notesMaster" Target="/ppt/notesMasters/notesMaster1.xml" Id="Rc6c1854a14fa4cd0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0ff160c3a06e40d4" /><Relationship Type="http://schemas.openxmlformats.org/officeDocument/2006/relationships/notesMaster" Target="/ppt/notesMasters/notesMaster1.xml" Id="R4023c6dd64c04447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4855851f451b4546" /><Relationship Type="http://schemas.openxmlformats.org/officeDocument/2006/relationships/notesMaster" Target="/ppt/notesMasters/notesMaster1.xml" Id="Rc35c7cb10fb54b6e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30b8c781e1674d70" /><Relationship Type="http://schemas.openxmlformats.org/officeDocument/2006/relationships/notesMaster" Target="/ppt/notesMasters/notesMaster1.xml" Id="R2777c4c7dc784c4f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f4fbb1f812a64605" /><Relationship Type="http://schemas.openxmlformats.org/officeDocument/2006/relationships/notesMaster" Target="/ppt/notesMasters/notesMaster1.xml" Id="R0e3bd501fcf64859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17192022fefa4aad" /><Relationship Type="http://schemas.openxmlformats.org/officeDocument/2006/relationships/notesMaster" Target="/ppt/notesMasters/notesMaster1.xml" Id="Rd94a7790a1fa414b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12a35f5cfadd4e34" /><Relationship Type="http://schemas.openxmlformats.org/officeDocument/2006/relationships/notesMaster" Target="/ppt/notesMasters/notesMaster1.xml" Id="R4480e66d9b9b4994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a0c9ff4d32cf4029" /><Relationship Type="http://schemas.openxmlformats.org/officeDocument/2006/relationships/notesMaster" Target="/ppt/notesMasters/notesMaster1.xml" Id="R5291a69853494214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620e91ac16cb4b7d" /><Relationship Type="http://schemas.openxmlformats.org/officeDocument/2006/relationships/notesMaster" Target="/ppt/notesMasters/notesMaster1.xml" Id="R4721e8e3270f4219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ff6aa60540b74b9c" /><Relationship Type="http://schemas.openxmlformats.org/officeDocument/2006/relationships/notesMaster" Target="/ppt/notesMasters/notesMaster1.xml" Id="R7f6bbab168fc495f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f4320b94b0d2409b" /><Relationship Type="http://schemas.openxmlformats.org/officeDocument/2006/relationships/notesMaster" Target="/ppt/notesMasters/notesMaster1.xml" Id="R4eac942a9c83493e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b300967f54b64f90" /><Relationship Type="http://schemas.openxmlformats.org/officeDocument/2006/relationships/notesMaster" Target="/ppt/notesMasters/notesMaster1.xml" Id="R3495c9cf13bb4ffa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b573aa2171c44b83" /><Relationship Type="http://schemas.openxmlformats.org/officeDocument/2006/relationships/notesMaster" Target="/ppt/notesMasters/notesMaster1.xml" Id="R707c5be1b17f49e4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786fe440452b46a6" /><Relationship Type="http://schemas.openxmlformats.org/officeDocument/2006/relationships/notesMaster" Target="/ppt/notesMasters/notesMaster1.xml" Id="R7f4e4a20396d4ead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6b55e781c65841b9" /><Relationship Type="http://schemas.openxmlformats.org/officeDocument/2006/relationships/notesMaster" Target="/ppt/notesMasters/notesMaster1.xml" Id="R14316a1fd9664b93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db03eefb906d45d5" /><Relationship Type="http://schemas.openxmlformats.org/officeDocument/2006/relationships/notesMaster" Target="/ppt/notesMasters/notesMaster1.xml" Id="Ree627cacc75e48ae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4c7ea2f633a442cf" /><Relationship Type="http://schemas.openxmlformats.org/officeDocument/2006/relationships/notesMaster" Target="/ppt/notesMasters/notesMaster1.xml" Id="R04cfd1ddecd74772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cd0acd6ae02648da" /><Relationship Type="http://schemas.openxmlformats.org/officeDocument/2006/relationships/notesMaster" Target="/ppt/notesMasters/notesMaster1.xml" Id="Ra2e2d63cd1f34908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2979329c89a64c8e" /><Relationship Type="http://schemas.openxmlformats.org/officeDocument/2006/relationships/notesMaster" Target="/ppt/notesMasters/notesMaster1.xml" Id="R50244afdaa4c46d7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e776445d0d184b60" /><Relationship Type="http://schemas.openxmlformats.org/officeDocument/2006/relationships/notesMaster" Target="/ppt/notesMasters/notesMaster1.xml" Id="Rdb6cb85138a749f2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571c8b42adb54457" /><Relationship Type="http://schemas.openxmlformats.org/officeDocument/2006/relationships/notesMaster" Target="/ppt/notesMasters/notesMaster1.xml" Id="R390ebe1aae724e4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the match and the distinction between observed tracking, extrapolated tracking and derived labels.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SkillCorner open data and schema</a:t>
            </a:r>
          </a:p>
          <a:p xmlns:a="http://schemas.openxmlformats.org/drawingml/2006/main">
            <a:r>
              <a:t>https://github.com/SkillCorner/opendata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opening entries are linked. Full sources are in the reading list. Real sample: Brisbane vs Perth, 21 December 2024, match 1925299.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 · 01_data_exploration.ipynb</a:t>
            </a:r>
          </a:p>
          <a:p xmlns:a="http://schemas.openxmlformats.org/drawingml/2006/main">
            <a:r>
              <a:t>https://github.com/zcochran27/tracking-data-applied-workshop/blob/main/notebooks/methods/01_data_exploration.ipynb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SkillCorner open data and schema</a:t>
            </a:r>
          </a:p>
          <a:p xmlns:a="http://schemas.openxmlformats.org/drawingml/2006/main">
            <a:r>
              <a:t>https://github.com/SkillCorner/opendata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kloppy SkillCorner loader</a:t>
            </a:r>
          </a:p>
          <a:p xmlns:a="http://schemas.openxmlformats.org/drawingml/2006/main">
            <a:r>
              <a:t>https://kloppy.pysport.org/reference/providers/skillcorner/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DataBallPy covered distance</a:t>
            </a:r>
          </a:p>
          <a:p xmlns:a="http://schemas.openxmlformats.org/drawingml/2006/main">
            <a:r>
              <a:t>https://databallpy.readthedocs.io/en/main/features/covered_distance_page.html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figure contains actual dataframe values; velocity columns are derived after loading.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 · 01_data_exploration.ipynb</a:t>
            </a:r>
          </a:p>
          <a:p xmlns:a="http://schemas.openxmlformats.org/drawingml/2006/main">
            <a:r>
              <a:t>https://github.com/zcochran27/tracking-data-applied-workshop/blob/main/notebooks/methods/01_data_exploration.ipynb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kloppy SkillCorner loader</a:t>
            </a:r>
          </a:p>
          <a:p xmlns:a="http://schemas.openxmlformats.org/drawingml/2006/main">
            <a:r>
              <a:t>https://kloppy.pysport.org/reference/providers/skillcorner/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Red rings mark extrapolated players according to raw is_detected. Coordinates can exist without a direct camera observation. All subsequent models inherit this uncertainty.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 · 01_data_exploration.ipynb</a:t>
            </a:r>
          </a:p>
          <a:p xmlns:a="http://schemas.openxmlformats.org/drawingml/2006/main">
            <a:r>
              <a:t>https://github.com/zcochran27/tracking-data-applied-workshop/blob/main/notebooks/methods/01_data_exploration.ipynb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SkillCorner open data and schema</a:t>
            </a:r>
          </a:p>
          <a:p xmlns:a="http://schemas.openxmlformats.org/drawingml/2006/main">
            <a:r>
              <a:t>https://github.com/SkillCorner/opendata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DataBallPy preprocessing</a:t>
            </a:r>
          </a:p>
          <a:p xmlns:a="http://schemas.openxmlformats.org/drawingml/2006/main">
            <a:r>
              <a:t>https://databallpy.readthedocs.io/en/main/getting_started/preprocessing_options.html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actual pitch dimensions. A visually plausible frame is a useful first check, but does not prove identity or position accuracy.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 · 01_data_exploration.ipynb</a:t>
            </a:r>
          </a:p>
          <a:p xmlns:a="http://schemas.openxmlformats.org/drawingml/2006/main">
            <a:r>
              <a:t>https://github.com/zcochran27/tracking-data-applied-workshop/blob/main/notebooks/methods/01_data_exploration.ipynb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SkillCorner open data and schema</a:t>
            </a:r>
          </a:p>
          <a:p xmlns:a="http://schemas.openxmlformats.org/drawingml/2006/main">
            <a:r>
              <a:t>https://github.com/SkillCorner/opendata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Embedded native-rate MP4 of actual SkillCorner player and ball positions with shirt numbers. Click the movie in slideshow view. Tracking visualization, not broadcast footage.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 · 01_data_exploration.ipynb</a:t>
            </a:r>
          </a:p>
          <a:p xmlns:a="http://schemas.openxmlformats.org/drawingml/2006/main">
            <a:r>
              <a:t>https://github.com/zcochran27/tracking-data-applied-workshop/blob/main/notebooks/methods/01_data_exploration.ipynb</a:t>
            </a:r>
          </a:p>
          <a:p xmlns:a="http://schemas.openxmlformats.org/drawingml/2006/main">
            <a:r>
              <a:t>Embedded video (click to play): assets/videos/tracking_playback.mp4</a:t>
            </a:r>
          </a:p>
          <a:p xmlns:a="http://schemas.openxmlformats.org/drawingml/2006/main">
            <a:r>
              <a:t>Embedded native-rate MP4 of actual SkillCorner player and ball positions with shirt numbers. Click the movie in slideshow view. Tracking visualization, not broadcast footage.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kloppy SkillCorner loader</a:t>
            </a:r>
          </a:p>
          <a:p xmlns:a="http://schemas.openxmlformats.org/drawingml/2006/main">
            <a:r>
              <a:t>https://kloppy.pysport.org/reference/providers/skillcorner/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Friends of Tracking: pitch control and EPV tutorials</a:t>
            </a:r>
          </a:p>
          <a:p xmlns:a="http://schemas.openxmlformats.org/drawingml/2006/main">
            <a:r>
              <a:t>https://github.com/Friends-of-Tracking-Data-FoTD/LaurieOnTracking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Figure is an actual 2 m proximity heuristic, not the full Vidal-Codina or PathCRF method. Pros: transparent and quick. Cons: aerial balls, duels and tracking uncertainty. Compare with supplied possession labels; evaluate timing-aware accuracy.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 · 02_event_detection.ipynb</a:t>
            </a:r>
          </a:p>
          <a:p xmlns:a="http://schemas.openxmlformats.org/drawingml/2006/main">
            <a:r>
              <a:t>https://github.com/zcochran27/tracking-data-applied-workshop/blob/main/notebooks/methods/02_event_detection.ipynb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DataBallPy preprocessing</a:t>
            </a:r>
          </a:p>
          <a:p xmlns:a="http://schemas.openxmlformats.org/drawingml/2006/main">
            <a:r>
              <a:t>https://databallpy.readthedocs.io/en/main/getting_started/preprocessing_options.html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PathCRF: player trajectories to events (2026)</a:t>
            </a:r>
          </a:p>
          <a:p xmlns:a="http://schemas.openxmlformats.org/drawingml/2006/main">
            <a:r>
              <a:t>https://github.com/hyunsungkim-ds/pathcrf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Embedded MP4 uses computed heuristic candidates, not supplied event endpoints: nearest player within 2 m, ball height at most 2 m, stable control at least 0.3 seconds, same-team player change, transit 0.1–4 seconds and endpoint displacement at least 3 m. Playback is half speed. These are unverified pass candidates, not measured detection accuracy.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 · 02_event_detection.ipynb</a:t>
            </a:r>
          </a:p>
          <a:p xmlns:a="http://schemas.openxmlformats.org/drawingml/2006/main">
            <a:r>
              <a:t>https://github.com/zcochran27/tracking-data-applied-workshop/blob/main/notebooks/methods/02_event_detection.ipynb</a:t>
            </a:r>
          </a:p>
          <a:p xmlns:a="http://schemas.openxmlformats.org/drawingml/2006/main">
            <a:r>
              <a:t>Embedded video (click to play): assets/videos/event_detection.mp4</a:t>
            </a:r>
          </a:p>
          <a:p xmlns:a="http://schemas.openxmlformats.org/drawingml/2006/main">
            <a:r>
              <a:t>Embedded MP4 uses computed heuristic candidates, not supplied event endpoints: nearest player within 2 m, ball height at most 2 m, stable control at least 0.3 seconds, same-team player change, transit 0.1–4 seconds and endpoint displacement at least 3 m. Playback is half speed. These are unverified pass candidates, not measured detection accuracy.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PathCRF: player trajectories to events (2026)</a:t>
            </a:r>
          </a:p>
          <a:p xmlns:a="http://schemas.openxmlformats.org/drawingml/2006/main">
            <a:r>
              <a:t>https://github.com/hyunsungkim-ds/pathcrf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DataBallPy preprocessing</a:t>
            </a:r>
          </a:p>
          <a:p xmlns:a="http://schemas.openxmlformats.org/drawingml/2006/main">
            <a:r>
              <a:t>https://databallpy.readthedocs.io/en/main/getting_started/preprocessing_options.html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Audience prompt inspired by the supplied reference. These are actual SkillCorner frames, with identities hidden. A single snapshot is ambiguous; metadata positions are not frame-level role truth.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 · 03_formation_analysis.ipynb</a:t>
            </a:r>
          </a:p>
          <a:p xmlns:a="http://schemas.openxmlformats.org/drawingml/2006/main">
            <a:r>
              <a:t>https://github.com/zcochran27/tracking-data-applied-workshop/blob/main/notebooks/methods/03_formation_analysis.ipynb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Devin Pleuler: Fixed to Fluid (2024)</a:t>
            </a:r>
          </a:p>
          <a:p xmlns:a="http://schemas.openxmlformats.org/drawingml/2006/main">
            <a:r>
              <a:t>https://github.com/devinpleuler/research/blob/master/frame-by-frame-position.md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Independently generated from SkillCorner. Two-standard-deviation covariance ellipses, not confidence regions. Labels are metadata roles. Pros: removes team translation. Cons: averaging still mixes phases and rotations; covariance can hide multimodal behavior. Use identical qualifying samples in both panels.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 · 03_formation_analysis.ipynb</a:t>
            </a:r>
          </a:p>
          <a:p xmlns:a="http://schemas.openxmlformats.org/drawingml/2006/main">
            <a:r>
              <a:t>https://github.com/zcochran27/tracking-data-applied-workshop/blob/main/notebooks/methods/03_formation_analysis.ipynb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Devin Pleuler: Fixed to Fluid (2024)</a:t>
            </a:r>
          </a:p>
          <a:p xmlns:a="http://schemas.openxmlformats.org/drawingml/2006/main">
            <a:r>
              <a:t>https://github.com/devinpleuler/research/blob/master/frame-by-frame-position.md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Shaw &amp; Glickman: Dynamic Analysis of Team Strategy</a:t>
            </a:r>
          </a:p>
          <a:p xmlns:a="http://schemas.openxmlformats.org/drawingml/2006/main">
            <a:r>
              <a:t>https://static.capabiliaserver.com/frontend/clients/barca/wp_prod/wp-content/uploads/2020/01/83c87dfe-barca_poster_shaw.pdf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Native-rate video of real coordinates. The left panel retains pitch position; the right shows team-centroid-relative coordinates. Includes all home players in this geometric illustration. Removing translation does not remove rotation, phase changes or individual role swaps.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 · 03_formation_analysis.ipynb</a:t>
            </a:r>
          </a:p>
          <a:p xmlns:a="http://schemas.openxmlformats.org/drawingml/2006/main">
            <a:r>
              <a:t>https://github.com/zcochran27/tracking-data-applied-workshop/blob/main/notebooks/methods/03_formation_analysis.ipynb</a:t>
            </a:r>
          </a:p>
          <a:p xmlns:a="http://schemas.openxmlformats.org/drawingml/2006/main">
            <a:r>
              <a:t>Embedded video (click to play): assets/videos/formation_centering.mp4</a:t>
            </a:r>
          </a:p>
          <a:p xmlns:a="http://schemas.openxmlformats.org/drawingml/2006/main">
            <a:r>
              <a:t>Native-rate video of real coordinates. The left panel retains pitch position; the right shows team-centroid-relative coordinates. Includes all home players in this geometric illustration. Removing translation does not remove rotation, phase changes or individual role swaps.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Devin Pleuler: Fixed to Fluid (2024)</a:t>
            </a:r>
          </a:p>
          <a:p xmlns:a="http://schemas.openxmlformats.org/drawingml/2006/main">
            <a:r>
              <a:t>https://github.com/devinpleuler/research/blob/master/frame-by-frame-position.md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Shaw &amp; Glickman: Dynamic Analysis of Team Strategy</a:t>
            </a:r>
          </a:p>
          <a:p xmlns:a="http://schemas.openxmlformats.org/drawingml/2006/main">
            <a:r>
              <a:t>https://static.capabiliaserver.com/frontend/clients/barca/wp_prod/wp-content/uploads/2020/01/83c87dfe-barca_poster_shaw.pdf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Pleuler (June 2024), independently implemented. Our choices: 24 headings and overlapping 90-degree sectors. This is geometric context, not observed head orientation, actual sight or occlusion. Attack-normalize both axes. Opponent-count channel is our extension. Pros: translation-invariant and intuitive. Cons: angular resolution, orientation and missing players affect features.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 · 04_role_classification.ipynb</a:t>
            </a:r>
          </a:p>
          <a:p xmlns:a="http://schemas.openxmlformats.org/drawingml/2006/main">
            <a:r>
              <a:t>https://github.com/zcochran27/tracking-data-applied-workshop/blob/main/notebooks/methods/04_role_classification.ipynb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Devin Pleuler: Fixed to Fluid (2024)</a:t>
            </a:r>
          </a:p>
          <a:p xmlns:a="http://schemas.openxmlformats.org/drawingml/2006/main">
            <a:r>
              <a:t>https://github.com/devinpleuler/research/blob/master/frame-by-frame-position.md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Pleuler used XGBoost. This notebook manufactures features but does not train or claim accuracy from a single match. Assigned-position metadata gives weak labels during rotations. For credible evaluation use manually reviewed frame roles and held-out matches/players. Add opponent counts as a separate tested extension. Pros: flexible nonlinear classification. Cons: label noise and domain shift.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 · 04_role_classification.ipynb</a:t>
            </a:r>
          </a:p>
          <a:p xmlns:a="http://schemas.openxmlformats.org/drawingml/2006/main">
            <a:r>
              <a:t>https://github.com/zcochran27/tracking-data-applied-workshop/blob/main/notebooks/methods/04_role_classification.ipynb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Devin Pleuler: Fixed to Fluid (2024)</a:t>
            </a:r>
          </a:p>
          <a:p xmlns:a="http://schemas.openxmlformats.org/drawingml/2006/main">
            <a:r>
              <a:t>https://github.com/devinpleuler/research/blob/master/frame-by-frame-position.md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Teaching baseline: four fixed templates, Hungarian minimum squared-distance assignment, attack-right orientation. RMS residual is not a probability. Unlike EFPI, this implementation has no elastic template optimization. Pros: interpretable assignments and no player-order dependence. Cons: template inventory, scale and asymmetry determine results.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 · 03_formation_analysis.ipynb</a:t>
            </a:r>
          </a:p>
          <a:p xmlns:a="http://schemas.openxmlformats.org/drawingml/2006/main">
            <a:r>
              <a:t>https://github.com/zcochran27/tracking-data-applied-workshop/blob/main/notebooks/methods/03_formation_analysis.ipynb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Joris Bekkers: Elastic Formation and Position Identification</a:t>
            </a:r>
          </a:p>
          <a:p xmlns:a="http://schemas.openxmlformats.org/drawingml/2006/main">
            <a:r>
              <a:t>https://arxiv.org/abs/2506.23843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UnravelSports EFPI tutorial</a:t>
            </a:r>
          </a:p>
          <a:p xmlns:a="http://schemas.openxmlformats.org/drawingml/2006/main">
            <a:r>
              <a:t>https://unravelsports.readthedocs.io/en/latest/tutorials/formation_detection.html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EFPI is the published extension using elastic templates and linear assignment. The displayed visualization is our simpler fixed-template baseline, not an EFPI result. Follow the linked tutorial for package inference. Pros: formation and role assignment together. Cons: parameter choices, substitutions, partial tracking and tactical ambiguity. Compare output to video-reviewed labels.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Joris Bekkers: Elastic Formation and Position Identification</a:t>
            </a:r>
          </a:p>
          <a:p xmlns:a="http://schemas.openxmlformats.org/drawingml/2006/main">
            <a:r>
              <a:t>https://arxiv.org/abs/2506.23843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UnravelSports EFPI tutorial</a:t>
            </a:r>
          </a:p>
          <a:p xmlns:a="http://schemas.openxmlformats.org/drawingml/2006/main">
            <a:r>
              <a:t>https://unravelsports.readthedocs.io/en/latest/tutorials/formation_detection.html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Embedded MP4 computes centered defensive-window medians, fixed-template Hungarian assignments and three-bin causal persistence. Uses 30-second bins with at least 50 qualifying frames per outfield player. Missing bins reset candidate evidence; the last confirmed state is retained through gaps. 60× playback. Shape labels are candidates without tactical ground truth, not elastic EFPI inference.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 · 03_formation_analysis.ipynb</a:t>
            </a:r>
          </a:p>
          <a:p xmlns:a="http://schemas.openxmlformats.org/drawingml/2006/main">
            <a:r>
              <a:t>https://github.com/zcochran27/tracking-data-applied-workshop/blob/main/notebooks/methods/03_formation_analysis.ipynb</a:t>
            </a:r>
          </a:p>
          <a:p xmlns:a="http://schemas.openxmlformats.org/drawingml/2006/main">
            <a:r>
              <a:t>Embedded video (click to play): assets/videos/formation_candidates.mp4</a:t>
            </a:r>
          </a:p>
          <a:p xmlns:a="http://schemas.openxmlformats.org/drawingml/2006/main">
            <a:r>
              <a:t>Embedded MP4 computes centered defensive-window medians, fixed-template Hungarian assignments and three-bin causal persistence. Uses 30-second bins with at least 50 qualifying frames per outfield player. Missing bins reset candidate evidence; the last confirmed state is retained through gaps. 60× playback. Shape labels are candidates without tactical ground truth, not elastic EFPI inference.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Devin Pleuler: Fixed to Fluid (2024)</a:t>
            </a:r>
          </a:p>
          <a:p xmlns:a="http://schemas.openxmlformats.org/drawingml/2006/main">
            <a:r>
              <a:t>https://github.com/devinpleuler/research/blob/master/frame-by-frame-position.md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Joris Bekkers: Elastic Formation and Position Identification</a:t>
            </a:r>
          </a:p>
          <a:p xmlns:a="http://schemas.openxmlformats.org/drawingml/2006/main">
            <a:r>
              <a:t>https://arxiv.org/abs/2506.23843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Real median outfield positions are shown separately by possession. Pros: summarizes organization beyond a team sheet. Cons: averaging mixes roles and game states; these are not asserted formation labels.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 · 03_formation_analysis.ipynb</a:t>
            </a:r>
          </a:p>
          <a:p xmlns:a="http://schemas.openxmlformats.org/drawingml/2006/main">
            <a:r>
              <a:t>https://github.com/zcochran27/tracking-data-applied-workshop/blob/main/notebooks/methods/03_formation_analysis.ipynb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Shaw &amp; Glickman: Dynamic Analysis of Team Strategy</a:t>
            </a:r>
          </a:p>
          <a:p xmlns:a="http://schemas.openxmlformats.org/drawingml/2006/main">
            <a:r>
              <a:t>https://static.capabiliaserver.com/frontend/clients/barca/wp_prod/wp-content/uploads/2020/01/83c87dfe-barca_poster_shaw.pdf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Ward clustering of real centered x positions into three groups is a teaching baseline. It is not a validated named-formation classifier. Pros: interpretable. Cons: fixed line counts, overlaps and rotations.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 · 03_formation_analysis.ipynb</a:t>
            </a:r>
          </a:p>
          <a:p xmlns:a="http://schemas.openxmlformats.org/drawingml/2006/main">
            <a:r>
              <a:t>https://github.com/zcochran27/tracking-data-applied-workshop/blob/main/notebooks/methods/03_formation_analysis.ipynb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Shaw &amp; Glickman: Dynamic Analysis of Team Strategy</a:t>
            </a:r>
          </a:p>
          <a:p xmlns:a="http://schemas.openxmlformats.org/drawingml/2006/main">
            <a:r>
              <a:t>https://static.capabiliaserver.com/frontend/clients/barca/wp_prod/wp-content/uploads/2020/01/83c87dfe-barca_poster_shaw.pdf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plot shows supplied SkillCorner labels, not predictions from a classifier trained here. Pros: makes context explicit. Cons: taxonomy-dependent and sensitive to boundary definitions.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 · 05_match_segmentation.ipynb</a:t>
            </a:r>
          </a:p>
          <a:p xmlns:a="http://schemas.openxmlformats.org/drawingml/2006/main">
            <a:r>
              <a:t>https://github.com/zcochran27/tracking-data-applied-workshop/blob/main/notebooks/methods/05_match_segmentation.ipynb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SkillCorner open data and schema</a:t>
            </a:r>
          </a:p>
          <a:p xmlns:a="http://schemas.openxmlformats.org/drawingml/2006/main">
            <a:r>
              <a:t>https://github.com/SkillCorner/opendata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Augmented possession and phases framework (2025)</a:t>
            </a:r>
          </a:p>
          <a:p xmlns:a="http://schemas.openxmlformats.org/drawingml/2006/main">
            <a:r>
              <a:t>https://doi.org/10.1177/22150218241290988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speed curves are shown. Pros: foundation for physical and tactical features. Cons: derivatives amplify noise; smoothing removes some short peaks.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 · 06_physical_metrics.ipynb</a:t>
            </a:r>
          </a:p>
          <a:p xmlns:a="http://schemas.openxmlformats.org/drawingml/2006/main">
            <a:r>
              <a:t>https://github.com/zcochran27/tracking-data-applied-workshop/blob/main/notebooks/methods/06_physical_metrics.ipynb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DataBallPy preprocessing</a:t>
            </a:r>
          </a:p>
          <a:p xmlns:a="http://schemas.openxmlformats.org/drawingml/2006/main">
            <a:r>
              <a:t>https://databallpy.readthedocs.io/en/main/getting_started/preprocessing_options.html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real sample’s cumulative distance excludes missing derivatives. No full-match extrapolation. Pros: simple workload volume measure. Cons: incomplete and extrapolated tracking affect accuracy.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 · 06_physical_metrics.ipynb</a:t>
            </a:r>
          </a:p>
          <a:p xmlns:a="http://schemas.openxmlformats.org/drawingml/2006/main">
            <a:r>
              <a:t>https://github.com/zcochran27/tracking-data-applied-workshop/blob/main/notebooks/methods/06_physical_metrics.ipynb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DataBallPy covered distance</a:t>
            </a:r>
          </a:p>
          <a:p xmlns:a="http://schemas.openxmlformats.org/drawingml/2006/main">
            <a:r>
              <a:t>https://databallpy.readthedocs.io/en/main/features/covered_distance_page.html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SkillCorner physical thresholds and time-to metrics</a:t>
            </a:r>
          </a:p>
          <a:p xmlns:a="http://schemas.openxmlformats.org/drawingml/2006/main">
            <a:r>
              <a:t>https://skillcorner.com/us/articles/scouted-brazilian-centre-backs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Our code uses [20,25) and [25,infinity) to avoid overlap; exact equality handling is a teaching convention. Pros: distinguishes intensity from volume. Cons: thresholds and exposure affect comparisons.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 · 06_physical_metrics.ipynb</a:t>
            </a:r>
          </a:p>
          <a:p xmlns:a="http://schemas.openxmlformats.org/drawingml/2006/main">
            <a:r>
              <a:t>https://github.com/zcochran27/tracking-data-applied-workshop/blob/main/notebooks/methods/06_physical_metrics.ipynb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SkillCorner physical thresholds and time-to metrics</a:t>
            </a:r>
          </a:p>
          <a:p xmlns:a="http://schemas.openxmlformats.org/drawingml/2006/main">
            <a:r>
              <a:t>https://skillcorner.com/us/articles/scouted-brazilian-centre-backs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DataBallPy covered distance</a:t>
            </a:r>
          </a:p>
          <a:p xmlns:a="http://schemas.openxmlformats.org/drawingml/2006/main">
            <a:r>
              <a:t>https://databallpy.readthedocs.io/en/main/features/covered_distance_page.html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Shaded segments are our &gt;=1 s, no-merging teaching rule. They are not exact SkillCorner production sprint counts. Pros: repeated-effort view. Cons: sensitive to thresholds, smoothing and merging rules.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 · 06_physical_metrics.ipynb</a:t>
            </a:r>
          </a:p>
          <a:p xmlns:a="http://schemas.openxmlformats.org/drawingml/2006/main">
            <a:r>
              <a:t>https://github.com/zcochran27/tracking-data-applied-workshop/blob/main/notebooks/methods/06_physical_metrics.ipynb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SkillCorner physical thresholds and time-to metrics</a:t>
            </a:r>
          </a:p>
          <a:p xmlns:a="http://schemas.openxmlformats.org/drawingml/2006/main">
            <a:r>
              <a:t>https://skillcorner.com/us/articles/scouted-brazilian-centre-backs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plot uses real signed speed derivatives. A direction change can produce acceleration-vector magnitude without increasing scalar speed. Pros: captures bursts and braking. Cons: highly noise-sensitive; threshold crossing alone does not qualify a production explosive effort.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 · 06_physical_metrics.ipynb</a:t>
            </a:r>
          </a:p>
          <a:p xmlns:a="http://schemas.openxmlformats.org/drawingml/2006/main">
            <a:r>
              <a:t>https://github.com/zcochran27/tracking-data-applied-workshop/blob/main/notebooks/methods/06_physical_metrics.ipynb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DataBallPy preprocessing</a:t>
            </a:r>
          </a:p>
          <a:p xmlns:a="http://schemas.openxmlformats.org/drawingml/2006/main">
            <a:r>
              <a:t>https://databallpy.readthedocs.io/en/main/getting_started/preprocessing_options.html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SkillCorner explosive accelerations</a:t>
            </a:r>
          </a:p>
          <a:p xmlns:a="http://schemas.openxmlformats.org/drawingml/2006/main">
            <a:r>
              <a:t>https://skillcorner.com/articles/new-feature-explosive-accelerations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real crossing is illustrative, not production-qualified. The published metric is the minimum interval within qualifying explosive accelerations. Start detection, &gt;0.7 s high-acceleration qualification and filtering matter.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 · 06_physical_metrics.ipynb</a:t>
            </a:r>
          </a:p>
          <a:p xmlns:a="http://schemas.openxmlformats.org/drawingml/2006/main">
            <a:r>
              <a:t>https://github.com/zcochran27/tracking-data-applied-workshop/blob/main/notebooks/methods/06_physical_metrics.ipynb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SkillCorner explosive accelerations</a:t>
            </a:r>
          </a:p>
          <a:p xmlns:a="http://schemas.openxmlformats.org/drawingml/2006/main">
            <a:r>
              <a:t>https://skillcorner.com/articles/new-feature-explosive-accelerations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Real observed crossing shown. No official Time to Sprint or Top 3 value is reconstructed. Pros: explosiveness/capacity. Cons: limited opportunities, sample size and qualification rules.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 · 06_physical_metrics.ipynb</a:t>
            </a:r>
          </a:p>
          <a:p xmlns:a="http://schemas.openxmlformats.org/drawingml/2006/main">
            <a:r>
              <a:t>https://github.com/zcochran27/tracking-data-applied-workshop/blob/main/notebooks/methods/06_physical_metrics.ipynb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SkillCorner explosive accelerations</a:t>
            </a:r>
          </a:p>
          <a:p xmlns:a="http://schemas.openxmlformats.org/drawingml/2006/main">
            <a:r>
              <a:t>https://skillcorner.com/articles/new-feature-explosive-accelerations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real frame-speed distribution illustrates why populations matter. SkillCorner describes PSV-99 over physical activities above 15 km/h. This histogram is not the official PSV-99 calculation.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 · 06_physical_metrics.ipynb</a:t>
            </a:r>
          </a:p>
          <a:p xmlns:a="http://schemas.openxmlformats.org/drawingml/2006/main">
            <a:r>
              <a:t>https://github.com/zcochran27/tracking-data-applied-workshop/blob/main/notebooks/methods/06_physical_metrics.ipynb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SkillCorner PSV-99 and Peak Velocity</a:t>
            </a:r>
          </a:p>
          <a:p xmlns:a="http://schemas.openxmlformats.org/drawingml/2006/main">
            <a:r>
              <a:t>https://skillcorner.com/articles/skillcorner-releases-new-peak-velocity-metric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figure uses our smoothed sample-speed estimates. It does not reproduce SkillCorner’s validated production Peak Velocity. Pros: interpretable capacity measure. Cons: noisy spikes, short exposure and preprocessing dependence.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 · 06_physical_metrics.ipynb</a:t>
            </a:r>
          </a:p>
          <a:p xmlns:a="http://schemas.openxmlformats.org/drawingml/2006/main">
            <a:r>
              <a:t>https://github.com/zcochran27/tracking-data-applied-workshop/blob/main/notebooks/methods/06_physical_metrics.ipynb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SkillCorner PSV-99 and Peak Velocity</a:t>
            </a:r>
          </a:p>
          <a:p xmlns:a="http://schemas.openxmlformats.org/drawingml/2006/main">
            <a:r>
              <a:t>https://skillcorner.com/articles/skillcorner-releases-new-peak-velocity-metric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Hypothetical shot rays at a real ball location; no xG prediction is invented. Pros: familiar target and interpretable features. Cons: sparse shots, outcome imbalance and contextual bias.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 · 07_expected_goals.ipynb</a:t>
            </a:r>
          </a:p>
          <a:p xmlns:a="http://schemas.openxmlformats.org/drawingml/2006/main">
            <a:r>
              <a:t>https://github.com/zcochran27/tracking-data-applied-workshop/blob/main/notebooks/methods/07_expected_goals.ipynb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StatsBomb: Upgrading Expected Goals</a:t>
            </a:r>
          </a:p>
          <a:p xmlns:a="http://schemas.openxmlformats.org/drawingml/2006/main">
            <a:r>
              <a:t>https://blogarchive.statsbomb.com/articles/soccer/upgrading-expected-goals/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fitted DataBallPy open-play grid, not trained on this small sample. V(s)=P(shot|s)P(goal|shot,s)+sum P(successful move to s'|s)V(s'). Classic location xT does not use defender positions. State the model target and training domain.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 · 08_expected_threat.ipynb</a:t>
            </a:r>
          </a:p>
          <a:p xmlns:a="http://schemas.openxmlformats.org/drawingml/2006/main">
            <a:r>
              <a:t>https://github.com/zcochran27/tracking-data-applied-workshop/blob/main/notebooks/methods/08_expected_threat.ipynb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Karun Singh: Expected Threat</a:t>
            </a:r>
          </a:p>
          <a:p xmlns:a="http://schemas.openxmlformats.org/drawingml/2006/main">
            <a:r>
              <a:t>https://karun.in/blog/expected-threat.html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DataBallPy fitted xT methodology</a:t>
            </a:r>
          </a:p>
          <a:p xmlns:a="http://schemas.openxmlformats.org/drawingml/2006/main">
            <a:r>
              <a:t>https://databallpy.readthedocs.io/en/main/features/xt_models.html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arrow is real ball displacement in the selected clip, not an assertion of a single completed pass. Attack direction is normalized and 105 m scaled to the model’s 106 m convention. Pros: simple action valuation. Cons: path-independent, no defender context or causal attribution.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 · 08_expected_threat.ipynb</a:t>
            </a:r>
          </a:p>
          <a:p xmlns:a="http://schemas.openxmlformats.org/drawingml/2006/main">
            <a:r>
              <a:t>https://github.com/zcochran27/tracking-data-applied-workshop/blob/main/notebooks/methods/08_expected_threat.ipynb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Karun Singh: Expected Threat</a:t>
            </a:r>
          </a:p>
          <a:p xmlns:a="http://schemas.openxmlformats.org/drawingml/2006/main">
            <a:r>
              <a:t>https://karun.in/blog/expected-threat.html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DataBallPy fitted xT methodology</a:t>
            </a:r>
          </a:p>
          <a:p xmlns:a="http://schemas.openxmlformats.org/drawingml/2006/main">
            <a:r>
              <a:t>https://databallpy.readthedocs.io/en/main/features/xt_models.html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frame, grid approximation to a Voronoi partition. Pros: quick and interpretable. Cons: hard boundaries and no movement, ball-flight or uncertainty.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 · 09_voronoi_control.ipynb</a:t>
            </a:r>
          </a:p>
          <a:p xmlns:a="http://schemas.openxmlformats.org/drawingml/2006/main">
            <a:r>
              <a:t>https://github.com/zcochran27/tracking-data-applied-workshop/blob/main/notebooks/methods/09_voronoi_control.ipynb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DataBallPy space occupation</a:t>
            </a:r>
          </a:p>
          <a:p xmlns:a="http://schemas.openxmlformats.org/drawingml/2006/main">
            <a:r>
              <a:t>https://databallpy.readthedocs.io/en/main/features/space_occupation.html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Real player velocity with an illustrative ellipse. The covariance is not the exact Fernández/Bornn parameterization. Pros: smooth and motion-aware. Cons: hand-set influence scale and simplified movement ability.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 · 10_gaussian_control.ipynb</a:t>
            </a:r>
          </a:p>
          <a:p xmlns:a="http://schemas.openxmlformats.org/drawingml/2006/main">
            <a:r>
              <a:t>https://github.com/zcochran27/tracking-data-applied-workshop/blob/main/notebooks/methods/10_gaussian_control.ipynb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Wide Open Spaces, Fernández &amp; Bornn (2018)</a:t>
            </a:r>
          </a:p>
          <a:p xmlns:a="http://schemas.openxmlformats.org/drawingml/2006/main">
            <a:r>
              <a:t>https://static.capabiliaserver.com/frontend/clients/barca/wp_prod/wp-content/uploads/2018/05/Wide-Open-Spaces.pdf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Space and Control in Soccer (2021)</a:t>
            </a:r>
          </a:p>
          <a:p xmlns:a="http://schemas.openxmlformats.org/drawingml/2006/main">
            <a:r>
              <a:t>https://www.frontiersin.org/journals/sports-and-active-living/articles/10.3389/fspor.2021.676179/full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Our logistic transformation bounds the team difference; it is not a calibrated possession probability. Pros: contested-space view. Cons: aggregation and covariance assumptions affect the surface.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 · 10_gaussian_control.ipynb</a:t>
            </a:r>
          </a:p>
          <a:p xmlns:a="http://schemas.openxmlformats.org/drawingml/2006/main">
            <a:r>
              <a:t>https://github.com/zcochran27/tracking-data-applied-workshop/blob/main/notebooks/methods/10_gaussian_control.ipynb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Wide Open Spaces, Fernández &amp; Bornn (2018)</a:t>
            </a:r>
          </a:p>
          <a:p xmlns:a="http://schemas.openxmlformats.org/drawingml/2006/main">
            <a:r>
              <a:t>https://static.capabiliaserver.com/frontend/clients/barca/wp_prod/wp-content/uploads/2018/05/Wide-Open-Spaces.pdf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DataBallPy space occupation</a:t>
            </a:r>
          </a:p>
          <a:p xmlns:a="http://schemas.openxmlformats.org/drawingml/2006/main">
            <a:r>
              <a:t>https://databallpy.readthedocs.io/en/main/features/space_occupation.html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frame with a simple 0.7 s projection and 5 m/s travel speed baseline. Pros: interpretable timing. Cons: no ball flight, acceleration optimization or interception-rate integration; not Spearman’s full 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 · 11_arrival_time_control.ipynb</a:t>
            </a:r>
          </a:p>
          <a:p xmlns:a="http://schemas.openxmlformats.org/drawingml/2006/main">
            <a:r>
              <a:t>https://github.com/zcochran27/tracking-data-applied-workshop/blob/main/notebooks/methods/11_arrival_time_control.ipynb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Space and Control in Soccer (2021)</a:t>
            </a:r>
          </a:p>
          <a:p xmlns:a="http://schemas.openxmlformats.org/drawingml/2006/main">
            <a:r>
              <a:t>https://www.frontiersin.org/journals/sports-and-active-living/articles/10.3389/fspor.2021.676179/full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Beyond Expected Goals, Spearman (2018)</a:t>
            </a:r>
          </a:p>
          <a:p xmlns:a="http://schemas.openxmlformats.org/drawingml/2006/main">
            <a:r>
              <a:t>https://static.hudl.com/craft/downloads/SSAC2018_Beyond_Expected_Goals.pdf?mtime=20180327111214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tracking, same frame/grid for Voronoi, directional Gaussian and simplified arrival-time scores. Gaussian influence uses projected centers and hand-set directional scales. Arrival time uses 0.7 s reaction/projection and 5 m/s travel speed. These are teaching baselines, not exact published production models. Video samples at 5 Hz with real-time playback. Orange denotes Brisbane, purple Perth.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 · 11_arrival_time_control.ipynb</a:t>
            </a:r>
          </a:p>
          <a:p xmlns:a="http://schemas.openxmlformats.org/drawingml/2006/main">
            <a:r>
              <a:t>https://github.com/zcochran27/tracking-data-applied-workshop/blob/main/notebooks/methods/11_arrival_time_control.ipynb</a:t>
            </a:r>
          </a:p>
          <a:p xmlns:a="http://schemas.openxmlformats.org/drawingml/2006/main">
            <a:r>
              <a:t>Embedded video (click to play): assets/videos/control_comparison.mp4</a:t>
            </a:r>
          </a:p>
          <a:p xmlns:a="http://schemas.openxmlformats.org/drawingml/2006/main">
            <a:r>
              <a:t>Actual tracking, same frame/grid for Voronoi, directional Gaussian and simplified arrival-time scores. Gaussian influence uses projected centers and hand-set directional scales. Arrival time uses 0.7 s reaction/projection and 5 m/s travel speed. These are teaching baselines, not exact published production models. Video samples at 5 Hz with real-time playback. Orange denotes Brisbane, purple Perth.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Wide Open Spaces, Fernández &amp; Bornn (2018)</a:t>
            </a:r>
          </a:p>
          <a:p xmlns:a="http://schemas.openxmlformats.org/drawingml/2006/main">
            <a:r>
              <a:t>https://static.capabiliaserver.com/frontend/clients/barca/wp_prod/wp-content/uploads/2018/05/Wide-Open-Spaces.pdf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Beyond Expected Goals, Spearman (2018)</a:t>
            </a:r>
          </a:p>
          <a:p xmlns:a="http://schemas.openxmlformats.org/drawingml/2006/main">
            <a:r>
              <a:t>https://static.hudl.com/craft/downloads/SSAC2018_Beyond_Expected_Goals.pdf?mtime=20180327111214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Architecture schematic on actual tracking context, not a computed Spearman surface. Pros: physical link to passing. Cons: uncertain reactions, speed and ball parameters. Separate from the arrival-time teaching baseline.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Beyond Expected Goals, Spearman (2018)</a:t>
            </a:r>
          </a:p>
          <a:p xmlns:a="http://schemas.openxmlformats.org/drawingml/2006/main">
            <a:r>
              <a:t>https://static.hudl.com/craft/downloads/SSAC2018_Beyond_Expected_Goals.pdf?mtime=20180327111214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accessible-space xC inference on hypothetical endpoints at real teammate positions. Pros: interpretable risk. Cons: model calibration, ball speed and offside conventions; candidates are not observed choices.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 · 12_pass_completion.ipynb</a:t>
            </a:r>
          </a:p>
          <a:p xmlns:a="http://schemas.openxmlformats.org/drawingml/2006/main">
            <a:r>
              <a:t>https://github.com/zcochran27/tracking-data-applied-workshop/blob/main/notebooks/methods/12_pass_completion.ipynb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DataBallPy DAS and expected completion</a:t>
            </a:r>
          </a:p>
          <a:p xmlns:a="http://schemas.openxmlformats.org/drawingml/2006/main">
            <a:r>
              <a:t>https://databallpy.readthedocs.io/en/main/features/dangerous_accessible_space.html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Dangerous Accessible Space: paper and implementation</a:t>
            </a:r>
          </a:p>
          <a:p xmlns:a="http://schemas.openxmlformats.org/drawingml/2006/main">
            <a:r>
              <a:t>https://github.com/jonas-bischofberger/accessible-space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public-model output. Pros: incorporates ball and player movement. Cons: simulation assumptions and resolution; individual access can overlap.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 · 13_space_and_danger.ipynb</a:t>
            </a:r>
          </a:p>
          <a:p xmlns:a="http://schemas.openxmlformats.org/drawingml/2006/main">
            <a:r>
              <a:t>https://github.com/zcochran27/tracking-data-applied-workshop/blob/main/notebooks/methods/13_space_and_danger.ipynb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Dangerous Accessible Space: paper and implementation</a:t>
            </a:r>
          </a:p>
          <a:p xmlns:a="http://schemas.openxmlformats.org/drawingml/2006/main">
            <a:r>
              <a:t>https://github.com/jonas-bischofberger/accessible-space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DataBallPy DAS and expected completion</a:t>
            </a:r>
          </a:p>
          <a:p xmlns:a="http://schemas.openxmlformats.org/drawingml/2006/main">
            <a:r>
              <a:t>https://databallpy.readthedocs.io/en/main/features/dangerous_accessible_space.html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public-model dangerous surface. Pros: links access and useful territory. Cons: danger definition and physical assumptions; DAS units are danger-weighted square metres.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 · 13_space_and_danger.ipynb</a:t>
            </a:r>
          </a:p>
          <a:p xmlns:a="http://schemas.openxmlformats.org/drawingml/2006/main">
            <a:r>
              <a:t>https://github.com/zcochran27/tracking-data-applied-workshop/blob/main/notebooks/methods/13_space_and_danger.ipynb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Dangerous Accessible Space: paper and implementation</a:t>
            </a:r>
          </a:p>
          <a:p xmlns:a="http://schemas.openxmlformats.org/drawingml/2006/main">
            <a:r>
              <a:t>https://github.com/jonas-bischofberger/accessible-space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DataBallPy DAS and expected completion</a:t>
            </a:r>
          </a:p>
          <a:p xmlns:a="http://schemas.openxmlformats.org/drawingml/2006/main">
            <a:r>
              <a:t>https://databallpy.readthedocs.io/en/main/features/dangerous_accessible_space.html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model values on three frames. Pros: connects movement to changing opportunity. Cons: different team possession states and model noise must be checked; before/after changes alone are not causal credit.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 · 13_space_and_danger.ipynb</a:t>
            </a:r>
          </a:p>
          <a:p xmlns:a="http://schemas.openxmlformats.org/drawingml/2006/main">
            <a:r>
              <a:t>https://github.com/zcochran27/tracking-data-applied-workshop/blob/main/notebooks/methods/13_space_and_danger.ipynb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Dangerous Accessible Space: paper and implementation</a:t>
            </a:r>
          </a:p>
          <a:p xmlns:a="http://schemas.openxmlformats.org/drawingml/2006/main">
            <a:r>
              <a:t>https://github.com/jonas-bischofberger/accessible-space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supplied xthreat values for off-ball runs. The provider model is not reconstructed. Pros: visible unserved contributions. Cons: counterfactual assumptions, context and selection bias.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SkillCorner: Expected Threat for off-ball runs</a:t>
            </a:r>
          </a:p>
          <a:p xmlns:a="http://schemas.openxmlformats.org/drawingml/2006/main">
            <a:r>
              <a:t>https://www.linkedin.com/posts/skillcorner_game-intelligence-expected-threat-activity-7057009275247689728-NVPh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SkillCorner open data and schema</a:t>
            </a:r>
          </a:p>
          <a:p xmlns:a="http://schemas.openxmlformats.org/drawingml/2006/main">
            <a:r>
              <a:t>https://github.com/SkillCorner/opendata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Real radius graph. Pros: models relationships directly. Cons: radius edges miss distant tactical relationships; fully connected and learned connectivity are alternatives.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 · 16_graph_epv.ipynb</a:t>
            </a:r>
          </a:p>
          <a:p xmlns:a="http://schemas.openxmlformats.org/drawingml/2006/main">
            <a:r>
              <a:t>https://github.com/zcochran27/tracking-data-applied-workshop/blob/main/notebooks/methods/16_graph_epv.ipynb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U.S. Soccer: counterattack GNNs with SkillCorner (2023)</a:t>
            </a:r>
          </a:p>
          <a:p xmlns:a="http://schemas.openxmlformats.org/drawingml/2006/main">
            <a:r>
              <a:t>https://github.com/USSoccerFederation/ussf_ssac_23_soccer_gnn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TacticAI (2024)</a:t>
            </a:r>
          </a:p>
          <a:p xmlns:a="http://schemas.openxmlformats.org/drawingml/2006/main">
            <a:r>
              <a:t>https://www.nature.com/articles/s41467-024-45965-x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edge-feature rows. Edge direction controls the sign of relative position. Team IDs should be encoded meaningfully rather than treated as numeric magnitudes.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 · 16_graph_epv.ipynb</a:t>
            </a:r>
          </a:p>
          <a:p xmlns:a="http://schemas.openxmlformats.org/drawingml/2006/main">
            <a:r>
              <a:t>https://github.com/zcochran27/tracking-data-applied-workshop/blob/main/notebooks/methods/16_graph_epv.ipynb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U.S. Soccer: counterattack GNNs with SkillCorner (2023)</a:t>
            </a:r>
          </a:p>
          <a:p xmlns:a="http://schemas.openxmlformats.org/drawingml/2006/main">
            <a:r>
              <a:t>https://github.com/USSoccerFederation/ussf_ssac_23_soccer_gnn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Architecture schematic, not a trained result. Pros: relational inductive bias and shared updates. Cons: oversmoothing, connectivity choices and training requirements. Attention alone is not causal importance.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 · 16_graph_epv.ipynb</a:t>
            </a:r>
          </a:p>
          <a:p xmlns:a="http://schemas.openxmlformats.org/drawingml/2006/main">
            <a:r>
              <a:t>https://github.com/zcochran27/tracking-data-applied-workshop/blob/main/notebooks/methods/16_graph_epv.ipynb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TacticAI (2024)</a:t>
            </a:r>
          </a:p>
          <a:p xmlns:a="http://schemas.openxmlformats.org/drawingml/2006/main">
            <a:r>
              <a:t>https://www.nature.com/articles/s41467-024-45965-x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DEFCON: GNN-based defensive EPV (2026)</a:t>
            </a:r>
          </a:p>
          <a:p xmlns:a="http://schemas.openxmlformats.org/drawingml/2006/main">
            <a:r>
              <a:t>https://github.com/hyunsungkim-ds/defcon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one-second lag and speed change on a real player. Explicit lag frame checks prevent bridging gaps. Instantaneous velocity adds motion information but is not a substitute for full history.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U.S. Soccer: counterattack GNNs with SkillCorner (2023)</a:t>
            </a:r>
          </a:p>
          <a:p xmlns:a="http://schemas.openxmlformats.org/drawingml/2006/main">
            <a:r>
              <a:t>https://github.com/USSoccerFederation/ussf_ssac_23_soccer_gnn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DataBallPy preprocessing</a:t>
            </a:r>
          </a:p>
          <a:p xmlns:a="http://schemas.openxmlformats.org/drawingml/2006/main">
            <a:r>
              <a:t>https://databallpy.readthedocs.io/en/main/getting_started/preprocessing_options.html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Embedded MP4 of real player motion and 20 m radius edges, recomputed at native 10 Hz. This player-only topology illustration differs from the workshop trained model, which adds a ball node and ball connections. No learned edge importance is displayed.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Embedded video (click to play): assets/videos/dynamic_graph.mp4</a:t>
            </a:r>
          </a:p>
          <a:p xmlns:a="http://schemas.openxmlformats.org/drawingml/2006/main">
            <a:r>
              <a:t>Embedded MP4 of real player motion and 20 m radius edges, recomputed at native 10 Hz. This player-only topology illustration differs from the workshop trained model, which adds a ball node and ball connections. No learned edge importance is displayed.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U.S. Soccer: counterattack GNNs with SkillCorner (2023)</a:t>
            </a:r>
          </a:p>
          <a:p xmlns:a="http://schemas.openxmlformats.org/drawingml/2006/main">
            <a:r>
              <a:t>https://github.com/USSoccerFederation/ussf_ssac_23_soccer_gnn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PathCRF: player trajectories to events (2026)</a:t>
            </a:r>
          </a:p>
          <a:p xmlns:a="http://schemas.openxmlformats.org/drawingml/2006/main">
            <a:r>
              <a:t>https://github.com/hyunsungkim-ds/pathcrf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Schematic topology with real player IDs. The notebook creates actual spatial and temporal edge records. Do not connect across substitutions or tracking gaps without an explicit rule; labels cannot leak future frames.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PathCRF: player trajectories to events (2026)</a:t>
            </a:r>
          </a:p>
          <a:p xmlns:a="http://schemas.openxmlformats.org/drawingml/2006/main">
            <a:r>
              <a:t>https://github.com/hyunsungkim-ds/pathcrf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Architecture schematic rather than a claim about a specific cited model’s GRU implementation. Pros: sequential processing with a compact state. Cons: long-history retention and sequence alignment. No trained inference is shown.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PyTorch Geometric Temporal architectures</a:t>
            </a:r>
          </a:p>
          <a:p xmlns:a="http://schemas.openxmlformats.org/drawingml/2006/main">
            <a:r>
              <a:t>https://pytorch-geometric-temporal.readthedocs.io/en/latest/modules/root.html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Architecture schematic. Pros: parallel computation and explicit receptive field. Cons: window length, dilation and sampling-rate choices. Filters must not access future frames at prediction time.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Temporal convolution for sequence modeling</a:t>
            </a:r>
          </a:p>
          <a:p xmlns:a="http://schemas.openxmlformats.org/drawingml/2006/main">
            <a:r>
              <a:t>https://arxiv.org/abs/1803.01271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Architecture schematic. Pros: flexible history selection and long-range dependencies. Cons: data/computation requirements, masking and leakage; attention weights do not establish causal importance.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Attention Is All You Need</a:t>
            </a:r>
          </a:p>
          <a:p xmlns:a="http://schemas.openxmlformats.org/drawingml/2006/main">
            <a:r>
              <a:t>https://arxiv.org/abs/1706.03762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PyTorch Geometric Temporal architectures</a:t>
            </a:r>
          </a:p>
          <a:p xmlns:a="http://schemas.openxmlformats.org/drawingml/2006/main">
            <a:r>
              <a:t>https://pytorch-geometric-temporal.readthedocs.io/en/latest/modules/root.html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General architecture schematic, not a reproduction of PathCRF. Pros: joint relational/time structure. Cons: graph size, identity errors and edge construction choices.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PyTorch Geometric Temporal architectures</a:t>
            </a:r>
          </a:p>
          <a:p xmlns:a="http://schemas.openxmlformats.org/drawingml/2006/main">
            <a:r>
              <a:t>https://pytorch-geometric-temporal.readthedocs.io/en/latest/modules/root.html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PathCRF: player trajectories to events (2026)</a:t>
            </a:r>
          </a:p>
          <a:p xmlns:a="http://schemas.openxmlformats.org/drawingml/2006/main">
            <a:r>
              <a:t>https://github.com/hyunsungkim-ds/pathcrf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Architecture schematic. SoccerMap is a convolutional approach, not a GNN. Pros: field-wide outputs. Cons: rasterization and training data requirements; no pretrained inference is claimed.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SoccerMap (2020)</a:t>
            </a:r>
          </a:p>
          <a:p xmlns:a="http://schemas.openxmlformats.org/drawingml/2006/main">
            <a:r>
              <a:t>https://arxiv.org/abs/2010.10202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Real SkillCorner frame with one documented UnravelSports configuration: split-by-team connections plus ball links. This is not asserted as the unique GraphEPV topology. Pros: permutation-invariant aggregation and relational features. Cons: edges determine which interactions can be learned. Current documentation recommends PyTorch Geometric; the 2025 talk used Keras/Spektral.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Joris Bekkers: GraphEPV, PyData London 2025</a:t>
            </a:r>
          </a:p>
          <a:p xmlns:a="http://schemas.openxmlformats.org/drawingml/2006/main">
            <a:r>
              <a:t>https://rawcdn.githack.com/UnravelSports/keynotes/main/html/20250607-PyData-London.html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UnravelSports soccer GNN tutorial</a:t>
            </a:r>
          </a:p>
          <a:p xmlns:a="http://schemas.openxmlformats.org/drawingml/2006/main">
            <a:r>
              <a:t>https://unravelsports.readthedocs.io/en/latest/tutorials/soccer_gnn.html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PyData London, 7 June 2025. Talk uses World Cup 2022 PFF data across 64 matches, with labels respecting team and period. This is a ten-second scoring target, not automatically the complete action-decomposed Fernández EPV framework. Schematic only: no pretrained model inference here. Strength: includes off-ball context. Limitation: rare correlated labels, calibration and transfer to another competition.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 · 16_graph_epv.ipynb</a:t>
            </a:r>
          </a:p>
          <a:p xmlns:a="http://schemas.openxmlformats.org/drawingml/2006/main">
            <a:r>
              <a:t>https://github.com/zcochran27/tracking-data-applied-workshop/blob/main/notebooks/methods/16_graph_epv.ipynb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Joris Bekkers: GraphEPV, PyData London 2025</a:t>
            </a:r>
          </a:p>
          <a:p xmlns:a="http://schemas.openxmlformats.org/drawingml/2006/main">
            <a:r>
              <a:t>https://rawcdn.githack.com/UnravelSports/keynotes/main/html/20250607-PyData-London.html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UnravelSports soccer GNN tutorial</a:t>
            </a:r>
          </a:p>
          <a:p xmlns:a="http://schemas.openxmlformats.org/drawingml/2006/main">
            <a:r>
              <a:t>https://unravelsports.readthedocs.io/en/latest/tutorials/soccer_gnn.html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Embedded MP4 re-encodes the actual animation generated by notebook 16. Independent 353-parameter frame GNN trained on ten SkillCorner matches, calibrated on three and evaluated on three unseen matches. Not Bekkers CrystalGraph architecture or weights; not supplied SkillCorner EPV. Test ROC AUC 0.843, AP 0.020 versus prevalence 0.0033; Brier score does not improve over the constant baseline. Goal markers are score-reconciled but not video-verified. This display case was selected by event context, not high predictions; it is not a performance sample. The model uses only the current frame, even though playback reveals successive predictions.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NOTEBOOK · 16_graph_epv.ipynb</a:t>
            </a:r>
          </a:p>
          <a:p xmlns:a="http://schemas.openxmlformats.org/drawingml/2006/main">
            <a:r>
              <a:t>https://github.com/zcochran27/tracking-data-applied-workshop/blob/main/notebooks/methods/16_graph_epv.ipynb</a:t>
            </a:r>
          </a:p>
          <a:p xmlns:a="http://schemas.openxmlformats.org/drawingml/2006/main">
            <a:r>
              <a:t>Embedded video (click to play): assets/videos/graph_epv_possession.mp4</a:t>
            </a:r>
          </a:p>
          <a:p xmlns:a="http://schemas.openxmlformats.org/drawingml/2006/main">
            <a:r>
              <a:t>Embedded MP4 re-encodes the actual animation generated by notebook 16. Independent 353-parameter frame GNN trained on ten SkillCorner matches, calibrated on three and evaluated on three unseen matches. Not Bekkers CrystalGraph architecture or weights; not supplied SkillCorner EPV. Test ROC AUC 0.843, AP 0.020 versus prevalence 0.0033; Brier score does not improve over the constant baseline. Goal markers are score-reconciled but not video-verified. This display case was selected by event context, not high predictions; it is not a performance sample. The model uses only the current frame, even though playback reveals successive predictions.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SkillCorner open data and schema</a:t>
            </a:r>
          </a:p>
          <a:p xmlns:a="http://schemas.openxmlformats.org/drawingml/2006/main">
            <a:r>
              <a:t>https://github.com/SkillCorner/opendata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Joris Bekkers: GraphEPV, PyData London 2025</a:t>
            </a:r>
          </a:p>
          <a:p xmlns:a="http://schemas.openxmlformats.org/drawingml/2006/main">
            <a:r>
              <a:t>https://rawcdn.githack.com/UnravelSports/keynotes/main/html/20250607-PyData-London.html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Our extension discussion, not a claim that the 2025 GraphEPV presentation trained a temporal GNN. Use the existing lagged features, GRU, TCN and attention slides as alternative temporal encoders. Keep whole matches/possessions together when splitting; account for the ten-second outcome window. Compare against location xT and non-graph models on the same target.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Joris Bekkers: GraphEPV, PyData London 2025</a:t>
            </a:r>
          </a:p>
          <a:p xmlns:a="http://schemas.openxmlformats.org/drawingml/2006/main">
            <a:r>
              <a:t>https://rawcdn.githack.com/UnravelSports/keynotes/main/html/20250607-PyData-London.html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UnravelSports soccer GNN tutorial</a:t>
            </a:r>
          </a:p>
          <a:p xmlns:a="http://schemas.openxmlformats.org/drawingml/2006/main">
            <a:r>
              <a:t>https://unravelsports.readthedocs.io/en/latest/tutorials/soccer_gnn.html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Conceptual decomposition: sum over actions P(action|state) times outcome-conditional value, including failure. EPV is a framework/target, not a synonym for GNN. Different EPV definitions must not be mixed.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Fine-grained expected possession value (2021)</a:t>
            </a:r>
          </a:p>
          <a:p xmlns:a="http://schemas.openxmlformats.org/drawingml/2006/main">
            <a:r>
              <a:t>https://pmc.ncbi.nlm.nih.gov/articles/PMC8570314/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DEFCON: GNN-based defensive EPV (2026)</a:t>
            </a:r>
          </a:p>
          <a:p xmlns:a="http://schemas.openxmlformats.org/drawingml/2006/main">
            <a:r>
              <a:t>https://github.com/hyunsungkim-ds/defcon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pass_epv_delta_for fields in SkillCorner dynamic events. This is the provider’s model output; not a reconstructed Fernández or DEFCON prediction. The field name is shown rather than assuming undocumented equivalence.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SkillCorner open data and schema</a:t>
            </a:r>
          </a:p>
          <a:p xmlns:a="http://schemas.openxmlformats.org/drawingml/2006/main">
            <a:r>
              <a:t>https://github.com/SkillCorner/opendata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Fine-grained expected possession value (2021)</a:t>
            </a:r>
          </a:p>
          <a:p xmlns:a="http://schemas.openxmlformats.org/drawingml/2006/main">
            <a:r>
              <a:t>https://pmc.ncbi.nlm.nih.gov/articles/PMC8570314/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Architecture schematic only. Explain attribution assumptions before interpreting defensive credits. Actual frame is context, not DEFCON inference.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DEFCON: GNN-based defensive EPV (2026)</a:t>
            </a:r>
          </a:p>
          <a:p xmlns:a="http://schemas.openxmlformats.org/drawingml/2006/main">
            <a:r>
              <a:t>https://github.com/hyunsungkim-ds/defcon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Architecture schematic. The published balanced event-frame study uses reaching the penalty area as success; the repository’s additional all-frame dataset has different goal labels. Do not mix those datasets or quote them as equivalent.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U.S. Soccer: counterattack GNNs with SkillCorner (2023)</a:t>
            </a:r>
          </a:p>
          <a:p xmlns:a="http://schemas.openxmlformats.org/drawingml/2006/main">
            <a:r>
              <a:t>https://github.com/USSoccerFederation/ussf_ssac_23_soccer_gnn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Architecture schematic. The input illustration uses real tracking near a supplied corner-reception event; it is not the original TacticAI input or trained inference. Complete task-specific code/weights and licensed data are not released. Model-generated suggestions are not guarantees.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TacticAI (2024)</a:t>
            </a:r>
          </a:p>
          <a:p xmlns:a="http://schemas.openxmlformats.org/drawingml/2006/main">
            <a:r>
              <a:t>https://www.nature.com/articles/s41467-024-45965-x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Architecture schematic; no invented future trajectories are shown as learned output. GenTac is a recent preprint example. Distinguish forecasting and causal intervention.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GenTac: trajectory forecasting (2026 preprint)</a:t>
            </a:r>
          </a:p>
          <a:p xmlns:a="http://schemas.openxmlformats.org/drawingml/2006/main">
            <a:r>
              <a:t>https://arxiv.org/abs/2604.11786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Schematic split only, not measured performance. Event detection needs timing tolerances; probability models need calibration; tactical labels need a clear taxonomy.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Fine-grained expected possession value (2021)</a:t>
            </a:r>
          </a:p>
          <a:p xmlns:a="http://schemas.openxmlformats.org/drawingml/2006/main">
            <a:r>
              <a:t>https://pmc.ncbi.nlm.nih.gov/articles/PMC8570314/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Dangerous Accessible Space: paper and implementation</a:t>
            </a:r>
          </a:p>
          <a:p xmlns:a="http://schemas.openxmlformats.org/drawingml/2006/main">
            <a:r>
              <a:t>https://github.com/jonas-bischofberger/accessible-space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53289cfcbb46c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7c9689493944d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e31eadc7914e4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1f391f8f7842b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53cc830a63494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e3c53f09244ec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3CA9DD0-3191-4D99-9019-18337ECA12E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CCF3C95-19CD-446F-95AC-EBA32A5EE9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17000970-BB29-40F2-B848-93943A655B4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AD0E10F-DA9D-4132-A344-CDD0DC64BC1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CE22D96-1710-443F-B0C0-6FAD864418C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FB6E5C8-6ECF-485E-91C2-C49FAD07D4C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D6A72B2-26BA-463F-BAD2-28A192172CC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DB38B240-ED15-41DA-B3AE-7E8BE3DEF98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6798E5E-1DD9-4EF8-9DCE-1A4E70C0B52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937442C-87DF-421A-AC2C-15A8F7543C2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2c369ff42aa4875" /><Relationship Type="http://schemas.openxmlformats.org/officeDocument/2006/relationships/slideLayout" Target="/ppt/slideLayouts/slideLayout1.xml" Id="Rbb9f47b8001d4463" /><Relationship Type="http://schemas.openxmlformats.org/officeDocument/2006/relationships/slideLayout" Target="/ppt/slideLayouts/slideLayout2.xml" Id="R84f02483410d4c2c" /><Relationship Type="http://schemas.openxmlformats.org/officeDocument/2006/relationships/slideLayout" Target="/ppt/slideLayouts/slideLayout3.xml" Id="R8c4676f3cfe64464" /><Relationship Type="http://schemas.openxmlformats.org/officeDocument/2006/relationships/slideLayout" Target="/ppt/slideLayouts/slideLayout4.xml" Id="Ra53a7e696c044d26" /><Relationship Type="http://schemas.openxmlformats.org/officeDocument/2006/relationships/slideLayout" Target="/ppt/slideLayouts/slideLayout5.xml" Id="Rd945f274ff0c44cc" /><Relationship Type="http://schemas.openxmlformats.org/officeDocument/2006/relationships/slideLayout" Target="/ppt/slideLayouts/slideLayout6.xml" Id="R8727bac490fd4f2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b9f47b8001d4463"/>
    <p:sldLayoutId xmlns:r="http://schemas.openxmlformats.org/officeDocument/2006/relationships" id="2147483650" r:id="R84f02483410d4c2c"/>
    <p:sldLayoutId xmlns:r="http://schemas.openxmlformats.org/officeDocument/2006/relationships" id="2147483651" r:id="R8c4676f3cfe64464"/>
    <p:sldLayoutId xmlns:r="http://schemas.openxmlformats.org/officeDocument/2006/relationships" id="2147483652" r:id="Ra53a7e696c044d26"/>
    <p:sldLayoutId xmlns:r="http://schemas.openxmlformats.org/officeDocument/2006/relationships" id="2147483653" r:id="Rd945f274ff0c44cc"/>
    <p:sldLayoutId xmlns:r="http://schemas.openxmlformats.org/officeDocument/2006/relationships" id="2147483654" r:id="R8727bac490fd4f2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10fcf9339a2e45e9" /><ns0:Relationship Type="http://schemas.openxmlformats.org/officeDocument/2006/relationships/image" Target="/ppt/media/image.png" Id="R69ff40a557cd42e2" /><ns0:Relationship Type="http://schemas.openxmlformats.org/officeDocument/2006/relationships/notesSlide" Target="/ppt/notesSlides/notesSlide1.xml" Id="Rb92f70bd8dc34ec1" /><ns0:Relationship Id="rIdWorkshop4" Type="http://schemas.openxmlformats.org/officeDocument/2006/relationships/hyperlink" Target="https://github.com/SkillCorner/opendata" TargetMode="External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034daf5be9c74d2d" /><ns0:Relationship Type="http://schemas.openxmlformats.org/officeDocument/2006/relationships/image" Target="/ppt/media/image2.png" Id="R5d502a1b171141b5" /><ns0:Relationship Type="http://schemas.openxmlformats.org/officeDocument/2006/relationships/notesSlide" Target="/ppt/notesSlides/notesSlide2.xml" Id="R639b414ded6c4a37" /><ns0:Relationship Id="rIdWorkshop4" Type="http://schemas.openxmlformats.org/officeDocument/2006/relationships/hyperlink" Target="https://github.com/SkillCorner/opendata" TargetMode="External" /><ns0:Relationship Id="rIdWorkshop5" Type="http://schemas.openxmlformats.org/officeDocument/2006/relationships/hyperlink" Target="https://kloppy.pysport.org/reference/providers/skillcorner/" TargetMode="External" /><ns0:Relationship Id="rIdWorkshop6" Type="http://schemas.openxmlformats.org/officeDocument/2006/relationships/hyperlink" Target="https://databallpy.readthedocs.io/en/main/features/covered_distance_page.html" TargetMode="External" /><ns0:Relationship Id="rIdWorkshop7" Type="http://schemas.openxmlformats.org/officeDocument/2006/relationships/hyperlink" Target="https://github.com/zcochran27/tracking-data-applied-workshop/blob/main/notebooks/methods/01_data_exploration.ipynb" TargetMode="External" /><ns0:Relationship Id="rIdWorkshop8" Type="http://schemas.openxmlformats.org/officeDocument/2006/relationships/hyperlink" Target="https://github.com/SkillCorner/opendata" TargetMode="External" /><ns0:Relationship Id="rIdWorkshop9" Type="http://schemas.openxmlformats.org/officeDocument/2006/relationships/hyperlink" Target="https://kloppy.pysport.org/reference/providers/skillcorner/" TargetMode="External" /><ns0:Relationship Id="rIdWorkshop10" Type="http://schemas.openxmlformats.org/officeDocument/2006/relationships/hyperlink" Target="https://databallpy.readthedocs.io/en/main/features/covered_distance_page.html" TargetMode="External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35dd99af5e7648ea" /><ns0:Relationship Type="http://schemas.openxmlformats.org/officeDocument/2006/relationships/image" Target="/ppt/media/image3.png" Id="R2f9ae61108b64a09" /><ns0:Relationship Type="http://schemas.openxmlformats.org/officeDocument/2006/relationships/notesSlide" Target="/ppt/notesSlides/notesSlide3.xml" Id="R6885ed28e4784708" /><ns0:Relationship Id="rIdWorkshop4" Type="http://schemas.openxmlformats.org/officeDocument/2006/relationships/hyperlink" Target="https://github.com/zcochran27/tracking-data-applied-workshop/blob/main/notebooks/methods/01_data_exploration.ipynb" TargetMode="External" /><ns0:Relationship Id="rIdWorkshop5" Type="http://schemas.openxmlformats.org/officeDocument/2006/relationships/hyperlink" Target="https://kloppy.pysport.org/reference/providers/skillcorner/" TargetMode="External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e9dea03e3a974050" /><ns0:Relationship Type="http://schemas.openxmlformats.org/officeDocument/2006/relationships/image" Target="/ppt/media/image4.png" Id="Rb13d09a063d84de5" /><ns0:Relationship Type="http://schemas.openxmlformats.org/officeDocument/2006/relationships/notesSlide" Target="/ppt/notesSlides/notesSlide4.xml" Id="R5296933336584015" /><ns0:Relationship Id="rIdWorkshop4" Type="http://schemas.openxmlformats.org/officeDocument/2006/relationships/hyperlink" Target="https://github.com/zcochran27/tracking-data-applied-workshop/blob/main/notebooks/methods/01_data_exploration.ipynb" TargetMode="External" /><ns0:Relationship Id="rIdWorkshop5" Type="http://schemas.openxmlformats.org/officeDocument/2006/relationships/hyperlink" Target="https://github.com/SkillCorner/opendata" TargetMode="External" /><ns0:Relationship Id="rIdWorkshop6" Type="http://schemas.openxmlformats.org/officeDocument/2006/relationships/hyperlink" Target="https://databallpy.readthedocs.io/en/main/getting_started/preprocessing_options.html" TargetMode="External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0431b2f907a245c1" /><ns0:Relationship Type="http://schemas.openxmlformats.org/officeDocument/2006/relationships/image" Target="/ppt/media/image5.png" Id="R8eaf17860e264b45" /><ns0:Relationship Type="http://schemas.openxmlformats.org/officeDocument/2006/relationships/notesSlide" Target="/ppt/notesSlides/notesSlide5.xml" Id="R3703560604714c23" /><ns0:Relationship Id="rIdWorkshop4" Type="http://schemas.openxmlformats.org/officeDocument/2006/relationships/hyperlink" Target="https://github.com/zcochran27/tracking-data-applied-workshop/blob/main/notebooks/methods/01_data_exploration.ipynb" TargetMode="External" /><ns0:Relationship Id="rIdWorkshop5" Type="http://schemas.openxmlformats.org/officeDocument/2006/relationships/hyperlink" Target="https://github.com/SkillCorner/opendata" TargetMode="External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2bc83d608cdd49c1" /><ns0:Relationship Type="http://schemas.openxmlformats.org/officeDocument/2006/relationships/image" Target="/ppt/media/image6.png" Id="R8883c327040a4664" /><ns0:Relationship Type="http://schemas.openxmlformats.org/officeDocument/2006/relationships/notesSlide" Target="/ppt/notesSlides/notesSlide6.xml" Id="R704f5206f1c14c28" /><ns0:Relationship Id="rIdWorkshop4" Type="http://schemas.openxmlformats.org/officeDocument/2006/relationships/hyperlink" Target="https://github.com/zcochran27/tracking-data-applied-workshop/blob/main/notebooks/methods/01_data_exploration.ipynb" TargetMode="External" /><ns0:Relationship Id="rIdWorkshop5" Type="http://schemas.openxmlformats.org/officeDocument/2006/relationships/hyperlink" Target="https://kloppy.pysport.org/reference/providers/skillcorner/" TargetMode="External" /><ns0:Relationship Id="rIdWorkshop6" Type="http://schemas.openxmlformats.org/officeDocument/2006/relationships/hyperlink" Target="https://github.com/Friends-of-Tracking-Data-FoTD/LaurieOnTracking" TargetMode="External" /><ns0:Relationship Id="rIdWorkshopVideo" Type="http://schemas.openxmlformats.org/officeDocument/2006/relationships/video" Target="../media/workshop_tracking_playback.mp4" /><ns0:Relationship Id="rIdWorkshopMedia" Type="http://schemas.microsoft.com/office/2007/relationships/media" Target="../media/workshop_tracking_playback.mp4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15b9f6c4388a4439" /><ns0:Relationship Type="http://schemas.openxmlformats.org/officeDocument/2006/relationships/image" Target="/ppt/media/image7.png" Id="R735f5e7ea9d248b6" /><ns0:Relationship Type="http://schemas.openxmlformats.org/officeDocument/2006/relationships/notesSlide" Target="/ppt/notesSlides/notesSlide7.xml" Id="R7caf8cfb806947ae" /><ns0:Relationship Id="rIdWorkshop4" Type="http://schemas.openxmlformats.org/officeDocument/2006/relationships/hyperlink" Target="https://github.com/zcochran27/tracking-data-applied-workshop/blob/main/notebooks/methods/02_event_detection.ipynb" TargetMode="External" /><ns0:Relationship Id="rIdWorkshop5" Type="http://schemas.openxmlformats.org/officeDocument/2006/relationships/hyperlink" Target="https://databallpy.readthedocs.io/en/main/getting_started/preprocessing_options.html" TargetMode="External" /><ns0:Relationship Id="rIdWorkshop6" Type="http://schemas.openxmlformats.org/officeDocument/2006/relationships/hyperlink" Target="https://github.com/hyunsungkim-ds/pathcrf" TargetMode="External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8bebf71540814ac8" /><ns0:Relationship Type="http://schemas.openxmlformats.org/officeDocument/2006/relationships/image" Target="/ppt/media/image8.png" Id="Rc0ba666bd16d4712" /><ns0:Relationship Type="http://schemas.openxmlformats.org/officeDocument/2006/relationships/notesSlide" Target="/ppt/notesSlides/notesSlide8.xml" Id="R0b1bd26049284f9c" /><ns0:Relationship Id="rIdWorkshop4" Type="http://schemas.openxmlformats.org/officeDocument/2006/relationships/hyperlink" Target="https://github.com/zcochran27/tracking-data-applied-workshop/blob/main/notebooks/methods/02_event_detection.ipynb" TargetMode="External" /><ns0:Relationship Id="rIdWorkshop5" Type="http://schemas.openxmlformats.org/officeDocument/2006/relationships/hyperlink" Target="https://github.com/hyunsungkim-ds/pathcrf" TargetMode="External" /><ns0:Relationship Id="rIdWorkshop6" Type="http://schemas.openxmlformats.org/officeDocument/2006/relationships/hyperlink" Target="https://databallpy.readthedocs.io/en/main/getting_started/preprocessing_options.html" TargetMode="External" /><ns0:Relationship Id="rIdWorkshopVideo" Type="http://schemas.openxmlformats.org/officeDocument/2006/relationships/video" Target="../media/workshop_event_detection.mp4" /><ns0:Relationship Id="rIdWorkshopMedia" Type="http://schemas.microsoft.com/office/2007/relationships/media" Target="../media/workshop_event_detection.mp4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2336f8e14ef34cc6" /><ns0:Relationship Type="http://schemas.openxmlformats.org/officeDocument/2006/relationships/image" Target="/ppt/media/image9.png" Id="R289233fde9724462" /><ns0:Relationship Type="http://schemas.openxmlformats.org/officeDocument/2006/relationships/notesSlide" Target="/ppt/notesSlides/notesSlide9.xml" Id="R9c70eb5db14f47ef" /><ns0:Relationship Id="rIdWorkshop4" Type="http://schemas.openxmlformats.org/officeDocument/2006/relationships/hyperlink" Target="https://github.com/zcochran27/tracking-data-applied-workshop/blob/main/notebooks/methods/03_formation_analysis.ipynb" TargetMode="External" /><ns0:Relationship Id="rIdWorkshop5" Type="http://schemas.openxmlformats.org/officeDocument/2006/relationships/hyperlink" Target="https://github.com/devinpleuler/research/blob/master/frame-by-frame-position.md" TargetMode="External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2c08e30c555e44ab" /><ns0:Relationship Type="http://schemas.openxmlformats.org/officeDocument/2006/relationships/image" Target="/ppt/media/image10.png" Id="R2d699b5c23d44802" /><ns0:Relationship Type="http://schemas.openxmlformats.org/officeDocument/2006/relationships/notesSlide" Target="/ppt/notesSlides/notesSlide10.xml" Id="R2782380db5194adb" /><ns0:Relationship Id="rIdWorkshop4" Type="http://schemas.openxmlformats.org/officeDocument/2006/relationships/hyperlink" Target="https://github.com/zcochran27/tracking-data-applied-workshop/blob/main/notebooks/methods/03_formation_analysis.ipynb" TargetMode="External" /><ns0:Relationship Id="rIdWorkshop5" Type="http://schemas.openxmlformats.org/officeDocument/2006/relationships/hyperlink" Target="https://github.com/devinpleuler/research/blob/master/frame-by-frame-position.md" TargetMode="External" /><ns0:Relationship Id="rIdWorkshop6" Type="http://schemas.openxmlformats.org/officeDocument/2006/relationships/hyperlink" Target="https://static.capabiliaserver.com/frontend/clients/barca/wp_prod/wp-content/uploads/2020/01/83c87dfe-barca_poster_shaw.pdf" TargetMode="External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5d77a2d0d282426c" /><ns0:Relationship Type="http://schemas.openxmlformats.org/officeDocument/2006/relationships/image" Target="/ppt/media/image11.png" Id="R0c6c5d5602af4ebd" /><ns0:Relationship Type="http://schemas.openxmlformats.org/officeDocument/2006/relationships/notesSlide" Target="/ppt/notesSlides/notesSlide11.xml" Id="R3c3113eb93ac46c1" /><ns0:Relationship Id="rIdWorkshop4" Type="http://schemas.openxmlformats.org/officeDocument/2006/relationships/hyperlink" Target="https://github.com/zcochran27/tracking-data-applied-workshop/blob/main/notebooks/methods/03_formation_analysis.ipynb" TargetMode="External" /><ns0:Relationship Id="rIdWorkshop5" Type="http://schemas.openxmlformats.org/officeDocument/2006/relationships/hyperlink" Target="https://github.com/devinpleuler/research/blob/master/frame-by-frame-position.md" TargetMode="External" /><ns0:Relationship Id="rIdWorkshop6" Type="http://schemas.openxmlformats.org/officeDocument/2006/relationships/hyperlink" Target="https://static.capabiliaserver.com/frontend/clients/barca/wp_prod/wp-content/uploads/2020/01/83c87dfe-barca_poster_shaw.pdf" TargetMode="External" /><ns0:Relationship Id="rIdWorkshopVideo" Type="http://schemas.openxmlformats.org/officeDocument/2006/relationships/video" Target="../media/workshop_formation_centering.mp4" /><ns0:Relationship Id="rIdWorkshopMedia" Type="http://schemas.microsoft.com/office/2007/relationships/media" Target="../media/workshop_formation_centering.mp4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52da38f4e2e14d4d" /><ns0:Relationship Type="http://schemas.openxmlformats.org/officeDocument/2006/relationships/image" Target="/ppt/media/image12.png" Id="Rfcd2626d35bd4fd1" /><ns0:Relationship Type="http://schemas.openxmlformats.org/officeDocument/2006/relationships/notesSlide" Target="/ppt/notesSlides/notesSlide12.xml" Id="R51521792f47d4e80" /><ns0:Relationship Id="rIdWorkshop4" Type="http://schemas.openxmlformats.org/officeDocument/2006/relationships/hyperlink" Target="https://github.com/zcochran27/tracking-data-applied-workshop/blob/main/notebooks/methods/04_role_classification.ipynb" TargetMode="External" /><ns0:Relationship Id="rIdWorkshop5" Type="http://schemas.openxmlformats.org/officeDocument/2006/relationships/hyperlink" Target="https://github.com/devinpleuler/research/blob/master/frame-by-frame-position.md" TargetMode="External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88011c726bb54344" /><ns0:Relationship Type="http://schemas.openxmlformats.org/officeDocument/2006/relationships/image" Target="/ppt/media/image13.png" Id="R14690a9eee084bfe" /><ns0:Relationship Type="http://schemas.openxmlformats.org/officeDocument/2006/relationships/notesSlide" Target="/ppt/notesSlides/notesSlide13.xml" Id="Rc069c2bd10c644c9" /><ns0:Relationship Id="rIdWorkshop4" Type="http://schemas.openxmlformats.org/officeDocument/2006/relationships/hyperlink" Target="https://github.com/zcochran27/tracking-data-applied-workshop/blob/main/notebooks/methods/04_role_classification.ipynb" TargetMode="External" /><ns0:Relationship Id="rIdWorkshop5" Type="http://schemas.openxmlformats.org/officeDocument/2006/relationships/hyperlink" Target="https://github.com/devinpleuler/research/blob/master/frame-by-frame-position.md" TargetMode="External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becea02806aa4d12" /><ns0:Relationship Type="http://schemas.openxmlformats.org/officeDocument/2006/relationships/image" Target="/ppt/media/image14.png" Id="Rddaad472864e4c51" /><ns0:Relationship Type="http://schemas.openxmlformats.org/officeDocument/2006/relationships/notesSlide" Target="/ppt/notesSlides/notesSlide14.xml" Id="Rd13318936e934825" /><ns0:Relationship Id="rIdWorkshop4" Type="http://schemas.openxmlformats.org/officeDocument/2006/relationships/hyperlink" Target="https://github.com/zcochran27/tracking-data-applied-workshop/blob/main/notebooks/methods/03_formation_analysis.ipynb" TargetMode="External" /><ns0:Relationship Id="rIdWorkshop5" Type="http://schemas.openxmlformats.org/officeDocument/2006/relationships/hyperlink" Target="https://arxiv.org/abs/2506.23843" TargetMode="External" /><ns0:Relationship Id="rIdWorkshop6" Type="http://schemas.openxmlformats.org/officeDocument/2006/relationships/hyperlink" Target="https://unravelsports.readthedocs.io/en/latest/tutorials/formation_detection.html" TargetMode="External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d5d3ac0c40284c0a" /><ns0:Relationship Type="http://schemas.openxmlformats.org/officeDocument/2006/relationships/image" Target="/ppt/media/image15.png" Id="R1316a0f461dc4a0f" /><ns0:Relationship Type="http://schemas.openxmlformats.org/officeDocument/2006/relationships/notesSlide" Target="/ppt/notesSlides/notesSlide15.xml" Id="R0af612c8f9da4464" /><ns0:Relationship Id="rIdWorkshop4" Type="http://schemas.openxmlformats.org/officeDocument/2006/relationships/hyperlink" Target="https://arxiv.org/abs/2506.23843" TargetMode="External" /><ns0:Relationship Id="rIdWorkshop5" Type="http://schemas.openxmlformats.org/officeDocument/2006/relationships/hyperlink" Target="https://unravelsports.readthedocs.io/en/latest/tutorials/formation_detection.html" TargetMode="External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e3969074795f428e" /><ns0:Relationship Type="http://schemas.openxmlformats.org/officeDocument/2006/relationships/image" Target="/ppt/media/image16.png" Id="R4b2fe3ac0d8f480d" /><ns0:Relationship Type="http://schemas.openxmlformats.org/officeDocument/2006/relationships/notesSlide" Target="/ppt/notesSlides/notesSlide16.xml" Id="R0750b7b2279a454b" /><ns0:Relationship Id="rIdWorkshop4" Type="http://schemas.openxmlformats.org/officeDocument/2006/relationships/hyperlink" Target="https://github.com/zcochran27/tracking-data-applied-workshop/blob/main/notebooks/methods/03_formation_analysis.ipynb" TargetMode="External" /><ns0:Relationship Id="rIdWorkshop5" Type="http://schemas.openxmlformats.org/officeDocument/2006/relationships/hyperlink" Target="https://github.com/devinpleuler/research/blob/master/frame-by-frame-position.md" TargetMode="External" /><ns0:Relationship Id="rIdWorkshop6" Type="http://schemas.openxmlformats.org/officeDocument/2006/relationships/hyperlink" Target="https://arxiv.org/abs/2506.23843" TargetMode="External" /><ns0:Relationship Id="rIdWorkshopVideo" Type="http://schemas.openxmlformats.org/officeDocument/2006/relationships/video" Target="../media/workshop_formation_candidates.mp4" /><ns0:Relationship Id="rIdWorkshopMedia" Type="http://schemas.microsoft.com/office/2007/relationships/media" Target="../media/workshop_formation_candidates.mp4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a9db768a1ba14216" /><ns0:Relationship Type="http://schemas.openxmlformats.org/officeDocument/2006/relationships/image" Target="/ppt/media/image17.png" Id="R8df5b1b8d99e4647" /><ns0:Relationship Type="http://schemas.openxmlformats.org/officeDocument/2006/relationships/notesSlide" Target="/ppt/notesSlides/notesSlide17.xml" Id="Rfd087e49ede1425c" /><ns0:Relationship Id="rIdWorkshop4" Type="http://schemas.openxmlformats.org/officeDocument/2006/relationships/hyperlink" Target="https://github.com/zcochran27/tracking-data-applied-workshop/blob/main/notebooks/methods/03_formation_analysis.ipynb" TargetMode="External" /><ns0:Relationship Id="rIdWorkshop5" Type="http://schemas.openxmlformats.org/officeDocument/2006/relationships/hyperlink" Target="https://static.capabiliaserver.com/frontend/clients/barca/wp_prod/wp-content/uploads/2020/01/83c87dfe-barca_poster_shaw.pdf" TargetMode="External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1c434cd392eb4a8e" /><ns0:Relationship Type="http://schemas.openxmlformats.org/officeDocument/2006/relationships/image" Target="/ppt/media/image18.png" Id="Ra36c1e15e5b64548" /><ns0:Relationship Type="http://schemas.openxmlformats.org/officeDocument/2006/relationships/notesSlide" Target="/ppt/notesSlides/notesSlide18.xml" Id="Rc513078795a94cf2" /><ns0:Relationship Id="rIdWorkshop4" Type="http://schemas.openxmlformats.org/officeDocument/2006/relationships/hyperlink" Target="https://github.com/zcochran27/tracking-data-applied-workshop/blob/main/notebooks/methods/03_formation_analysis.ipynb" TargetMode="External" /><ns0:Relationship Id="rIdWorkshop5" Type="http://schemas.openxmlformats.org/officeDocument/2006/relationships/hyperlink" Target="https://static.capabiliaserver.com/frontend/clients/barca/wp_prod/wp-content/uploads/2020/01/83c87dfe-barca_poster_shaw.pdf" TargetMode="External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c11d87bf3cee4f75" /><ns0:Relationship Type="http://schemas.openxmlformats.org/officeDocument/2006/relationships/image" Target="/ppt/media/image19.png" Id="Rf23b0683553847de" /><ns0:Relationship Type="http://schemas.openxmlformats.org/officeDocument/2006/relationships/notesSlide" Target="/ppt/notesSlides/notesSlide19.xml" Id="Refbc57d342ab412d" /><ns0:Relationship Id="rIdWorkshop4" Type="http://schemas.openxmlformats.org/officeDocument/2006/relationships/hyperlink" Target="https://github.com/zcochran27/tracking-data-applied-workshop/blob/main/notebooks/methods/05_match_segmentation.ipynb" TargetMode="External" /><ns0:Relationship Id="rIdWorkshop5" Type="http://schemas.openxmlformats.org/officeDocument/2006/relationships/hyperlink" Target="https://github.com/SkillCorner/opendata" TargetMode="External" /><ns0:Relationship Id="rIdWorkshop6" Type="http://schemas.openxmlformats.org/officeDocument/2006/relationships/hyperlink" Target="https://doi.org/10.1177/22150218241290988" TargetMode="External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d56bd3a5938c4a41" /><ns0:Relationship Type="http://schemas.openxmlformats.org/officeDocument/2006/relationships/image" Target="/ppt/media/image20.png" Id="Re998eac03cb74b1c" /><ns0:Relationship Type="http://schemas.openxmlformats.org/officeDocument/2006/relationships/notesSlide" Target="/ppt/notesSlides/notesSlide20.xml" Id="R9d85c0eada9443c8" /><ns0:Relationship Id="rIdWorkshop4" Type="http://schemas.openxmlformats.org/officeDocument/2006/relationships/hyperlink" Target="https://github.com/zcochran27/tracking-data-applied-workshop/blob/main/notebooks/methods/06_physical_metrics.ipynb" TargetMode="External" /><ns0:Relationship Id="rIdWorkshop5" Type="http://schemas.openxmlformats.org/officeDocument/2006/relationships/hyperlink" Target="https://databallpy.readthedocs.io/en/main/getting_started/preprocessing_options.html" TargetMode="External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f0e30beb16f642e2" /><ns0:Relationship Type="http://schemas.openxmlformats.org/officeDocument/2006/relationships/image" Target="/ppt/media/image21.png" Id="Ra573a90922af454d" /><ns0:Relationship Type="http://schemas.openxmlformats.org/officeDocument/2006/relationships/notesSlide" Target="/ppt/notesSlides/notesSlide21.xml" Id="Ref8751cc0cd84544" /><ns0:Relationship Id="rIdWorkshop4" Type="http://schemas.openxmlformats.org/officeDocument/2006/relationships/hyperlink" Target="https://github.com/zcochran27/tracking-data-applied-workshop/blob/main/notebooks/methods/06_physical_metrics.ipynb" TargetMode="External" /><ns0:Relationship Id="rIdWorkshop5" Type="http://schemas.openxmlformats.org/officeDocument/2006/relationships/hyperlink" Target="https://databallpy.readthedocs.io/en/main/features/covered_distance_page.html" TargetMode="External" /><ns0:Relationship Id="rIdWorkshop6" Type="http://schemas.openxmlformats.org/officeDocument/2006/relationships/hyperlink" Target="https://skillcorner.com/us/articles/scouted-brazilian-centre-backs" TargetMode="External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0dce56d97ddb4d02" /><ns0:Relationship Type="http://schemas.openxmlformats.org/officeDocument/2006/relationships/image" Target="/ppt/media/image22.png" Id="R3d2791a095b8413c" /><ns0:Relationship Type="http://schemas.openxmlformats.org/officeDocument/2006/relationships/notesSlide" Target="/ppt/notesSlides/notesSlide22.xml" Id="Rbd27b318a81b4b53" /><ns0:Relationship Id="rIdWorkshop4" Type="http://schemas.openxmlformats.org/officeDocument/2006/relationships/hyperlink" Target="https://github.com/zcochran27/tracking-data-applied-workshop/blob/main/notebooks/methods/06_physical_metrics.ipynb" TargetMode="External" /><ns0:Relationship Id="rIdWorkshop5" Type="http://schemas.openxmlformats.org/officeDocument/2006/relationships/hyperlink" Target="https://skillcorner.com/us/articles/scouted-brazilian-centre-backs" TargetMode="External" /><ns0:Relationship Id="rIdWorkshop6" Type="http://schemas.openxmlformats.org/officeDocument/2006/relationships/hyperlink" Target="https://databallpy.readthedocs.io/en/main/features/covered_distance_page.html" TargetMode="External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0e0532d74af24ec4" /><ns0:Relationship Type="http://schemas.openxmlformats.org/officeDocument/2006/relationships/image" Target="/ppt/media/image23.png" Id="Rc2339e6c2d4c4ccd" /><ns0:Relationship Type="http://schemas.openxmlformats.org/officeDocument/2006/relationships/notesSlide" Target="/ppt/notesSlides/notesSlide23.xml" Id="R141adf7bb2ff4a12" /><ns0:Relationship Id="rIdWorkshop4" Type="http://schemas.openxmlformats.org/officeDocument/2006/relationships/hyperlink" Target="https://github.com/zcochran27/tracking-data-applied-workshop/blob/main/notebooks/methods/06_physical_metrics.ipynb" TargetMode="External" /><ns0:Relationship Id="rIdWorkshop5" Type="http://schemas.openxmlformats.org/officeDocument/2006/relationships/hyperlink" Target="https://skillcorner.com/us/articles/scouted-brazilian-centre-backs" TargetMode="External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dfc54cebc0574e02" /><ns0:Relationship Type="http://schemas.openxmlformats.org/officeDocument/2006/relationships/image" Target="/ppt/media/image24.png" Id="R0b4f598ca52a45a3" /><ns0:Relationship Type="http://schemas.openxmlformats.org/officeDocument/2006/relationships/notesSlide" Target="/ppt/notesSlides/notesSlide24.xml" Id="R851c89a3530544d4" /><ns0:Relationship Id="rIdWorkshop4" Type="http://schemas.openxmlformats.org/officeDocument/2006/relationships/hyperlink" Target="https://github.com/zcochran27/tracking-data-applied-workshop/blob/main/notebooks/methods/06_physical_metrics.ipynb" TargetMode="External" /><ns0:Relationship Id="rIdWorkshop5" Type="http://schemas.openxmlformats.org/officeDocument/2006/relationships/hyperlink" Target="https://databallpy.readthedocs.io/en/main/getting_started/preprocessing_options.html" TargetMode="External" /><ns0:Relationship Id="rIdWorkshop6" Type="http://schemas.openxmlformats.org/officeDocument/2006/relationships/hyperlink" Target="https://skillcorner.com/articles/new-feature-explosive-accelerations" TargetMode="External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c508fc442e92408d" /><ns0:Relationship Type="http://schemas.openxmlformats.org/officeDocument/2006/relationships/image" Target="/ppt/media/image25.png" Id="Rab21dfda0f6c4dda" /><ns0:Relationship Type="http://schemas.openxmlformats.org/officeDocument/2006/relationships/notesSlide" Target="/ppt/notesSlides/notesSlide25.xml" Id="R65abcb9cef0c47fd" /><ns0:Relationship Id="rIdWorkshop4" Type="http://schemas.openxmlformats.org/officeDocument/2006/relationships/hyperlink" Target="https://github.com/zcochran27/tracking-data-applied-workshop/blob/main/notebooks/methods/06_physical_metrics.ipynb" TargetMode="External" /><ns0:Relationship Id="rIdWorkshop5" Type="http://schemas.openxmlformats.org/officeDocument/2006/relationships/hyperlink" Target="https://skillcorner.com/articles/new-feature-explosive-accelerations" TargetMode="External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c7b3831023f54af0" /><ns0:Relationship Type="http://schemas.openxmlformats.org/officeDocument/2006/relationships/image" Target="/ppt/media/image26.png" Id="R681876f005d74dcd" /><ns0:Relationship Type="http://schemas.openxmlformats.org/officeDocument/2006/relationships/notesSlide" Target="/ppt/notesSlides/notesSlide26.xml" Id="R733e1aa8f9444ef8" /><ns0:Relationship Id="rIdWorkshop4" Type="http://schemas.openxmlformats.org/officeDocument/2006/relationships/hyperlink" Target="https://github.com/zcochran27/tracking-data-applied-workshop/blob/main/notebooks/methods/06_physical_metrics.ipynb" TargetMode="External" /><ns0:Relationship Id="rIdWorkshop5" Type="http://schemas.openxmlformats.org/officeDocument/2006/relationships/hyperlink" Target="https://skillcorner.com/articles/new-feature-explosive-accelerations" TargetMode="External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d1af4e61e14f4f5a" /><ns0:Relationship Type="http://schemas.openxmlformats.org/officeDocument/2006/relationships/image" Target="/ppt/media/image27.png" Id="Rcbd15b4219164734" /><ns0:Relationship Type="http://schemas.openxmlformats.org/officeDocument/2006/relationships/notesSlide" Target="/ppt/notesSlides/notesSlide27.xml" Id="R1a67459f699b4c72" /><ns0:Relationship Id="rIdWorkshop4" Type="http://schemas.openxmlformats.org/officeDocument/2006/relationships/hyperlink" Target="https://github.com/zcochran27/tracking-data-applied-workshop/blob/main/notebooks/methods/06_physical_metrics.ipynb" TargetMode="External" /><ns0:Relationship Id="rIdWorkshop5" Type="http://schemas.openxmlformats.org/officeDocument/2006/relationships/hyperlink" Target="https://skillcorner.com/articles/skillcorner-releases-new-peak-velocity-metric" TargetMode="External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aa67b48db6094dd5" /><ns0:Relationship Type="http://schemas.openxmlformats.org/officeDocument/2006/relationships/image" Target="/ppt/media/image28.png" Id="R841b4ef9ec4641ce" /><ns0:Relationship Type="http://schemas.openxmlformats.org/officeDocument/2006/relationships/notesSlide" Target="/ppt/notesSlides/notesSlide28.xml" Id="R33cb5c15d6c142e8" /><ns0:Relationship Id="rIdWorkshop4" Type="http://schemas.openxmlformats.org/officeDocument/2006/relationships/hyperlink" Target="https://github.com/zcochran27/tracking-data-applied-workshop/blob/main/notebooks/methods/06_physical_metrics.ipynb" TargetMode="External" /><ns0:Relationship Id="rIdWorkshop5" Type="http://schemas.openxmlformats.org/officeDocument/2006/relationships/hyperlink" Target="https://skillcorner.com/articles/skillcorner-releases-new-peak-velocity-metric" TargetMode="External" /></ns0:Relationships>
</file>

<file path=ppt/slides/_rels/slide2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2d2f4ce296714efb" /><ns0:Relationship Type="http://schemas.openxmlformats.org/officeDocument/2006/relationships/image" Target="/ppt/media/image29.png" Id="R434105fd0f6948e1" /><ns0:Relationship Type="http://schemas.openxmlformats.org/officeDocument/2006/relationships/notesSlide" Target="/ppt/notesSlides/notesSlide29.xml" Id="R5d6b3131cf524316" /><ns0:Relationship Id="rIdWorkshop4" Type="http://schemas.openxmlformats.org/officeDocument/2006/relationships/hyperlink" Target="https://github.com/zcochran27/tracking-data-applied-workshop/blob/main/notebooks/methods/07_expected_goals.ipynb" TargetMode="External" /><ns0:Relationship Id="rIdWorkshop5" Type="http://schemas.openxmlformats.org/officeDocument/2006/relationships/hyperlink" Target="https://blogarchive.statsbomb.com/articles/soccer/upgrading-expected-goals/" TargetMode="External" /></ns0:Relationships>
</file>

<file path=ppt/slides/_rels/slide3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8d155d66a44d41cb" /><ns0:Relationship Type="http://schemas.openxmlformats.org/officeDocument/2006/relationships/image" Target="/ppt/media/image30.png" Id="R3bce0555c361435a" /><ns0:Relationship Type="http://schemas.openxmlformats.org/officeDocument/2006/relationships/notesSlide" Target="/ppt/notesSlides/notesSlide30.xml" Id="R002a3fdd2dbc4224" /><ns0:Relationship Id="rIdWorkshop4" Type="http://schemas.openxmlformats.org/officeDocument/2006/relationships/hyperlink" Target="https://github.com/zcochran27/tracking-data-applied-workshop/blob/main/notebooks/methods/08_expected_threat.ipynb" TargetMode="External" /><ns0:Relationship Id="rIdWorkshop5" Type="http://schemas.openxmlformats.org/officeDocument/2006/relationships/hyperlink" Target="https://karun.in/blog/expected-threat.html" TargetMode="External" /><ns0:Relationship Id="rIdWorkshop6" Type="http://schemas.openxmlformats.org/officeDocument/2006/relationships/hyperlink" Target="https://databallpy.readthedocs.io/en/main/features/xt_models.html" TargetMode="External" /></ns0:Relationships>
</file>

<file path=ppt/slides/_rels/slide3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9617958bb4bb4057" /><ns0:Relationship Type="http://schemas.openxmlformats.org/officeDocument/2006/relationships/image" Target="/ppt/media/image31.png" Id="Rab23048a58224280" /><ns0:Relationship Type="http://schemas.openxmlformats.org/officeDocument/2006/relationships/notesSlide" Target="/ppt/notesSlides/notesSlide31.xml" Id="R91683dec76ef49f8" /><ns0:Relationship Id="rIdWorkshop4" Type="http://schemas.openxmlformats.org/officeDocument/2006/relationships/hyperlink" Target="https://github.com/zcochran27/tracking-data-applied-workshop/blob/main/notebooks/methods/08_expected_threat.ipynb" TargetMode="External" /><ns0:Relationship Id="rIdWorkshop5" Type="http://schemas.openxmlformats.org/officeDocument/2006/relationships/hyperlink" Target="https://karun.in/blog/expected-threat.html" TargetMode="External" /><ns0:Relationship Id="rIdWorkshop6" Type="http://schemas.openxmlformats.org/officeDocument/2006/relationships/hyperlink" Target="https://databallpy.readthedocs.io/en/main/features/xt_models.html" TargetMode="External" /></ns0:Relationships>
</file>

<file path=ppt/slides/_rels/slide3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c119acb4bbbe4b18" /><ns0:Relationship Type="http://schemas.openxmlformats.org/officeDocument/2006/relationships/image" Target="/ppt/media/image32.png" Id="R4c7cc099645248d5" /><ns0:Relationship Type="http://schemas.openxmlformats.org/officeDocument/2006/relationships/notesSlide" Target="/ppt/notesSlides/notesSlide32.xml" Id="R43b1b5a8d68b4d45" /><ns0:Relationship Id="rIdWorkshop4" Type="http://schemas.openxmlformats.org/officeDocument/2006/relationships/hyperlink" Target="https://github.com/zcochran27/tracking-data-applied-workshop/blob/main/notebooks/methods/09_voronoi_control.ipynb" TargetMode="External" /><ns0:Relationship Id="rIdWorkshop5" Type="http://schemas.openxmlformats.org/officeDocument/2006/relationships/hyperlink" Target="https://databallpy.readthedocs.io/en/main/features/space_occupation.html" TargetMode="External" /></ns0:Relationships>
</file>

<file path=ppt/slides/_rels/slide3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26084e74f0e94dca" /><ns0:Relationship Type="http://schemas.openxmlformats.org/officeDocument/2006/relationships/image" Target="/ppt/media/image33.png" Id="R6b3f23a2381245e0" /><ns0:Relationship Type="http://schemas.openxmlformats.org/officeDocument/2006/relationships/notesSlide" Target="/ppt/notesSlides/notesSlide33.xml" Id="Rfb517d7e609242c2" /><ns0:Relationship Id="rIdWorkshop4" Type="http://schemas.openxmlformats.org/officeDocument/2006/relationships/hyperlink" Target="https://github.com/zcochran27/tracking-data-applied-workshop/blob/main/notebooks/methods/10_gaussian_control.ipynb" TargetMode="External" /><ns0:Relationship Id="rIdWorkshop5" Type="http://schemas.openxmlformats.org/officeDocument/2006/relationships/hyperlink" Target="https://static.capabiliaserver.com/frontend/clients/barca/wp_prod/wp-content/uploads/2018/05/Wide-Open-Spaces.pdf" TargetMode="External" /><ns0:Relationship Id="rIdWorkshop6" Type="http://schemas.openxmlformats.org/officeDocument/2006/relationships/hyperlink" Target="https://www.frontiersin.org/journals/sports-and-active-living/articles/10.3389/fspor.2021.676179/full" TargetMode="External" /></ns0:Relationships>
</file>

<file path=ppt/slides/_rels/slide3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1a16ecae39bc49a8" /><ns0:Relationship Type="http://schemas.openxmlformats.org/officeDocument/2006/relationships/image" Target="/ppt/media/image34.png" Id="R2b9d49792dd34e2e" /><ns0:Relationship Type="http://schemas.openxmlformats.org/officeDocument/2006/relationships/notesSlide" Target="/ppt/notesSlides/notesSlide34.xml" Id="R29bd209fe1bb4473" /><ns0:Relationship Id="rIdWorkshop4" Type="http://schemas.openxmlformats.org/officeDocument/2006/relationships/hyperlink" Target="https://github.com/zcochran27/tracking-data-applied-workshop/blob/main/notebooks/methods/10_gaussian_control.ipynb" TargetMode="External" /><ns0:Relationship Id="rIdWorkshop5" Type="http://schemas.openxmlformats.org/officeDocument/2006/relationships/hyperlink" Target="https://static.capabiliaserver.com/frontend/clients/barca/wp_prod/wp-content/uploads/2018/05/Wide-Open-Spaces.pdf" TargetMode="External" /><ns0:Relationship Id="rIdWorkshop6" Type="http://schemas.openxmlformats.org/officeDocument/2006/relationships/hyperlink" Target="https://databallpy.readthedocs.io/en/main/features/space_occupation.html" TargetMode="External" /></ns0:Relationships>
</file>

<file path=ppt/slides/_rels/slide3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6ec07150800a4ede" /><ns0:Relationship Type="http://schemas.openxmlformats.org/officeDocument/2006/relationships/image" Target="/ppt/media/image35.png" Id="R78dbb3d525614fe4" /><ns0:Relationship Type="http://schemas.openxmlformats.org/officeDocument/2006/relationships/notesSlide" Target="/ppt/notesSlides/notesSlide35.xml" Id="R8ee3f7a6c57a4aa2" /><ns0:Relationship Id="rIdWorkshop4" Type="http://schemas.openxmlformats.org/officeDocument/2006/relationships/hyperlink" Target="https://github.com/zcochran27/tracking-data-applied-workshop/blob/main/notebooks/methods/11_arrival_time_control.ipynb" TargetMode="External" /><ns0:Relationship Id="rIdWorkshop5" Type="http://schemas.openxmlformats.org/officeDocument/2006/relationships/hyperlink" Target="https://www.frontiersin.org/journals/sports-and-active-living/articles/10.3389/fspor.2021.676179/full" TargetMode="External" /><ns0:Relationship Id="rIdWorkshop6" Type="http://schemas.openxmlformats.org/officeDocument/2006/relationships/hyperlink" Target="https://static.hudl.com/craft/downloads/SSAC2018_Beyond_Expected_Goals.pdf?mtime=20180327111214" TargetMode="External" /></ns0:Relationships>
</file>

<file path=ppt/slides/_rels/slide3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9b0f014d561d47d2" /><ns0:Relationship Type="http://schemas.openxmlformats.org/officeDocument/2006/relationships/image" Target="/ppt/media/image36.png" Id="Rf277b91029484d3d" /><ns0:Relationship Type="http://schemas.openxmlformats.org/officeDocument/2006/relationships/notesSlide" Target="/ppt/notesSlides/notesSlide36.xml" Id="R1c6bc05bbd004f7c" /><ns0:Relationship Id="rIdWorkshop4" Type="http://schemas.openxmlformats.org/officeDocument/2006/relationships/hyperlink" Target="https://github.com/zcochran27/tracking-data-applied-workshop/blob/main/notebooks/methods/11_arrival_time_control.ipynb" TargetMode="External" /><ns0:Relationship Id="rIdWorkshop5" Type="http://schemas.openxmlformats.org/officeDocument/2006/relationships/hyperlink" Target="https://static.capabiliaserver.com/frontend/clients/barca/wp_prod/wp-content/uploads/2018/05/Wide-Open-Spaces.pdf" TargetMode="External" /><ns0:Relationship Id="rIdWorkshop6" Type="http://schemas.openxmlformats.org/officeDocument/2006/relationships/hyperlink" Target="https://static.hudl.com/craft/downloads/SSAC2018_Beyond_Expected_Goals.pdf?mtime=20180327111214" TargetMode="External" /><ns0:Relationship Id="rIdWorkshopVideo" Type="http://schemas.openxmlformats.org/officeDocument/2006/relationships/video" Target="../media/workshop_control_comparison.mp4" /><ns0:Relationship Id="rIdWorkshopMedia" Type="http://schemas.microsoft.com/office/2007/relationships/media" Target="../media/workshop_control_comparison.mp4" /></ns0:Relationships>
</file>

<file path=ppt/slides/_rels/slide3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7154033e25154131" /><ns0:Relationship Type="http://schemas.openxmlformats.org/officeDocument/2006/relationships/image" Target="/ppt/media/image37.png" Id="R8b46d50a8df64e29" /><ns0:Relationship Type="http://schemas.openxmlformats.org/officeDocument/2006/relationships/notesSlide" Target="/ppt/notesSlides/notesSlide37.xml" Id="Rbffe2e605f294f34" /><ns0:Relationship Id="rIdWorkshop4" Type="http://schemas.openxmlformats.org/officeDocument/2006/relationships/hyperlink" Target="https://static.hudl.com/craft/downloads/SSAC2018_Beyond_Expected_Goals.pdf?mtime=20180327111214" TargetMode="External" /></ns0:Relationships>
</file>

<file path=ppt/slides/_rels/slide3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c7fceb7f70864381" /><ns0:Relationship Type="http://schemas.openxmlformats.org/officeDocument/2006/relationships/image" Target="/ppt/media/image38.png" Id="Rad122d71c2bb4419" /><ns0:Relationship Type="http://schemas.openxmlformats.org/officeDocument/2006/relationships/notesSlide" Target="/ppt/notesSlides/notesSlide38.xml" Id="Rdae09e6422674666" /><ns0:Relationship Id="rIdWorkshop4" Type="http://schemas.openxmlformats.org/officeDocument/2006/relationships/hyperlink" Target="https://github.com/zcochran27/tracking-data-applied-workshop/blob/main/notebooks/methods/12_pass_completion.ipynb" TargetMode="External" /><ns0:Relationship Id="rIdWorkshop5" Type="http://schemas.openxmlformats.org/officeDocument/2006/relationships/hyperlink" Target="https://databallpy.readthedocs.io/en/main/features/dangerous_accessible_space.html" TargetMode="External" /><ns0:Relationship Id="rIdWorkshop6" Type="http://schemas.openxmlformats.org/officeDocument/2006/relationships/hyperlink" Target="https://github.com/jonas-bischofberger/accessible-space" TargetMode="External" /></ns0:Relationships>
</file>

<file path=ppt/slides/_rels/slide3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07b5261dd2ae4ddb" /><ns0:Relationship Type="http://schemas.openxmlformats.org/officeDocument/2006/relationships/image" Target="/ppt/media/image39.png" Id="R466e5f2d55ca4377" /><ns0:Relationship Type="http://schemas.openxmlformats.org/officeDocument/2006/relationships/notesSlide" Target="/ppt/notesSlides/notesSlide39.xml" Id="R157af1b06fb14406" /><ns0:Relationship Id="rIdWorkshop4" Type="http://schemas.openxmlformats.org/officeDocument/2006/relationships/hyperlink" Target="https://github.com/zcochran27/tracking-data-applied-workshop/blob/main/notebooks/methods/13_space_and_danger.ipynb" TargetMode="External" /><ns0:Relationship Id="rIdWorkshop5" Type="http://schemas.openxmlformats.org/officeDocument/2006/relationships/hyperlink" Target="https://github.com/jonas-bischofberger/accessible-space" TargetMode="External" /><ns0:Relationship Id="rIdWorkshop6" Type="http://schemas.openxmlformats.org/officeDocument/2006/relationships/hyperlink" Target="https://databallpy.readthedocs.io/en/main/features/dangerous_accessible_space.html" TargetMode="External" /></ns0:Relationships>
</file>

<file path=ppt/slides/_rels/slide4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574ea20db4a549ab" /><ns0:Relationship Type="http://schemas.openxmlformats.org/officeDocument/2006/relationships/image" Target="/ppt/media/image40.png" Id="R0f2314a4318a474c" /><ns0:Relationship Type="http://schemas.openxmlformats.org/officeDocument/2006/relationships/notesSlide" Target="/ppt/notesSlides/notesSlide40.xml" Id="R9fea16d764364ce3" /><ns0:Relationship Id="rIdWorkshop4" Type="http://schemas.openxmlformats.org/officeDocument/2006/relationships/hyperlink" Target="https://github.com/zcochran27/tracking-data-applied-workshop/blob/main/notebooks/methods/13_space_and_danger.ipynb" TargetMode="External" /><ns0:Relationship Id="rIdWorkshop5" Type="http://schemas.openxmlformats.org/officeDocument/2006/relationships/hyperlink" Target="https://github.com/jonas-bischofberger/accessible-space" TargetMode="External" /><ns0:Relationship Id="rIdWorkshop6" Type="http://schemas.openxmlformats.org/officeDocument/2006/relationships/hyperlink" Target="https://databallpy.readthedocs.io/en/main/features/dangerous_accessible_space.html" TargetMode="External" /></ns0:Relationships>
</file>

<file path=ppt/slides/_rels/slide4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8cc58a0529544891" /><ns0:Relationship Type="http://schemas.openxmlformats.org/officeDocument/2006/relationships/image" Target="/ppt/media/image41.png" Id="Rbf286a92a9914a77" /><ns0:Relationship Type="http://schemas.openxmlformats.org/officeDocument/2006/relationships/notesSlide" Target="/ppt/notesSlides/notesSlide41.xml" Id="Rf2b53cc224e94381" /><ns0:Relationship Id="rIdWorkshop4" Type="http://schemas.openxmlformats.org/officeDocument/2006/relationships/hyperlink" Target="https://github.com/zcochran27/tracking-data-applied-workshop/blob/main/notebooks/methods/13_space_and_danger.ipynb" TargetMode="External" /><ns0:Relationship Id="rIdWorkshop5" Type="http://schemas.openxmlformats.org/officeDocument/2006/relationships/hyperlink" Target="https://github.com/jonas-bischofberger/accessible-space" TargetMode="External" /></ns0:Relationships>
</file>

<file path=ppt/slides/_rels/slide4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7e3eda3a3942444b" /><ns0:Relationship Type="http://schemas.openxmlformats.org/officeDocument/2006/relationships/image" Target="/ppt/media/image42.png" Id="R0aa43ef75a4a442d" /><ns0:Relationship Type="http://schemas.openxmlformats.org/officeDocument/2006/relationships/notesSlide" Target="/ppt/notesSlides/notesSlide42.xml" Id="Rd965c7cb18d74456" /><ns0:Relationship Id="rIdWorkshop4" Type="http://schemas.openxmlformats.org/officeDocument/2006/relationships/hyperlink" Target="https://www.linkedin.com/posts/skillcorner_game-intelligence-expected-threat-activity-7057009275247689728-NVPh" TargetMode="External" /><ns0:Relationship Id="rIdWorkshop5" Type="http://schemas.openxmlformats.org/officeDocument/2006/relationships/hyperlink" Target="https://github.com/SkillCorner/opendata" TargetMode="External" /></ns0:Relationships>
</file>

<file path=ppt/slides/_rels/slide4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dc4c87172ea54db7" /><ns0:Relationship Type="http://schemas.openxmlformats.org/officeDocument/2006/relationships/image" Target="/ppt/media/image43.png" Id="Rb8718d4e568141ca" /><ns0:Relationship Type="http://schemas.openxmlformats.org/officeDocument/2006/relationships/notesSlide" Target="/ppt/notesSlides/notesSlide43.xml" Id="R9fad0c3a5a2e467d" /><ns0:Relationship Id="rIdWorkshop4" Type="http://schemas.openxmlformats.org/officeDocument/2006/relationships/hyperlink" Target="https://github.com/zcochran27/tracking-data-applied-workshop/blob/main/notebooks/methods/16_graph_epv.ipynb" TargetMode="External" /><ns0:Relationship Id="rIdWorkshop5" Type="http://schemas.openxmlformats.org/officeDocument/2006/relationships/hyperlink" Target="https://github.com/USSoccerFederation/ussf_ssac_23_soccer_gnn" TargetMode="External" /><ns0:Relationship Id="rIdWorkshop6" Type="http://schemas.openxmlformats.org/officeDocument/2006/relationships/hyperlink" Target="https://www.nature.com/articles/s41467-024-45965-x" TargetMode="External" /></ns0:Relationships>
</file>

<file path=ppt/slides/_rels/slide4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7ef0b5758ef14d1b" /><ns0:Relationship Type="http://schemas.openxmlformats.org/officeDocument/2006/relationships/image" Target="/ppt/media/image44.png" Id="R31e4945474a74296" /><ns0:Relationship Type="http://schemas.openxmlformats.org/officeDocument/2006/relationships/notesSlide" Target="/ppt/notesSlides/notesSlide44.xml" Id="R80139f30fb6141a6" /><ns0:Relationship Id="rIdWorkshop4" Type="http://schemas.openxmlformats.org/officeDocument/2006/relationships/hyperlink" Target="https://github.com/zcochran27/tracking-data-applied-workshop/blob/main/notebooks/methods/16_graph_epv.ipynb" TargetMode="External" /><ns0:Relationship Id="rIdWorkshop5" Type="http://schemas.openxmlformats.org/officeDocument/2006/relationships/hyperlink" Target="https://github.com/USSoccerFederation/ussf_ssac_23_soccer_gnn" TargetMode="External" /></ns0:Relationships>
</file>

<file path=ppt/slides/_rels/slide4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43f965d57ea94bfe" /><ns0:Relationship Type="http://schemas.openxmlformats.org/officeDocument/2006/relationships/image" Target="/ppt/media/image45.png" Id="Rd4d2c0500286474d" /><ns0:Relationship Type="http://schemas.openxmlformats.org/officeDocument/2006/relationships/notesSlide" Target="/ppt/notesSlides/notesSlide45.xml" Id="R38ce2614c0744711" /><ns0:Relationship Id="rIdWorkshop4" Type="http://schemas.openxmlformats.org/officeDocument/2006/relationships/hyperlink" Target="https://github.com/zcochran27/tracking-data-applied-workshop/blob/main/notebooks/methods/16_graph_epv.ipynb" TargetMode="External" /><ns0:Relationship Id="rIdWorkshop5" Type="http://schemas.openxmlformats.org/officeDocument/2006/relationships/hyperlink" Target="https://www.nature.com/articles/s41467-024-45965-x" TargetMode="External" /><ns0:Relationship Id="rIdWorkshop6" Type="http://schemas.openxmlformats.org/officeDocument/2006/relationships/hyperlink" Target="https://github.com/hyunsungkim-ds/defcon" TargetMode="External" /></ns0:Relationships>
</file>

<file path=ppt/slides/_rels/slide4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0b59896e90314728" /><ns0:Relationship Type="http://schemas.openxmlformats.org/officeDocument/2006/relationships/image" Target="/ppt/media/image46.png" Id="R5c5dee53de714e45" /><ns0:Relationship Type="http://schemas.openxmlformats.org/officeDocument/2006/relationships/notesSlide" Target="/ppt/notesSlides/notesSlide46.xml" Id="R53a45c74e24444b9" /><ns0:Relationship Id="rIdWorkshop4" Type="http://schemas.openxmlformats.org/officeDocument/2006/relationships/hyperlink" Target="https://github.com/USSoccerFederation/ussf_ssac_23_soccer_gnn" TargetMode="External" /><ns0:Relationship Id="rIdWorkshop5" Type="http://schemas.openxmlformats.org/officeDocument/2006/relationships/hyperlink" Target="https://databallpy.readthedocs.io/en/main/getting_started/preprocessing_options.html" TargetMode="External" /></ns0:Relationships>
</file>

<file path=ppt/slides/_rels/slide4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b55b22288e784473" /><ns0:Relationship Type="http://schemas.openxmlformats.org/officeDocument/2006/relationships/image" Target="/ppt/media/image47.png" Id="R68e714d929be4efe" /><ns0:Relationship Type="http://schemas.openxmlformats.org/officeDocument/2006/relationships/notesSlide" Target="/ppt/notesSlides/notesSlide47.xml" Id="Rbf35e3cd5ace49ba" /><ns0:Relationship Id="rIdWorkshop4" Type="http://schemas.openxmlformats.org/officeDocument/2006/relationships/hyperlink" Target="https://github.com/USSoccerFederation/ussf_ssac_23_soccer_gnn" TargetMode="External" /><ns0:Relationship Id="rIdWorkshop5" Type="http://schemas.openxmlformats.org/officeDocument/2006/relationships/hyperlink" Target="https://github.com/hyunsungkim-ds/pathcrf" TargetMode="External" /><ns0:Relationship Id="rIdWorkshopVideo" Type="http://schemas.openxmlformats.org/officeDocument/2006/relationships/video" Target="../media/workshop_dynamic_graph.mp4" /><ns0:Relationship Id="rIdWorkshopMedia" Type="http://schemas.microsoft.com/office/2007/relationships/media" Target="../media/workshop_dynamic_graph.mp4" /></ns0:Relationships>
</file>

<file path=ppt/slides/_rels/slide4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85021577e7024673" /><ns0:Relationship Type="http://schemas.openxmlformats.org/officeDocument/2006/relationships/image" Target="/ppt/media/image48.png" Id="R27dcbb94d5d44681" /><ns0:Relationship Type="http://schemas.openxmlformats.org/officeDocument/2006/relationships/notesSlide" Target="/ppt/notesSlides/notesSlide48.xml" Id="Re020fc5e8393488f" /><ns0:Relationship Id="rIdWorkshop4" Type="http://schemas.openxmlformats.org/officeDocument/2006/relationships/hyperlink" Target="https://github.com/hyunsungkim-ds/pathcrf" TargetMode="External" /></ns0:Relationships>
</file>

<file path=ppt/slides/_rels/slide4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f413e3e912b74e63" /><ns0:Relationship Type="http://schemas.openxmlformats.org/officeDocument/2006/relationships/image" Target="/ppt/media/image49.png" Id="R313f499e24924d8f" /><ns0:Relationship Type="http://schemas.openxmlformats.org/officeDocument/2006/relationships/notesSlide" Target="/ppt/notesSlides/notesSlide49.xml" Id="Re133c4576bc443dd" /><ns0:Relationship Id="rIdWorkshop4" Type="http://schemas.openxmlformats.org/officeDocument/2006/relationships/hyperlink" Target="https://pytorch-geometric-temporal.readthedocs.io/en/latest/modules/root.html" TargetMode="External" /></ns0:Relationships>
</file>

<file path=ppt/slides/_rels/slide5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689cc67965984ab3" /><ns0:Relationship Type="http://schemas.openxmlformats.org/officeDocument/2006/relationships/image" Target="/ppt/media/image50.png" Id="R9c5d6253360b4042" /><ns0:Relationship Type="http://schemas.openxmlformats.org/officeDocument/2006/relationships/notesSlide" Target="/ppt/notesSlides/notesSlide50.xml" Id="R291003a957b54802" /><ns0:Relationship Id="rIdWorkshop4" Type="http://schemas.openxmlformats.org/officeDocument/2006/relationships/hyperlink" Target="https://arxiv.org/abs/1803.01271" TargetMode="External" /></ns0:Relationships>
</file>

<file path=ppt/slides/_rels/slide5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658c4f482f594658" /><ns0:Relationship Type="http://schemas.openxmlformats.org/officeDocument/2006/relationships/image" Target="/ppt/media/image51.png" Id="R49596c0ac3154f6b" /><ns0:Relationship Type="http://schemas.openxmlformats.org/officeDocument/2006/relationships/notesSlide" Target="/ppt/notesSlides/notesSlide51.xml" Id="Rb5cb346e1a644f54" /><ns0:Relationship Id="rIdWorkshop4" Type="http://schemas.openxmlformats.org/officeDocument/2006/relationships/hyperlink" Target="https://arxiv.org/abs/1706.03762" TargetMode="External" /><ns0:Relationship Id="rIdWorkshop5" Type="http://schemas.openxmlformats.org/officeDocument/2006/relationships/hyperlink" Target="https://pytorch-geometric-temporal.readthedocs.io/en/latest/modules/root.html" TargetMode="External" /></ns0:Relationships>
</file>

<file path=ppt/slides/_rels/slide5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094782abc14b4d68" /><ns0:Relationship Type="http://schemas.openxmlformats.org/officeDocument/2006/relationships/image" Target="/ppt/media/image52.png" Id="Re9efe1958e964311" /><ns0:Relationship Type="http://schemas.openxmlformats.org/officeDocument/2006/relationships/notesSlide" Target="/ppt/notesSlides/notesSlide52.xml" Id="R626d5d41154f4718" /><ns0:Relationship Id="rIdWorkshop4" Type="http://schemas.openxmlformats.org/officeDocument/2006/relationships/hyperlink" Target="https://pytorch-geometric-temporal.readthedocs.io/en/latest/modules/root.html" TargetMode="External" /><ns0:Relationship Id="rIdWorkshop5" Type="http://schemas.openxmlformats.org/officeDocument/2006/relationships/hyperlink" Target="https://github.com/hyunsungkim-ds/pathcrf" TargetMode="External" /></ns0:Relationships>
</file>

<file path=ppt/slides/_rels/slide5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ea6799a2bca448f9" /><ns0:Relationship Type="http://schemas.openxmlformats.org/officeDocument/2006/relationships/image" Target="/ppt/media/image53.png" Id="R36c75a3d6f444bd1" /><ns0:Relationship Type="http://schemas.openxmlformats.org/officeDocument/2006/relationships/notesSlide" Target="/ppt/notesSlides/notesSlide53.xml" Id="R5c138abfb6874d42" /><ns0:Relationship Id="rIdWorkshop4" Type="http://schemas.openxmlformats.org/officeDocument/2006/relationships/hyperlink" Target="https://arxiv.org/abs/2010.10202" TargetMode="External" /></ns0:Relationships>
</file>

<file path=ppt/slides/_rels/slide5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db8efb88b8024dad" /><ns0:Relationship Type="http://schemas.openxmlformats.org/officeDocument/2006/relationships/image" Target="/ppt/media/image54.png" Id="Rc713ed715621459e" /><ns0:Relationship Type="http://schemas.openxmlformats.org/officeDocument/2006/relationships/notesSlide" Target="/ppt/notesSlides/notesSlide54.xml" Id="R882a38a5f47742e6" /><ns0:Relationship Id="rIdWorkshop4" Type="http://schemas.openxmlformats.org/officeDocument/2006/relationships/hyperlink" Target="https://rawcdn.githack.com/UnravelSports/keynotes/main/html/20250607-PyData-London.html" TargetMode="External" /><ns0:Relationship Id="rIdWorkshop5" Type="http://schemas.openxmlformats.org/officeDocument/2006/relationships/hyperlink" Target="https://unravelsports.readthedocs.io/en/latest/tutorials/soccer_gnn.html" TargetMode="External" /></ns0:Relationships>
</file>

<file path=ppt/slides/_rels/slide5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5550c9f8be4b48be" /><ns0:Relationship Type="http://schemas.openxmlformats.org/officeDocument/2006/relationships/image" Target="/ppt/media/image55.png" Id="R86065abb654f45df" /><ns0:Relationship Type="http://schemas.openxmlformats.org/officeDocument/2006/relationships/notesSlide" Target="/ppt/notesSlides/notesSlide55.xml" Id="R62ac64304de745a4" /><ns0:Relationship Id="rIdWorkshop4" Type="http://schemas.openxmlformats.org/officeDocument/2006/relationships/hyperlink" Target="https://github.com/zcochran27/tracking-data-applied-workshop/blob/main/notebooks/methods/16_graph_epv.ipynb" TargetMode="External" /><ns0:Relationship Id="rIdWorkshop5" Type="http://schemas.openxmlformats.org/officeDocument/2006/relationships/hyperlink" Target="https://rawcdn.githack.com/UnravelSports/keynotes/main/html/20250607-PyData-London.html" TargetMode="External" /><ns0:Relationship Id="rIdWorkshop6" Type="http://schemas.openxmlformats.org/officeDocument/2006/relationships/hyperlink" Target="https://unravelsports.readthedocs.io/en/latest/tutorials/soccer_gnn.html" TargetMode="External" /></ns0:Relationships>
</file>

<file path=ppt/slides/_rels/slide5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5a82d0169be84f66" /><ns0:Relationship Type="http://schemas.openxmlformats.org/officeDocument/2006/relationships/image" Target="/ppt/media/image56.png" Id="R05592f68d37b4143" /><ns0:Relationship Type="http://schemas.openxmlformats.org/officeDocument/2006/relationships/notesSlide" Target="/ppt/notesSlides/notesSlide56.xml" Id="R2c0507923c924d31" /><ns0:Relationship Id="rIdWorkshop4" Type="http://schemas.openxmlformats.org/officeDocument/2006/relationships/hyperlink" Target="https://github.com/zcochran27/tracking-data-applied-workshop/blob/main/notebooks/methods/16_graph_epv.ipynb" TargetMode="External" /><ns0:Relationship Id="rIdWorkshop5" Type="http://schemas.openxmlformats.org/officeDocument/2006/relationships/hyperlink" Target="https://github.com/SkillCorner/opendata" TargetMode="External" /><ns0:Relationship Id="rIdWorkshop6" Type="http://schemas.openxmlformats.org/officeDocument/2006/relationships/hyperlink" Target="https://rawcdn.githack.com/UnravelSports/keynotes/main/html/20250607-PyData-London.html" TargetMode="External" /><ns0:Relationship Id="rIdWorkshopVideo" Type="http://schemas.openxmlformats.org/officeDocument/2006/relationships/video" Target="../media/workshop_graph_epv_possession.mp4" /><ns0:Relationship Id="rIdWorkshopMedia" Type="http://schemas.microsoft.com/office/2007/relationships/media" Target="../media/workshop_graph_epv_possession.mp4" /></ns0:Relationships>
</file>

<file path=ppt/slides/_rels/slide5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7210a86b43a5451b" /><ns0:Relationship Type="http://schemas.openxmlformats.org/officeDocument/2006/relationships/image" Target="/ppt/media/image57.png" Id="R4e01d6110b894d8e" /><ns0:Relationship Type="http://schemas.openxmlformats.org/officeDocument/2006/relationships/notesSlide" Target="/ppt/notesSlides/notesSlide57.xml" Id="R4d522d4a2a0c470e" /><ns0:Relationship Id="rIdWorkshop4" Type="http://schemas.openxmlformats.org/officeDocument/2006/relationships/hyperlink" Target="https://rawcdn.githack.com/UnravelSports/keynotes/main/html/20250607-PyData-London.html" TargetMode="External" /><ns0:Relationship Id="rIdWorkshop5" Type="http://schemas.openxmlformats.org/officeDocument/2006/relationships/hyperlink" Target="https://unravelsports.readthedocs.io/en/latest/tutorials/soccer_gnn.html" TargetMode="External" /></ns0:Relationships>
</file>

<file path=ppt/slides/_rels/slide5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6a704504fb7c4e83" /><ns0:Relationship Type="http://schemas.openxmlformats.org/officeDocument/2006/relationships/image" Target="/ppt/media/image58.png" Id="R95ed197d1fc54384" /><ns0:Relationship Type="http://schemas.openxmlformats.org/officeDocument/2006/relationships/notesSlide" Target="/ppt/notesSlides/notesSlide58.xml" Id="Rd166611cd3c64017" /><ns0:Relationship Id="rIdWorkshop4" Type="http://schemas.openxmlformats.org/officeDocument/2006/relationships/hyperlink" Target="https://pmc.ncbi.nlm.nih.gov/articles/PMC8570314/" TargetMode="External" /><ns0:Relationship Id="rIdWorkshop5" Type="http://schemas.openxmlformats.org/officeDocument/2006/relationships/hyperlink" Target="https://github.com/hyunsungkim-ds/defcon" TargetMode="External" /></ns0:Relationships>
</file>

<file path=ppt/slides/_rels/slide5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9ca8b0b29ec540d8" /><ns0:Relationship Type="http://schemas.openxmlformats.org/officeDocument/2006/relationships/image" Target="/ppt/media/image59.png" Id="R6560d784e0ae4587" /><ns0:Relationship Type="http://schemas.openxmlformats.org/officeDocument/2006/relationships/notesSlide" Target="/ppt/notesSlides/notesSlide59.xml" Id="R770ddef0ca3240d1" /><ns0:Relationship Id="rIdWorkshop4" Type="http://schemas.openxmlformats.org/officeDocument/2006/relationships/hyperlink" Target="https://github.com/SkillCorner/opendata" TargetMode="External" /><ns0:Relationship Id="rIdWorkshop5" Type="http://schemas.openxmlformats.org/officeDocument/2006/relationships/hyperlink" Target="https://pmc.ncbi.nlm.nih.gov/articles/PMC8570314/" TargetMode="External" /></ns0:Relationships>
</file>

<file path=ppt/slides/_rels/slide6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3d5594aa4d5b4547" /><ns0:Relationship Type="http://schemas.openxmlformats.org/officeDocument/2006/relationships/image" Target="/ppt/media/image60.png" Id="Rc800568d2010486b" /><ns0:Relationship Type="http://schemas.openxmlformats.org/officeDocument/2006/relationships/notesSlide" Target="/ppt/notesSlides/notesSlide60.xml" Id="R00dac530e8c24d9a" /><ns0:Relationship Id="rIdWorkshop4" Type="http://schemas.openxmlformats.org/officeDocument/2006/relationships/hyperlink" Target="https://github.com/hyunsungkim-ds/defcon" TargetMode="External" /></ns0:Relationships>
</file>

<file path=ppt/slides/_rels/slide6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231ca797a11d4318" /><ns0:Relationship Type="http://schemas.openxmlformats.org/officeDocument/2006/relationships/image" Target="/ppt/media/image61.png" Id="R6b656cfedb654a79" /><ns0:Relationship Type="http://schemas.openxmlformats.org/officeDocument/2006/relationships/notesSlide" Target="/ppt/notesSlides/notesSlide61.xml" Id="R6346068611fd4bd3" /><ns0:Relationship Id="rIdWorkshop4" Type="http://schemas.openxmlformats.org/officeDocument/2006/relationships/hyperlink" Target="https://github.com/USSoccerFederation/ussf_ssac_23_soccer_gnn" TargetMode="External" /></ns0:Relationships>
</file>

<file path=ppt/slides/_rels/slide6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c5c9c50df21a4942" /><ns0:Relationship Type="http://schemas.openxmlformats.org/officeDocument/2006/relationships/image" Target="/ppt/media/image62.png" Id="Rc475f8ae9b3240ac" /><ns0:Relationship Type="http://schemas.openxmlformats.org/officeDocument/2006/relationships/notesSlide" Target="/ppt/notesSlides/notesSlide62.xml" Id="R097e2880f6e343a8" /><ns0:Relationship Id="rIdWorkshop4" Type="http://schemas.openxmlformats.org/officeDocument/2006/relationships/hyperlink" Target="https://www.nature.com/articles/s41467-024-45965-x" TargetMode="External" /></ns0:Relationships>
</file>

<file path=ppt/slides/_rels/slide6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b940d82d05394240" /><ns0:Relationship Type="http://schemas.openxmlformats.org/officeDocument/2006/relationships/image" Target="/ppt/media/image63.png" Id="Raf78a6f22494498e" /><ns0:Relationship Type="http://schemas.openxmlformats.org/officeDocument/2006/relationships/notesSlide" Target="/ppt/notesSlides/notesSlide63.xml" Id="Re170f98deca44f97" /><ns0:Relationship Id="rIdWorkshop4" Type="http://schemas.openxmlformats.org/officeDocument/2006/relationships/hyperlink" Target="https://arxiv.org/abs/2604.11786" TargetMode="External" /></ns0:Relationships>
</file>

<file path=ppt/slides/_rels/slide6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706f8f02a9764231" /><ns0:Relationship Type="http://schemas.openxmlformats.org/officeDocument/2006/relationships/image" Target="/ppt/media/image64.png" Id="R082fb6002dbf4045" /><ns0:Relationship Type="http://schemas.openxmlformats.org/officeDocument/2006/relationships/notesSlide" Target="/ppt/notesSlides/notesSlide64.xml" Id="Rebf9de4f89ad408d" /><ns0:Relationship Id="rIdWorkshop4" Type="http://schemas.openxmlformats.org/officeDocument/2006/relationships/hyperlink" Target="https://pmc.ncbi.nlm.nih.gov/articles/PMC8570314/" TargetMode="External" /><ns0:Relationship Id="rIdWorkshop5" Type="http://schemas.openxmlformats.org/officeDocument/2006/relationships/hyperlink" Target="https://github.com/jonas-bischofberger/accessible-space" TargetMode="External" /></ns0:Relationships>
</file>

<file path=ppt/slides/slide1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2" name="">
            <a:extLst>
              <a:ext uri="{FF2B5EF4-FFF2-40B4-BE49-F238E27FC236}">
                <ns2:creationId id="{9239F2C3-1007-4020-9AF5-591D7D6120A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AA975D1B-3EC3-4724-88E7-B0CB029336B8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75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75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75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75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75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75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75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75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75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75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75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Tracking Data Applied</a:t>
            </a:r>
          </a:p>
        </p:txBody>
      </p:sp>
      <p:sp>
        <p:nvSpPr>
          <p:cNvPr id="3" name="">
            <a:extLst>
              <a:ext uri="{FF2B5EF4-FFF2-40B4-BE49-F238E27FC236}">
                <ns2:creationId id="{F13E6C7B-EC3A-4296-86B6-0E045D502A67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E4209128-D97A-434A-8826-505D3B39E5B8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Soccer analytics with SkillCorner</a:t>
            </a:r>
          </a:p>
        </p:txBody>
      </p:sp>
      <p:sp>
        <p:nvSpPr>
          <p:cNvPr id="5" name="">
            <a:extLst>
              <a:ext uri="{FF2B5EF4-FFF2-40B4-BE49-F238E27FC236}">
                <ns2:creationId id="{D2D67DE4-7DC3-4CAD-93F5-A504C642172A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D9812762-23C8-487A-B996-645323063452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From coordinates to football questions</a:t>
            </a:r>
          </a:p>
        </p:txBody>
      </p:sp>
      <p:sp>
        <p:nvSpPr>
          <p:cNvPr id="7" name="">
            <a:extLst>
              <a:ext uri="{FF2B5EF4-FFF2-40B4-BE49-F238E27FC236}">
                <ns2:creationId id="{2F88959A-B28E-4FE6-B632-CF5AD42F9289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42674EAC-5004-48D2-8CEB-37DCF6452CC9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Methods, assumptions and interpretation</a:t>
            </a:r>
          </a:p>
        </p:txBody>
      </p:sp>
      <p:pic>
        <p:nvPicPr>
          <p:cNvPr id="9" name="">
            <a:extLst>
              <a:ext uri="{FF2B5EF4-FFF2-40B4-BE49-F238E27FC236}">
                <ns2:creationId id="{5E0B8D5C-5CC9-418C-B01A-8F1DDB6B2D14}"/>
              </a:ext>
            </a:extLst>
          </p:cNvPr>
          <p:cNvPicPr>
            <a:picLocks noChangeAspect="1"/>
          </p:cNvPicPr>
          <p:nvPr/>
        </p:nvPicPr>
        <p:blipFill>
          <a:blip r:embed="R69ff40a557cd42e2"/>
          <a:stretch/>
        </p:blipFill>
        <p:spPr>
          <a:xfrm>
            <a:off x="4785910" y="1333500"/>
            <a:ext cx="6239680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BB30216C-7995-42BF-8A04-4C325F27F43E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10096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SkillCorner open data and schema</a:t>
            </a:r>
          </a:p>
        </p:txBody>
      </p:sp>
      <p:sp>
        <p:nvSpPr>
          <p:cNvPr id="11" name="">
            <a:extLst>
              <a:ext uri="{FF2B5EF4-FFF2-40B4-BE49-F238E27FC236}">
                <ns2:creationId id="{C05F1ACE-3092-4A23-9E6D-208FF204CF0F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1 / 64</a:t>
            </a:r>
          </a:p>
        </p:txBody>
      </p:sp>
    </p:spTree>
    <p:extLst>
      <p:ext uri="{BB962C8B-B14F-4D97-AF65-F5344CB8AC3E}">
        <p14:creationId val="1096555418"/>
      </p:ext>
    </p:extLst>
  </p:cSld>
</p:sld>
</file>

<file path=ppt/slides/slide2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6" name="">
            <a:extLst>
              <a:ext uri="{FF2B5EF4-FFF2-40B4-BE49-F238E27FC236}">
                <ns2:creationId id="{E12FC695-E4A4-4209-8222-C21EFE351A4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2D5D0C1A-CDB2-4C2E-9555-9C28F5D21206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Data and documentation</a:t>
            </a:r>
          </a:p>
        </p:txBody>
      </p:sp>
      <p:sp>
        <p:nvSpPr>
          <p:cNvPr id="3" name="">
            <a:extLst>
              <a:ext uri="{FF2B5EF4-FFF2-40B4-BE49-F238E27FC236}">
                <ns2:creationId id="{1B495D1E-A3DC-451B-B175-F73A7D60CE80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85D30784-B85F-4011-87AF-E85B5FE7FCBC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  <a:hlinkClick r:id="rIdWorkshop4"/>
              </a:rPr>
              <a:t>SkillCorner/opendata: tracking and supplied labels</a:t>
            </a:r>
          </a:p>
        </p:txBody>
      </p:sp>
      <p:sp>
        <p:nvSpPr>
          <p:cNvPr id="5" name="">
            <a:extLst>
              <a:ext uri="{FF2B5EF4-FFF2-40B4-BE49-F238E27FC236}">
                <ns2:creationId id="{52BCC649-E8CB-45F1-871C-294E2CECB2BC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BE5C3774-576A-4DFF-BDF5-460F23C6DEC8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  <a:hlinkClick r:id="rIdWorkshop5"/>
              </a:rPr>
              <a:t>kloppy: load and standardize</a:t>
            </a:r>
          </a:p>
        </p:txBody>
      </p:sp>
      <p:sp>
        <p:nvSpPr>
          <p:cNvPr id="7" name="">
            <a:extLst>
              <a:ext uri="{FF2B5EF4-FFF2-40B4-BE49-F238E27FC236}">
                <ns2:creationId id="{B39F2122-D062-4A65-8AB8-57BAE04C2480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7D7D9C74-3707-4FA7-B858-A0E3404401CB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  <a:hlinkClick r:id="rIdWorkshop6"/>
              </a:rPr>
              <a:t>DataBallPy: metric explanations and models</a:t>
            </a:r>
          </a:p>
        </p:txBody>
      </p:sp>
      <p:pic>
        <p:nvPicPr>
          <p:cNvPr id="9" name="">
            <a:extLst>
              <a:ext uri="{FF2B5EF4-FFF2-40B4-BE49-F238E27FC236}">
                <ns2:creationId id="{788ABF4B-34E0-47AB-A562-29F3516C6853}"/>
              </a:ext>
            </a:extLst>
          </p:cNvPr>
          <p:cNvPicPr>
            <a:picLocks noChangeAspect="1"/>
          </p:cNvPicPr>
          <p:nvPr/>
        </p:nvPicPr>
        <p:blipFill>
          <a:blip r:embed="R5d502a1b171141b5"/>
          <a:stretch/>
        </p:blipFill>
        <p:spPr>
          <a:xfrm>
            <a:off x="4254473" y="1333500"/>
            <a:ext cx="7302555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8C4F86A2-EF79-49D4-B606-808B2AA3FE52}"/>
              </a:ext>
            </a:extLst>
          </p:cNvPr>
          <p:cNvSpPr>
            <a:spLocks noGrp="1"/>
          </p:cNvSpPr>
          <p:nvPr/>
        </p:nvSpPr>
        <p:spPr>
          <a:xfrm>
            <a:off x="571500" y="5715000"/>
            <a:ext cx="11049000" cy="409575"/>
          </a:xfrm>
          <a:prstGeom prst="rect">
            <a:avLst/>
          </a:prstGeom>
          <a:solidFill>
            <a:srgbClr val="E0EEE8"/>
          </a:solidFill>
          <a:ln w="0">
            <a:noFill/>
          </a:ln>
        </p:spPr>
      </p:sp>
      <p:sp>
        <p:nvSpPr>
          <p:cNvPr id="11" name="">
            <a:extLst>
              <a:ext uri="{FF2B5EF4-FFF2-40B4-BE49-F238E27FC236}">
                <ns2:creationId id="{1B5DA28B-EF03-4DFF-9053-455EA6441C0F}"/>
              </a:ext>
            </a:extLst>
          </p:cNvPr>
          <p:cNvSpPr>
            <a:spLocks noGrp="1"/>
          </p:cNvSpPr>
          <p:nvPr/>
        </p:nvSpPr>
        <p:spPr>
          <a:xfrm>
            <a:off x="742950" y="579120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7D68"/>
                </a:solidFill>
                <a:latin typeface="Arial"/>
                <a:ea typeface="Arial"/>
                <a:cs typeface="Arial"/>
                <a:hlinkClick r:id="rIdWorkshop7"/>
              </a:rPr>
              <a:t>NOTEBOOK · 01_data_exploration.ipynb</a:t>
            </a:r>
          </a:p>
        </p:txBody>
      </p:sp>
      <p:sp>
        <p:nvSpPr>
          <p:cNvPr id="12" name="">
            <a:extLst>
              <a:ext uri="{FF2B5EF4-FFF2-40B4-BE49-F238E27FC236}">
                <ns2:creationId id="{BBB7F8E2-131F-4FC2-AB2E-8BB538CCE7F8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3365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8"/>
              </a:rPr>
              <a:t>SkillCorner open data and schema</a:t>
            </a:r>
          </a:p>
        </p:txBody>
      </p:sp>
      <p:sp>
        <p:nvSpPr>
          <p:cNvPr id="13" name="">
            <a:extLst>
              <a:ext uri="{FF2B5EF4-FFF2-40B4-BE49-F238E27FC236}">
                <ns2:creationId id="{3BED8B7D-923A-4BE2-85A4-2725ABC7DA8B}"/>
              </a:ext>
            </a:extLst>
          </p:cNvPr>
          <p:cNvSpPr>
            <a:spLocks noGrp="1"/>
          </p:cNvSpPr>
          <p:nvPr/>
        </p:nvSpPr>
        <p:spPr>
          <a:xfrm>
            <a:off x="4000500" y="6257925"/>
            <a:ext cx="3365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9"/>
              </a:rPr>
              <a:t>kloppy SkillCorner loader</a:t>
            </a:r>
          </a:p>
        </p:txBody>
      </p:sp>
      <p:sp>
        <p:nvSpPr>
          <p:cNvPr id="14" name="">
            <a:extLst>
              <a:ext uri="{FF2B5EF4-FFF2-40B4-BE49-F238E27FC236}">
                <ns2:creationId id="{76D362C7-C26A-4217-AFB8-5CAEAFA98E86}"/>
              </a:ext>
            </a:extLst>
          </p:cNvPr>
          <p:cNvSpPr>
            <a:spLocks noGrp="1"/>
          </p:cNvSpPr>
          <p:nvPr/>
        </p:nvSpPr>
        <p:spPr>
          <a:xfrm>
            <a:off x="7429500" y="6257925"/>
            <a:ext cx="3365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10"/>
              </a:rPr>
              <a:t>DataBallPy covered distance</a:t>
            </a:r>
          </a:p>
        </p:txBody>
      </p:sp>
      <p:sp>
        <p:nvSpPr>
          <p:cNvPr id="15" name="">
            <a:extLst>
              <a:ext uri="{FF2B5EF4-FFF2-40B4-BE49-F238E27FC236}">
                <ns2:creationId id="{726F1194-A5B6-42BC-8D02-9E161A9E65DA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2 / 64</a:t>
            </a:r>
          </a:p>
        </p:txBody>
      </p:sp>
    </p:spTree>
    <p:extLst>
      <p:ext uri="{BB962C8B-B14F-4D97-AF65-F5344CB8AC3E}">
        <p14:creationId val="1616866512"/>
      </p:ext>
    </p:extLst>
  </p:cSld>
</p:sld>
</file>

<file path=ppt/slides/slide3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4" name="">
            <a:extLst>
              <a:ext uri="{FF2B5EF4-FFF2-40B4-BE49-F238E27FC236}">
                <ns2:creationId id="{F1619598-28CA-4106-BCD3-E9C2442C8F0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A986749A-DC75-4F0A-BBAB-DE5962480C72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Loading tracking data</a:t>
            </a:r>
          </a:p>
        </p:txBody>
      </p:sp>
      <p:sp>
        <p:nvSpPr>
          <p:cNvPr id="3" name="">
            <a:extLst>
              <a:ext uri="{FF2B5EF4-FFF2-40B4-BE49-F238E27FC236}">
                <ns2:creationId id="{CDF96EA2-FF72-4E7A-83C5-7922D94DDC83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0BA2A55B-2CC1-45E0-AD27-64F45D1BCC24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Load match metadata and JSONL with kloppy</a:t>
            </a:r>
          </a:p>
        </p:txBody>
      </p:sp>
      <p:sp>
        <p:nvSpPr>
          <p:cNvPr id="5" name="">
            <a:extLst>
              <a:ext uri="{FF2B5EF4-FFF2-40B4-BE49-F238E27FC236}">
                <ns2:creationId id="{16448657-D540-41AD-9901-DA971E469969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19D2C90F-5005-4E13-AB23-131FB6D18990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Retain frame IDs, periods and native metres</a:t>
            </a:r>
          </a:p>
        </p:txBody>
      </p:sp>
      <p:sp>
        <p:nvSpPr>
          <p:cNvPr id="7" name="">
            <a:extLst>
              <a:ext uri="{FF2B5EF4-FFF2-40B4-BE49-F238E27FC236}">
                <ns2:creationId id="{1849408F-90C0-433C-A9E5-215FDA7B15B2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3364AB88-3E29-41D1-9659-622684F81D09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Convert to a dataframe for analysis</a:t>
            </a:r>
          </a:p>
        </p:txBody>
      </p:sp>
      <p:pic>
        <p:nvPicPr>
          <p:cNvPr id="9" name="">
            <a:extLst>
              <a:ext uri="{FF2B5EF4-FFF2-40B4-BE49-F238E27FC236}">
                <ns2:creationId id="{2D667107-690F-4A0D-9FCB-9E41BE8B1676}"/>
              </a:ext>
            </a:extLst>
          </p:cNvPr>
          <p:cNvPicPr>
            <a:picLocks noChangeAspect="1"/>
          </p:cNvPicPr>
          <p:nvPr/>
        </p:nvPicPr>
        <p:blipFill>
          <a:blip r:embed="R2f9ae61108b64a09"/>
          <a:stretch/>
        </p:blipFill>
        <p:spPr>
          <a:xfrm>
            <a:off x="4254473" y="1333500"/>
            <a:ext cx="7302555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B213CB70-412E-402E-BC72-26529F7A1D1F}"/>
              </a:ext>
            </a:extLst>
          </p:cNvPr>
          <p:cNvSpPr>
            <a:spLocks noGrp="1"/>
          </p:cNvSpPr>
          <p:nvPr/>
        </p:nvSpPr>
        <p:spPr>
          <a:xfrm>
            <a:off x="571500" y="5715000"/>
            <a:ext cx="11049000" cy="409575"/>
          </a:xfrm>
          <a:prstGeom prst="rect">
            <a:avLst/>
          </a:prstGeom>
          <a:solidFill>
            <a:srgbClr val="E0EEE8"/>
          </a:solidFill>
          <a:ln w="0">
            <a:noFill/>
          </a:ln>
        </p:spPr>
      </p:sp>
      <p:sp>
        <p:nvSpPr>
          <p:cNvPr id="11" name="">
            <a:extLst>
              <a:ext uri="{FF2B5EF4-FFF2-40B4-BE49-F238E27FC236}">
                <ns2:creationId id="{C6340910-4DC8-4DF3-982D-F26BBD48D5F7}"/>
              </a:ext>
            </a:extLst>
          </p:cNvPr>
          <p:cNvSpPr>
            <a:spLocks noGrp="1"/>
          </p:cNvSpPr>
          <p:nvPr/>
        </p:nvSpPr>
        <p:spPr>
          <a:xfrm>
            <a:off x="742950" y="579120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7D68"/>
                </a:solidFill>
                <a:latin typeface="Arial"/>
                <a:ea typeface="Arial"/>
                <a:cs typeface="Arial"/>
                <a:hlinkClick r:id="rIdWorkshop4"/>
              </a:rPr>
              <a:t>NOTEBOOK · 01_data_exploration.ipynb</a:t>
            </a:r>
          </a:p>
        </p:txBody>
      </p:sp>
      <p:sp>
        <p:nvSpPr>
          <p:cNvPr id="12" name="">
            <a:extLst>
              <a:ext uri="{FF2B5EF4-FFF2-40B4-BE49-F238E27FC236}">
                <ns2:creationId id="{3EDF8D59-22AA-4BB7-A4BE-DD86AD2EA798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10096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kloppy SkillCorner loader</a:t>
            </a:r>
          </a:p>
        </p:txBody>
      </p:sp>
      <p:sp>
        <p:nvSpPr>
          <p:cNvPr id="13" name="">
            <a:extLst>
              <a:ext uri="{FF2B5EF4-FFF2-40B4-BE49-F238E27FC236}">
                <ns2:creationId id="{15DF1C87-D04F-4551-8752-7B60E0E411BB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3 / 64</a:t>
            </a:r>
          </a:p>
        </p:txBody>
      </p:sp>
    </p:spTree>
    <p:extLst>
      <p:ext uri="{BB962C8B-B14F-4D97-AF65-F5344CB8AC3E}">
        <p14:creationId val="1949605289"/>
      </p:ext>
    </p:extLst>
  </p:cSld>
</p:sld>
</file>

<file path=ppt/slides/slide4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5" name="">
            <a:extLst>
              <a:ext uri="{FF2B5EF4-FFF2-40B4-BE49-F238E27FC236}">
                <ns2:creationId id="{2757B7A7-3038-4320-814B-3EDA9AB81A3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D92959E5-0EF8-46EC-8F6B-AA0E71D036AC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Tracking quality and visibility</a:t>
            </a:r>
          </a:p>
        </p:txBody>
      </p:sp>
      <p:sp>
        <p:nvSpPr>
          <p:cNvPr id="3" name="">
            <a:extLst>
              <a:ext uri="{FF2B5EF4-FFF2-40B4-BE49-F238E27FC236}">
                <ns2:creationId id="{C53AE1B2-C762-40D2-A73C-9B1C661150DB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EF4AE946-2D7B-4ABB-A247-ED5B727F4EB8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Separate detected from extrapolated positions</a:t>
            </a:r>
          </a:p>
        </p:txBody>
      </p:sp>
      <p:sp>
        <p:nvSpPr>
          <p:cNvPr id="5" name="">
            <a:extLst>
              <a:ext uri="{FF2B5EF4-FFF2-40B4-BE49-F238E27FC236}">
                <ns2:creationId id="{BD2E8F74-A6A3-43C1-BCA1-21EE70EA655F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3EEBEADA-AA3E-4D40-B8E0-684E3A5880BC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Keep missingness and coverage visible</a:t>
            </a:r>
          </a:p>
        </p:txBody>
      </p:sp>
      <p:sp>
        <p:nvSpPr>
          <p:cNvPr id="7" name="">
            <a:extLst>
              <a:ext uri="{FF2B5EF4-FFF2-40B4-BE49-F238E27FC236}">
                <ns2:creationId id="{456BC8DF-A81D-45D8-8062-5066873E56A2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8F00DBEA-3049-4540-B78A-3929DCD2F52C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Avoid derivatives across gaps or periods</a:t>
            </a:r>
          </a:p>
        </p:txBody>
      </p:sp>
      <p:pic>
        <p:nvPicPr>
          <p:cNvPr id="9" name="">
            <a:extLst>
              <a:ext uri="{FF2B5EF4-FFF2-40B4-BE49-F238E27FC236}">
                <ns2:creationId id="{7604C0B6-0940-46E2-8FDE-793EE970C5D3}"/>
              </a:ext>
            </a:extLst>
          </p:cNvPr>
          <p:cNvPicPr>
            <a:picLocks noChangeAspect="1"/>
          </p:cNvPicPr>
          <p:nvPr/>
        </p:nvPicPr>
        <p:blipFill>
          <a:blip r:embed="Rb13d09a063d84de5"/>
          <a:stretch/>
        </p:blipFill>
        <p:spPr>
          <a:xfrm>
            <a:off x="4785910" y="1333500"/>
            <a:ext cx="6239680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57CA6F4D-BCB1-4F8F-90FF-144CF6C45A51}"/>
              </a:ext>
            </a:extLst>
          </p:cNvPr>
          <p:cNvSpPr>
            <a:spLocks noGrp="1"/>
          </p:cNvSpPr>
          <p:nvPr/>
        </p:nvSpPr>
        <p:spPr>
          <a:xfrm>
            <a:off x="571500" y="5715000"/>
            <a:ext cx="11049000" cy="409575"/>
          </a:xfrm>
          <a:prstGeom prst="rect">
            <a:avLst/>
          </a:prstGeom>
          <a:solidFill>
            <a:srgbClr val="E0EEE8"/>
          </a:solidFill>
          <a:ln w="0">
            <a:noFill/>
          </a:ln>
        </p:spPr>
      </p:sp>
      <p:sp>
        <p:nvSpPr>
          <p:cNvPr id="11" name="">
            <a:extLst>
              <a:ext uri="{FF2B5EF4-FFF2-40B4-BE49-F238E27FC236}">
                <ns2:creationId id="{4444C6B6-B959-4D11-958E-36E9EDAD981C}"/>
              </a:ext>
            </a:extLst>
          </p:cNvPr>
          <p:cNvSpPr>
            <a:spLocks noGrp="1"/>
          </p:cNvSpPr>
          <p:nvPr/>
        </p:nvSpPr>
        <p:spPr>
          <a:xfrm>
            <a:off x="742950" y="579120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7D68"/>
                </a:solidFill>
                <a:latin typeface="Arial"/>
                <a:ea typeface="Arial"/>
                <a:cs typeface="Arial"/>
                <a:hlinkClick r:id="rIdWorkshop4"/>
              </a:rPr>
              <a:t>NOTEBOOK · 01_data_exploration.ipynb</a:t>
            </a:r>
          </a:p>
        </p:txBody>
      </p:sp>
      <p:sp>
        <p:nvSpPr>
          <p:cNvPr id="12" name="">
            <a:extLst>
              <a:ext uri="{FF2B5EF4-FFF2-40B4-BE49-F238E27FC236}">
                <ns2:creationId id="{A9C99CD6-F2BD-433D-A002-102EEE507F85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SkillCorner open data and schema</a:t>
            </a:r>
          </a:p>
        </p:txBody>
      </p:sp>
      <p:sp>
        <p:nvSpPr>
          <p:cNvPr id="13" name="">
            <a:extLst>
              <a:ext uri="{FF2B5EF4-FFF2-40B4-BE49-F238E27FC236}">
                <ns2:creationId id="{46EB8CA0-41F5-404F-A693-DA3D03F8AD00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6"/>
              </a:rPr>
              <a:t>DataBallPy preprocessing</a:t>
            </a:r>
          </a:p>
        </p:txBody>
      </p:sp>
      <p:sp>
        <p:nvSpPr>
          <p:cNvPr id="14" name="">
            <a:extLst>
              <a:ext uri="{FF2B5EF4-FFF2-40B4-BE49-F238E27FC236}">
                <ns2:creationId id="{4DFC6E91-0151-45A3-801C-880B8B6D7E06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4 / 64</a:t>
            </a:r>
          </a:p>
        </p:txBody>
      </p:sp>
    </p:spTree>
    <p:extLst>
      <p:ext uri="{BB962C8B-B14F-4D97-AF65-F5344CB8AC3E}">
        <p14:creationId val="1196816805"/>
      </p:ext>
    </p:extLst>
  </p:cSld>
</p:sld>
</file>

<file path=ppt/slides/slide5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4" name="">
            <a:extLst>
              <a:ext uri="{FF2B5EF4-FFF2-40B4-BE49-F238E27FC236}">
                <ns2:creationId id="{707EE1BF-FCE0-42CA-99BC-05191BBF5E2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3D5CA71A-F772-44B7-BBFD-9DEB449A765F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Plotting a tracking frame</a:t>
            </a:r>
          </a:p>
        </p:txBody>
      </p:sp>
      <p:sp>
        <p:nvSpPr>
          <p:cNvPr id="3" name="">
            <a:extLst>
              <a:ext uri="{FF2B5EF4-FFF2-40B4-BE49-F238E27FC236}">
                <ns2:creationId id="{F4768942-101B-46F1-924B-804B675CDC39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ECEB835F-93B5-4C51-B11B-E9BBD1491211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Draw the pitch in the data’s coordinate system</a:t>
            </a:r>
          </a:p>
        </p:txBody>
      </p:sp>
      <p:sp>
        <p:nvSpPr>
          <p:cNvPr id="5" name="">
            <a:extLst>
              <a:ext uri="{FF2B5EF4-FFF2-40B4-BE49-F238E27FC236}">
                <ns2:creationId id="{EC0CF296-9386-4E63-A32B-F585983EB152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1751D1DE-A568-47BF-A31E-25F0A552E51D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Color by team and identify the ball</a:t>
            </a:r>
          </a:p>
        </p:txBody>
      </p:sp>
      <p:sp>
        <p:nvSpPr>
          <p:cNvPr id="7" name="">
            <a:extLst>
              <a:ext uri="{FF2B5EF4-FFF2-40B4-BE49-F238E27FC236}">
                <ns2:creationId id="{77A77039-FBDC-48DC-83F2-01D16D80B7B8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9CD6D1AD-E5BC-4EE4-B60D-93CA1FF6467F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Check direction before calculating goal-related features</a:t>
            </a:r>
          </a:p>
        </p:txBody>
      </p:sp>
      <p:pic>
        <p:nvPicPr>
          <p:cNvPr id="9" name="">
            <a:extLst>
              <a:ext uri="{FF2B5EF4-FFF2-40B4-BE49-F238E27FC236}">
                <ns2:creationId id="{33B66173-5678-4EF0-AE97-C56E48F78F58}"/>
              </a:ext>
            </a:extLst>
          </p:cNvPr>
          <p:cNvPicPr>
            <a:picLocks noChangeAspect="1"/>
          </p:cNvPicPr>
          <p:nvPr/>
        </p:nvPicPr>
        <p:blipFill>
          <a:blip r:embed="R8eaf17860e264b45"/>
          <a:stretch/>
        </p:blipFill>
        <p:spPr>
          <a:xfrm>
            <a:off x="4785910" y="1333500"/>
            <a:ext cx="6239680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CD3093B5-28DD-4C26-B298-8D275306D7D7}"/>
              </a:ext>
            </a:extLst>
          </p:cNvPr>
          <p:cNvSpPr>
            <a:spLocks noGrp="1"/>
          </p:cNvSpPr>
          <p:nvPr/>
        </p:nvSpPr>
        <p:spPr>
          <a:xfrm>
            <a:off x="571500" y="5715000"/>
            <a:ext cx="11049000" cy="409575"/>
          </a:xfrm>
          <a:prstGeom prst="rect">
            <a:avLst/>
          </a:prstGeom>
          <a:solidFill>
            <a:srgbClr val="E0EEE8"/>
          </a:solidFill>
          <a:ln w="0">
            <a:noFill/>
          </a:ln>
        </p:spPr>
      </p:sp>
      <p:sp>
        <p:nvSpPr>
          <p:cNvPr id="11" name="">
            <a:extLst>
              <a:ext uri="{FF2B5EF4-FFF2-40B4-BE49-F238E27FC236}">
                <ns2:creationId id="{F97BEA64-D9DB-4878-A40F-70454D759765}"/>
              </a:ext>
            </a:extLst>
          </p:cNvPr>
          <p:cNvSpPr>
            <a:spLocks noGrp="1"/>
          </p:cNvSpPr>
          <p:nvPr/>
        </p:nvSpPr>
        <p:spPr>
          <a:xfrm>
            <a:off x="742950" y="579120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7D68"/>
                </a:solidFill>
                <a:latin typeface="Arial"/>
                <a:ea typeface="Arial"/>
                <a:cs typeface="Arial"/>
                <a:hlinkClick r:id="rIdWorkshop4"/>
              </a:rPr>
              <a:t>NOTEBOOK · 01_data_exploration.ipynb</a:t>
            </a:r>
          </a:p>
        </p:txBody>
      </p:sp>
      <p:sp>
        <p:nvSpPr>
          <p:cNvPr id="12" name="">
            <a:extLst>
              <a:ext uri="{FF2B5EF4-FFF2-40B4-BE49-F238E27FC236}">
                <ns2:creationId id="{1C2D0EF6-113C-4EB2-B82D-AEAC7A7ECF95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10096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SkillCorner open data and schema</a:t>
            </a:r>
          </a:p>
        </p:txBody>
      </p:sp>
      <p:sp>
        <p:nvSpPr>
          <p:cNvPr id="13" name="">
            <a:extLst>
              <a:ext uri="{FF2B5EF4-FFF2-40B4-BE49-F238E27FC236}">
                <ns2:creationId id="{3F09CCBE-B7BF-4284-8D11-E03F84452F2F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5 / 64</a:t>
            </a:r>
          </a:p>
        </p:txBody>
      </p:sp>
    </p:spTree>
    <p:extLst>
      <p:ext uri="{BB962C8B-B14F-4D97-AF65-F5344CB8AC3E}">
        <p14:creationId val="381022539"/>
      </p:ext>
    </p:extLst>
  </p:cSld>
</p:sld>
</file>

<file path=ppt/slides/slide6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6" name="">
            <a:extLst>
              <a:ext uri="{FF2B5EF4-FFF2-40B4-BE49-F238E27FC236}">
                <ns2:creationId id="{0BA34EF6-AAC5-431E-9BC1-B5701C3BCBB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50647833-BE8B-49DF-B016-9A1D9351C688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Animating a sequence</a:t>
            </a:r>
          </a:p>
        </p:txBody>
      </p:sp>
      <p:sp>
        <p:nvSpPr>
          <p:cNvPr id="3" name="">
            <a:extLst>
              <a:ext uri="{FF2B5EF4-FFF2-40B4-BE49-F238E27FC236}">
                <ns2:creationId id="{085D5B64-0827-4154-9068-8802419B833A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167A204A-39A3-4193-AC84-00A8F31E2A88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Follow actual player and ball movement</a:t>
            </a:r>
          </a:p>
        </p:txBody>
      </p:sp>
      <p:sp>
        <p:nvSpPr>
          <p:cNvPr id="5" name="">
            <a:extLst>
              <a:ext uri="{FF2B5EF4-FFF2-40B4-BE49-F238E27FC236}">
                <ns2:creationId id="{FF2AE3E9-28DD-448D-B6AB-35DE506691F3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3D010B59-AF6D-4133-A06F-B15EBC496D39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Keep player identities consistent across frames</a:t>
            </a:r>
          </a:p>
        </p:txBody>
      </p:sp>
      <p:sp>
        <p:nvSpPr>
          <p:cNvPr id="7" name="">
            <a:extLst>
              <a:ext uri="{FF2B5EF4-FFF2-40B4-BE49-F238E27FC236}">
                <ns2:creationId id="{DE4B5D3D-357B-4308-8512-C0705BCCFECF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AD859CEB-A408-4493-9521-53B7FABCF604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Inspect the sequence at native 10 Hz</a:t>
            </a:r>
          </a:p>
        </p:txBody>
      </p:sp>
      <p:pic>
        <p:nvPicPr>
          <p:cNvPr id="9" name="Video: Animating a sequence" descr="Embedded MP4. Click to play. Embedded native-rate MP4 of actual SkillCorner player and ball positions with shirt numbers. Click the movie in slideshow view. Tracking visualization, not broadcast footage.">
            <a:extLst>
              <a:ext uri="{FF2B5EF4-FFF2-40B4-BE49-F238E27FC236}">
                <ns2:creationId id="{6B16FB8B-4178-40D5-BAD4-5CF3FB6ABA82}"/>
              </a:ext>
            </a:extLst>
            <a:hlinkClick action="ppaction://media"/>
          </p:cNvPr>
          <p:cNvPicPr>
            <a:picLocks noChangeAspect="1"/>
          </p:cNvPicPr>
          <p:nvPr>
            <a:videoFile r:link="rIdWorkshopVideo"/>
            <p:extLst>
              <p:ext uri="{DAA4B4D4-6D71-4841-9C94-3DE7FCFBED7A}">
                <p14:media r:embed="rIdWorkshopMedia"/>
              </p:ext>
            </p:extLst>
          </p:nvPr>
        </p:nvPicPr>
        <p:blipFill>
          <a:blip r:embed="R8883c327040a4664"/>
          <a:stretch/>
        </p:blipFill>
        <p:spPr>
          <a:xfrm>
            <a:off x="4349750" y="1381125"/>
            <a:ext cx="7112000" cy="4000500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985F8100-83FC-45F0-A4DC-E9AFF9CBB3E0}"/>
              </a:ext>
            </a:extLst>
          </p:cNvPr>
          <p:cNvSpPr>
            <a:spLocks noGrp="1"/>
          </p:cNvSpPr>
          <p:nvPr/>
        </p:nvSpPr>
        <p:spPr>
          <a:xfrm>
            <a:off x="571500" y="5715000"/>
            <a:ext cx="11049000" cy="409575"/>
          </a:xfrm>
          <a:prstGeom prst="rect">
            <a:avLst/>
          </a:prstGeom>
          <a:solidFill>
            <a:srgbClr val="E0EEE8"/>
          </a:solidFill>
          <a:ln w="0">
            <a:noFill/>
          </a:ln>
        </p:spPr>
      </p:sp>
      <p:sp>
        <p:nvSpPr>
          <p:cNvPr id="11" name="">
            <a:extLst>
              <a:ext uri="{FF2B5EF4-FFF2-40B4-BE49-F238E27FC236}">
                <ns2:creationId id="{CB244496-FA14-473E-9F07-2E6A2A8EAEF8}"/>
              </a:ext>
            </a:extLst>
          </p:cNvPr>
          <p:cNvSpPr>
            <a:spLocks noGrp="1"/>
          </p:cNvSpPr>
          <p:nvPr/>
        </p:nvSpPr>
        <p:spPr>
          <a:xfrm>
            <a:off x="742950" y="579120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7D68"/>
                </a:solidFill>
                <a:latin typeface="Arial"/>
                <a:ea typeface="Arial"/>
                <a:cs typeface="Arial"/>
                <a:hlinkClick r:id="rIdWorkshop4"/>
              </a:rPr>
              <a:t>NOTEBOOK · 01_data_exploration.ipynb</a:t>
            </a:r>
          </a:p>
        </p:txBody>
      </p:sp>
      <p:sp>
        <p:nvSpPr>
          <p:cNvPr id="12" name="">
            <a:extLst>
              <a:ext uri="{FF2B5EF4-FFF2-40B4-BE49-F238E27FC236}">
                <ns2:creationId id="{D5309828-654E-4337-AD6F-53A0373BFCCE}"/>
              </a:ext>
            </a:extLst>
          </p:cNvPr>
          <p:cNvSpPr>
            <a:spLocks noGrp="1"/>
          </p:cNvSpPr>
          <p:nvPr/>
        </p:nvSpPr>
        <p:spPr>
          <a:xfrm>
            <a:off x="4286250" y="5467350"/>
            <a:ext cx="7239000" cy="228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▶ Click the video to play · embedded MP4</a:t>
            </a:r>
          </a:p>
        </p:txBody>
      </p:sp>
      <p:sp>
        <p:nvSpPr>
          <p:cNvPr id="13" name="">
            <a:extLst>
              <a:ext uri="{FF2B5EF4-FFF2-40B4-BE49-F238E27FC236}">
                <ns2:creationId id="{33EFF6F3-70E9-4EE4-B552-F3E24EE72F9C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kloppy SkillCorner loader</a:t>
            </a:r>
          </a:p>
        </p:txBody>
      </p:sp>
      <p:sp>
        <p:nvSpPr>
          <p:cNvPr id="14" name="">
            <a:extLst>
              <a:ext uri="{FF2B5EF4-FFF2-40B4-BE49-F238E27FC236}">
                <ns2:creationId id="{128EB258-F4B6-432E-92F5-91628F1267B7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6"/>
              </a:rPr>
              <a:t>Friends of Tracking: pitch control and EPV tutorials</a:t>
            </a:r>
          </a:p>
        </p:txBody>
      </p:sp>
      <p:sp>
        <p:nvSpPr>
          <p:cNvPr id="15" name="">
            <a:extLst>
              <a:ext uri="{FF2B5EF4-FFF2-40B4-BE49-F238E27FC236}">
                <ns2:creationId id="{2F5F633E-F2B9-42E6-94D9-2649443BC158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6 / 64</a:t>
            </a:r>
          </a:p>
        </p:txBody>
      </p:sp>
    </p:spTree>
    <p:extLst>
      <p:ext uri="{BB962C8B-B14F-4D97-AF65-F5344CB8AC3E}">
        <p14:creationId val="1304016440"/>
      </p:ext>
    </p:extLst>
  </p:cSld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5" name="">
            <a:extLst>
              <a:ext uri="{FF2B5EF4-FFF2-40B4-BE49-F238E27FC236}">
                <ns2:creationId id="{C16B89CC-D77B-4426-A25A-F1930338768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CDD3886B-BBFC-4157-8704-3EF03A796ED2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Possession detection</a:t>
            </a:r>
          </a:p>
        </p:txBody>
      </p:sp>
      <p:sp>
        <p:nvSpPr>
          <p:cNvPr id="3" name="">
            <a:extLst>
              <a:ext uri="{FF2B5EF4-FFF2-40B4-BE49-F238E27FC236}">
                <ns2:creationId id="{F169DD72-FB32-451A-930A-C9D53A5D5DCE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2B469B9A-510A-47DD-8B75-C6A190401EFF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Find the nearest player inside a candidate zone</a:t>
            </a:r>
          </a:p>
        </p:txBody>
      </p:sp>
      <p:sp>
        <p:nvSpPr>
          <p:cNvPr id="5" name="">
            <a:extLst>
              <a:ext uri="{FF2B5EF4-FFF2-40B4-BE49-F238E27FC236}">
                <ns2:creationId id="{04927598-ADA4-4C44-BA14-26F91AE19F10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DE55720E-4B9D-41B8-BD79-EC2B33368A76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Use ball motion to distinguish touches from flyovers</a:t>
            </a:r>
          </a:p>
        </p:txBody>
      </p:sp>
      <p:sp>
        <p:nvSpPr>
          <p:cNvPr id="7" name="">
            <a:extLst>
              <a:ext uri="{FF2B5EF4-FFF2-40B4-BE49-F238E27FC236}">
                <ns2:creationId id="{B6E5DCC8-272C-4902-A56B-81798C0BB952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9113A921-3A14-4355-8999-D10201700688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Leave ambiguous frames unassigned</a:t>
            </a:r>
          </a:p>
        </p:txBody>
      </p:sp>
      <p:pic>
        <p:nvPicPr>
          <p:cNvPr id="9" name="">
            <a:extLst>
              <a:ext uri="{FF2B5EF4-FFF2-40B4-BE49-F238E27FC236}">
                <ns2:creationId id="{042CE58D-2193-4367-A52B-D334E5DC7EDA}"/>
              </a:ext>
            </a:extLst>
          </p:cNvPr>
          <p:cNvPicPr>
            <a:picLocks noChangeAspect="1"/>
          </p:cNvPicPr>
          <p:nvPr/>
        </p:nvPicPr>
        <p:blipFill>
          <a:blip r:embed="R735f5e7ea9d248b6"/>
          <a:stretch/>
        </p:blipFill>
        <p:spPr>
          <a:xfrm>
            <a:off x="4246089" y="1333500"/>
            <a:ext cx="7319323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7BE7CE35-07AE-4CAB-8B34-792575B61E4D}"/>
              </a:ext>
            </a:extLst>
          </p:cNvPr>
          <p:cNvSpPr>
            <a:spLocks noGrp="1"/>
          </p:cNvSpPr>
          <p:nvPr/>
        </p:nvSpPr>
        <p:spPr>
          <a:xfrm>
            <a:off x="571500" y="5715000"/>
            <a:ext cx="11049000" cy="409575"/>
          </a:xfrm>
          <a:prstGeom prst="rect">
            <a:avLst/>
          </a:prstGeom>
          <a:solidFill>
            <a:srgbClr val="E0EEE8"/>
          </a:solidFill>
          <a:ln w="0">
            <a:noFill/>
          </a:ln>
        </p:spPr>
      </p:sp>
      <p:sp>
        <p:nvSpPr>
          <p:cNvPr id="11" name="">
            <a:extLst>
              <a:ext uri="{FF2B5EF4-FFF2-40B4-BE49-F238E27FC236}">
                <ns2:creationId id="{4B7679BA-C351-40EC-9EEF-876875E7B433}"/>
              </a:ext>
            </a:extLst>
          </p:cNvPr>
          <p:cNvSpPr>
            <a:spLocks noGrp="1"/>
          </p:cNvSpPr>
          <p:nvPr/>
        </p:nvSpPr>
        <p:spPr>
          <a:xfrm>
            <a:off x="742950" y="579120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7D68"/>
                </a:solidFill>
                <a:latin typeface="Arial"/>
                <a:ea typeface="Arial"/>
                <a:cs typeface="Arial"/>
                <a:hlinkClick r:id="rIdWorkshop4"/>
              </a:rPr>
              <a:t>NOTEBOOK · 02_event_detection.ipynb</a:t>
            </a:r>
          </a:p>
        </p:txBody>
      </p:sp>
      <p:sp>
        <p:nvSpPr>
          <p:cNvPr id="12" name="">
            <a:extLst>
              <a:ext uri="{FF2B5EF4-FFF2-40B4-BE49-F238E27FC236}">
                <ns2:creationId id="{21309767-2629-4E56-82A9-929DDEDC6D2D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DataBallPy preprocessing</a:t>
            </a:r>
          </a:p>
        </p:txBody>
      </p:sp>
      <p:sp>
        <p:nvSpPr>
          <p:cNvPr id="13" name="">
            <a:extLst>
              <a:ext uri="{FF2B5EF4-FFF2-40B4-BE49-F238E27FC236}">
                <ns2:creationId id="{C9ADEE1B-1EB9-42EC-BA61-F8EAEB24C2ED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6"/>
              </a:rPr>
              <a:t>PathCRF: player trajectories to events (2026)</a:t>
            </a:r>
          </a:p>
        </p:txBody>
      </p:sp>
      <p:sp>
        <p:nvSpPr>
          <p:cNvPr id="14" name="">
            <a:extLst>
              <a:ext uri="{FF2B5EF4-FFF2-40B4-BE49-F238E27FC236}">
                <ns2:creationId id="{15DC5261-5F93-454F-BD60-7F41249F72FF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7 / 64</a:t>
            </a:r>
          </a:p>
        </p:txBody>
      </p:sp>
    </p:spTree>
    <p:extLst>
      <p:ext uri="{BB962C8B-B14F-4D97-AF65-F5344CB8AC3E}">
        <p14:creationId val="1619509110"/>
      </p:ext>
    </p:extLst>
  </p:cSld>
</p:sld>
</file>

<file path=ppt/slides/slide8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6" name="">
            <a:extLst>
              <a:ext uri="{FF2B5EF4-FFF2-40B4-BE49-F238E27FC236}">
                <ns2:creationId id="{5F484F79-D695-44D4-ABD0-9D54D5C4110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1A8D2F72-9104-4AD7-98CB-B0E9F897F979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Pass-event detection</a:t>
            </a:r>
          </a:p>
        </p:txBody>
      </p:sp>
      <p:sp>
        <p:nvSpPr>
          <p:cNvPr id="3" name="">
            <a:extLst>
              <a:ext uri="{FF2B5EF4-FFF2-40B4-BE49-F238E27FC236}">
                <ns2:creationId id="{74372B1C-791D-4A2F-8AF6-00787384BF13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FCE3965E-D0F0-4E25-87F4-E230D6CA359B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Identify stable player-control segments</a:t>
            </a:r>
          </a:p>
        </p:txBody>
      </p:sp>
      <p:sp>
        <p:nvSpPr>
          <p:cNvPr id="5" name="">
            <a:extLst>
              <a:ext uri="{FF2B5EF4-FFF2-40B4-BE49-F238E27FC236}">
                <ns2:creationId id="{75A958DF-7671-4089-A487-9BEDE1E34945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0D46E629-F894-4CE1-A586-6F1D77D8071E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Connect release, ball transit and reception candidates</a:t>
            </a:r>
          </a:p>
        </p:txBody>
      </p:sp>
      <p:sp>
        <p:nvSpPr>
          <p:cNvPr id="7" name="">
            <a:extLst>
              <a:ext uri="{FF2B5EF4-FFF2-40B4-BE49-F238E27FC236}">
                <ns2:creationId id="{083047BA-C3D9-4E2D-93C2-363378DC7955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87462135-EDAE-4F1F-AA99-580C688B89C3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Treat detections as candidates until validated</a:t>
            </a:r>
          </a:p>
        </p:txBody>
      </p:sp>
      <p:pic>
        <p:nvPicPr>
          <p:cNvPr id="9" name="Video: Pass-event detection" descr="Embedded MP4. Click to play. Embedded MP4 uses computed heuristic candidates, not supplied event endpoints: nearest player within 2 m, ball height at most 2 m, stable control at least 0.3 seconds, same-team player change, transit 0.1–4 seconds and endpoint displacement at least 3 m. Playback is half speed. These are unverified pass candidates, not measured detection accuracy.">
            <a:extLst>
              <a:ext uri="{FF2B5EF4-FFF2-40B4-BE49-F238E27FC236}">
                <ns2:creationId id="{704C5E0E-1637-4B18-A8D9-7E0D6BFACB9E}"/>
              </a:ext>
            </a:extLst>
            <a:hlinkClick action="ppaction://media"/>
          </p:cNvPr>
          <p:cNvPicPr>
            <a:picLocks noChangeAspect="1"/>
          </p:cNvPicPr>
          <p:nvPr>
            <a:videoFile r:link="rIdWorkshopVideo"/>
            <p:extLst>
              <p:ext uri="{DAA4B4D4-6D71-4841-9C94-3DE7FCFBED7A}">
                <p14:media r:embed="rIdWorkshopMedia"/>
              </p:ext>
            </p:extLst>
          </p:nvPr>
        </p:nvPicPr>
        <p:blipFill>
          <a:blip r:embed="Rc0ba666bd16d4712"/>
          <a:stretch/>
        </p:blipFill>
        <p:spPr>
          <a:xfrm>
            <a:off x="4349750" y="1381125"/>
            <a:ext cx="7112000" cy="4000500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E624802F-DB33-4D9B-B240-C282FA83363A}"/>
              </a:ext>
            </a:extLst>
          </p:cNvPr>
          <p:cNvSpPr>
            <a:spLocks noGrp="1"/>
          </p:cNvSpPr>
          <p:nvPr/>
        </p:nvSpPr>
        <p:spPr>
          <a:xfrm>
            <a:off x="571500" y="5715000"/>
            <a:ext cx="11049000" cy="409575"/>
          </a:xfrm>
          <a:prstGeom prst="rect">
            <a:avLst/>
          </a:prstGeom>
          <a:solidFill>
            <a:srgbClr val="E0EEE8"/>
          </a:solidFill>
          <a:ln w="0">
            <a:noFill/>
          </a:ln>
        </p:spPr>
      </p:sp>
      <p:sp>
        <p:nvSpPr>
          <p:cNvPr id="11" name="">
            <a:extLst>
              <a:ext uri="{FF2B5EF4-FFF2-40B4-BE49-F238E27FC236}">
                <ns2:creationId id="{AAE03F7E-11EB-4898-9B78-129554D18605}"/>
              </a:ext>
            </a:extLst>
          </p:cNvPr>
          <p:cNvSpPr>
            <a:spLocks noGrp="1"/>
          </p:cNvSpPr>
          <p:nvPr/>
        </p:nvSpPr>
        <p:spPr>
          <a:xfrm>
            <a:off x="742950" y="579120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7D68"/>
                </a:solidFill>
                <a:latin typeface="Arial"/>
                <a:ea typeface="Arial"/>
                <a:cs typeface="Arial"/>
                <a:hlinkClick r:id="rIdWorkshop4"/>
              </a:rPr>
              <a:t>NOTEBOOK · 02_event_detection.ipynb</a:t>
            </a:r>
          </a:p>
        </p:txBody>
      </p:sp>
      <p:sp>
        <p:nvSpPr>
          <p:cNvPr id="12" name="">
            <a:extLst>
              <a:ext uri="{FF2B5EF4-FFF2-40B4-BE49-F238E27FC236}">
                <ns2:creationId id="{7217D893-59D1-4F19-A839-02174F50F7AC}"/>
              </a:ext>
            </a:extLst>
          </p:cNvPr>
          <p:cNvSpPr>
            <a:spLocks noGrp="1"/>
          </p:cNvSpPr>
          <p:nvPr/>
        </p:nvSpPr>
        <p:spPr>
          <a:xfrm>
            <a:off x="4286250" y="5467350"/>
            <a:ext cx="7239000" cy="228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▶ Click the video to play · embedded MP4</a:t>
            </a:r>
          </a:p>
        </p:txBody>
      </p:sp>
      <p:sp>
        <p:nvSpPr>
          <p:cNvPr id="13" name="">
            <a:extLst>
              <a:ext uri="{FF2B5EF4-FFF2-40B4-BE49-F238E27FC236}">
                <ns2:creationId id="{FBCCD617-68D8-41DB-856A-11ACF15102F5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PathCRF: player trajectories to events (2026)</a:t>
            </a:r>
          </a:p>
        </p:txBody>
      </p:sp>
      <p:sp>
        <p:nvSpPr>
          <p:cNvPr id="14" name="">
            <a:extLst>
              <a:ext uri="{FF2B5EF4-FFF2-40B4-BE49-F238E27FC236}">
                <ns2:creationId id="{91274B29-5810-49AE-B9C5-4E1A79A80178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6"/>
              </a:rPr>
              <a:t>DataBallPy preprocessing</a:t>
            </a:r>
          </a:p>
        </p:txBody>
      </p:sp>
      <p:sp>
        <p:nvSpPr>
          <p:cNvPr id="15" name="">
            <a:extLst>
              <a:ext uri="{FF2B5EF4-FFF2-40B4-BE49-F238E27FC236}">
                <ns2:creationId id="{3F7C7EB6-CB71-465E-8136-C400B5514343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8 / 64</a:t>
            </a:r>
          </a:p>
        </p:txBody>
      </p:sp>
    </p:spTree>
    <p:extLst>
      <p:ext uri="{BB962C8B-B14F-4D97-AF65-F5344CB8AC3E}">
        <p14:creationId val="2006800820"/>
      </p:ext>
    </p:extLst>
  </p:cSld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4" name="">
            <a:extLst>
              <a:ext uri="{FF2B5EF4-FFF2-40B4-BE49-F238E27FC236}">
                <ns2:creationId id="{CD53B2A8-5E73-4ED4-8E8B-187EDF6D4AE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A34969C0-CDF6-40CA-8E72-CBCF69A750D5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Guess the current player roles</a:t>
            </a:r>
          </a:p>
        </p:txBody>
      </p:sp>
      <p:sp>
        <p:nvSpPr>
          <p:cNvPr id="3" name="">
            <a:extLst>
              <a:ext uri="{FF2B5EF4-FFF2-40B4-BE49-F238E27FC236}">
                <ns2:creationId id="{D73C400D-0065-4AA8-8A90-6894D24613CC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81DCA9D8-65D8-4C4D-A864-94834D5220EF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Inspect two real team snapshots</a:t>
            </a:r>
          </a:p>
        </p:txBody>
      </p:sp>
      <p:sp>
        <p:nvSpPr>
          <p:cNvPr id="5" name="">
            <a:extLst>
              <a:ext uri="{FF2B5EF4-FFF2-40B4-BE49-F238E27FC236}">
                <ns2:creationId id="{E38696C1-77C4-4D32-A2B3-1180545F0A3F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6D9A7ED3-BE8A-4FFC-8F84-BE7077CBDEF2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Distinguish assigned position from occupied role</a:t>
            </a:r>
          </a:p>
        </p:txBody>
      </p:sp>
      <p:sp>
        <p:nvSpPr>
          <p:cNvPr id="7" name="">
            <a:extLst>
              <a:ext uri="{FF2B5EF4-FFF2-40B4-BE49-F238E27FC236}">
                <ns2:creationId id="{976D855A-1E09-4F8F-BB3F-602A6B9BCCF5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22CCF832-9942-4F4E-A29C-59FC3E2D1A0B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Use relative geometry to explain your answer</a:t>
            </a:r>
          </a:p>
        </p:txBody>
      </p:sp>
      <p:pic>
        <p:nvPicPr>
          <p:cNvPr id="9" name="">
            <a:extLst>
              <a:ext uri="{FF2B5EF4-FFF2-40B4-BE49-F238E27FC236}">
                <ns2:creationId id="{A9002AC8-D9ED-43BC-9966-537EFCBA6B95}"/>
              </a:ext>
            </a:extLst>
          </p:cNvPr>
          <p:cNvPicPr>
            <a:picLocks noChangeAspect="1"/>
          </p:cNvPicPr>
          <p:nvPr/>
        </p:nvPicPr>
        <p:blipFill>
          <a:blip r:embed="R289233fde9724462"/>
          <a:stretch/>
        </p:blipFill>
        <p:spPr>
          <a:xfrm>
            <a:off x="4095750" y="1915531"/>
            <a:ext cx="7620000" cy="3169813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CF76C032-9170-4533-8DC6-085F00C20A42}"/>
              </a:ext>
            </a:extLst>
          </p:cNvPr>
          <p:cNvSpPr>
            <a:spLocks noGrp="1"/>
          </p:cNvSpPr>
          <p:nvPr/>
        </p:nvSpPr>
        <p:spPr>
          <a:xfrm>
            <a:off x="571500" y="5715000"/>
            <a:ext cx="11049000" cy="409575"/>
          </a:xfrm>
          <a:prstGeom prst="rect">
            <a:avLst/>
          </a:prstGeom>
          <a:solidFill>
            <a:srgbClr val="E0EEE8"/>
          </a:solidFill>
          <a:ln w="0">
            <a:noFill/>
          </a:ln>
        </p:spPr>
      </p:sp>
      <p:sp>
        <p:nvSpPr>
          <p:cNvPr id="11" name="">
            <a:extLst>
              <a:ext uri="{FF2B5EF4-FFF2-40B4-BE49-F238E27FC236}">
                <ns2:creationId id="{D0620EE8-101D-4583-9C24-68C485E1B55A}"/>
              </a:ext>
            </a:extLst>
          </p:cNvPr>
          <p:cNvSpPr>
            <a:spLocks noGrp="1"/>
          </p:cNvSpPr>
          <p:nvPr/>
        </p:nvSpPr>
        <p:spPr>
          <a:xfrm>
            <a:off x="742950" y="579120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7D68"/>
                </a:solidFill>
                <a:latin typeface="Arial"/>
                <a:ea typeface="Arial"/>
                <a:cs typeface="Arial"/>
                <a:hlinkClick r:id="rIdWorkshop4"/>
              </a:rPr>
              <a:t>NOTEBOOK · 03_formation_analysis.ipynb</a:t>
            </a:r>
          </a:p>
        </p:txBody>
      </p:sp>
      <p:sp>
        <p:nvSpPr>
          <p:cNvPr id="12" name="">
            <a:extLst>
              <a:ext uri="{FF2B5EF4-FFF2-40B4-BE49-F238E27FC236}">
                <ns2:creationId id="{88D6CB10-549A-4AB2-AD5D-CE31761D2AEC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10096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Devin Pleuler: Fixed to Fluid (2024)</a:t>
            </a:r>
          </a:p>
        </p:txBody>
      </p:sp>
      <p:sp>
        <p:nvSpPr>
          <p:cNvPr id="13" name="">
            <a:extLst>
              <a:ext uri="{FF2B5EF4-FFF2-40B4-BE49-F238E27FC236}">
                <ns2:creationId id="{32897F78-37B5-4F13-87F4-A07E5314CD6B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9 / 64</a:t>
            </a:r>
          </a:p>
        </p:txBody>
      </p:sp>
    </p:spTree>
    <p:extLst>
      <p:ext uri="{BB962C8B-B14F-4D97-AF65-F5344CB8AC3E}">
        <p14:creationId val="192454968"/>
      </p:ext>
    </p:extLst>
  </p:cSld>
</p:sld>
</file>

<file path=ppt/slides/slide10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5" name="">
            <a:extLst>
              <a:ext uri="{FF2B5EF4-FFF2-40B4-BE49-F238E27FC236}">
                <ns2:creationId id="{C33CF01C-2D13-4A56-A0EC-04C2DBCC0F9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17E1287B-EA10-4001-AA17-C2FE3A60DDE7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Position distributions and centering</a:t>
            </a:r>
          </a:p>
        </p:txBody>
      </p:sp>
      <p:sp>
        <p:nvSpPr>
          <p:cNvPr id="3" name="">
            <a:extLst>
              <a:ext uri="{FF2B5EF4-FFF2-40B4-BE49-F238E27FC236}">
                <ns2:creationId id="{680ECD46-99CE-427C-99AE-FDA2AC5A30E8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D81B4C7A-A351-42AD-94AA-938B919220AA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Plot a mean and covariance for each player</a:t>
            </a:r>
          </a:p>
        </p:txBody>
      </p:sp>
      <p:sp>
        <p:nvSpPr>
          <p:cNvPr id="5" name="">
            <a:extLst>
              <a:ext uri="{FF2B5EF4-FFF2-40B4-BE49-F238E27FC236}">
                <ns2:creationId id="{247B679D-9B4D-4B78-BE2B-77C7E7B3F2D3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B036A3AF-2E70-43E0-A2ED-1B63E79B14F8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Subtract the team centroid in every frame</a:t>
            </a:r>
          </a:p>
        </p:txBody>
      </p:sp>
      <p:sp>
        <p:nvSpPr>
          <p:cNvPr id="7" name="">
            <a:extLst>
              <a:ext uri="{FF2B5EF4-FFF2-40B4-BE49-F238E27FC236}">
                <ns2:creationId id="{4ED2B51F-46DA-4FA3-8EDB-D573B6B0A50C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CC8C65E5-CD4F-4460-8EE8-CEB8D9DC3508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Compare dispersion before assigning a formation</a:t>
            </a:r>
          </a:p>
        </p:txBody>
      </p:sp>
      <p:pic>
        <p:nvPicPr>
          <p:cNvPr id="9" name="">
            <a:extLst>
              <a:ext uri="{FF2B5EF4-FFF2-40B4-BE49-F238E27FC236}">
                <ns2:creationId id="{2CF2AF8E-000F-49E2-BFA4-EEDF8773D23D}"/>
              </a:ext>
            </a:extLst>
          </p:cNvPr>
          <p:cNvPicPr>
            <a:picLocks noChangeAspect="1"/>
          </p:cNvPicPr>
          <p:nvPr/>
        </p:nvPicPr>
        <p:blipFill>
          <a:blip r:embed="R2d699b5c23d44802"/>
          <a:stretch/>
        </p:blipFill>
        <p:spPr>
          <a:xfrm>
            <a:off x="4095750" y="1864405"/>
            <a:ext cx="7620000" cy="327206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9E459B1F-F695-4148-80C4-2C579C499104}"/>
              </a:ext>
            </a:extLst>
          </p:cNvPr>
          <p:cNvSpPr>
            <a:spLocks noGrp="1"/>
          </p:cNvSpPr>
          <p:nvPr/>
        </p:nvSpPr>
        <p:spPr>
          <a:xfrm>
            <a:off x="571500" y="5715000"/>
            <a:ext cx="11049000" cy="409575"/>
          </a:xfrm>
          <a:prstGeom prst="rect">
            <a:avLst/>
          </a:prstGeom>
          <a:solidFill>
            <a:srgbClr val="E0EEE8"/>
          </a:solidFill>
          <a:ln w="0">
            <a:noFill/>
          </a:ln>
        </p:spPr>
      </p:sp>
      <p:sp>
        <p:nvSpPr>
          <p:cNvPr id="11" name="">
            <a:extLst>
              <a:ext uri="{FF2B5EF4-FFF2-40B4-BE49-F238E27FC236}">
                <ns2:creationId id="{A49048EF-BE4D-4816-BA26-8960BFC4E871}"/>
              </a:ext>
            </a:extLst>
          </p:cNvPr>
          <p:cNvSpPr>
            <a:spLocks noGrp="1"/>
          </p:cNvSpPr>
          <p:nvPr/>
        </p:nvSpPr>
        <p:spPr>
          <a:xfrm>
            <a:off x="742950" y="579120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7D68"/>
                </a:solidFill>
                <a:latin typeface="Arial"/>
                <a:ea typeface="Arial"/>
                <a:cs typeface="Arial"/>
                <a:hlinkClick r:id="rIdWorkshop4"/>
              </a:rPr>
              <a:t>NOTEBOOK · 03_formation_analysis.ipynb</a:t>
            </a:r>
          </a:p>
        </p:txBody>
      </p:sp>
      <p:sp>
        <p:nvSpPr>
          <p:cNvPr id="12" name="">
            <a:extLst>
              <a:ext uri="{FF2B5EF4-FFF2-40B4-BE49-F238E27FC236}">
                <ns2:creationId id="{B9D11D21-71CA-451A-AB7B-9ABA8E6265AC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Devin Pleuler: Fixed to Fluid (2024)</a:t>
            </a:r>
          </a:p>
        </p:txBody>
      </p:sp>
      <p:sp>
        <p:nvSpPr>
          <p:cNvPr id="13" name="">
            <a:extLst>
              <a:ext uri="{FF2B5EF4-FFF2-40B4-BE49-F238E27FC236}">
                <ns2:creationId id="{4A4FFE0E-703B-4875-9599-907B15EFD8CC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6"/>
              </a:rPr>
              <a:t>Shaw &amp; Glickman: Dynamic Analysis of Team Strategy</a:t>
            </a:r>
          </a:p>
        </p:txBody>
      </p:sp>
      <p:sp>
        <p:nvSpPr>
          <p:cNvPr id="14" name="">
            <a:extLst>
              <a:ext uri="{FF2B5EF4-FFF2-40B4-BE49-F238E27FC236}">
                <ns2:creationId id="{4D5C303B-06D4-4B53-9AD7-DDA5F596FC76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10 / 64</a:t>
            </a:r>
          </a:p>
        </p:txBody>
      </p:sp>
    </p:spTree>
    <p:extLst>
      <p:ext uri="{BB962C8B-B14F-4D97-AF65-F5344CB8AC3E}">
        <p14:creationId val="767182754"/>
      </p:ext>
    </p:extLst>
  </p:cSld>
</p:sld>
</file>

<file path=ppt/slides/slide11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6" name="">
            <a:extLst>
              <a:ext uri="{FF2B5EF4-FFF2-40B4-BE49-F238E27FC236}">
                <ns2:creationId id="{AA4D8A61-D7B3-401E-A404-29264A2153F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CDF11335-58B2-4408-B096-54B12DC1F162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Centering a moving team shape</a:t>
            </a:r>
          </a:p>
        </p:txBody>
      </p:sp>
      <p:sp>
        <p:nvSpPr>
          <p:cNvPr id="3" name="">
            <a:extLst>
              <a:ext uri="{FF2B5EF4-FFF2-40B4-BE49-F238E27FC236}">
                <ns2:creationId id="{964E08F4-1570-4DEA-B7F9-78A2722DC3C6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D1A8D16A-B0F6-4EB2-9F1F-9F61FA151A10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Track the same players in both panels</a:t>
            </a:r>
          </a:p>
        </p:txBody>
      </p:sp>
      <p:sp>
        <p:nvSpPr>
          <p:cNvPr id="5" name="">
            <a:extLst>
              <a:ext uri="{FF2B5EF4-FFF2-40B4-BE49-F238E27FC236}">
                <ns2:creationId id="{7B1D9D63-39D0-41F0-A2A2-505388DB4DA9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F62AE6D8-531C-4E3B-8E76-7FE9F6BD629E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Subtract the current team centroid at every frame</a:t>
            </a:r>
          </a:p>
        </p:txBody>
      </p:sp>
      <p:sp>
        <p:nvSpPr>
          <p:cNvPr id="7" name="">
            <a:extLst>
              <a:ext uri="{FF2B5EF4-FFF2-40B4-BE49-F238E27FC236}">
                <ns2:creationId id="{13AE11EB-5E22-42F0-A4CE-09F0EBE69BE7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75AE5831-174A-438C-824E-8BD5B5610408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Separate team translation from relative shape</a:t>
            </a:r>
          </a:p>
        </p:txBody>
      </p:sp>
      <p:pic>
        <p:nvPicPr>
          <p:cNvPr id="9" name="Video: Centering a moving team shape" descr="Embedded MP4. Click to play. Native-rate video of real coordinates. The left panel retains pitch position; the right shows team-centroid-relative coordinates. Includes all home players in this geometric illustration. Removing translation does not remove rotation, phase changes or individual role swaps.">
            <a:extLst>
              <a:ext uri="{FF2B5EF4-FFF2-40B4-BE49-F238E27FC236}">
                <ns2:creationId id="{8461C794-9603-4CA8-B322-402AAD196BC0}"/>
              </a:ext>
            </a:extLst>
            <a:hlinkClick action="ppaction://media"/>
          </p:cNvPr>
          <p:cNvPicPr>
            <a:picLocks noChangeAspect="1"/>
          </p:cNvPicPr>
          <p:nvPr>
            <a:videoFile r:link="rIdWorkshopVideo"/>
            <p:extLst>
              <p:ext uri="{DAA4B4D4-6D71-4841-9C94-3DE7FCFBED7A}">
                <p14:media r:embed="rIdWorkshopMedia"/>
              </p:ext>
            </p:extLst>
          </p:nvPr>
        </p:nvPicPr>
        <p:blipFill>
          <a:blip r:embed="R0c6c5d5602af4ebd"/>
          <a:stretch/>
        </p:blipFill>
        <p:spPr>
          <a:xfrm>
            <a:off x="4349750" y="1381125"/>
            <a:ext cx="7112000" cy="4000500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D26F6F5C-93A0-497C-9A00-A8807AEAED25}"/>
              </a:ext>
            </a:extLst>
          </p:cNvPr>
          <p:cNvSpPr>
            <a:spLocks noGrp="1"/>
          </p:cNvSpPr>
          <p:nvPr/>
        </p:nvSpPr>
        <p:spPr>
          <a:xfrm>
            <a:off x="571500" y="5715000"/>
            <a:ext cx="11049000" cy="409575"/>
          </a:xfrm>
          <a:prstGeom prst="rect">
            <a:avLst/>
          </a:prstGeom>
          <a:solidFill>
            <a:srgbClr val="E0EEE8"/>
          </a:solidFill>
          <a:ln w="0">
            <a:noFill/>
          </a:ln>
        </p:spPr>
      </p:sp>
      <p:sp>
        <p:nvSpPr>
          <p:cNvPr id="11" name="">
            <a:extLst>
              <a:ext uri="{FF2B5EF4-FFF2-40B4-BE49-F238E27FC236}">
                <ns2:creationId id="{C0EE1B92-AFD5-496B-805C-4E760687E983}"/>
              </a:ext>
            </a:extLst>
          </p:cNvPr>
          <p:cNvSpPr>
            <a:spLocks noGrp="1"/>
          </p:cNvSpPr>
          <p:nvPr/>
        </p:nvSpPr>
        <p:spPr>
          <a:xfrm>
            <a:off x="742950" y="579120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7D68"/>
                </a:solidFill>
                <a:latin typeface="Arial"/>
                <a:ea typeface="Arial"/>
                <a:cs typeface="Arial"/>
                <a:hlinkClick r:id="rIdWorkshop4"/>
              </a:rPr>
              <a:t>NOTEBOOK · 03_formation_analysis.ipynb</a:t>
            </a:r>
          </a:p>
        </p:txBody>
      </p:sp>
      <p:sp>
        <p:nvSpPr>
          <p:cNvPr id="12" name="">
            <a:extLst>
              <a:ext uri="{FF2B5EF4-FFF2-40B4-BE49-F238E27FC236}">
                <ns2:creationId id="{964A4A1A-112E-4765-BEB0-79A86AF9A4FF}"/>
              </a:ext>
            </a:extLst>
          </p:cNvPr>
          <p:cNvSpPr>
            <a:spLocks noGrp="1"/>
          </p:cNvSpPr>
          <p:nvPr/>
        </p:nvSpPr>
        <p:spPr>
          <a:xfrm>
            <a:off x="4286250" y="5467350"/>
            <a:ext cx="7239000" cy="228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▶ Click the video to play · embedded MP4</a:t>
            </a:r>
          </a:p>
        </p:txBody>
      </p:sp>
      <p:sp>
        <p:nvSpPr>
          <p:cNvPr id="13" name="">
            <a:extLst>
              <a:ext uri="{FF2B5EF4-FFF2-40B4-BE49-F238E27FC236}">
                <ns2:creationId id="{FCA46C63-3C38-4B60-8E6C-00BF40DD5D3C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Devin Pleuler: Fixed to Fluid (2024)</a:t>
            </a:r>
          </a:p>
        </p:txBody>
      </p:sp>
      <p:sp>
        <p:nvSpPr>
          <p:cNvPr id="14" name="">
            <a:extLst>
              <a:ext uri="{FF2B5EF4-FFF2-40B4-BE49-F238E27FC236}">
                <ns2:creationId id="{175BDA58-EAD8-4202-9BDC-4440B06CAF08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6"/>
              </a:rPr>
              <a:t>Shaw &amp; Glickman: Dynamic Analysis of Team Strategy</a:t>
            </a:r>
          </a:p>
        </p:txBody>
      </p:sp>
      <p:sp>
        <p:nvSpPr>
          <p:cNvPr id="15" name="">
            <a:extLst>
              <a:ext uri="{FF2B5EF4-FFF2-40B4-BE49-F238E27FC236}">
                <ns2:creationId id="{74C8CFFD-FCBA-47B1-B24B-FD393BFA1C53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11 / 64</a:t>
            </a:r>
          </a:p>
        </p:txBody>
      </p:sp>
    </p:spTree>
    <p:extLst>
      <p:ext uri="{BB962C8B-B14F-4D97-AF65-F5344CB8AC3E}">
        <p14:creationId val="866290730"/>
      </p:ext>
    </p:extLst>
  </p:cSld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4" name="">
            <a:extLst>
              <a:ext uri="{FF2B5EF4-FFF2-40B4-BE49-F238E27FC236}">
                <ns2:creationId id="{94753E7E-BDF9-404A-A38C-12E9465C5AB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419C7273-2C0A-4907-AEE4-924EA091D80C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Pleuler: rotating player viewpoints</a:t>
            </a:r>
          </a:p>
        </p:txBody>
      </p:sp>
      <p:sp>
        <p:nvSpPr>
          <p:cNvPr id="3" name="">
            <a:extLst>
              <a:ext uri="{FF2B5EF4-FFF2-40B4-BE49-F238E27FC236}">
                <ns2:creationId id="{0B5119EA-D08E-4697-AAAE-CC670BCA5BA3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DE685075-9CB7-4215-AA18-ED97DD82B80B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Place the origin at the player</a:t>
            </a:r>
          </a:p>
        </p:txBody>
      </p:sp>
      <p:sp>
        <p:nvSpPr>
          <p:cNvPr id="5" name="">
            <a:extLst>
              <a:ext uri="{FF2B5EF4-FFF2-40B4-BE49-F238E27FC236}">
                <ns2:creationId id="{E059644C-AD1A-4BC1-90E5-F8E151FC209E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A7920C54-42F7-4744-ACB6-75D410480B4A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Rotate a geometric viewing sector</a:t>
            </a:r>
          </a:p>
        </p:txBody>
      </p:sp>
      <p:sp>
        <p:nvSpPr>
          <p:cNvPr id="7" name="">
            <a:extLst>
              <a:ext uri="{FF2B5EF4-FFF2-40B4-BE49-F238E27FC236}">
                <ns2:creationId id="{CFC09166-3A76-4959-9CB6-0B1E97F19E6A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63D5BACD-C061-44F5-811C-2503E744BBC6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Count teammates at each heading</a:t>
            </a:r>
          </a:p>
        </p:txBody>
      </p:sp>
      <p:pic>
        <p:nvPicPr>
          <p:cNvPr id="9" name="">
            <a:extLst>
              <a:ext uri="{FF2B5EF4-FFF2-40B4-BE49-F238E27FC236}">
                <ns2:creationId id="{F90464F6-FB7A-47F3-AFEC-C522FFAD6B72}"/>
              </a:ext>
            </a:extLst>
          </p:cNvPr>
          <p:cNvPicPr>
            <a:picLocks noChangeAspect="1"/>
          </p:cNvPicPr>
          <p:nvPr/>
        </p:nvPicPr>
        <p:blipFill>
          <a:blip r:embed="Rfcd2626d35bd4fd1"/>
          <a:stretch/>
        </p:blipFill>
        <p:spPr>
          <a:xfrm>
            <a:off x="4095750" y="1951097"/>
            <a:ext cx="7620000" cy="3098681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39A0109D-0EDC-4CF4-BFCC-1CEFE283E7ED}"/>
              </a:ext>
            </a:extLst>
          </p:cNvPr>
          <p:cNvSpPr>
            <a:spLocks noGrp="1"/>
          </p:cNvSpPr>
          <p:nvPr/>
        </p:nvSpPr>
        <p:spPr>
          <a:xfrm>
            <a:off x="571500" y="5715000"/>
            <a:ext cx="11049000" cy="409575"/>
          </a:xfrm>
          <a:prstGeom prst="rect">
            <a:avLst/>
          </a:prstGeom>
          <a:solidFill>
            <a:srgbClr val="E0EEE8"/>
          </a:solidFill>
          <a:ln w="0">
            <a:noFill/>
          </a:ln>
        </p:spPr>
      </p:sp>
      <p:sp>
        <p:nvSpPr>
          <p:cNvPr id="11" name="">
            <a:extLst>
              <a:ext uri="{FF2B5EF4-FFF2-40B4-BE49-F238E27FC236}">
                <ns2:creationId id="{AC778273-1FBE-4AA3-9336-542747CB707D}"/>
              </a:ext>
            </a:extLst>
          </p:cNvPr>
          <p:cNvSpPr>
            <a:spLocks noGrp="1"/>
          </p:cNvSpPr>
          <p:nvPr/>
        </p:nvSpPr>
        <p:spPr>
          <a:xfrm>
            <a:off x="742950" y="579120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7D68"/>
                </a:solidFill>
                <a:latin typeface="Arial"/>
                <a:ea typeface="Arial"/>
                <a:cs typeface="Arial"/>
                <a:hlinkClick r:id="rIdWorkshop4"/>
              </a:rPr>
              <a:t>NOTEBOOK · 04_role_classification.ipynb</a:t>
            </a:r>
          </a:p>
        </p:txBody>
      </p:sp>
      <p:sp>
        <p:nvSpPr>
          <p:cNvPr id="12" name="">
            <a:extLst>
              <a:ext uri="{FF2B5EF4-FFF2-40B4-BE49-F238E27FC236}">
                <ns2:creationId id="{2D84E272-BF82-47D6-B713-B1B5661309C6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10096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Devin Pleuler: Fixed to Fluid (2024)</a:t>
            </a:r>
          </a:p>
        </p:txBody>
      </p:sp>
      <p:sp>
        <p:nvSpPr>
          <p:cNvPr id="13" name="">
            <a:extLst>
              <a:ext uri="{FF2B5EF4-FFF2-40B4-BE49-F238E27FC236}">
                <ns2:creationId id="{A06FD7D6-5521-4926-B44B-758A64E45315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12 / 64</a:t>
            </a:r>
          </a:p>
        </p:txBody>
      </p:sp>
    </p:spTree>
    <p:extLst>
      <p:ext uri="{BB962C8B-B14F-4D97-AF65-F5344CB8AC3E}">
        <p14:creationId val="1153118132"/>
      </p:ext>
    </p:extLst>
  </p:cSld>
</p:sld>
</file>

<file path=ppt/slides/slide13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4" name="">
            <a:extLst>
              <a:ext uri="{FF2B5EF4-FFF2-40B4-BE49-F238E27FC236}">
                <ns2:creationId id="{F0D523D9-905A-438E-9B61-7F357BFA475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5DF4C421-76E5-4123-8D31-049F747A6CD0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From angular features to role labels</a:t>
            </a:r>
          </a:p>
        </p:txBody>
      </p:sp>
      <p:sp>
        <p:nvSpPr>
          <p:cNvPr id="3" name="">
            <a:extLst>
              <a:ext uri="{FF2B5EF4-FFF2-40B4-BE49-F238E27FC236}">
                <ns2:creationId id="{B610D88F-93E3-49E4-A3E8-FF5FA3C63372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DE65EAB0-3B4D-496E-81E0-F3D85B31B14A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Create one feature row per player and frame</a:t>
            </a:r>
          </a:p>
        </p:txBody>
      </p:sp>
      <p:sp>
        <p:nvSpPr>
          <p:cNvPr id="5" name="">
            <a:extLst>
              <a:ext uri="{FF2B5EF4-FFF2-40B4-BE49-F238E27FC236}">
                <ns2:creationId id="{7C2D809C-19C4-4AE7-9EC4-AE0B5BA177B1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1DDD9E14-E3AE-4397-9CEA-554BF7BE4182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Fit a supervised role classifier on labeled matches</a:t>
            </a:r>
          </a:p>
        </p:txBody>
      </p:sp>
      <p:sp>
        <p:nvSpPr>
          <p:cNvPr id="7" name="">
            <a:extLst>
              <a:ext uri="{FF2B5EF4-FFF2-40B4-BE49-F238E27FC236}">
                <ns2:creationId id="{8BDD7FB0-F956-4BD1-AB34-7FF90F5C66D5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4204C24C-6BDD-4F0C-91E4-81BB9D63FB9E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Retain role probabilities for uncertain states</a:t>
            </a:r>
          </a:p>
        </p:txBody>
      </p:sp>
      <p:pic>
        <p:nvPicPr>
          <p:cNvPr id="9" name="">
            <a:extLst>
              <a:ext uri="{FF2B5EF4-FFF2-40B4-BE49-F238E27FC236}">
                <ns2:creationId id="{2ECD7247-C619-4A8C-962F-119994F63378}"/>
              </a:ext>
            </a:extLst>
          </p:cNvPr>
          <p:cNvPicPr>
            <a:picLocks noChangeAspect="1"/>
          </p:cNvPicPr>
          <p:nvPr/>
        </p:nvPicPr>
        <p:blipFill>
          <a:blip r:embed="R14690a9eee084bfe"/>
          <a:stretch/>
        </p:blipFill>
        <p:spPr>
          <a:xfrm>
            <a:off x="4135448" y="1333500"/>
            <a:ext cx="7540604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53A4FFC5-61BF-4A7D-A0B5-44701D47F8FE}"/>
              </a:ext>
            </a:extLst>
          </p:cNvPr>
          <p:cNvSpPr>
            <a:spLocks noGrp="1"/>
          </p:cNvSpPr>
          <p:nvPr/>
        </p:nvSpPr>
        <p:spPr>
          <a:xfrm>
            <a:off x="571500" y="5715000"/>
            <a:ext cx="11049000" cy="409575"/>
          </a:xfrm>
          <a:prstGeom prst="rect">
            <a:avLst/>
          </a:prstGeom>
          <a:solidFill>
            <a:srgbClr val="E0EEE8"/>
          </a:solidFill>
          <a:ln w="0">
            <a:noFill/>
          </a:ln>
        </p:spPr>
      </p:sp>
      <p:sp>
        <p:nvSpPr>
          <p:cNvPr id="11" name="">
            <a:extLst>
              <a:ext uri="{FF2B5EF4-FFF2-40B4-BE49-F238E27FC236}">
                <ns2:creationId id="{ED6C147D-B973-4CED-B0F8-AF7E79E0372F}"/>
              </a:ext>
            </a:extLst>
          </p:cNvPr>
          <p:cNvSpPr>
            <a:spLocks noGrp="1"/>
          </p:cNvSpPr>
          <p:nvPr/>
        </p:nvSpPr>
        <p:spPr>
          <a:xfrm>
            <a:off x="742950" y="579120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7D68"/>
                </a:solidFill>
                <a:latin typeface="Arial"/>
                <a:ea typeface="Arial"/>
                <a:cs typeface="Arial"/>
                <a:hlinkClick r:id="rIdWorkshop4"/>
              </a:rPr>
              <a:t>NOTEBOOK · 04_role_classification.ipynb</a:t>
            </a:r>
          </a:p>
        </p:txBody>
      </p:sp>
      <p:sp>
        <p:nvSpPr>
          <p:cNvPr id="12" name="">
            <a:extLst>
              <a:ext uri="{FF2B5EF4-FFF2-40B4-BE49-F238E27FC236}">
                <ns2:creationId id="{CA426FF3-3F3F-4E58-B26C-2DE404FAC44F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10096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Devin Pleuler: Fixed to Fluid (2024)</a:t>
            </a:r>
          </a:p>
        </p:txBody>
      </p:sp>
      <p:sp>
        <p:nvSpPr>
          <p:cNvPr id="13" name="">
            <a:extLst>
              <a:ext uri="{FF2B5EF4-FFF2-40B4-BE49-F238E27FC236}">
                <ns2:creationId id="{072C2433-788F-4D50-8301-63C7213BF333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13 / 64</a:t>
            </a:r>
          </a:p>
        </p:txBody>
      </p:sp>
    </p:spTree>
    <p:extLst>
      <p:ext uri="{BB962C8B-B14F-4D97-AF65-F5344CB8AC3E}">
        <p14:creationId val="843845514"/>
      </p:ext>
    </p:extLst>
  </p:cSld>
</p:sld>
</file>

<file path=ppt/slides/slide14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5" name="">
            <a:extLst>
              <a:ext uri="{FF2B5EF4-FFF2-40B4-BE49-F238E27FC236}">
                <ns2:creationId id="{70368816-5C4D-45B4-A7F1-E56766B85F7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0D2B05F8-1E2C-4958-81B8-6AD01F577BB9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Formation prediction by assignment</a:t>
            </a:r>
          </a:p>
        </p:txBody>
      </p:sp>
      <p:sp>
        <p:nvSpPr>
          <p:cNvPr id="3" name="">
            <a:extLst>
              <a:ext uri="{FF2B5EF4-FFF2-40B4-BE49-F238E27FC236}">
                <ns2:creationId id="{76972637-22D2-43BB-A384-A7556363F7E0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3D9807AE-5EE9-4AD7-9612-D975B02E1AB4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Compare centered shape with candidate templates</a:t>
            </a:r>
          </a:p>
        </p:txBody>
      </p:sp>
      <p:sp>
        <p:nvSpPr>
          <p:cNvPr id="5" name="">
            <a:extLst>
              <a:ext uri="{FF2B5EF4-FFF2-40B4-BE49-F238E27FC236}">
                <ns2:creationId id="{D14A47A4-D895-4581-9B61-B2F49A3DF268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ED3F560D-727E-41D9-9CAA-CD49A8D4D399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Match ten outfield players to ten slots</a:t>
            </a:r>
          </a:p>
        </p:txBody>
      </p:sp>
      <p:sp>
        <p:nvSpPr>
          <p:cNvPr id="7" name="">
            <a:extLst>
              <a:ext uri="{FF2B5EF4-FFF2-40B4-BE49-F238E27FC236}">
                <ns2:creationId id="{B1C8C0C4-1A25-44E8-ADE5-5728A5457865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E2485656-3B22-4638-A53D-44CA1B00D332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Select the lowest assignment cost</a:t>
            </a:r>
          </a:p>
        </p:txBody>
      </p:sp>
      <p:pic>
        <p:nvPicPr>
          <p:cNvPr id="9" name="">
            <a:extLst>
              <a:ext uri="{FF2B5EF4-FFF2-40B4-BE49-F238E27FC236}">
                <ns2:creationId id="{F090D08E-6D5C-4EA8-B5D3-EE706CF27FBA}"/>
              </a:ext>
            </a:extLst>
          </p:cNvPr>
          <p:cNvPicPr>
            <a:picLocks noChangeAspect="1"/>
          </p:cNvPicPr>
          <p:nvPr/>
        </p:nvPicPr>
        <p:blipFill>
          <a:blip r:embed="Rddaad472864e4c51"/>
          <a:stretch/>
        </p:blipFill>
        <p:spPr>
          <a:xfrm>
            <a:off x="4095750" y="1951097"/>
            <a:ext cx="7620000" cy="3098681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2DBDFB9B-C5F0-4EF9-BD7D-264C7B9EB51F}"/>
              </a:ext>
            </a:extLst>
          </p:cNvPr>
          <p:cNvSpPr>
            <a:spLocks noGrp="1"/>
          </p:cNvSpPr>
          <p:nvPr/>
        </p:nvSpPr>
        <p:spPr>
          <a:xfrm>
            <a:off x="571500" y="5715000"/>
            <a:ext cx="11049000" cy="409575"/>
          </a:xfrm>
          <a:prstGeom prst="rect">
            <a:avLst/>
          </a:prstGeom>
          <a:solidFill>
            <a:srgbClr val="E0EEE8"/>
          </a:solidFill>
          <a:ln w="0">
            <a:noFill/>
          </a:ln>
        </p:spPr>
      </p:sp>
      <p:sp>
        <p:nvSpPr>
          <p:cNvPr id="11" name="">
            <a:extLst>
              <a:ext uri="{FF2B5EF4-FFF2-40B4-BE49-F238E27FC236}">
                <ns2:creationId id="{3392730D-A169-4DC4-B729-F47C369B3361}"/>
              </a:ext>
            </a:extLst>
          </p:cNvPr>
          <p:cNvSpPr>
            <a:spLocks noGrp="1"/>
          </p:cNvSpPr>
          <p:nvPr/>
        </p:nvSpPr>
        <p:spPr>
          <a:xfrm>
            <a:off x="742950" y="579120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7D68"/>
                </a:solidFill>
                <a:latin typeface="Arial"/>
                <a:ea typeface="Arial"/>
                <a:cs typeface="Arial"/>
                <a:hlinkClick r:id="rIdWorkshop4"/>
              </a:rPr>
              <a:t>NOTEBOOK · 03_formation_analysis.ipynb</a:t>
            </a:r>
          </a:p>
        </p:txBody>
      </p:sp>
      <p:sp>
        <p:nvSpPr>
          <p:cNvPr id="12" name="">
            <a:extLst>
              <a:ext uri="{FF2B5EF4-FFF2-40B4-BE49-F238E27FC236}">
                <ns2:creationId id="{2EEBC95E-8AE8-4D62-B891-54946E572BF8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Joris Bekkers: Elastic Formation and Position Identification</a:t>
            </a:r>
          </a:p>
        </p:txBody>
      </p:sp>
      <p:sp>
        <p:nvSpPr>
          <p:cNvPr id="13" name="">
            <a:extLst>
              <a:ext uri="{FF2B5EF4-FFF2-40B4-BE49-F238E27FC236}">
                <ns2:creationId id="{3DBD0E36-84C7-4046-BE3C-494DFA40EBAC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6"/>
              </a:rPr>
              <a:t>UnravelSports EFPI tutorial</a:t>
            </a:r>
          </a:p>
        </p:txBody>
      </p:sp>
      <p:sp>
        <p:nvSpPr>
          <p:cNvPr id="14" name="">
            <a:extLst>
              <a:ext uri="{FF2B5EF4-FFF2-40B4-BE49-F238E27FC236}">
                <ns2:creationId id="{5AF19486-1CD6-4E92-B955-7A2D95D707B1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14 / 64</a:t>
            </a:r>
          </a:p>
        </p:txBody>
      </p:sp>
    </p:spTree>
    <p:extLst>
      <p:ext uri="{BB962C8B-B14F-4D97-AF65-F5344CB8AC3E}">
        <p14:creationId val="1859212335"/>
      </p:ext>
    </p:extLst>
  </p:cSld>
</p:sld>
</file>

<file path=ppt/slides/slide15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3" name="">
            <a:extLst>
              <a:ext uri="{FF2B5EF4-FFF2-40B4-BE49-F238E27FC236}">
                <ns2:creationId id="{93D87B52-365A-4956-9162-F18A8AA64AB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C1F1D2E3-5A39-4211-BB2E-BA826CC29203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Bekkers: elastic formation identification</a:t>
            </a:r>
          </a:p>
        </p:txBody>
      </p:sp>
      <p:sp>
        <p:nvSpPr>
          <p:cNvPr id="3" name="">
            <a:extLst>
              <a:ext uri="{FF2B5EF4-FFF2-40B4-BE49-F238E27FC236}">
                <ns2:creationId id="{EB307B9E-A07E-4BB5-AE1D-D6AD3FA71919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A4E1B31C-1331-48FD-91E1-6A1F4AC96A00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Allow templates to adapt to team shape</a:t>
            </a:r>
          </a:p>
        </p:txBody>
      </p:sp>
      <p:sp>
        <p:nvSpPr>
          <p:cNvPr id="5" name="">
            <a:extLst>
              <a:ext uri="{FF2B5EF4-FFF2-40B4-BE49-F238E27FC236}">
                <ns2:creationId id="{E55FA209-B7D4-4756-93A3-6A92ADE9A614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A59556DB-2106-4F2C-9DB5-F24412A7D54A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Assign players to formation roles</a:t>
            </a:r>
          </a:p>
        </p:txBody>
      </p:sp>
      <p:sp>
        <p:nvSpPr>
          <p:cNvPr id="7" name="">
            <a:extLst>
              <a:ext uri="{FF2B5EF4-FFF2-40B4-BE49-F238E27FC236}">
                <ns2:creationId id="{C49E261C-EF73-4BD4-A70E-571CACC4B6AE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ADB397A6-C5BD-49D0-8214-43D9F5C1B31B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Analyze comparable windows and possession states</a:t>
            </a:r>
          </a:p>
        </p:txBody>
      </p:sp>
      <p:pic>
        <p:nvPicPr>
          <p:cNvPr id="9" name="">
            <a:extLst>
              <a:ext uri="{FF2B5EF4-FFF2-40B4-BE49-F238E27FC236}">
                <ns2:creationId id="{CDF152A2-4CFA-4446-84A2-BC86280B9FE2}"/>
              </a:ext>
            </a:extLst>
          </p:cNvPr>
          <p:cNvPicPr>
            <a:picLocks noChangeAspect="1"/>
          </p:cNvPicPr>
          <p:nvPr/>
        </p:nvPicPr>
        <p:blipFill>
          <a:blip r:embed="R1316a0f461dc4a0f"/>
          <a:stretch/>
        </p:blipFill>
        <p:spPr>
          <a:xfrm>
            <a:off x="4095750" y="1951097"/>
            <a:ext cx="7620000" cy="3098681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EEC0D7AF-F936-4AAF-BAD0-9189DE4EDBE4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Joris Bekkers: Elastic Formation and Position Identification</a:t>
            </a:r>
          </a:p>
        </p:txBody>
      </p:sp>
      <p:sp>
        <p:nvSpPr>
          <p:cNvPr id="11" name="">
            <a:extLst>
              <a:ext uri="{FF2B5EF4-FFF2-40B4-BE49-F238E27FC236}">
                <ns2:creationId id="{DC0C29EB-E20F-4108-8240-32B2BFC7D98D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UnravelSports EFPI tutorial</a:t>
            </a:r>
          </a:p>
        </p:txBody>
      </p:sp>
      <p:sp>
        <p:nvSpPr>
          <p:cNvPr id="12" name="">
            <a:extLst>
              <a:ext uri="{FF2B5EF4-FFF2-40B4-BE49-F238E27FC236}">
                <ns2:creationId id="{B9B135C9-2B00-404A-959B-FBB1058E82FF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15 / 64</a:t>
            </a:r>
          </a:p>
        </p:txBody>
      </p:sp>
    </p:spTree>
    <p:extLst>
      <p:ext uri="{BB962C8B-B14F-4D97-AF65-F5344CB8AC3E}">
        <p14:creationId val="1836538978"/>
      </p:ext>
    </p:extLst>
  </p:cSld>
</p:sld>
</file>

<file path=ppt/slides/slide16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6" name="">
            <a:extLst>
              <a:ext uri="{FF2B5EF4-FFF2-40B4-BE49-F238E27FC236}">
                <ns2:creationId id="{BD2223C1-11EA-4814-94AE-DA97FE69277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C297D22D-A703-4BE5-9A96-0F1C8F3DDD32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Detecting formation-change candidates</a:t>
            </a:r>
          </a:p>
        </p:txBody>
      </p:sp>
      <p:sp>
        <p:nvSpPr>
          <p:cNvPr id="3" name="">
            <a:extLst>
              <a:ext uri="{FF2B5EF4-FFF2-40B4-BE49-F238E27FC236}">
                <ns2:creationId id="{F4AC42E9-9580-4C29-A272-52E7BBDE1DD1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031A4248-42BE-4083-9659-968E5F9E8626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Score successive windows in the same phase</a:t>
            </a:r>
          </a:p>
        </p:txBody>
      </p:sp>
      <p:sp>
        <p:nvSpPr>
          <p:cNvPr id="5" name="">
            <a:extLst>
              <a:ext uri="{FF2B5EF4-FFF2-40B4-BE49-F238E27FC236}">
                <ns2:creationId id="{C2BAB038-9E9F-4077-926D-DDD75270DB76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84EC79DD-A04B-43BE-93A9-8F0B7C7C4ADA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Require persistent evidence before switching</a:t>
            </a:r>
          </a:p>
        </p:txBody>
      </p:sp>
      <p:sp>
        <p:nvSpPr>
          <p:cNvPr id="7" name="">
            <a:extLst>
              <a:ext uri="{FF2B5EF4-FFF2-40B4-BE49-F238E27FC236}">
                <ns2:creationId id="{F1B1C457-789E-4655-9B2B-EE04F066262B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06666F2F-141F-453C-991E-2F079FF271CA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Review changes alongside substitutions and video</a:t>
            </a:r>
          </a:p>
        </p:txBody>
      </p:sp>
      <p:pic>
        <p:nvPicPr>
          <p:cNvPr id="9" name="Video: Detecting formation-change candidates" descr="Embedded MP4. Click to play. Embedded MP4 computes centered defensive-window medians, fixed-template Hungarian assignments and three-bin causal persistence. Uses 30-second bins with at least 50 qualifying frames per outfield player. Missing bins reset candidate evidence; the last confirmed state is retained through gaps. 60× playback. Shape labels are candidates without tactical ground truth, not elastic EFPI inference.">
            <a:extLst>
              <a:ext uri="{FF2B5EF4-FFF2-40B4-BE49-F238E27FC236}">
                <ns2:creationId id="{351A552A-A3BB-49F2-8650-F93FEBD89384}"/>
              </a:ext>
            </a:extLst>
            <a:hlinkClick action="ppaction://media"/>
          </p:cNvPr>
          <p:cNvPicPr>
            <a:picLocks noChangeAspect="1"/>
          </p:cNvPicPr>
          <p:nvPr>
            <a:videoFile r:link="rIdWorkshopVideo"/>
            <p:extLst>
              <p:ext uri="{DAA4B4D4-6D71-4841-9C94-3DE7FCFBED7A}">
                <p14:media r:embed="rIdWorkshopMedia"/>
              </p:ext>
            </p:extLst>
          </p:nvPr>
        </p:nvPicPr>
        <p:blipFill>
          <a:blip r:embed="R4b2fe3ac0d8f480d"/>
          <a:stretch/>
        </p:blipFill>
        <p:spPr>
          <a:xfrm>
            <a:off x="4349750" y="1381125"/>
            <a:ext cx="7112000" cy="4000500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72CCF568-AE60-4CA2-AF32-75BC35D61D9A}"/>
              </a:ext>
            </a:extLst>
          </p:cNvPr>
          <p:cNvSpPr>
            <a:spLocks noGrp="1"/>
          </p:cNvSpPr>
          <p:nvPr/>
        </p:nvSpPr>
        <p:spPr>
          <a:xfrm>
            <a:off x="571500" y="5715000"/>
            <a:ext cx="11049000" cy="409575"/>
          </a:xfrm>
          <a:prstGeom prst="rect">
            <a:avLst/>
          </a:prstGeom>
          <a:solidFill>
            <a:srgbClr val="E0EEE8"/>
          </a:solidFill>
          <a:ln w="0">
            <a:noFill/>
          </a:ln>
        </p:spPr>
      </p:sp>
      <p:sp>
        <p:nvSpPr>
          <p:cNvPr id="11" name="">
            <a:extLst>
              <a:ext uri="{FF2B5EF4-FFF2-40B4-BE49-F238E27FC236}">
                <ns2:creationId id="{D6581F9B-487C-48DA-B40C-87C0CB6E8BAD}"/>
              </a:ext>
            </a:extLst>
          </p:cNvPr>
          <p:cNvSpPr>
            <a:spLocks noGrp="1"/>
          </p:cNvSpPr>
          <p:nvPr/>
        </p:nvSpPr>
        <p:spPr>
          <a:xfrm>
            <a:off x="742950" y="579120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7D68"/>
                </a:solidFill>
                <a:latin typeface="Arial"/>
                <a:ea typeface="Arial"/>
                <a:cs typeface="Arial"/>
                <a:hlinkClick r:id="rIdWorkshop4"/>
              </a:rPr>
              <a:t>NOTEBOOK · 03_formation_analysis.ipynb</a:t>
            </a:r>
          </a:p>
        </p:txBody>
      </p:sp>
      <p:sp>
        <p:nvSpPr>
          <p:cNvPr id="12" name="">
            <a:extLst>
              <a:ext uri="{FF2B5EF4-FFF2-40B4-BE49-F238E27FC236}">
                <ns2:creationId id="{F555A0A0-11DA-4D06-8F3A-0AD5B03B4911}"/>
              </a:ext>
            </a:extLst>
          </p:cNvPr>
          <p:cNvSpPr>
            <a:spLocks noGrp="1"/>
          </p:cNvSpPr>
          <p:nvPr/>
        </p:nvSpPr>
        <p:spPr>
          <a:xfrm>
            <a:off x="4286250" y="5467350"/>
            <a:ext cx="7239000" cy="228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▶ Click the video to play · embedded MP4</a:t>
            </a:r>
          </a:p>
        </p:txBody>
      </p:sp>
      <p:sp>
        <p:nvSpPr>
          <p:cNvPr id="13" name="">
            <a:extLst>
              <a:ext uri="{FF2B5EF4-FFF2-40B4-BE49-F238E27FC236}">
                <ns2:creationId id="{A57C4DDF-C2FF-4549-B226-666456EFCE73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Devin Pleuler: Fixed to Fluid (2024)</a:t>
            </a:r>
          </a:p>
        </p:txBody>
      </p:sp>
      <p:sp>
        <p:nvSpPr>
          <p:cNvPr id="14" name="">
            <a:extLst>
              <a:ext uri="{FF2B5EF4-FFF2-40B4-BE49-F238E27FC236}">
                <ns2:creationId id="{26ADA5B5-AD5E-4178-BCDD-1F383DB4DE5C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6"/>
              </a:rPr>
              <a:t>Joris Bekkers: Elastic Formation and Position Identification</a:t>
            </a:r>
          </a:p>
        </p:txBody>
      </p:sp>
      <p:sp>
        <p:nvSpPr>
          <p:cNvPr id="15" name="">
            <a:extLst>
              <a:ext uri="{FF2B5EF4-FFF2-40B4-BE49-F238E27FC236}">
                <ns2:creationId id="{93CADB5A-3A92-4A6A-AB7B-194B924F076C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16 / 64</a:t>
            </a:r>
          </a:p>
        </p:txBody>
      </p:sp>
    </p:spTree>
    <p:extLst>
      <p:ext uri="{BB962C8B-B14F-4D97-AF65-F5344CB8AC3E}">
        <p14:creationId val="1449425510"/>
      </p:ext>
    </p:extLst>
  </p:cSld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17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4" name="">
            <a:extLst>
              <a:ext uri="{FF2B5EF4-FFF2-40B4-BE49-F238E27FC236}">
                <ns2:creationId id="{F74FCC2E-E440-49B2-AE5C-25C38E39E06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5420EF5F-2868-45EF-9B72-648015DA4CF6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Formation detection</a:t>
            </a:r>
          </a:p>
        </p:txBody>
      </p:sp>
      <p:sp>
        <p:nvSpPr>
          <p:cNvPr id="3" name="">
            <a:extLst>
              <a:ext uri="{FF2B5EF4-FFF2-40B4-BE49-F238E27FC236}">
                <ns2:creationId id="{977F2C2A-A1A4-4A41-BE7C-C7119B3CB27D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1586F91F-4FE0-4E47-A476-AEF308F85E54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Remove team translation with centered coordinates</a:t>
            </a:r>
          </a:p>
        </p:txBody>
      </p:sp>
      <p:sp>
        <p:nvSpPr>
          <p:cNvPr id="5" name="">
            <a:extLst>
              <a:ext uri="{FF2B5EF4-FFF2-40B4-BE49-F238E27FC236}">
                <ns2:creationId id="{DDB9B96D-7602-4932-A848-7BA1BF88B0A6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28F72774-F454-40C4-B462-EA9ECB5201F8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Separate in-possession and defensive samples</a:t>
            </a:r>
          </a:p>
        </p:txBody>
      </p:sp>
      <p:sp>
        <p:nvSpPr>
          <p:cNvPr id="7" name="">
            <a:extLst>
              <a:ext uri="{FF2B5EF4-FFF2-40B4-BE49-F238E27FC236}">
                <ns2:creationId id="{9C06EEAD-F3CF-46C2-A9AD-48CDC8199537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6FDEB979-A6CB-4B78-A581-00DE683DF192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Estimate stable role locations over a window</a:t>
            </a:r>
          </a:p>
        </p:txBody>
      </p:sp>
      <p:pic>
        <p:nvPicPr>
          <p:cNvPr id="9" name="">
            <a:extLst>
              <a:ext uri="{FF2B5EF4-FFF2-40B4-BE49-F238E27FC236}">
                <ns2:creationId id="{A63AA09B-8E20-4DF1-B6DF-2E82A1FE6198}"/>
              </a:ext>
            </a:extLst>
          </p:cNvPr>
          <p:cNvPicPr>
            <a:picLocks noChangeAspect="1"/>
          </p:cNvPicPr>
          <p:nvPr/>
        </p:nvPicPr>
        <p:blipFill>
          <a:blip r:embed="R8df5b1b8d99e4647"/>
          <a:stretch/>
        </p:blipFill>
        <p:spPr>
          <a:xfrm>
            <a:off x="4095750" y="1430808"/>
            <a:ext cx="7620000" cy="4139259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0844EFEF-A5D9-4B96-99F1-34E510DB9EA8}"/>
              </a:ext>
            </a:extLst>
          </p:cNvPr>
          <p:cNvSpPr>
            <a:spLocks noGrp="1"/>
          </p:cNvSpPr>
          <p:nvPr/>
        </p:nvSpPr>
        <p:spPr>
          <a:xfrm>
            <a:off x="571500" y="5715000"/>
            <a:ext cx="11049000" cy="409575"/>
          </a:xfrm>
          <a:prstGeom prst="rect">
            <a:avLst/>
          </a:prstGeom>
          <a:solidFill>
            <a:srgbClr val="E0EEE8"/>
          </a:solidFill>
          <a:ln w="0">
            <a:noFill/>
          </a:ln>
        </p:spPr>
      </p:sp>
      <p:sp>
        <p:nvSpPr>
          <p:cNvPr id="11" name="">
            <a:extLst>
              <a:ext uri="{FF2B5EF4-FFF2-40B4-BE49-F238E27FC236}">
                <ns2:creationId id="{26069DE3-BF02-4799-8AE9-5AD031F8FC51}"/>
              </a:ext>
            </a:extLst>
          </p:cNvPr>
          <p:cNvSpPr>
            <a:spLocks noGrp="1"/>
          </p:cNvSpPr>
          <p:nvPr/>
        </p:nvSpPr>
        <p:spPr>
          <a:xfrm>
            <a:off x="742950" y="579120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7D68"/>
                </a:solidFill>
                <a:latin typeface="Arial"/>
                <a:ea typeface="Arial"/>
                <a:cs typeface="Arial"/>
                <a:hlinkClick r:id="rIdWorkshop4"/>
              </a:rPr>
              <a:t>NOTEBOOK · 03_formation_analysis.ipynb</a:t>
            </a:r>
          </a:p>
        </p:txBody>
      </p:sp>
      <p:sp>
        <p:nvSpPr>
          <p:cNvPr id="12" name="">
            <a:extLst>
              <a:ext uri="{FF2B5EF4-FFF2-40B4-BE49-F238E27FC236}">
                <ns2:creationId id="{26F6EDC7-9F09-4A23-8E93-DAD5D5F0026C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10096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Shaw &amp; Glickman: Dynamic Analysis of Team Strategy</a:t>
            </a:r>
          </a:p>
        </p:txBody>
      </p:sp>
      <p:sp>
        <p:nvSpPr>
          <p:cNvPr id="13" name="">
            <a:extLst>
              <a:ext uri="{FF2B5EF4-FFF2-40B4-BE49-F238E27FC236}">
                <ns2:creationId id="{7E3E7456-0F9A-4553-BA00-BCA92607409E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17 / 64</a:t>
            </a:r>
          </a:p>
        </p:txBody>
      </p:sp>
    </p:spTree>
    <p:extLst>
      <p:ext uri="{BB962C8B-B14F-4D97-AF65-F5344CB8AC3E}">
        <p14:creationId val="1499016493"/>
      </p:ext>
    </p:extLst>
  </p:cSld>
</p:sld>
</file>

<file path=ppt/slides/slide18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4" name="">
            <a:extLst>
              <a:ext uri="{FF2B5EF4-FFF2-40B4-BE49-F238E27FC236}">
                <ns2:creationId id="{ABBE61B3-8497-4D55-812B-90302706AB8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4C0D3FB7-1C4B-487B-9A2A-68A978021B55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Player-role and line detection</a:t>
            </a:r>
          </a:p>
        </p:txBody>
      </p:sp>
      <p:sp>
        <p:nvSpPr>
          <p:cNvPr id="3" name="">
            <a:extLst>
              <a:ext uri="{FF2B5EF4-FFF2-40B4-BE49-F238E27FC236}">
                <ns2:creationId id="{C3FDA246-20E6-4FEB-B8FD-358E2C60CE1E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4F36EA11-026A-49A8-B63C-652D501B6B24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Group longitudinal positions into candidate lines</a:t>
            </a:r>
          </a:p>
        </p:txBody>
      </p:sp>
      <p:sp>
        <p:nvSpPr>
          <p:cNvPr id="5" name="">
            <a:extLst>
              <a:ext uri="{FF2B5EF4-FFF2-40B4-BE49-F238E27FC236}">
                <ns2:creationId id="{7332DDB3-3BF1-44D1-B150-A55C66087D62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DE2EC284-E5A9-4B72-A985-A29D1971E6CF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Assign roles consistently through player exchanges</a:t>
            </a:r>
          </a:p>
        </p:txBody>
      </p:sp>
      <p:sp>
        <p:nvSpPr>
          <p:cNvPr id="7" name="">
            <a:extLst>
              <a:ext uri="{FF2B5EF4-FFF2-40B4-BE49-F238E27FC236}">
                <ns2:creationId id="{96D28C56-32AD-4AFE-85EC-21877034462B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C5429BBC-15D1-4E38-A5BD-CE767BF8DB27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Treat cluster count as a modeling choice</a:t>
            </a:r>
          </a:p>
        </p:txBody>
      </p:sp>
      <p:pic>
        <p:nvPicPr>
          <p:cNvPr id="9" name="">
            <a:extLst>
              <a:ext uri="{FF2B5EF4-FFF2-40B4-BE49-F238E27FC236}">
                <ns2:creationId id="{91797741-09E6-4DE7-B90D-68249EB29BE0}"/>
              </a:ext>
            </a:extLst>
          </p:cNvPr>
          <p:cNvPicPr>
            <a:picLocks noChangeAspect="1"/>
          </p:cNvPicPr>
          <p:nvPr/>
        </p:nvPicPr>
        <p:blipFill>
          <a:blip r:embed="Ra36c1e15e5b64548"/>
          <a:stretch/>
        </p:blipFill>
        <p:spPr>
          <a:xfrm>
            <a:off x="4261130" y="1333500"/>
            <a:ext cx="7289241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56D1920A-4719-4372-9BE5-9E6909291480}"/>
              </a:ext>
            </a:extLst>
          </p:cNvPr>
          <p:cNvSpPr>
            <a:spLocks noGrp="1"/>
          </p:cNvSpPr>
          <p:nvPr/>
        </p:nvSpPr>
        <p:spPr>
          <a:xfrm>
            <a:off x="571500" y="5715000"/>
            <a:ext cx="11049000" cy="409575"/>
          </a:xfrm>
          <a:prstGeom prst="rect">
            <a:avLst/>
          </a:prstGeom>
          <a:solidFill>
            <a:srgbClr val="E0EEE8"/>
          </a:solidFill>
          <a:ln w="0">
            <a:noFill/>
          </a:ln>
        </p:spPr>
      </p:sp>
      <p:sp>
        <p:nvSpPr>
          <p:cNvPr id="11" name="">
            <a:extLst>
              <a:ext uri="{FF2B5EF4-FFF2-40B4-BE49-F238E27FC236}">
                <ns2:creationId id="{39B29A50-396B-4281-B5C1-07304F6AA3AD}"/>
              </a:ext>
            </a:extLst>
          </p:cNvPr>
          <p:cNvSpPr>
            <a:spLocks noGrp="1"/>
          </p:cNvSpPr>
          <p:nvPr/>
        </p:nvSpPr>
        <p:spPr>
          <a:xfrm>
            <a:off x="742950" y="579120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7D68"/>
                </a:solidFill>
                <a:latin typeface="Arial"/>
                <a:ea typeface="Arial"/>
                <a:cs typeface="Arial"/>
                <a:hlinkClick r:id="rIdWorkshop4"/>
              </a:rPr>
              <a:t>NOTEBOOK · 03_formation_analysis.ipynb</a:t>
            </a:r>
          </a:p>
        </p:txBody>
      </p:sp>
      <p:sp>
        <p:nvSpPr>
          <p:cNvPr id="12" name="">
            <a:extLst>
              <a:ext uri="{FF2B5EF4-FFF2-40B4-BE49-F238E27FC236}">
                <ns2:creationId id="{6A9E6BC6-E431-43C9-B1AD-D88EAC0A7EB6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10096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Shaw &amp; Glickman: Dynamic Analysis of Team Strategy</a:t>
            </a:r>
          </a:p>
        </p:txBody>
      </p:sp>
      <p:sp>
        <p:nvSpPr>
          <p:cNvPr id="13" name="">
            <a:extLst>
              <a:ext uri="{FF2B5EF4-FFF2-40B4-BE49-F238E27FC236}">
                <ns2:creationId id="{299C0F2B-7919-4EB0-92E4-FFA7B7DEDA59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18 / 64</a:t>
            </a:r>
          </a:p>
        </p:txBody>
      </p:sp>
    </p:spTree>
    <p:extLst>
      <p:ext uri="{BB962C8B-B14F-4D97-AF65-F5344CB8AC3E}">
        <p14:creationId val="2048437481"/>
      </p:ext>
    </p:extLst>
  </p:cSld>
</p:sld>
</file>

<file path=ppt/slides/slide19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5" name="">
            <a:extLst>
              <a:ext uri="{FF2B5EF4-FFF2-40B4-BE49-F238E27FC236}">
                <ns2:creationId id="{9AAA5F16-B54F-4CC5-B416-35FDFF92502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308BC535-4629-43A9-B8A0-78C845925255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Phase-of-play segmentation</a:t>
            </a:r>
          </a:p>
        </p:txBody>
      </p:sp>
      <p:sp>
        <p:nvSpPr>
          <p:cNvPr id="3" name="">
            <a:extLst>
              <a:ext uri="{FF2B5EF4-FFF2-40B4-BE49-F238E27FC236}">
                <ns2:creationId id="{9A7A66B6-28EF-4B09-8828-B2965EF1C101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2EAD6F7D-1F6E-4BB9-BD2F-BF14E3B2677E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Represent phases as intervals rather than single events</a:t>
            </a:r>
          </a:p>
        </p:txBody>
      </p:sp>
      <p:sp>
        <p:nvSpPr>
          <p:cNvPr id="5" name="">
            <a:extLst>
              <a:ext uri="{FF2B5EF4-FFF2-40B4-BE49-F238E27FC236}">
                <ns2:creationId id="{E8726E0D-E041-4A46-BCFD-31FA63CEC57D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8D9543E6-3C4C-474E-9F87-286751AF088F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Join intervals to tracking by period and frame</a:t>
            </a:r>
          </a:p>
        </p:txBody>
      </p:sp>
      <p:sp>
        <p:nvSpPr>
          <p:cNvPr id="7" name="">
            <a:extLst>
              <a:ext uri="{FF2B5EF4-FFF2-40B4-BE49-F238E27FC236}">
                <ns2:creationId id="{D9872B5B-9055-45DD-B4C6-4C7A4B065F77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5ADBF271-3086-4D2C-B6F5-5AA16A345CF9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Compare structure and effort within tactical context</a:t>
            </a:r>
          </a:p>
        </p:txBody>
      </p:sp>
      <p:pic>
        <p:nvPicPr>
          <p:cNvPr id="9" name="">
            <a:extLst>
              <a:ext uri="{FF2B5EF4-FFF2-40B4-BE49-F238E27FC236}">
                <ns2:creationId id="{F98DA29E-90C7-4C35-829B-D9D3AF1BFAD5}"/>
              </a:ext>
            </a:extLst>
          </p:cNvPr>
          <p:cNvPicPr>
            <a:picLocks noChangeAspect="1"/>
          </p:cNvPicPr>
          <p:nvPr/>
        </p:nvPicPr>
        <p:blipFill>
          <a:blip r:embed="Rf23b0683553847de"/>
          <a:stretch/>
        </p:blipFill>
        <p:spPr>
          <a:xfrm>
            <a:off x="4243601" y="1333500"/>
            <a:ext cx="7324299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C0EE7409-90AD-4D8A-B71C-AD9E82EEEC43}"/>
              </a:ext>
            </a:extLst>
          </p:cNvPr>
          <p:cNvSpPr>
            <a:spLocks noGrp="1"/>
          </p:cNvSpPr>
          <p:nvPr/>
        </p:nvSpPr>
        <p:spPr>
          <a:xfrm>
            <a:off x="571500" y="5715000"/>
            <a:ext cx="11049000" cy="409575"/>
          </a:xfrm>
          <a:prstGeom prst="rect">
            <a:avLst/>
          </a:prstGeom>
          <a:solidFill>
            <a:srgbClr val="E0EEE8"/>
          </a:solidFill>
          <a:ln w="0">
            <a:noFill/>
          </a:ln>
        </p:spPr>
      </p:sp>
      <p:sp>
        <p:nvSpPr>
          <p:cNvPr id="11" name="">
            <a:extLst>
              <a:ext uri="{FF2B5EF4-FFF2-40B4-BE49-F238E27FC236}">
                <ns2:creationId id="{9198D4C1-BAB6-464D-A767-B77D479D0C41}"/>
              </a:ext>
            </a:extLst>
          </p:cNvPr>
          <p:cNvSpPr>
            <a:spLocks noGrp="1"/>
          </p:cNvSpPr>
          <p:nvPr/>
        </p:nvSpPr>
        <p:spPr>
          <a:xfrm>
            <a:off x="742950" y="579120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7D68"/>
                </a:solidFill>
                <a:latin typeface="Arial"/>
                <a:ea typeface="Arial"/>
                <a:cs typeface="Arial"/>
                <a:hlinkClick r:id="rIdWorkshop4"/>
              </a:rPr>
              <a:t>NOTEBOOK · 05_match_segmentation.ipynb</a:t>
            </a:r>
          </a:p>
        </p:txBody>
      </p:sp>
      <p:sp>
        <p:nvSpPr>
          <p:cNvPr id="12" name="">
            <a:extLst>
              <a:ext uri="{FF2B5EF4-FFF2-40B4-BE49-F238E27FC236}">
                <ns2:creationId id="{59C2F017-43B2-4D59-9506-DEE06159EAC9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SkillCorner open data and schema</a:t>
            </a:r>
          </a:p>
        </p:txBody>
      </p:sp>
      <p:sp>
        <p:nvSpPr>
          <p:cNvPr id="13" name="">
            <a:extLst>
              <a:ext uri="{FF2B5EF4-FFF2-40B4-BE49-F238E27FC236}">
                <ns2:creationId id="{0A8546FD-1CF8-4276-99BD-45ABA03810BA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6"/>
              </a:rPr>
              <a:t>Augmented possession and phases framework (2025)</a:t>
            </a:r>
          </a:p>
        </p:txBody>
      </p:sp>
      <p:sp>
        <p:nvSpPr>
          <p:cNvPr id="14" name="">
            <a:extLst>
              <a:ext uri="{FF2B5EF4-FFF2-40B4-BE49-F238E27FC236}">
                <ns2:creationId id="{3EBE25C2-F7DA-46A4-A4C5-54614CE538CB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19 / 64</a:t>
            </a:r>
          </a:p>
        </p:txBody>
      </p:sp>
    </p:spTree>
    <p:extLst>
      <p:ext uri="{BB962C8B-B14F-4D97-AF65-F5344CB8AC3E}">
        <p14:creationId val="155261779"/>
      </p:ext>
    </p:extLst>
  </p:cSld>
</p:sld>
</file>

<file path=ppt/slides/slide20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4" name="">
            <a:extLst>
              <a:ext uri="{FF2B5EF4-FFF2-40B4-BE49-F238E27FC236}">
                <ns2:creationId id="{44AE9FD3-461B-4C1C-997C-6A1FB4A0CA6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D1A66A41-6122-4054-887B-A0ED1C748F31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Estimating player speed</a:t>
            </a:r>
          </a:p>
        </p:txBody>
      </p:sp>
      <p:sp>
        <p:nvSpPr>
          <p:cNvPr id="3" name="">
            <a:extLst>
              <a:ext uri="{FF2B5EF4-FFF2-40B4-BE49-F238E27FC236}">
                <ns2:creationId id="{8A3CC7C9-6620-4E49-A92B-A633CEFEBCF8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D1581294-C797-4890-9B08-1A2AFC447DF0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Smooth positions within valid continuous segments</a:t>
            </a:r>
          </a:p>
        </p:txBody>
      </p:sp>
      <p:sp>
        <p:nvSpPr>
          <p:cNvPr id="5" name="">
            <a:extLst>
              <a:ext uri="{FF2B5EF4-FFF2-40B4-BE49-F238E27FC236}">
                <ns2:creationId id="{44D0FEE9-B0FC-4D25-A8D4-4245649A62CB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4537561D-A55B-42EC-9232-AEBB0927F774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Differentiate coordinates using elapsed time</a:t>
            </a:r>
          </a:p>
        </p:txBody>
      </p:sp>
      <p:sp>
        <p:nvSpPr>
          <p:cNvPr id="7" name="">
            <a:extLst>
              <a:ext uri="{FF2B5EF4-FFF2-40B4-BE49-F238E27FC236}">
                <ns2:creationId id="{992094DE-A703-4CCC-80DD-4213DAB95A78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C1851C59-DC7C-4AA5-97DF-5358E0312801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Convert m/s to km/h for running bands</a:t>
            </a:r>
          </a:p>
        </p:txBody>
      </p:sp>
      <p:pic>
        <p:nvPicPr>
          <p:cNvPr id="9" name="">
            <a:extLst>
              <a:ext uri="{FF2B5EF4-FFF2-40B4-BE49-F238E27FC236}">
                <ns2:creationId id="{FB65DAD1-3612-44AD-8BE1-E8875A08EFFB}"/>
              </a:ext>
            </a:extLst>
          </p:cNvPr>
          <p:cNvPicPr>
            <a:picLocks noChangeAspect="1"/>
          </p:cNvPicPr>
          <p:nvPr/>
        </p:nvPicPr>
        <p:blipFill>
          <a:blip r:embed="Re998eac03cb74b1c"/>
          <a:stretch/>
        </p:blipFill>
        <p:spPr>
          <a:xfrm>
            <a:off x="4248576" y="1333500"/>
            <a:ext cx="7314347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2E594955-ACF8-4721-97BC-16B3A04D85F6}"/>
              </a:ext>
            </a:extLst>
          </p:cNvPr>
          <p:cNvSpPr>
            <a:spLocks noGrp="1"/>
          </p:cNvSpPr>
          <p:nvPr/>
        </p:nvSpPr>
        <p:spPr>
          <a:xfrm>
            <a:off x="571500" y="5715000"/>
            <a:ext cx="11049000" cy="409575"/>
          </a:xfrm>
          <a:prstGeom prst="rect">
            <a:avLst/>
          </a:prstGeom>
          <a:solidFill>
            <a:srgbClr val="E0EEE8"/>
          </a:solidFill>
          <a:ln w="0">
            <a:noFill/>
          </a:ln>
        </p:spPr>
      </p:sp>
      <p:sp>
        <p:nvSpPr>
          <p:cNvPr id="11" name="">
            <a:extLst>
              <a:ext uri="{FF2B5EF4-FFF2-40B4-BE49-F238E27FC236}">
                <ns2:creationId id="{A8F03689-D8F8-4036-A572-17F51C8571E9}"/>
              </a:ext>
            </a:extLst>
          </p:cNvPr>
          <p:cNvSpPr>
            <a:spLocks noGrp="1"/>
          </p:cNvSpPr>
          <p:nvPr/>
        </p:nvSpPr>
        <p:spPr>
          <a:xfrm>
            <a:off x="742950" y="579120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7D68"/>
                </a:solidFill>
                <a:latin typeface="Arial"/>
                <a:ea typeface="Arial"/>
                <a:cs typeface="Arial"/>
                <a:hlinkClick r:id="rIdWorkshop4"/>
              </a:rPr>
              <a:t>NOTEBOOK · 06_physical_metrics.ipynb</a:t>
            </a:r>
          </a:p>
        </p:txBody>
      </p:sp>
      <p:sp>
        <p:nvSpPr>
          <p:cNvPr id="12" name="">
            <a:extLst>
              <a:ext uri="{FF2B5EF4-FFF2-40B4-BE49-F238E27FC236}">
                <ns2:creationId id="{9EAB8365-8512-4EB3-AB85-D855920EFC18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10096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DataBallPy preprocessing</a:t>
            </a:r>
          </a:p>
        </p:txBody>
      </p:sp>
      <p:sp>
        <p:nvSpPr>
          <p:cNvPr id="13" name="">
            <a:extLst>
              <a:ext uri="{FF2B5EF4-FFF2-40B4-BE49-F238E27FC236}">
                <ns2:creationId id="{CE82D1BB-FA58-4B71-A337-B9ACC8DED5AD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20 / 64</a:t>
            </a:r>
          </a:p>
        </p:txBody>
      </p:sp>
    </p:spTree>
    <p:extLst>
      <p:ext uri="{BB962C8B-B14F-4D97-AF65-F5344CB8AC3E}">
        <p14:creationId val="1463778888"/>
      </p:ext>
    </p:extLst>
  </p:cSld>
</p:sld>
</file>

<file path=ppt/slides/slide21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5" name="">
            <a:extLst>
              <a:ext uri="{FF2B5EF4-FFF2-40B4-BE49-F238E27FC236}">
                <ns2:creationId id="{F1BA39F2-C688-4CBA-8E56-88A48983C16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AA57DF6E-C020-49E9-B118-C1AA2A4B0388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Distance covered</a:t>
            </a:r>
          </a:p>
        </p:txBody>
      </p:sp>
      <p:sp>
        <p:nvSpPr>
          <p:cNvPr id="3" name="">
            <a:extLst>
              <a:ext uri="{FF2B5EF4-FFF2-40B4-BE49-F238E27FC236}">
                <ns2:creationId id="{C60E4FE9-3B35-40C4-9356-BA5FC458238C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030F3416-2728-4A6E-97A5-2713666D6C21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Integrate speed across valid intervals</a:t>
            </a:r>
          </a:p>
        </p:txBody>
      </p:sp>
      <p:sp>
        <p:nvSpPr>
          <p:cNvPr id="5" name="">
            <a:extLst>
              <a:ext uri="{FF2B5EF4-FFF2-40B4-BE49-F238E27FC236}">
                <ns2:creationId id="{0CC42A19-A3E1-46B6-99C6-7B71D143F511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00FED976-BADB-4295-808F-AAA06DE83F23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Distance ≈ Σ speed × Δt</a:t>
            </a:r>
          </a:p>
        </p:txBody>
      </p:sp>
      <p:sp>
        <p:nvSpPr>
          <p:cNvPr id="7" name="">
            <a:extLst>
              <a:ext uri="{FF2B5EF4-FFF2-40B4-BE49-F238E27FC236}">
                <ns2:creationId id="{BC69347B-02B0-453E-9818-F2030F4512C0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A9886F81-EBA9-4E91-A770-CC8B8C8502A1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Report coverage alongside the total</a:t>
            </a:r>
          </a:p>
        </p:txBody>
      </p:sp>
      <p:pic>
        <p:nvPicPr>
          <p:cNvPr id="9" name="">
            <a:extLst>
              <a:ext uri="{FF2B5EF4-FFF2-40B4-BE49-F238E27FC236}">
                <ns2:creationId id="{10F696C7-29A1-4935-98FF-36C4FAAB8837}"/>
              </a:ext>
            </a:extLst>
          </p:cNvPr>
          <p:cNvPicPr>
            <a:picLocks noChangeAspect="1"/>
          </p:cNvPicPr>
          <p:nvPr/>
        </p:nvPicPr>
        <p:blipFill>
          <a:blip r:embed="Ra573a90922af454d"/>
          <a:stretch/>
        </p:blipFill>
        <p:spPr>
          <a:xfrm>
            <a:off x="4261130" y="1333500"/>
            <a:ext cx="7289241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69EEC709-0D49-4704-8EBF-73FC5AEBAC4D}"/>
              </a:ext>
            </a:extLst>
          </p:cNvPr>
          <p:cNvSpPr>
            <a:spLocks noGrp="1"/>
          </p:cNvSpPr>
          <p:nvPr/>
        </p:nvSpPr>
        <p:spPr>
          <a:xfrm>
            <a:off x="571500" y="5715000"/>
            <a:ext cx="11049000" cy="409575"/>
          </a:xfrm>
          <a:prstGeom prst="rect">
            <a:avLst/>
          </a:prstGeom>
          <a:solidFill>
            <a:srgbClr val="E0EEE8"/>
          </a:solidFill>
          <a:ln w="0">
            <a:noFill/>
          </a:ln>
        </p:spPr>
      </p:sp>
      <p:sp>
        <p:nvSpPr>
          <p:cNvPr id="11" name="">
            <a:extLst>
              <a:ext uri="{FF2B5EF4-FFF2-40B4-BE49-F238E27FC236}">
                <ns2:creationId id="{04DBFD94-717F-4A12-9E47-26B19487A075}"/>
              </a:ext>
            </a:extLst>
          </p:cNvPr>
          <p:cNvSpPr>
            <a:spLocks noGrp="1"/>
          </p:cNvSpPr>
          <p:nvPr/>
        </p:nvSpPr>
        <p:spPr>
          <a:xfrm>
            <a:off x="742950" y="579120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7D68"/>
                </a:solidFill>
                <a:latin typeface="Arial"/>
                <a:ea typeface="Arial"/>
                <a:cs typeface="Arial"/>
                <a:hlinkClick r:id="rIdWorkshop4"/>
              </a:rPr>
              <a:t>NOTEBOOK · 06_physical_metrics.ipynb</a:t>
            </a:r>
          </a:p>
        </p:txBody>
      </p:sp>
      <p:sp>
        <p:nvSpPr>
          <p:cNvPr id="12" name="">
            <a:extLst>
              <a:ext uri="{FF2B5EF4-FFF2-40B4-BE49-F238E27FC236}">
                <ns2:creationId id="{0A26BF12-B65F-4353-9B40-FB5917D490D9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DataBallPy covered distance</a:t>
            </a:r>
          </a:p>
        </p:txBody>
      </p:sp>
      <p:sp>
        <p:nvSpPr>
          <p:cNvPr id="13" name="">
            <a:extLst>
              <a:ext uri="{FF2B5EF4-FFF2-40B4-BE49-F238E27FC236}">
                <ns2:creationId id="{EA3D87B2-EDA8-4D24-BD18-F03555F861BA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6"/>
              </a:rPr>
              <a:t>SkillCorner physical thresholds and time-to metrics</a:t>
            </a:r>
          </a:p>
        </p:txBody>
      </p:sp>
      <p:sp>
        <p:nvSpPr>
          <p:cNvPr id="14" name="">
            <a:extLst>
              <a:ext uri="{FF2B5EF4-FFF2-40B4-BE49-F238E27FC236}">
                <ns2:creationId id="{5D3E5958-94EE-4EE1-AB4E-06F458DA657A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21 / 64</a:t>
            </a:r>
          </a:p>
        </p:txBody>
      </p:sp>
    </p:spTree>
    <p:extLst>
      <p:ext uri="{BB962C8B-B14F-4D97-AF65-F5344CB8AC3E}">
        <p14:creationId val="1585238783"/>
      </p:ext>
    </p:extLst>
  </p:cSld>
</p:sld>
</file>

<file path=ppt/slides/slide22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5" name="">
            <a:extLst>
              <a:ext uri="{FF2B5EF4-FFF2-40B4-BE49-F238E27FC236}">
                <ns2:creationId id="{0096498D-1859-4E88-9D76-E4B0A5E83D4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B493085F-ACE1-4D12-841F-49C43E7AB87A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High-speed and sprint distance</a:t>
            </a:r>
          </a:p>
        </p:txBody>
      </p:sp>
      <p:sp>
        <p:nvSpPr>
          <p:cNvPr id="3" name="">
            <a:extLst>
              <a:ext uri="{FF2B5EF4-FFF2-40B4-BE49-F238E27FC236}">
                <ns2:creationId id="{84D28BDB-EC3B-4922-BAAB-2BF2737F64C4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B1544B33-785F-4A87-8C6B-E788FDE5C0DD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HSR: documented men’s band 20–25 km/h</a:t>
            </a:r>
          </a:p>
        </p:txBody>
      </p:sp>
      <p:sp>
        <p:nvSpPr>
          <p:cNvPr id="5" name="">
            <a:extLst>
              <a:ext uri="{FF2B5EF4-FFF2-40B4-BE49-F238E27FC236}">
                <ns2:creationId id="{1F89A02C-D5F9-45AD-A96A-6F4F120B79F0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791CBFA0-2CBC-4AFF-BD84-1DCCBDD3F4A9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Sprint: above 25 km/h</a:t>
            </a:r>
          </a:p>
        </p:txBody>
      </p:sp>
      <p:sp>
        <p:nvSpPr>
          <p:cNvPr id="7" name="">
            <a:extLst>
              <a:ext uri="{FF2B5EF4-FFF2-40B4-BE49-F238E27FC236}">
                <ns2:creationId id="{47D34EEA-77F7-46F4-B861-AA3E4D5D1A38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7ABDA4EA-76AE-4B7D-8739-C018F486D9E2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Accumulate distance separately in each band</a:t>
            </a:r>
          </a:p>
        </p:txBody>
      </p:sp>
      <p:pic>
        <p:nvPicPr>
          <p:cNvPr id="9" name="">
            <a:extLst>
              <a:ext uri="{FF2B5EF4-FFF2-40B4-BE49-F238E27FC236}">
                <ns2:creationId id="{CB5F1E97-672A-4001-8D44-01F76A4FE660}"/>
              </a:ext>
            </a:extLst>
          </p:cNvPr>
          <p:cNvPicPr>
            <a:picLocks noChangeAspect="1"/>
          </p:cNvPicPr>
          <p:nvPr/>
        </p:nvPicPr>
        <p:blipFill>
          <a:blip r:embed="R3d2791a095b8413c"/>
          <a:stretch/>
        </p:blipFill>
        <p:spPr>
          <a:xfrm>
            <a:off x="4243601" y="1333500"/>
            <a:ext cx="7324299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0FEF674B-CACC-421E-9DB7-AB3411521AA7}"/>
              </a:ext>
            </a:extLst>
          </p:cNvPr>
          <p:cNvSpPr>
            <a:spLocks noGrp="1"/>
          </p:cNvSpPr>
          <p:nvPr/>
        </p:nvSpPr>
        <p:spPr>
          <a:xfrm>
            <a:off x="571500" y="5715000"/>
            <a:ext cx="11049000" cy="409575"/>
          </a:xfrm>
          <a:prstGeom prst="rect">
            <a:avLst/>
          </a:prstGeom>
          <a:solidFill>
            <a:srgbClr val="E0EEE8"/>
          </a:solidFill>
          <a:ln w="0">
            <a:noFill/>
          </a:ln>
        </p:spPr>
      </p:sp>
      <p:sp>
        <p:nvSpPr>
          <p:cNvPr id="11" name="">
            <a:extLst>
              <a:ext uri="{FF2B5EF4-FFF2-40B4-BE49-F238E27FC236}">
                <ns2:creationId id="{5021EEAD-9CF7-49B1-BD74-6FAD7B6BA78D}"/>
              </a:ext>
            </a:extLst>
          </p:cNvPr>
          <p:cNvSpPr>
            <a:spLocks noGrp="1"/>
          </p:cNvSpPr>
          <p:nvPr/>
        </p:nvSpPr>
        <p:spPr>
          <a:xfrm>
            <a:off x="742950" y="579120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7D68"/>
                </a:solidFill>
                <a:latin typeface="Arial"/>
                <a:ea typeface="Arial"/>
                <a:cs typeface="Arial"/>
                <a:hlinkClick r:id="rIdWorkshop4"/>
              </a:rPr>
              <a:t>NOTEBOOK · 06_physical_metrics.ipynb</a:t>
            </a:r>
          </a:p>
        </p:txBody>
      </p:sp>
      <p:sp>
        <p:nvSpPr>
          <p:cNvPr id="12" name="">
            <a:extLst>
              <a:ext uri="{FF2B5EF4-FFF2-40B4-BE49-F238E27FC236}">
                <ns2:creationId id="{A0AC0790-0718-4D34-9A20-52C091A6FA7E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SkillCorner physical thresholds and time-to metrics</a:t>
            </a:r>
          </a:p>
        </p:txBody>
      </p:sp>
      <p:sp>
        <p:nvSpPr>
          <p:cNvPr id="13" name="">
            <a:extLst>
              <a:ext uri="{FF2B5EF4-FFF2-40B4-BE49-F238E27FC236}">
                <ns2:creationId id="{372B727B-AA8E-4061-8A1A-04858161DD42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6"/>
              </a:rPr>
              <a:t>DataBallPy covered distance</a:t>
            </a:r>
          </a:p>
        </p:txBody>
      </p:sp>
      <p:sp>
        <p:nvSpPr>
          <p:cNvPr id="14" name="">
            <a:extLst>
              <a:ext uri="{FF2B5EF4-FFF2-40B4-BE49-F238E27FC236}">
                <ns2:creationId id="{0245DF11-298E-4334-9C29-BABC46D3AAFB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22 / 64</a:t>
            </a:r>
          </a:p>
        </p:txBody>
      </p:sp>
    </p:spTree>
    <p:extLst>
      <p:ext uri="{BB962C8B-B14F-4D97-AF65-F5344CB8AC3E}">
        <p14:creationId val="561571152"/>
      </p:ext>
    </p:extLst>
  </p:cSld>
</p:sld>
</file>

<file path=ppt/slides/slide23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4" name="">
            <a:extLst>
              <a:ext uri="{FF2B5EF4-FFF2-40B4-BE49-F238E27FC236}">
                <ns2:creationId id="{868BB74B-07F9-4304-979C-93570C0D9ED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D44BF25B-2C0D-40C0-8589-BF17B57D9B44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Sprint-effort counts</a:t>
            </a:r>
          </a:p>
        </p:txBody>
      </p:sp>
      <p:sp>
        <p:nvSpPr>
          <p:cNvPr id="3" name="">
            <a:extLst>
              <a:ext uri="{FF2B5EF4-FFF2-40B4-BE49-F238E27FC236}">
                <ns2:creationId id="{11211AC4-8553-4789-8853-21F1E6236E4E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0AD933A0-1B6B-4C90-94EE-098B0A544637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Group consecutive threshold-exceeding frames</a:t>
            </a:r>
          </a:p>
        </p:txBody>
      </p:sp>
      <p:sp>
        <p:nvSpPr>
          <p:cNvPr id="5" name="">
            <a:extLst>
              <a:ext uri="{FF2B5EF4-FFF2-40B4-BE49-F238E27FC236}">
                <ns2:creationId id="{BF8D66FE-DF1F-4CC2-AD31-62C10D5BBB63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035FEEDA-2C5A-4EB1-BDC4-F2C9A32EAF17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Require a stated minimum duration</a:t>
            </a:r>
          </a:p>
        </p:txBody>
      </p:sp>
      <p:sp>
        <p:nvSpPr>
          <p:cNvPr id="7" name="">
            <a:extLst>
              <a:ext uri="{FF2B5EF4-FFF2-40B4-BE49-F238E27FC236}">
                <ns2:creationId id="{C9ECECE1-4340-41A7-936B-3E0867A4F3A9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0B7CA7FB-793F-46E8-869D-F20A26ACF681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Define whether brief gaps are merged</a:t>
            </a:r>
          </a:p>
        </p:txBody>
      </p:sp>
      <p:pic>
        <p:nvPicPr>
          <p:cNvPr id="9" name="">
            <a:extLst>
              <a:ext uri="{FF2B5EF4-FFF2-40B4-BE49-F238E27FC236}">
                <ns2:creationId id="{5601C74A-74B6-4004-80D9-0CCE49E3E667}"/>
              </a:ext>
            </a:extLst>
          </p:cNvPr>
          <p:cNvPicPr>
            <a:picLocks noChangeAspect="1"/>
          </p:cNvPicPr>
          <p:nvPr/>
        </p:nvPicPr>
        <p:blipFill>
          <a:blip r:embed="Rc2339e6c2d4c4ccd"/>
          <a:stretch/>
        </p:blipFill>
        <p:spPr>
          <a:xfrm>
            <a:off x="4261130" y="1333500"/>
            <a:ext cx="7289241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B9BE517F-DD60-440B-A7CD-6D9D01E3E04F}"/>
              </a:ext>
            </a:extLst>
          </p:cNvPr>
          <p:cNvSpPr>
            <a:spLocks noGrp="1"/>
          </p:cNvSpPr>
          <p:nvPr/>
        </p:nvSpPr>
        <p:spPr>
          <a:xfrm>
            <a:off x="571500" y="5715000"/>
            <a:ext cx="11049000" cy="409575"/>
          </a:xfrm>
          <a:prstGeom prst="rect">
            <a:avLst/>
          </a:prstGeom>
          <a:solidFill>
            <a:srgbClr val="E0EEE8"/>
          </a:solidFill>
          <a:ln w="0">
            <a:noFill/>
          </a:ln>
        </p:spPr>
      </p:sp>
      <p:sp>
        <p:nvSpPr>
          <p:cNvPr id="11" name="">
            <a:extLst>
              <a:ext uri="{FF2B5EF4-FFF2-40B4-BE49-F238E27FC236}">
                <ns2:creationId id="{E9AFF674-0346-43CF-9EA1-FA34610A65B3}"/>
              </a:ext>
            </a:extLst>
          </p:cNvPr>
          <p:cNvSpPr>
            <a:spLocks noGrp="1"/>
          </p:cNvSpPr>
          <p:nvPr/>
        </p:nvSpPr>
        <p:spPr>
          <a:xfrm>
            <a:off x="742950" y="579120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7D68"/>
                </a:solidFill>
                <a:latin typeface="Arial"/>
                <a:ea typeface="Arial"/>
                <a:cs typeface="Arial"/>
                <a:hlinkClick r:id="rIdWorkshop4"/>
              </a:rPr>
              <a:t>NOTEBOOK · 06_physical_metrics.ipynb</a:t>
            </a:r>
          </a:p>
        </p:txBody>
      </p:sp>
      <p:sp>
        <p:nvSpPr>
          <p:cNvPr id="12" name="">
            <a:extLst>
              <a:ext uri="{FF2B5EF4-FFF2-40B4-BE49-F238E27FC236}">
                <ns2:creationId id="{E7CCEDDB-FBCD-4400-B834-9205213F5802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10096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SkillCorner physical thresholds and time-to metrics</a:t>
            </a:r>
          </a:p>
        </p:txBody>
      </p:sp>
      <p:sp>
        <p:nvSpPr>
          <p:cNvPr id="13" name="">
            <a:extLst>
              <a:ext uri="{FF2B5EF4-FFF2-40B4-BE49-F238E27FC236}">
                <ns2:creationId id="{D017E951-89E5-4DCB-8553-5F16FF49C10E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23 / 64</a:t>
            </a:r>
          </a:p>
        </p:txBody>
      </p:sp>
    </p:spTree>
    <p:extLst>
      <p:ext uri="{BB962C8B-B14F-4D97-AF65-F5344CB8AC3E}">
        <p14:creationId val="1314092642"/>
      </p:ext>
    </p:extLst>
  </p:cSld>
</p:sld>
</file>

<file path=ppt/slides/slide24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5" name="">
            <a:extLst>
              <a:ext uri="{FF2B5EF4-FFF2-40B4-BE49-F238E27FC236}">
                <ns2:creationId id="{6A2E4BD3-A506-4EF4-954D-0E5E6BCD4D0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3EEA255B-5779-4EC3-8BC8-0D183588E604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Acceleration and deceleration</a:t>
            </a:r>
          </a:p>
        </p:txBody>
      </p:sp>
      <p:sp>
        <p:nvSpPr>
          <p:cNvPr id="3" name="">
            <a:extLst>
              <a:ext uri="{FF2B5EF4-FFF2-40B4-BE49-F238E27FC236}">
                <ns2:creationId id="{DC916693-A399-4876-944C-449FB035ED74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F15C03B7-3B36-4805-92C2-B27056B2A1DF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Differentiate scalar speed for speeding up or slowing down</a:t>
            </a:r>
          </a:p>
        </p:txBody>
      </p:sp>
      <p:sp>
        <p:nvSpPr>
          <p:cNvPr id="5" name="">
            <a:extLst>
              <a:ext uri="{FF2B5EF4-FFF2-40B4-BE49-F238E27FC236}">
                <ns2:creationId id="{35479C18-2B99-4267-9A27-84E011D8A2EF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055894D2-F36D-4470-907F-619CCEE1CED9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Keep signed acceleration distinct from vector magnitude</a:t>
            </a:r>
          </a:p>
        </p:txBody>
      </p:sp>
      <p:sp>
        <p:nvSpPr>
          <p:cNvPr id="7" name="">
            <a:extLst>
              <a:ext uri="{FF2B5EF4-FFF2-40B4-BE49-F238E27FC236}">
                <ns2:creationId id="{CC34CB9F-8281-44B9-B935-E728A9F77025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CAF2A3CB-6706-44E9-8EC8-72500B9BAC6D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Check duration as well as peak acceleration</a:t>
            </a:r>
          </a:p>
        </p:txBody>
      </p:sp>
      <p:pic>
        <p:nvPicPr>
          <p:cNvPr id="9" name="">
            <a:extLst>
              <a:ext uri="{FF2B5EF4-FFF2-40B4-BE49-F238E27FC236}">
                <ns2:creationId id="{7C790896-C2BD-4289-80F8-27E227FF61F0}"/>
              </a:ext>
            </a:extLst>
          </p:cNvPr>
          <p:cNvPicPr>
            <a:picLocks noChangeAspect="1"/>
          </p:cNvPicPr>
          <p:nvPr/>
        </p:nvPicPr>
        <p:blipFill>
          <a:blip r:embed="R0b4f598ca52a45a3"/>
          <a:stretch/>
        </p:blipFill>
        <p:spPr>
          <a:xfrm>
            <a:off x="4248576" y="1333500"/>
            <a:ext cx="7314347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5A305FBF-06CB-43E0-969A-8101C771B09F}"/>
              </a:ext>
            </a:extLst>
          </p:cNvPr>
          <p:cNvSpPr>
            <a:spLocks noGrp="1"/>
          </p:cNvSpPr>
          <p:nvPr/>
        </p:nvSpPr>
        <p:spPr>
          <a:xfrm>
            <a:off x="571500" y="5715000"/>
            <a:ext cx="11049000" cy="409575"/>
          </a:xfrm>
          <a:prstGeom prst="rect">
            <a:avLst/>
          </a:prstGeom>
          <a:solidFill>
            <a:srgbClr val="E0EEE8"/>
          </a:solidFill>
          <a:ln w="0">
            <a:noFill/>
          </a:ln>
        </p:spPr>
      </p:sp>
      <p:sp>
        <p:nvSpPr>
          <p:cNvPr id="11" name="">
            <a:extLst>
              <a:ext uri="{FF2B5EF4-FFF2-40B4-BE49-F238E27FC236}">
                <ns2:creationId id="{89FCF005-9E6A-4BFA-8B09-D59604C2987A}"/>
              </a:ext>
            </a:extLst>
          </p:cNvPr>
          <p:cNvSpPr>
            <a:spLocks noGrp="1"/>
          </p:cNvSpPr>
          <p:nvPr/>
        </p:nvSpPr>
        <p:spPr>
          <a:xfrm>
            <a:off x="742950" y="579120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7D68"/>
                </a:solidFill>
                <a:latin typeface="Arial"/>
                <a:ea typeface="Arial"/>
                <a:cs typeface="Arial"/>
                <a:hlinkClick r:id="rIdWorkshop4"/>
              </a:rPr>
              <a:t>NOTEBOOK · 06_physical_metrics.ipynb</a:t>
            </a:r>
          </a:p>
        </p:txBody>
      </p:sp>
      <p:sp>
        <p:nvSpPr>
          <p:cNvPr id="12" name="">
            <a:extLst>
              <a:ext uri="{FF2B5EF4-FFF2-40B4-BE49-F238E27FC236}">
                <ns2:creationId id="{50760FAA-C3DD-4EF3-9113-95809FE798BE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DataBallPy preprocessing</a:t>
            </a:r>
          </a:p>
        </p:txBody>
      </p:sp>
      <p:sp>
        <p:nvSpPr>
          <p:cNvPr id="13" name="">
            <a:extLst>
              <a:ext uri="{FF2B5EF4-FFF2-40B4-BE49-F238E27FC236}">
                <ns2:creationId id="{D346CD05-8B3B-4586-96EF-53C7258F8897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6"/>
              </a:rPr>
              <a:t>SkillCorner explosive accelerations</a:t>
            </a:r>
          </a:p>
        </p:txBody>
      </p:sp>
      <p:sp>
        <p:nvSpPr>
          <p:cNvPr id="14" name="">
            <a:extLst>
              <a:ext uri="{FF2B5EF4-FFF2-40B4-BE49-F238E27FC236}">
                <ns2:creationId id="{749DAFA4-EC16-4894-B308-97E8A80E2CFC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24 / 64</a:t>
            </a:r>
          </a:p>
        </p:txBody>
      </p:sp>
    </p:spTree>
    <p:extLst>
      <p:ext uri="{BB962C8B-B14F-4D97-AF65-F5344CB8AC3E}">
        <p14:creationId val="1269503048"/>
      </p:ext>
    </p:extLst>
  </p:cSld>
</p:sld>
</file>

<file path=ppt/slides/slide25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4" name="">
            <a:extLst>
              <a:ext uri="{FF2B5EF4-FFF2-40B4-BE49-F238E27FC236}">
                <ns2:creationId id="{65528ACA-1362-4F5A-A4F9-C3607CDA4B7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668CDC85-9B0D-4A82-8B22-22F451B6E2D6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Time to high-speed running</a:t>
            </a:r>
          </a:p>
        </p:txBody>
      </p:sp>
      <p:sp>
        <p:nvSpPr>
          <p:cNvPr id="3" name="">
            <a:extLst>
              <a:ext uri="{FF2B5EF4-FFF2-40B4-BE49-F238E27FC236}">
                <ns2:creationId id="{4C9698C0-E86E-479B-9DBA-9AF5A8ED4978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77B6D58C-8A88-45DF-ACAC-08924F2E537E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SkillCorner measures the 9 → 20 km/h interval</a:t>
            </a:r>
          </a:p>
        </p:txBody>
      </p:sp>
      <p:sp>
        <p:nvSpPr>
          <p:cNvPr id="5" name="">
            <a:extLst>
              <a:ext uri="{FF2B5EF4-FFF2-40B4-BE49-F238E27FC236}">
                <ns2:creationId id="{DE03E609-3A63-417B-AA69-858DAF909781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4FD5EEDA-5153-4DF4-826C-9959342521AC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Use a qualifying explosive acceleration</a:t>
            </a:r>
          </a:p>
        </p:txBody>
      </p:sp>
      <p:sp>
        <p:nvSpPr>
          <p:cNvPr id="7" name="">
            <a:extLst>
              <a:ext uri="{FF2B5EF4-FFF2-40B4-BE49-F238E27FC236}">
                <ns2:creationId id="{6E402885-0C28-4B1B-A97F-C460FCCF4BC9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5125AACD-8CF1-4FAB-A7FB-4553BCBD666A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Compare the speed trajectory, not just peak speed</a:t>
            </a:r>
          </a:p>
        </p:txBody>
      </p:sp>
      <p:pic>
        <p:nvPicPr>
          <p:cNvPr id="9" name="">
            <a:extLst>
              <a:ext uri="{FF2B5EF4-FFF2-40B4-BE49-F238E27FC236}">
                <ns2:creationId id="{E2CB4D36-3DFA-4530-9572-FAB565B948F7}"/>
              </a:ext>
            </a:extLst>
          </p:cNvPr>
          <p:cNvPicPr>
            <a:picLocks noChangeAspect="1"/>
          </p:cNvPicPr>
          <p:nvPr/>
        </p:nvPicPr>
        <p:blipFill>
          <a:blip r:embed="Rab21dfda0f6c4dda"/>
          <a:stretch/>
        </p:blipFill>
        <p:spPr>
          <a:xfrm>
            <a:off x="4261130" y="1333500"/>
            <a:ext cx="7289241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46D6D2BC-2BC3-410F-96C7-BA2F7F4D5274}"/>
              </a:ext>
            </a:extLst>
          </p:cNvPr>
          <p:cNvSpPr>
            <a:spLocks noGrp="1"/>
          </p:cNvSpPr>
          <p:nvPr/>
        </p:nvSpPr>
        <p:spPr>
          <a:xfrm>
            <a:off x="571500" y="5715000"/>
            <a:ext cx="11049000" cy="409575"/>
          </a:xfrm>
          <a:prstGeom prst="rect">
            <a:avLst/>
          </a:prstGeom>
          <a:solidFill>
            <a:srgbClr val="E0EEE8"/>
          </a:solidFill>
          <a:ln w="0">
            <a:noFill/>
          </a:ln>
        </p:spPr>
      </p:sp>
      <p:sp>
        <p:nvSpPr>
          <p:cNvPr id="11" name="">
            <a:extLst>
              <a:ext uri="{FF2B5EF4-FFF2-40B4-BE49-F238E27FC236}">
                <ns2:creationId id="{063DEE5C-0EB3-401B-80AA-E8C003EFDAAE}"/>
              </a:ext>
            </a:extLst>
          </p:cNvPr>
          <p:cNvSpPr>
            <a:spLocks noGrp="1"/>
          </p:cNvSpPr>
          <p:nvPr/>
        </p:nvSpPr>
        <p:spPr>
          <a:xfrm>
            <a:off x="742950" y="579120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7D68"/>
                </a:solidFill>
                <a:latin typeface="Arial"/>
                <a:ea typeface="Arial"/>
                <a:cs typeface="Arial"/>
                <a:hlinkClick r:id="rIdWorkshop4"/>
              </a:rPr>
              <a:t>NOTEBOOK · 06_physical_metrics.ipynb</a:t>
            </a:r>
          </a:p>
        </p:txBody>
      </p:sp>
      <p:sp>
        <p:nvSpPr>
          <p:cNvPr id="12" name="">
            <a:extLst>
              <a:ext uri="{FF2B5EF4-FFF2-40B4-BE49-F238E27FC236}">
                <ns2:creationId id="{335CA4FF-E20E-41E9-8A13-2382F4D2D9CB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10096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SkillCorner explosive accelerations</a:t>
            </a:r>
          </a:p>
        </p:txBody>
      </p:sp>
      <p:sp>
        <p:nvSpPr>
          <p:cNvPr id="13" name="">
            <a:extLst>
              <a:ext uri="{FF2B5EF4-FFF2-40B4-BE49-F238E27FC236}">
                <ns2:creationId id="{6A32DEEA-6370-4B4A-BCBE-18FF1A8B1E2E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25 / 64</a:t>
            </a:r>
          </a:p>
        </p:txBody>
      </p:sp>
    </p:spTree>
    <p:extLst>
      <p:ext uri="{BB962C8B-B14F-4D97-AF65-F5344CB8AC3E}">
        <p14:creationId val="804904019"/>
      </p:ext>
    </p:extLst>
  </p:cSld>
</p:sld>
</file>

<file path=ppt/slides/slide26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4" name="">
            <a:extLst>
              <a:ext uri="{FF2B5EF4-FFF2-40B4-BE49-F238E27FC236}">
                <ns2:creationId id="{141C6CA7-1B27-49C9-A9AC-A25C201F546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32628C75-19E4-479C-BBB6-E3CA594AC777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Time to sprint</a:t>
            </a:r>
          </a:p>
        </p:txBody>
      </p:sp>
      <p:sp>
        <p:nvSpPr>
          <p:cNvPr id="3" name="">
            <a:extLst>
              <a:ext uri="{FF2B5EF4-FFF2-40B4-BE49-F238E27FC236}">
                <ns2:creationId id="{EE75B3BD-CE0F-4DC9-8FED-A30DCDA245E4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8D28B782-8AB9-4237-BDA2-5177068C26BA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SkillCorner measures the 9 → 25 km/h interval</a:t>
            </a:r>
          </a:p>
        </p:txBody>
      </p:sp>
      <p:sp>
        <p:nvSpPr>
          <p:cNvPr id="5" name="">
            <a:extLst>
              <a:ext uri="{FF2B5EF4-FFF2-40B4-BE49-F238E27FC236}">
                <ns2:creationId id="{C039B61C-9465-4A8F-AF17-5B0A71F1BD96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68A386A3-4F4A-4088-BCA3-33801906E278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A quick top speed does not imply a quick acceleration</a:t>
            </a:r>
          </a:p>
        </p:txBody>
      </p:sp>
      <p:sp>
        <p:nvSpPr>
          <p:cNvPr id="7" name="">
            <a:extLst>
              <a:ext uri="{FF2B5EF4-FFF2-40B4-BE49-F238E27FC236}">
                <ns2:creationId id="{E56A3151-C1EE-48E2-B64C-D181D3ECCCBC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3D8628CF-C143-4440-9C91-5AC99A211D11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Check the qualifying effort before reporting the metric</a:t>
            </a:r>
          </a:p>
        </p:txBody>
      </p:sp>
      <p:pic>
        <p:nvPicPr>
          <p:cNvPr id="9" name="">
            <a:extLst>
              <a:ext uri="{FF2B5EF4-FFF2-40B4-BE49-F238E27FC236}">
                <ns2:creationId id="{68E0F39A-7C57-4D13-98CB-49F26708CE37}"/>
              </a:ext>
            </a:extLst>
          </p:cNvPr>
          <p:cNvPicPr>
            <a:picLocks noChangeAspect="1"/>
          </p:cNvPicPr>
          <p:nvPr/>
        </p:nvPicPr>
        <p:blipFill>
          <a:blip r:embed="R681876f005d74dcd"/>
          <a:stretch/>
        </p:blipFill>
        <p:spPr>
          <a:xfrm>
            <a:off x="4261130" y="1333500"/>
            <a:ext cx="7289241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A9582856-C277-42F4-8896-F5CD9298B42E}"/>
              </a:ext>
            </a:extLst>
          </p:cNvPr>
          <p:cNvSpPr>
            <a:spLocks noGrp="1"/>
          </p:cNvSpPr>
          <p:nvPr/>
        </p:nvSpPr>
        <p:spPr>
          <a:xfrm>
            <a:off x="571500" y="5715000"/>
            <a:ext cx="11049000" cy="409575"/>
          </a:xfrm>
          <a:prstGeom prst="rect">
            <a:avLst/>
          </a:prstGeom>
          <a:solidFill>
            <a:srgbClr val="E0EEE8"/>
          </a:solidFill>
          <a:ln w="0">
            <a:noFill/>
          </a:ln>
        </p:spPr>
      </p:sp>
      <p:sp>
        <p:nvSpPr>
          <p:cNvPr id="11" name="">
            <a:extLst>
              <a:ext uri="{FF2B5EF4-FFF2-40B4-BE49-F238E27FC236}">
                <ns2:creationId id="{5A268ECD-FF27-4DAC-9CE0-0C2281ABD836}"/>
              </a:ext>
            </a:extLst>
          </p:cNvPr>
          <p:cNvSpPr>
            <a:spLocks noGrp="1"/>
          </p:cNvSpPr>
          <p:nvPr/>
        </p:nvSpPr>
        <p:spPr>
          <a:xfrm>
            <a:off x="742950" y="579120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7D68"/>
                </a:solidFill>
                <a:latin typeface="Arial"/>
                <a:ea typeface="Arial"/>
                <a:cs typeface="Arial"/>
                <a:hlinkClick r:id="rIdWorkshop4"/>
              </a:rPr>
              <a:t>NOTEBOOK · 06_physical_metrics.ipynb</a:t>
            </a:r>
          </a:p>
        </p:txBody>
      </p:sp>
      <p:sp>
        <p:nvSpPr>
          <p:cNvPr id="12" name="">
            <a:extLst>
              <a:ext uri="{FF2B5EF4-FFF2-40B4-BE49-F238E27FC236}">
                <ns2:creationId id="{58ED32CA-2193-47DC-BE13-E0517835799D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10096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SkillCorner explosive accelerations</a:t>
            </a:r>
          </a:p>
        </p:txBody>
      </p:sp>
      <p:sp>
        <p:nvSpPr>
          <p:cNvPr id="13" name="">
            <a:extLst>
              <a:ext uri="{FF2B5EF4-FFF2-40B4-BE49-F238E27FC236}">
                <ns2:creationId id="{CCD7B278-9C7D-4C6C-90E9-7A5DCD3698B7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26 / 64</a:t>
            </a:r>
          </a:p>
        </p:txBody>
      </p:sp>
    </p:spTree>
    <p:extLst>
      <p:ext uri="{BB962C8B-B14F-4D97-AF65-F5344CB8AC3E}">
        <p14:creationId val="2022212152"/>
      </p:ext>
    </p:extLst>
  </p:cSld>
</p:sld>
</file>

<file path=ppt/slides/slide27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4" name="">
            <a:extLst>
              <a:ext uri="{FF2B5EF4-FFF2-40B4-BE49-F238E27FC236}">
                <ns2:creationId id="{C2EFB317-8FD5-4B00-B1DA-D3AA6B326B3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25770098-F157-487B-8359-A20CAF68F2BE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PSV-99: activity-based speed capacity</a:t>
            </a:r>
          </a:p>
        </p:txBody>
      </p:sp>
      <p:sp>
        <p:nvSpPr>
          <p:cNvPr id="3" name="">
            <a:extLst>
              <a:ext uri="{FF2B5EF4-FFF2-40B4-BE49-F238E27FC236}">
                <ns2:creationId id="{7A376A74-1AAD-4E81-AE05-BC20F380AEDF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22B5C1C4-449E-41AD-B0B5-8C5F814E5DDE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Use SkillCorner’s defined activity population</a:t>
            </a:r>
          </a:p>
        </p:txBody>
      </p:sp>
      <p:sp>
        <p:nvSpPr>
          <p:cNvPr id="5" name="">
            <a:extLst>
              <a:ext uri="{FF2B5EF4-FFF2-40B4-BE49-F238E27FC236}">
                <ns2:creationId id="{24716F82-95CB-43D3-AFDD-0144F38D940D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BE6BCE77-BD16-4BC2-8D5A-4567D2A15DBC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Summarize high-speed activity rather than all frames</a:t>
            </a:r>
          </a:p>
        </p:txBody>
      </p:sp>
      <p:sp>
        <p:nvSpPr>
          <p:cNvPr id="7" name="">
            <a:extLst>
              <a:ext uri="{FF2B5EF4-FFF2-40B4-BE49-F238E27FC236}">
                <ns2:creationId id="{E7908008-1EDD-4EF9-8A92-03A317D9B027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BFCD8F22-D124-48CF-B226-7BB0D1E67BED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Do not substitute an all-frame percentile</a:t>
            </a:r>
          </a:p>
        </p:txBody>
      </p:sp>
      <p:pic>
        <p:nvPicPr>
          <p:cNvPr id="9" name="">
            <a:extLst>
              <a:ext uri="{FF2B5EF4-FFF2-40B4-BE49-F238E27FC236}">
                <ns2:creationId id="{781E01A2-539A-4CDB-8694-F2C365480850}"/>
              </a:ext>
            </a:extLst>
          </p:cNvPr>
          <p:cNvPicPr>
            <a:picLocks noChangeAspect="1"/>
          </p:cNvPicPr>
          <p:nvPr/>
        </p:nvPicPr>
        <p:blipFill>
          <a:blip r:embed="Rcbd15b4219164734"/>
          <a:stretch/>
        </p:blipFill>
        <p:spPr>
          <a:xfrm>
            <a:off x="4246089" y="1333500"/>
            <a:ext cx="7319323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D3374F57-407A-4D69-83E2-C09402EB9AEA}"/>
              </a:ext>
            </a:extLst>
          </p:cNvPr>
          <p:cNvSpPr>
            <a:spLocks noGrp="1"/>
          </p:cNvSpPr>
          <p:nvPr/>
        </p:nvSpPr>
        <p:spPr>
          <a:xfrm>
            <a:off x="571500" y="5715000"/>
            <a:ext cx="11049000" cy="409575"/>
          </a:xfrm>
          <a:prstGeom prst="rect">
            <a:avLst/>
          </a:prstGeom>
          <a:solidFill>
            <a:srgbClr val="E0EEE8"/>
          </a:solidFill>
          <a:ln w="0">
            <a:noFill/>
          </a:ln>
        </p:spPr>
      </p:sp>
      <p:sp>
        <p:nvSpPr>
          <p:cNvPr id="11" name="">
            <a:extLst>
              <a:ext uri="{FF2B5EF4-FFF2-40B4-BE49-F238E27FC236}">
                <ns2:creationId id="{EEE1EF04-DD5C-4A8C-A890-63A94C97CC62}"/>
              </a:ext>
            </a:extLst>
          </p:cNvPr>
          <p:cNvSpPr>
            <a:spLocks noGrp="1"/>
          </p:cNvSpPr>
          <p:nvPr/>
        </p:nvSpPr>
        <p:spPr>
          <a:xfrm>
            <a:off x="742950" y="579120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7D68"/>
                </a:solidFill>
                <a:latin typeface="Arial"/>
                <a:ea typeface="Arial"/>
                <a:cs typeface="Arial"/>
                <a:hlinkClick r:id="rIdWorkshop4"/>
              </a:rPr>
              <a:t>NOTEBOOK · 06_physical_metrics.ipynb</a:t>
            </a:r>
          </a:p>
        </p:txBody>
      </p:sp>
      <p:sp>
        <p:nvSpPr>
          <p:cNvPr id="12" name="">
            <a:extLst>
              <a:ext uri="{FF2B5EF4-FFF2-40B4-BE49-F238E27FC236}">
                <ns2:creationId id="{8F587E5F-27B0-4228-9441-D8BE042052C1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10096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SkillCorner PSV-99 and Peak Velocity</a:t>
            </a:r>
          </a:p>
        </p:txBody>
      </p:sp>
      <p:sp>
        <p:nvSpPr>
          <p:cNvPr id="13" name="">
            <a:extLst>
              <a:ext uri="{FF2B5EF4-FFF2-40B4-BE49-F238E27FC236}">
                <ns2:creationId id="{898217A1-A171-4764-BF7A-75185995E0D9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27 / 64</a:t>
            </a:r>
          </a:p>
        </p:txBody>
      </p:sp>
    </p:spTree>
    <p:extLst>
      <p:ext uri="{BB962C8B-B14F-4D97-AF65-F5344CB8AC3E}">
        <p14:creationId val="1060500432"/>
      </p:ext>
    </p:extLst>
  </p:cSld>
</p:sld>
</file>

<file path=ppt/slides/slide28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4" name="">
            <a:extLst>
              <a:ext uri="{FF2B5EF4-FFF2-40B4-BE49-F238E27FC236}">
                <ns2:creationId id="{8A665556-AFBE-47EF-938E-C871CD7E52D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784BEDCF-A64A-4A9C-A212-1BDEEF4BB3F0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Peak Velocity: absolute top speed</a:t>
            </a:r>
          </a:p>
        </p:txBody>
      </p:sp>
      <p:sp>
        <p:nvSpPr>
          <p:cNvPr id="3" name="">
            <a:extLst>
              <a:ext uri="{FF2B5EF4-FFF2-40B4-BE49-F238E27FC236}">
                <ns2:creationId id="{104E7A38-869D-43A7-BDB9-E838611D9DF2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12768046-C540-430D-B9E9-19FB102DD673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Identify the highest reliably measured speed</a:t>
            </a:r>
          </a:p>
        </p:txBody>
      </p:sp>
      <p:sp>
        <p:nvSpPr>
          <p:cNvPr id="5" name="">
            <a:extLst>
              <a:ext uri="{FF2B5EF4-FFF2-40B4-BE49-F238E27FC236}">
                <ns2:creationId id="{127180E6-71C9-4FD3-BD0B-FFF3ACF8C0C7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0B4137F4-9CE4-41DB-B338-6A730C9E5C7A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Inspect the quality of the peak interval</a:t>
            </a:r>
          </a:p>
        </p:txBody>
      </p:sp>
      <p:sp>
        <p:nvSpPr>
          <p:cNvPr id="7" name="">
            <a:extLst>
              <a:ext uri="{FF2B5EF4-FFF2-40B4-BE49-F238E27FC236}">
                <ns2:creationId id="{C3F10BDA-884A-445A-90A1-78F47BF5AD20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0F10EE47-31E5-4CE6-871F-AC929C8EBBDC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Keep sample maxima separate from production metrics</a:t>
            </a:r>
          </a:p>
        </p:txBody>
      </p:sp>
      <p:pic>
        <p:nvPicPr>
          <p:cNvPr id="9" name="">
            <a:extLst>
              <a:ext uri="{FF2B5EF4-FFF2-40B4-BE49-F238E27FC236}">
                <ns2:creationId id="{7EF94FB8-6A99-4D0E-B00D-0FC13270981F}"/>
              </a:ext>
            </a:extLst>
          </p:cNvPr>
          <p:cNvPicPr>
            <a:picLocks noChangeAspect="1"/>
          </p:cNvPicPr>
          <p:nvPr/>
        </p:nvPicPr>
        <p:blipFill>
          <a:blip r:embed="R841b4ef9ec4641ce"/>
          <a:stretch/>
        </p:blipFill>
        <p:spPr>
          <a:xfrm>
            <a:off x="4261130" y="1333500"/>
            <a:ext cx="7289241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04F67439-27F0-4510-81D5-2923A3778FA8}"/>
              </a:ext>
            </a:extLst>
          </p:cNvPr>
          <p:cNvSpPr>
            <a:spLocks noGrp="1"/>
          </p:cNvSpPr>
          <p:nvPr/>
        </p:nvSpPr>
        <p:spPr>
          <a:xfrm>
            <a:off x="571500" y="5715000"/>
            <a:ext cx="11049000" cy="409575"/>
          </a:xfrm>
          <a:prstGeom prst="rect">
            <a:avLst/>
          </a:prstGeom>
          <a:solidFill>
            <a:srgbClr val="E0EEE8"/>
          </a:solidFill>
          <a:ln w="0">
            <a:noFill/>
          </a:ln>
        </p:spPr>
      </p:sp>
      <p:sp>
        <p:nvSpPr>
          <p:cNvPr id="11" name="">
            <a:extLst>
              <a:ext uri="{FF2B5EF4-FFF2-40B4-BE49-F238E27FC236}">
                <ns2:creationId id="{D7F5E3D6-31A0-44DF-9ED6-9BF6644B3E10}"/>
              </a:ext>
            </a:extLst>
          </p:cNvPr>
          <p:cNvSpPr>
            <a:spLocks noGrp="1"/>
          </p:cNvSpPr>
          <p:nvPr/>
        </p:nvSpPr>
        <p:spPr>
          <a:xfrm>
            <a:off x="742950" y="579120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7D68"/>
                </a:solidFill>
                <a:latin typeface="Arial"/>
                <a:ea typeface="Arial"/>
                <a:cs typeface="Arial"/>
                <a:hlinkClick r:id="rIdWorkshop4"/>
              </a:rPr>
              <a:t>NOTEBOOK · 06_physical_metrics.ipynb</a:t>
            </a:r>
          </a:p>
        </p:txBody>
      </p:sp>
      <p:sp>
        <p:nvSpPr>
          <p:cNvPr id="12" name="">
            <a:extLst>
              <a:ext uri="{FF2B5EF4-FFF2-40B4-BE49-F238E27FC236}">
                <ns2:creationId id="{7B73A1C8-3E00-4FCD-AC03-0ABDBF2ED22E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10096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SkillCorner PSV-99 and Peak Velocity</a:t>
            </a:r>
          </a:p>
        </p:txBody>
      </p:sp>
      <p:sp>
        <p:nvSpPr>
          <p:cNvPr id="13" name="">
            <a:extLst>
              <a:ext uri="{FF2B5EF4-FFF2-40B4-BE49-F238E27FC236}">
                <ns2:creationId id="{41442B7A-7B8F-4806-8D6B-31FB34061284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28 / 64</a:t>
            </a:r>
          </a:p>
        </p:txBody>
      </p:sp>
    </p:spTree>
    <p:extLst>
      <p:ext uri="{BB962C8B-B14F-4D97-AF65-F5344CB8AC3E}">
        <p14:creationId val="1667464264"/>
      </p:ext>
    </p:extLst>
  </p:cSld>
</p:sld>
</file>

<file path=ppt/slides/slide29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4" name="">
            <a:extLst>
              <a:ext uri="{FF2B5EF4-FFF2-40B4-BE49-F238E27FC236}">
                <ns2:creationId id="{16C6971A-E6E5-473E-91F7-18E0DF0CA5F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4CCA9CC4-BC26-4231-9A26-C269818C8747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Expected goals: shot quality</a:t>
            </a:r>
          </a:p>
        </p:txBody>
      </p:sp>
      <p:sp>
        <p:nvSpPr>
          <p:cNvPr id="3" name="">
            <a:extLst>
              <a:ext uri="{FF2B5EF4-FFF2-40B4-BE49-F238E27FC236}">
                <ns2:creationId id="{3FB5C8B7-B63F-417F-A872-49520C1FFD05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795BCDB3-6D54-4109-A055-7B2876C0A7A6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Distance and angle form a simple feature baseline</a:t>
            </a:r>
          </a:p>
        </p:txBody>
      </p:sp>
      <p:sp>
        <p:nvSpPr>
          <p:cNvPr id="5" name="">
            <a:extLst>
              <a:ext uri="{FF2B5EF4-FFF2-40B4-BE49-F238E27FC236}">
                <ns2:creationId id="{139317F7-7A7E-4953-825B-2ADDD53DE58D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F5B054BF-5446-4314-BC81-6A3875A0AE4A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Tracking adds keeper and defender context</a:t>
            </a:r>
          </a:p>
        </p:txBody>
      </p:sp>
      <p:sp>
        <p:nvSpPr>
          <p:cNvPr id="7" name="">
            <a:extLst>
              <a:ext uri="{FF2B5EF4-FFF2-40B4-BE49-F238E27FC236}">
                <ns2:creationId id="{7C3B47DB-C8C5-413B-B565-F9E32A19A121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121C021C-4AA9-4157-ACA9-459B923E7378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Fit and calibrate on many labeled shots</a:t>
            </a:r>
          </a:p>
        </p:txBody>
      </p:sp>
      <p:pic>
        <p:nvPicPr>
          <p:cNvPr id="9" name="">
            <a:extLst>
              <a:ext uri="{FF2B5EF4-FFF2-40B4-BE49-F238E27FC236}">
                <ns2:creationId id="{F5100ACD-C435-46EE-A2F1-826F3D3BB174}"/>
              </a:ext>
            </a:extLst>
          </p:cNvPr>
          <p:cNvPicPr>
            <a:picLocks noChangeAspect="1"/>
          </p:cNvPicPr>
          <p:nvPr/>
        </p:nvPicPr>
        <p:blipFill>
          <a:blip r:embed="R434105fd0f6948e1"/>
          <a:stretch/>
        </p:blipFill>
        <p:spPr>
          <a:xfrm>
            <a:off x="4910814" y="1333500"/>
            <a:ext cx="5989871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D0D47B32-7AC5-4CD5-92A1-E48CAA8BF9B4}"/>
              </a:ext>
            </a:extLst>
          </p:cNvPr>
          <p:cNvSpPr>
            <a:spLocks noGrp="1"/>
          </p:cNvSpPr>
          <p:nvPr/>
        </p:nvSpPr>
        <p:spPr>
          <a:xfrm>
            <a:off x="571500" y="5715000"/>
            <a:ext cx="11049000" cy="409575"/>
          </a:xfrm>
          <a:prstGeom prst="rect">
            <a:avLst/>
          </a:prstGeom>
          <a:solidFill>
            <a:srgbClr val="E0EEE8"/>
          </a:solidFill>
          <a:ln w="0">
            <a:noFill/>
          </a:ln>
        </p:spPr>
      </p:sp>
      <p:sp>
        <p:nvSpPr>
          <p:cNvPr id="11" name="">
            <a:extLst>
              <a:ext uri="{FF2B5EF4-FFF2-40B4-BE49-F238E27FC236}">
                <ns2:creationId id="{84DEB961-DFE8-4533-B20F-AFB0A5A1E3EF}"/>
              </a:ext>
            </a:extLst>
          </p:cNvPr>
          <p:cNvSpPr>
            <a:spLocks noGrp="1"/>
          </p:cNvSpPr>
          <p:nvPr/>
        </p:nvSpPr>
        <p:spPr>
          <a:xfrm>
            <a:off x="742950" y="579120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7D68"/>
                </a:solidFill>
                <a:latin typeface="Arial"/>
                <a:ea typeface="Arial"/>
                <a:cs typeface="Arial"/>
                <a:hlinkClick r:id="rIdWorkshop4"/>
              </a:rPr>
              <a:t>NOTEBOOK · 07_expected_goals.ipynb</a:t>
            </a:r>
          </a:p>
        </p:txBody>
      </p:sp>
      <p:sp>
        <p:nvSpPr>
          <p:cNvPr id="12" name="">
            <a:extLst>
              <a:ext uri="{FF2B5EF4-FFF2-40B4-BE49-F238E27FC236}">
                <ns2:creationId id="{8B4CAC52-40F6-42B0-A85C-05E33FA97250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10096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StatsBomb: Upgrading Expected Goals</a:t>
            </a:r>
          </a:p>
        </p:txBody>
      </p:sp>
      <p:sp>
        <p:nvSpPr>
          <p:cNvPr id="13" name="">
            <a:extLst>
              <a:ext uri="{FF2B5EF4-FFF2-40B4-BE49-F238E27FC236}">
                <ns2:creationId id="{568C0BC5-12A5-49BB-B39F-89A767F10E41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29 / 64</a:t>
            </a:r>
          </a:p>
        </p:txBody>
      </p:sp>
    </p:spTree>
    <p:extLst>
      <p:ext uri="{BB962C8B-B14F-4D97-AF65-F5344CB8AC3E}">
        <p14:creationId val="790187238"/>
      </p:ext>
    </p:extLst>
  </p:cSld>
</p:sld>
</file>

<file path=ppt/slides/slide30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5" name="">
            <a:extLst>
              <a:ext uri="{FF2B5EF4-FFF2-40B4-BE49-F238E27FC236}">
                <ns2:creationId id="{9FD809AE-A0B2-4296-BE1D-FD4A4B461FA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12EA8825-4448-47AE-A07D-75AB611CFC0E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Expected Threat: location value</a:t>
            </a:r>
          </a:p>
        </p:txBody>
      </p:sp>
      <p:sp>
        <p:nvSpPr>
          <p:cNvPr id="3" name="">
            <a:extLst>
              <a:ext uri="{FF2B5EF4-FFF2-40B4-BE49-F238E27FC236}">
                <ns2:creationId id="{5664D32B-A2BC-4576-9B7E-8E903399A903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FA36F460-87D7-4E11-8AED-B08089446B0C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Divide the pitch into states</a:t>
            </a:r>
          </a:p>
        </p:txBody>
      </p:sp>
      <p:sp>
        <p:nvSpPr>
          <p:cNvPr id="5" name="">
            <a:extLst>
              <a:ext uri="{FF2B5EF4-FFF2-40B4-BE49-F238E27FC236}">
                <ns2:creationId id="{14F28246-B2B1-41E6-BC9B-69CA23D2232D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FD526838-414F-4485-9B0F-8D1A003036C4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Combine shooting reward with future movement value</a:t>
            </a:r>
          </a:p>
        </p:txBody>
      </p:sp>
      <p:sp>
        <p:nvSpPr>
          <p:cNvPr id="7" name="">
            <a:extLst>
              <a:ext uri="{FF2B5EF4-FFF2-40B4-BE49-F238E27FC236}">
                <ns2:creationId id="{BC8F3E32-E079-49C9-9167-E87CE7949152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F2B7CEDF-EBDC-4F84-B3EE-6F2249066B28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Iterate the transition equation to value continuation</a:t>
            </a:r>
          </a:p>
        </p:txBody>
      </p:sp>
      <p:pic>
        <p:nvPicPr>
          <p:cNvPr id="9" name="">
            <a:extLst>
              <a:ext uri="{FF2B5EF4-FFF2-40B4-BE49-F238E27FC236}">
                <ns2:creationId id="{4208C25C-B634-4A56-8048-2C409AFAF1A2}"/>
              </a:ext>
            </a:extLst>
          </p:cNvPr>
          <p:cNvPicPr>
            <a:picLocks noChangeAspect="1"/>
          </p:cNvPicPr>
          <p:nvPr/>
        </p:nvPicPr>
        <p:blipFill>
          <a:blip r:embed="R3bce0555c361435a"/>
          <a:stretch/>
        </p:blipFill>
        <p:spPr>
          <a:xfrm>
            <a:off x="4427703" y="1333500"/>
            <a:ext cx="6956093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2790EE14-056C-4D35-B945-55EB664B8F55}"/>
              </a:ext>
            </a:extLst>
          </p:cNvPr>
          <p:cNvSpPr>
            <a:spLocks noGrp="1"/>
          </p:cNvSpPr>
          <p:nvPr/>
        </p:nvSpPr>
        <p:spPr>
          <a:xfrm>
            <a:off x="571500" y="5715000"/>
            <a:ext cx="11049000" cy="409575"/>
          </a:xfrm>
          <a:prstGeom prst="rect">
            <a:avLst/>
          </a:prstGeom>
          <a:solidFill>
            <a:srgbClr val="E0EEE8"/>
          </a:solidFill>
          <a:ln w="0">
            <a:noFill/>
          </a:ln>
        </p:spPr>
      </p:sp>
      <p:sp>
        <p:nvSpPr>
          <p:cNvPr id="11" name="">
            <a:extLst>
              <a:ext uri="{FF2B5EF4-FFF2-40B4-BE49-F238E27FC236}">
                <ns2:creationId id="{7235EE11-E5F4-4C15-B931-98969AE0F42A}"/>
              </a:ext>
            </a:extLst>
          </p:cNvPr>
          <p:cNvSpPr>
            <a:spLocks noGrp="1"/>
          </p:cNvSpPr>
          <p:nvPr/>
        </p:nvSpPr>
        <p:spPr>
          <a:xfrm>
            <a:off x="742950" y="579120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7D68"/>
                </a:solidFill>
                <a:latin typeface="Arial"/>
                <a:ea typeface="Arial"/>
                <a:cs typeface="Arial"/>
                <a:hlinkClick r:id="rIdWorkshop4"/>
              </a:rPr>
              <a:t>NOTEBOOK · 08_expected_threat.ipynb</a:t>
            </a:r>
          </a:p>
        </p:txBody>
      </p:sp>
      <p:sp>
        <p:nvSpPr>
          <p:cNvPr id="12" name="">
            <a:extLst>
              <a:ext uri="{FF2B5EF4-FFF2-40B4-BE49-F238E27FC236}">
                <ns2:creationId id="{456EAC0E-2B58-4246-9DB5-E89AEF8923F1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Karun Singh: Expected Threat</a:t>
            </a:r>
          </a:p>
        </p:txBody>
      </p:sp>
      <p:sp>
        <p:nvSpPr>
          <p:cNvPr id="13" name="">
            <a:extLst>
              <a:ext uri="{FF2B5EF4-FFF2-40B4-BE49-F238E27FC236}">
                <ns2:creationId id="{7761B77C-7B56-4977-8B7F-06C985D6DCAD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6"/>
              </a:rPr>
              <a:t>DataBallPy fitted xT methodology</a:t>
            </a:r>
          </a:p>
        </p:txBody>
      </p:sp>
      <p:sp>
        <p:nvSpPr>
          <p:cNvPr id="14" name="">
            <a:extLst>
              <a:ext uri="{FF2B5EF4-FFF2-40B4-BE49-F238E27FC236}">
                <ns2:creationId id="{97D04F64-6A88-4BDD-860A-BC66F0E5191C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30 / 64</a:t>
            </a:r>
          </a:p>
        </p:txBody>
      </p:sp>
    </p:spTree>
    <p:extLst>
      <p:ext uri="{BB962C8B-B14F-4D97-AF65-F5344CB8AC3E}">
        <p14:creationId val="1842625090"/>
      </p:ext>
    </p:extLst>
  </p:cSld>
</p:sld>
</file>

<file path=ppt/slides/slide31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5" name="">
            <a:extLst>
              <a:ext uri="{FF2B5EF4-FFF2-40B4-BE49-F238E27FC236}">
                <ns2:creationId id="{2B1B97A2-FD14-425C-BA02-53C006E8741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BB05503E-FC63-448D-A2E6-5725F1E970CE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Expected Threat gained</a:t>
            </a:r>
          </a:p>
        </p:txBody>
      </p:sp>
      <p:sp>
        <p:nvSpPr>
          <p:cNvPr id="3" name="">
            <a:extLst>
              <a:ext uri="{FF2B5EF4-FFF2-40B4-BE49-F238E27FC236}">
                <ns2:creationId id="{001853D6-D0B5-40D0-9568-D52E1A50EA2B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533CCAAF-DF31-4345-AB68-098BDD368977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Look up the value at both endpoints</a:t>
            </a:r>
          </a:p>
        </p:txBody>
      </p:sp>
      <p:sp>
        <p:nvSpPr>
          <p:cNvPr id="5" name="">
            <a:extLst>
              <a:ext uri="{FF2B5EF4-FFF2-40B4-BE49-F238E27FC236}">
                <ns2:creationId id="{DCA27576-6E83-4C03-8797-D38AE3F221F8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8A9EDF5F-F99D-4302-8090-0EF892BED128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Completed-action value: V(end) − V(start)</a:t>
            </a:r>
          </a:p>
        </p:txBody>
      </p:sp>
      <p:sp>
        <p:nvSpPr>
          <p:cNvPr id="7" name="">
            <a:extLst>
              <a:ext uri="{FF2B5EF4-FFF2-40B4-BE49-F238E27FC236}">
                <ns2:creationId id="{47D6BB7E-FDED-4BD8-9C4F-A470EB2B3229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B542843F-AA83-41BF-A90E-9F7866F9E861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Use tracking context to explain what location-only xT misses</a:t>
            </a:r>
          </a:p>
        </p:txBody>
      </p:sp>
      <p:pic>
        <p:nvPicPr>
          <p:cNvPr id="9" name="">
            <a:extLst>
              <a:ext uri="{FF2B5EF4-FFF2-40B4-BE49-F238E27FC236}">
                <ns2:creationId id="{5937B61F-E3CD-4765-9F6D-D2322467E1E3}"/>
              </a:ext>
            </a:extLst>
          </p:cNvPr>
          <p:cNvPicPr>
            <a:picLocks noChangeAspect="1"/>
          </p:cNvPicPr>
          <p:nvPr/>
        </p:nvPicPr>
        <p:blipFill>
          <a:blip r:embed="Rab23048a58224280"/>
          <a:stretch/>
        </p:blipFill>
        <p:spPr>
          <a:xfrm>
            <a:off x="4261130" y="1333500"/>
            <a:ext cx="7289241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8C30D19A-48F4-495D-BCEC-1B435CBFBDDF}"/>
              </a:ext>
            </a:extLst>
          </p:cNvPr>
          <p:cNvSpPr>
            <a:spLocks noGrp="1"/>
          </p:cNvSpPr>
          <p:nvPr/>
        </p:nvSpPr>
        <p:spPr>
          <a:xfrm>
            <a:off x="571500" y="5715000"/>
            <a:ext cx="11049000" cy="409575"/>
          </a:xfrm>
          <a:prstGeom prst="rect">
            <a:avLst/>
          </a:prstGeom>
          <a:solidFill>
            <a:srgbClr val="E0EEE8"/>
          </a:solidFill>
          <a:ln w="0">
            <a:noFill/>
          </a:ln>
        </p:spPr>
      </p:sp>
      <p:sp>
        <p:nvSpPr>
          <p:cNvPr id="11" name="">
            <a:extLst>
              <a:ext uri="{FF2B5EF4-FFF2-40B4-BE49-F238E27FC236}">
                <ns2:creationId id="{CBA4626C-7E7B-48DF-929F-2197106361E7}"/>
              </a:ext>
            </a:extLst>
          </p:cNvPr>
          <p:cNvSpPr>
            <a:spLocks noGrp="1"/>
          </p:cNvSpPr>
          <p:nvPr/>
        </p:nvSpPr>
        <p:spPr>
          <a:xfrm>
            <a:off x="742950" y="579120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7D68"/>
                </a:solidFill>
                <a:latin typeface="Arial"/>
                <a:ea typeface="Arial"/>
                <a:cs typeface="Arial"/>
                <a:hlinkClick r:id="rIdWorkshop4"/>
              </a:rPr>
              <a:t>NOTEBOOK · 08_expected_threat.ipynb</a:t>
            </a:r>
          </a:p>
        </p:txBody>
      </p:sp>
      <p:sp>
        <p:nvSpPr>
          <p:cNvPr id="12" name="">
            <a:extLst>
              <a:ext uri="{FF2B5EF4-FFF2-40B4-BE49-F238E27FC236}">
                <ns2:creationId id="{E95E6C8C-708E-4D12-8CC2-14CCA1B099B2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Karun Singh: Expected Threat</a:t>
            </a:r>
          </a:p>
        </p:txBody>
      </p:sp>
      <p:sp>
        <p:nvSpPr>
          <p:cNvPr id="13" name="">
            <a:extLst>
              <a:ext uri="{FF2B5EF4-FFF2-40B4-BE49-F238E27FC236}">
                <ns2:creationId id="{5EC26D23-CB77-424E-B010-EB90D10F4600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6"/>
              </a:rPr>
              <a:t>DataBallPy fitted xT methodology</a:t>
            </a:r>
          </a:p>
        </p:txBody>
      </p:sp>
      <p:sp>
        <p:nvSpPr>
          <p:cNvPr id="14" name="">
            <a:extLst>
              <a:ext uri="{FF2B5EF4-FFF2-40B4-BE49-F238E27FC236}">
                <ns2:creationId id="{981F027E-C578-4DF7-90CB-32923016A03A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31 / 64</a:t>
            </a:r>
          </a:p>
        </p:txBody>
      </p:sp>
    </p:spTree>
    <p:extLst>
      <p:ext uri="{BB962C8B-B14F-4D97-AF65-F5344CB8AC3E}">
        <p14:creationId val="1108485889"/>
      </p:ext>
    </p:extLst>
  </p:cSld>
</p:sld>
</file>

<file path=ppt/slides/slide32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4" name="">
            <a:extLst>
              <a:ext uri="{FF2B5EF4-FFF2-40B4-BE49-F238E27FC236}">
                <ns2:creationId id="{EEFEF003-500B-4D8C-B1C6-91FAC6C7874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2E16B509-2A74-48B0-9ABB-5246C0088904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Voronoi space control</a:t>
            </a:r>
          </a:p>
        </p:txBody>
      </p:sp>
      <p:sp>
        <p:nvSpPr>
          <p:cNvPr id="3" name="">
            <a:extLst>
              <a:ext uri="{FF2B5EF4-FFF2-40B4-BE49-F238E27FC236}">
                <ns2:creationId id="{D7F1E539-87D8-4554-ACD6-69A565109106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38DE3FE2-2584-45A1-89D1-B6B19EF517B4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Assign every location to its closest player</a:t>
            </a:r>
          </a:p>
        </p:txBody>
      </p:sp>
      <p:sp>
        <p:nvSpPr>
          <p:cNvPr id="5" name="">
            <a:extLst>
              <a:ext uri="{FF2B5EF4-FFF2-40B4-BE49-F238E27FC236}">
                <ns2:creationId id="{060AEA15-FC96-4E3A-A0D8-3E5224ADDD25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377EE867-2229-4144-A352-EB7529534225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Aggregate player regions by team</a:t>
            </a:r>
          </a:p>
        </p:txBody>
      </p:sp>
      <p:sp>
        <p:nvSpPr>
          <p:cNvPr id="7" name="">
            <a:extLst>
              <a:ext uri="{FF2B5EF4-FFF2-40B4-BE49-F238E27FC236}">
                <ns2:creationId id="{B1972D7E-6346-4F65-91F0-1893A1458C3B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A4E220F2-5799-49A7-B980-A14789FE6369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Use as a geometric baseline</a:t>
            </a:r>
          </a:p>
        </p:txBody>
      </p:sp>
      <p:pic>
        <p:nvPicPr>
          <p:cNvPr id="9" name="">
            <a:extLst>
              <a:ext uri="{FF2B5EF4-FFF2-40B4-BE49-F238E27FC236}">
                <ns2:creationId id="{72FE8290-7F4B-465D-902C-FC7564BE4F96}"/>
              </a:ext>
            </a:extLst>
          </p:cNvPr>
          <p:cNvPicPr>
            <a:picLocks noChangeAspect="1"/>
          </p:cNvPicPr>
          <p:nvPr/>
        </p:nvPicPr>
        <p:blipFill>
          <a:blip r:embed="R4c7cc099645248d5"/>
          <a:stretch/>
        </p:blipFill>
        <p:spPr>
          <a:xfrm>
            <a:off x="4785910" y="1333500"/>
            <a:ext cx="6239680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7DFF802F-2EC7-42EB-8AA6-C80693D3BF6E}"/>
              </a:ext>
            </a:extLst>
          </p:cNvPr>
          <p:cNvSpPr>
            <a:spLocks noGrp="1"/>
          </p:cNvSpPr>
          <p:nvPr/>
        </p:nvSpPr>
        <p:spPr>
          <a:xfrm>
            <a:off x="571500" y="5715000"/>
            <a:ext cx="11049000" cy="409575"/>
          </a:xfrm>
          <a:prstGeom prst="rect">
            <a:avLst/>
          </a:prstGeom>
          <a:solidFill>
            <a:srgbClr val="E0EEE8"/>
          </a:solidFill>
          <a:ln w="0">
            <a:noFill/>
          </a:ln>
        </p:spPr>
      </p:sp>
      <p:sp>
        <p:nvSpPr>
          <p:cNvPr id="11" name="">
            <a:extLst>
              <a:ext uri="{FF2B5EF4-FFF2-40B4-BE49-F238E27FC236}">
                <ns2:creationId id="{C70B21B6-E84A-43C2-A84E-9910D8986D43}"/>
              </a:ext>
            </a:extLst>
          </p:cNvPr>
          <p:cNvSpPr>
            <a:spLocks noGrp="1"/>
          </p:cNvSpPr>
          <p:nvPr/>
        </p:nvSpPr>
        <p:spPr>
          <a:xfrm>
            <a:off x="742950" y="579120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7D68"/>
                </a:solidFill>
                <a:latin typeface="Arial"/>
                <a:ea typeface="Arial"/>
                <a:cs typeface="Arial"/>
                <a:hlinkClick r:id="rIdWorkshop4"/>
              </a:rPr>
              <a:t>NOTEBOOK · 09_voronoi_control.ipynb</a:t>
            </a:r>
          </a:p>
        </p:txBody>
      </p:sp>
      <p:sp>
        <p:nvSpPr>
          <p:cNvPr id="12" name="">
            <a:extLst>
              <a:ext uri="{FF2B5EF4-FFF2-40B4-BE49-F238E27FC236}">
                <ns2:creationId id="{6112A58A-705C-465E-A485-D687407C2628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10096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DataBallPy space occupation</a:t>
            </a:r>
          </a:p>
        </p:txBody>
      </p:sp>
      <p:sp>
        <p:nvSpPr>
          <p:cNvPr id="13" name="">
            <a:extLst>
              <a:ext uri="{FF2B5EF4-FFF2-40B4-BE49-F238E27FC236}">
                <ns2:creationId id="{A2222744-C093-414F-9E9A-EBE9944E9D51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32 / 64</a:t>
            </a:r>
          </a:p>
        </p:txBody>
      </p:sp>
    </p:spTree>
    <p:extLst>
      <p:ext uri="{BB962C8B-B14F-4D97-AF65-F5344CB8AC3E}">
        <p14:creationId val="713678346"/>
      </p:ext>
    </p:extLst>
  </p:cSld>
</p:sld>
</file>

<file path=ppt/slides/slide33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5" name="">
            <a:extLst>
              <a:ext uri="{FF2B5EF4-FFF2-40B4-BE49-F238E27FC236}">
                <ns2:creationId id="{AA1BBD8B-5886-4A46-8E84-43869E17C3F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9151CF2E-53CE-46C9-AA15-775B4DE0CEE3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Gaussian player influence</a:t>
            </a:r>
          </a:p>
        </p:txBody>
      </p:sp>
      <p:sp>
        <p:nvSpPr>
          <p:cNvPr id="3" name="">
            <a:extLst>
              <a:ext uri="{FF2B5EF4-FFF2-40B4-BE49-F238E27FC236}">
                <ns2:creationId id="{C0E891AF-5CFA-4923-A70D-00FB47FF3170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95D23D91-E4B0-4148-92AA-5E4045BDCA20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Project influence in the player’s movement direction</a:t>
            </a:r>
          </a:p>
        </p:txBody>
      </p:sp>
      <p:sp>
        <p:nvSpPr>
          <p:cNvPr id="5" name="">
            <a:extLst>
              <a:ext uri="{FF2B5EF4-FFF2-40B4-BE49-F238E27FC236}">
                <ns2:creationId id="{240E7240-6844-4494-84CC-C1015BA63948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97D71BB8-5CFE-4E3B-B369-BADF2E5296D8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Let covariance describe directional reach</a:t>
            </a:r>
          </a:p>
        </p:txBody>
      </p:sp>
      <p:sp>
        <p:nvSpPr>
          <p:cNvPr id="7" name="">
            <a:extLst>
              <a:ext uri="{FF2B5EF4-FFF2-40B4-BE49-F238E27FC236}">
                <ns2:creationId id="{B773A60B-A794-4856-97B7-BDEE74EEB798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B1D1600C-3F56-4844-9E1E-109453256510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Inspect the individual surface before aggregating</a:t>
            </a:r>
          </a:p>
        </p:txBody>
      </p:sp>
      <p:pic>
        <p:nvPicPr>
          <p:cNvPr id="9" name="">
            <a:extLst>
              <a:ext uri="{FF2B5EF4-FFF2-40B4-BE49-F238E27FC236}">
                <ns2:creationId id="{6CCDADDB-E222-442E-94EC-DC5133A4C42B}"/>
              </a:ext>
            </a:extLst>
          </p:cNvPr>
          <p:cNvPicPr>
            <a:picLocks noChangeAspect="1"/>
          </p:cNvPicPr>
          <p:nvPr/>
        </p:nvPicPr>
        <p:blipFill>
          <a:blip r:embed="R6b3f23a2381245e0"/>
          <a:stretch/>
        </p:blipFill>
        <p:spPr>
          <a:xfrm>
            <a:off x="4785910" y="1333500"/>
            <a:ext cx="6239680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05803B0D-ACF2-41CF-B03D-EBD5BC44238E}"/>
              </a:ext>
            </a:extLst>
          </p:cNvPr>
          <p:cNvSpPr>
            <a:spLocks noGrp="1"/>
          </p:cNvSpPr>
          <p:nvPr/>
        </p:nvSpPr>
        <p:spPr>
          <a:xfrm>
            <a:off x="571500" y="5715000"/>
            <a:ext cx="11049000" cy="409575"/>
          </a:xfrm>
          <a:prstGeom prst="rect">
            <a:avLst/>
          </a:prstGeom>
          <a:solidFill>
            <a:srgbClr val="E0EEE8"/>
          </a:solidFill>
          <a:ln w="0">
            <a:noFill/>
          </a:ln>
        </p:spPr>
      </p:sp>
      <p:sp>
        <p:nvSpPr>
          <p:cNvPr id="11" name="">
            <a:extLst>
              <a:ext uri="{FF2B5EF4-FFF2-40B4-BE49-F238E27FC236}">
                <ns2:creationId id="{6B613D16-38D1-47E3-80A6-7CA5F1F42DE3}"/>
              </a:ext>
            </a:extLst>
          </p:cNvPr>
          <p:cNvSpPr>
            <a:spLocks noGrp="1"/>
          </p:cNvSpPr>
          <p:nvPr/>
        </p:nvSpPr>
        <p:spPr>
          <a:xfrm>
            <a:off x="742950" y="579120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7D68"/>
                </a:solidFill>
                <a:latin typeface="Arial"/>
                <a:ea typeface="Arial"/>
                <a:cs typeface="Arial"/>
                <a:hlinkClick r:id="rIdWorkshop4"/>
              </a:rPr>
              <a:t>NOTEBOOK · 10_gaussian_control.ipynb</a:t>
            </a:r>
          </a:p>
        </p:txBody>
      </p:sp>
      <p:sp>
        <p:nvSpPr>
          <p:cNvPr id="12" name="">
            <a:extLst>
              <a:ext uri="{FF2B5EF4-FFF2-40B4-BE49-F238E27FC236}">
                <ns2:creationId id="{21421752-B42B-4698-B259-379B0CB66AA6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Wide Open Spaces, Fernández &amp; Bornn (2018)</a:t>
            </a:r>
          </a:p>
        </p:txBody>
      </p:sp>
      <p:sp>
        <p:nvSpPr>
          <p:cNvPr id="13" name="">
            <a:extLst>
              <a:ext uri="{FF2B5EF4-FFF2-40B4-BE49-F238E27FC236}">
                <ns2:creationId id="{42E298A6-8857-497C-AD55-A4B4590F3399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6"/>
              </a:rPr>
              <a:t>Space and Control in Soccer (2021)</a:t>
            </a:r>
          </a:p>
        </p:txBody>
      </p:sp>
      <p:sp>
        <p:nvSpPr>
          <p:cNvPr id="14" name="">
            <a:extLst>
              <a:ext uri="{FF2B5EF4-FFF2-40B4-BE49-F238E27FC236}">
                <ns2:creationId id="{DD9164C9-4783-4098-87D7-F3EBBB3C8B99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33 / 64</a:t>
            </a:r>
          </a:p>
        </p:txBody>
      </p:sp>
    </p:spTree>
    <p:extLst>
      <p:ext uri="{BB962C8B-B14F-4D97-AF65-F5344CB8AC3E}">
        <p14:creationId val="329015797"/>
      </p:ext>
    </p:extLst>
  </p:cSld>
</p:sld>
</file>

<file path=ppt/slides/slide34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5" name="">
            <a:extLst>
              <a:ext uri="{FF2B5EF4-FFF2-40B4-BE49-F238E27FC236}">
                <ns2:creationId id="{73470B59-6A7E-425D-B652-EEAB28F8D33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773B4981-D67F-4080-90FE-472647789472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Gaussian team control</a:t>
            </a:r>
          </a:p>
        </p:txBody>
      </p:sp>
      <p:sp>
        <p:nvSpPr>
          <p:cNvPr id="3" name="">
            <a:extLst>
              <a:ext uri="{FF2B5EF4-FFF2-40B4-BE49-F238E27FC236}">
                <ns2:creationId id="{66C1345A-136D-49BD-9B8A-4DE5851FDBCB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F28AF979-34EA-4968-ACCC-CBA793399ADE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Aggregate individual influence by team</a:t>
            </a:r>
          </a:p>
        </p:txBody>
      </p:sp>
      <p:sp>
        <p:nvSpPr>
          <p:cNvPr id="5" name="">
            <a:extLst>
              <a:ext uri="{FF2B5EF4-FFF2-40B4-BE49-F238E27FC236}">
                <ns2:creationId id="{F27D5AEF-2E4A-4685-BE27-E0B462C3A680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C739E11A-4CC4-46AA-850E-D434D678BC3E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Compare team influence continuously across the pitch</a:t>
            </a:r>
          </a:p>
        </p:txBody>
      </p:sp>
      <p:sp>
        <p:nvSpPr>
          <p:cNvPr id="7" name="">
            <a:extLst>
              <a:ext uri="{FF2B5EF4-FFF2-40B4-BE49-F238E27FC236}">
                <ns2:creationId id="{A5A50220-A813-4C6D-925F-2E14DBFFD0E3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42AED08E-0F68-4B09-A892-B6C0DAA4F17B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Interpret the result as an influence score</a:t>
            </a:r>
          </a:p>
        </p:txBody>
      </p:sp>
      <p:pic>
        <p:nvPicPr>
          <p:cNvPr id="9" name="">
            <a:extLst>
              <a:ext uri="{FF2B5EF4-FFF2-40B4-BE49-F238E27FC236}">
                <ns2:creationId id="{37879A11-7E1B-45BC-8747-680F27ABBE5C}"/>
              </a:ext>
            </a:extLst>
          </p:cNvPr>
          <p:cNvPicPr>
            <a:picLocks noChangeAspect="1"/>
          </p:cNvPicPr>
          <p:nvPr/>
        </p:nvPicPr>
        <p:blipFill>
          <a:blip r:embed="R2b9d49792dd34e2e"/>
          <a:stretch/>
        </p:blipFill>
        <p:spPr>
          <a:xfrm>
            <a:off x="4785910" y="1333500"/>
            <a:ext cx="6239680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104D3EC1-6584-4478-B7BF-5AB7A3C98700}"/>
              </a:ext>
            </a:extLst>
          </p:cNvPr>
          <p:cNvSpPr>
            <a:spLocks noGrp="1"/>
          </p:cNvSpPr>
          <p:nvPr/>
        </p:nvSpPr>
        <p:spPr>
          <a:xfrm>
            <a:off x="571500" y="5715000"/>
            <a:ext cx="11049000" cy="409575"/>
          </a:xfrm>
          <a:prstGeom prst="rect">
            <a:avLst/>
          </a:prstGeom>
          <a:solidFill>
            <a:srgbClr val="E0EEE8"/>
          </a:solidFill>
          <a:ln w="0">
            <a:noFill/>
          </a:ln>
        </p:spPr>
      </p:sp>
      <p:sp>
        <p:nvSpPr>
          <p:cNvPr id="11" name="">
            <a:extLst>
              <a:ext uri="{FF2B5EF4-FFF2-40B4-BE49-F238E27FC236}">
                <ns2:creationId id="{93976EB4-435E-45C1-A531-F71965E78706}"/>
              </a:ext>
            </a:extLst>
          </p:cNvPr>
          <p:cNvSpPr>
            <a:spLocks noGrp="1"/>
          </p:cNvSpPr>
          <p:nvPr/>
        </p:nvSpPr>
        <p:spPr>
          <a:xfrm>
            <a:off x="742950" y="579120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7D68"/>
                </a:solidFill>
                <a:latin typeface="Arial"/>
                <a:ea typeface="Arial"/>
                <a:cs typeface="Arial"/>
                <a:hlinkClick r:id="rIdWorkshop4"/>
              </a:rPr>
              <a:t>NOTEBOOK · 10_gaussian_control.ipynb</a:t>
            </a:r>
          </a:p>
        </p:txBody>
      </p:sp>
      <p:sp>
        <p:nvSpPr>
          <p:cNvPr id="12" name="">
            <a:extLst>
              <a:ext uri="{FF2B5EF4-FFF2-40B4-BE49-F238E27FC236}">
                <ns2:creationId id="{021DBB6D-C02D-4CFE-8556-1A878BBB6B40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Wide Open Spaces, Fernández &amp; Bornn (2018)</a:t>
            </a:r>
          </a:p>
        </p:txBody>
      </p:sp>
      <p:sp>
        <p:nvSpPr>
          <p:cNvPr id="13" name="">
            <a:extLst>
              <a:ext uri="{FF2B5EF4-FFF2-40B4-BE49-F238E27FC236}">
                <ns2:creationId id="{10F6B0E4-074E-468B-90EF-6B13803C4CFD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6"/>
              </a:rPr>
              <a:t>DataBallPy space occupation</a:t>
            </a:r>
          </a:p>
        </p:txBody>
      </p:sp>
      <p:sp>
        <p:nvSpPr>
          <p:cNvPr id="14" name="">
            <a:extLst>
              <a:ext uri="{FF2B5EF4-FFF2-40B4-BE49-F238E27FC236}">
                <ns2:creationId id="{617750E4-B717-4A31-8973-4083B9EDA985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34 / 64</a:t>
            </a:r>
          </a:p>
        </p:txBody>
      </p:sp>
    </p:spTree>
    <p:extLst>
      <p:ext uri="{BB962C8B-B14F-4D97-AF65-F5344CB8AC3E}">
        <p14:creationId val="1260866531"/>
      </p:ext>
    </p:extLst>
  </p:cSld>
</p:sld>
</file>

<file path=ppt/slides/slide35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5" name="">
            <a:extLst>
              <a:ext uri="{FF2B5EF4-FFF2-40B4-BE49-F238E27FC236}">
                <ns2:creationId id="{6CAF5166-6138-436F-9764-EA452216872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24276A46-003A-4323-9FA4-624A2859FDF9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Arrival-time control</a:t>
            </a:r>
          </a:p>
        </p:txBody>
      </p:sp>
      <p:sp>
        <p:nvSpPr>
          <p:cNvPr id="3" name="">
            <a:extLst>
              <a:ext uri="{FF2B5EF4-FFF2-40B4-BE49-F238E27FC236}">
                <ns2:creationId id="{4AA10787-B50A-4C44-BF11-639966A7BE50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B7615590-E28D-4516-9E24-8D929830D3C2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Estimate reaction and travel time to each location</a:t>
            </a:r>
          </a:p>
        </p:txBody>
      </p:sp>
      <p:sp>
        <p:nvSpPr>
          <p:cNvPr id="5" name="">
            <a:extLst>
              <a:ext uri="{FF2B5EF4-FFF2-40B4-BE49-F238E27FC236}">
                <ns2:creationId id="{6FC24302-E289-49D1-A4E4-665175A34A69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B4BE6A99-F95B-4093-B552-86B074AC32A4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Compare the earliest arrival for each team</a:t>
            </a:r>
          </a:p>
        </p:txBody>
      </p:sp>
      <p:sp>
        <p:nvSpPr>
          <p:cNvPr id="7" name="">
            <a:extLst>
              <a:ext uri="{FF2B5EF4-FFF2-40B4-BE49-F238E27FC236}">
                <ns2:creationId id="{B36D0245-A638-477D-8D3C-49D77F55C7AB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F4BAAE3B-44E2-48D7-947A-DD718D41CFC6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Test sensitivity to movement assumptions</a:t>
            </a:r>
          </a:p>
        </p:txBody>
      </p:sp>
      <p:pic>
        <p:nvPicPr>
          <p:cNvPr id="9" name="">
            <a:extLst>
              <a:ext uri="{FF2B5EF4-FFF2-40B4-BE49-F238E27FC236}">
                <ns2:creationId id="{B529523E-FC8A-4904-9997-BA5B90A53951}"/>
              </a:ext>
            </a:extLst>
          </p:cNvPr>
          <p:cNvPicPr>
            <a:picLocks noChangeAspect="1"/>
          </p:cNvPicPr>
          <p:nvPr/>
        </p:nvPicPr>
        <p:blipFill>
          <a:blip r:embed="R78dbb3d525614fe4"/>
          <a:stretch/>
        </p:blipFill>
        <p:spPr>
          <a:xfrm>
            <a:off x="4785910" y="1333500"/>
            <a:ext cx="6239680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3D74BE06-F121-4C7E-AC0B-0FCABB3FBA94}"/>
              </a:ext>
            </a:extLst>
          </p:cNvPr>
          <p:cNvSpPr>
            <a:spLocks noGrp="1"/>
          </p:cNvSpPr>
          <p:nvPr/>
        </p:nvSpPr>
        <p:spPr>
          <a:xfrm>
            <a:off x="571500" y="5715000"/>
            <a:ext cx="11049000" cy="409575"/>
          </a:xfrm>
          <a:prstGeom prst="rect">
            <a:avLst/>
          </a:prstGeom>
          <a:solidFill>
            <a:srgbClr val="E0EEE8"/>
          </a:solidFill>
          <a:ln w="0">
            <a:noFill/>
          </a:ln>
        </p:spPr>
      </p:sp>
      <p:sp>
        <p:nvSpPr>
          <p:cNvPr id="11" name="">
            <a:extLst>
              <a:ext uri="{FF2B5EF4-FFF2-40B4-BE49-F238E27FC236}">
                <ns2:creationId id="{7672DB57-B576-4941-AC14-317D5252E261}"/>
              </a:ext>
            </a:extLst>
          </p:cNvPr>
          <p:cNvSpPr>
            <a:spLocks noGrp="1"/>
          </p:cNvSpPr>
          <p:nvPr/>
        </p:nvSpPr>
        <p:spPr>
          <a:xfrm>
            <a:off x="742950" y="579120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7D68"/>
                </a:solidFill>
                <a:latin typeface="Arial"/>
                <a:ea typeface="Arial"/>
                <a:cs typeface="Arial"/>
                <a:hlinkClick r:id="rIdWorkshop4"/>
              </a:rPr>
              <a:t>NOTEBOOK · 11_arrival_time_control.ipynb</a:t>
            </a:r>
          </a:p>
        </p:txBody>
      </p:sp>
      <p:sp>
        <p:nvSpPr>
          <p:cNvPr id="12" name="">
            <a:extLst>
              <a:ext uri="{FF2B5EF4-FFF2-40B4-BE49-F238E27FC236}">
                <ns2:creationId id="{8AD10291-0712-4547-BB39-52ED716031EA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Space and Control in Soccer (2021)</a:t>
            </a:r>
          </a:p>
        </p:txBody>
      </p:sp>
      <p:sp>
        <p:nvSpPr>
          <p:cNvPr id="13" name="">
            <a:extLst>
              <a:ext uri="{FF2B5EF4-FFF2-40B4-BE49-F238E27FC236}">
                <ns2:creationId id="{D3E9BD3D-7FC7-4576-A50E-85A9B56DC19B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6"/>
              </a:rPr>
              <a:t>Beyond Expected Goals, Spearman (2018)</a:t>
            </a:r>
          </a:p>
        </p:txBody>
      </p:sp>
      <p:sp>
        <p:nvSpPr>
          <p:cNvPr id="14" name="">
            <a:extLst>
              <a:ext uri="{FF2B5EF4-FFF2-40B4-BE49-F238E27FC236}">
                <ns2:creationId id="{CC6CD667-A719-48EF-942B-5DAD09228C14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35 / 64</a:t>
            </a:r>
          </a:p>
        </p:txBody>
      </p:sp>
    </p:spTree>
    <p:extLst>
      <p:ext uri="{BB962C8B-B14F-4D97-AF65-F5344CB8AC3E}">
        <p14:creationId val="2050448452"/>
      </p:ext>
    </p:extLst>
  </p:cSld>
</p:sld>
</file>

<file path=ppt/slides/slide36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6" name="">
            <a:extLst>
              <a:ext uri="{FF2B5EF4-FFF2-40B4-BE49-F238E27FC236}">
                <ns2:creationId id="{84AB75FA-0112-4681-8E15-00965E8788F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F1A2C40C-399C-481C-8846-6B7DA28606B7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Pitch control as players move</a:t>
            </a:r>
          </a:p>
        </p:txBody>
      </p:sp>
      <p:sp>
        <p:nvSpPr>
          <p:cNvPr id="3" name="">
            <a:extLst>
              <a:ext uri="{FF2B5EF4-FFF2-40B4-BE49-F238E27FC236}">
                <ns2:creationId id="{076E1F77-9BA6-4580-8FCA-168BE5EE4C40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5974D636-D3BF-48D3-9EE5-48A2CD70896B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Compare three models on identical moving frames</a:t>
            </a:r>
          </a:p>
        </p:txBody>
      </p:sp>
      <p:sp>
        <p:nvSpPr>
          <p:cNvPr id="5" name="">
            <a:extLst>
              <a:ext uri="{FF2B5EF4-FFF2-40B4-BE49-F238E27FC236}">
                <ns2:creationId id="{B0258FA1-D3BB-46E6-9F40-7DCC0595E3CF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5692195C-33F3-4D49-B767-37939D7CD3B7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Watch boundaries respond to player movement</a:t>
            </a:r>
          </a:p>
        </p:txBody>
      </p:sp>
      <p:sp>
        <p:nvSpPr>
          <p:cNvPr id="7" name="">
            <a:extLst>
              <a:ext uri="{FF2B5EF4-FFF2-40B4-BE49-F238E27FC236}">
                <ns2:creationId id="{1EEBAA80-0B05-4F7E-9EDC-48DBED5B50FA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2B777503-9BC9-42E6-8223-8A9C04D362B7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Distinguish spatial scores from calibrated probabilities</a:t>
            </a:r>
          </a:p>
        </p:txBody>
      </p:sp>
      <p:pic>
        <p:nvPicPr>
          <p:cNvPr id="9" name="Video: Pitch control as players move" descr="Embedded MP4. Click to play. Actual tracking, same frame/grid for Voronoi, directional Gaussian and simplified arrival-time scores. Gaussian influence uses projected centers and hand-set directional scales. Arrival time uses 0.7 s reaction/projection and 5 m/s travel speed. These are teaching baselines, not exact published production models. Video samples at 5 Hz with real-time playback. Orange denotes Brisbane, purple Perth.">
            <a:extLst>
              <a:ext uri="{FF2B5EF4-FFF2-40B4-BE49-F238E27FC236}">
                <ns2:creationId id="{7CAD2B35-7E2B-4AB1-B293-462645768C2B}"/>
              </a:ext>
            </a:extLst>
            <a:hlinkClick action="ppaction://media"/>
          </p:cNvPr>
          <p:cNvPicPr>
            <a:picLocks noChangeAspect="1"/>
          </p:cNvPicPr>
          <p:nvPr>
            <a:videoFile r:link="rIdWorkshopVideo"/>
            <p:extLst>
              <p:ext uri="{DAA4B4D4-6D71-4841-9C94-3DE7FCFBED7A}">
                <p14:media r:embed="rIdWorkshopMedia"/>
              </p:ext>
            </p:extLst>
          </p:nvPr>
        </p:nvPicPr>
        <p:blipFill>
          <a:blip r:embed="Rf277b91029484d3d"/>
          <a:stretch/>
        </p:blipFill>
        <p:spPr>
          <a:xfrm>
            <a:off x="4349750" y="1381125"/>
            <a:ext cx="7112000" cy="4000500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80B293FA-EE02-4274-8444-BE45E77F1A7B}"/>
              </a:ext>
            </a:extLst>
          </p:cNvPr>
          <p:cNvSpPr>
            <a:spLocks noGrp="1"/>
          </p:cNvSpPr>
          <p:nvPr/>
        </p:nvSpPr>
        <p:spPr>
          <a:xfrm>
            <a:off x="571500" y="5715000"/>
            <a:ext cx="11049000" cy="409575"/>
          </a:xfrm>
          <a:prstGeom prst="rect">
            <a:avLst/>
          </a:prstGeom>
          <a:solidFill>
            <a:srgbClr val="E0EEE8"/>
          </a:solidFill>
          <a:ln w="0">
            <a:noFill/>
          </a:ln>
        </p:spPr>
      </p:sp>
      <p:sp>
        <p:nvSpPr>
          <p:cNvPr id="11" name="">
            <a:extLst>
              <a:ext uri="{FF2B5EF4-FFF2-40B4-BE49-F238E27FC236}">
                <ns2:creationId id="{1489F834-7EE5-4F85-A9C3-F06FABA134B8}"/>
              </a:ext>
            </a:extLst>
          </p:cNvPr>
          <p:cNvSpPr>
            <a:spLocks noGrp="1"/>
          </p:cNvSpPr>
          <p:nvPr/>
        </p:nvSpPr>
        <p:spPr>
          <a:xfrm>
            <a:off x="742950" y="579120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7D68"/>
                </a:solidFill>
                <a:latin typeface="Arial"/>
                <a:ea typeface="Arial"/>
                <a:cs typeface="Arial"/>
                <a:hlinkClick r:id="rIdWorkshop4"/>
              </a:rPr>
              <a:t>NOTEBOOK · 11_arrival_time_control.ipynb</a:t>
            </a:r>
          </a:p>
        </p:txBody>
      </p:sp>
      <p:sp>
        <p:nvSpPr>
          <p:cNvPr id="12" name="">
            <a:extLst>
              <a:ext uri="{FF2B5EF4-FFF2-40B4-BE49-F238E27FC236}">
                <ns2:creationId id="{23588D42-68A2-4A7F-B758-CE4AD1586085}"/>
              </a:ext>
            </a:extLst>
          </p:cNvPr>
          <p:cNvSpPr>
            <a:spLocks noGrp="1"/>
          </p:cNvSpPr>
          <p:nvPr/>
        </p:nvSpPr>
        <p:spPr>
          <a:xfrm>
            <a:off x="4286250" y="5467350"/>
            <a:ext cx="7239000" cy="228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▶ Click the video to play · embedded MP4</a:t>
            </a:r>
          </a:p>
        </p:txBody>
      </p:sp>
      <p:sp>
        <p:nvSpPr>
          <p:cNvPr id="13" name="">
            <a:extLst>
              <a:ext uri="{FF2B5EF4-FFF2-40B4-BE49-F238E27FC236}">
                <ns2:creationId id="{6813A2A9-4647-4D4B-A6BA-9BAF302B17B0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Wide Open Spaces, Fernández &amp; Bornn (2018)</a:t>
            </a:r>
          </a:p>
        </p:txBody>
      </p:sp>
      <p:sp>
        <p:nvSpPr>
          <p:cNvPr id="14" name="">
            <a:extLst>
              <a:ext uri="{FF2B5EF4-FFF2-40B4-BE49-F238E27FC236}">
                <ns2:creationId id="{2345621C-9E41-4245-AB35-DAAA04FF240B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6"/>
              </a:rPr>
              <a:t>Beyond Expected Goals, Spearman (2018)</a:t>
            </a:r>
          </a:p>
        </p:txBody>
      </p:sp>
      <p:sp>
        <p:nvSpPr>
          <p:cNvPr id="15" name="">
            <a:extLst>
              <a:ext uri="{FF2B5EF4-FFF2-40B4-BE49-F238E27FC236}">
                <ns2:creationId id="{BBDE9DC3-46FC-415C-A5B6-27830C532382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36 / 64</a:t>
            </a:r>
          </a:p>
        </p:txBody>
      </p:sp>
    </p:spTree>
    <p:extLst>
      <p:ext uri="{BB962C8B-B14F-4D97-AF65-F5344CB8AC3E}">
        <p14:creationId val="1461885899"/>
      </p:ext>
    </p:extLst>
  </p:cSld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37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2" name="">
            <a:extLst>
              <a:ext uri="{FF2B5EF4-FFF2-40B4-BE49-F238E27FC236}">
                <ns2:creationId id="{0669328A-3C8D-48B3-9A35-8F391D4AFCD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1581DC7D-E2AE-42FD-8699-0121E3D1F5A6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Ball-aware pitch control</a:t>
            </a:r>
          </a:p>
        </p:txBody>
      </p:sp>
      <p:sp>
        <p:nvSpPr>
          <p:cNvPr id="3" name="">
            <a:extLst>
              <a:ext uri="{FF2B5EF4-FFF2-40B4-BE49-F238E27FC236}">
                <ns2:creationId id="{12864856-9C36-48CC-A544-0C0BE29DF022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28704171-7792-4010-8950-7CE217D32365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Simulate how long the ball takes to reach a target</a:t>
            </a:r>
          </a:p>
        </p:txBody>
      </p:sp>
      <p:sp>
        <p:nvSpPr>
          <p:cNvPr id="5" name="">
            <a:extLst>
              <a:ext uri="{FF2B5EF4-FFF2-40B4-BE49-F238E27FC236}">
                <ns2:creationId id="{3FC824FB-B35F-4379-87B0-212F47E826CB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D1035863-8AE9-4912-91A0-E18576E4F5DD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Estimate player interception and control over that interval</a:t>
            </a:r>
          </a:p>
        </p:txBody>
      </p:sp>
      <p:sp>
        <p:nvSpPr>
          <p:cNvPr id="7" name="">
            <a:extLst>
              <a:ext uri="{FF2B5EF4-FFF2-40B4-BE49-F238E27FC236}">
                <ns2:creationId id="{9516B3FD-F777-424D-817E-BD084F16FC9B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D9F51BCD-24C0-451E-8699-ED30A12AAA0D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Combine competing control rates</a:t>
            </a:r>
          </a:p>
        </p:txBody>
      </p:sp>
      <p:pic>
        <p:nvPicPr>
          <p:cNvPr id="9" name="">
            <a:extLst>
              <a:ext uri="{FF2B5EF4-FFF2-40B4-BE49-F238E27FC236}">
                <ns2:creationId id="{85DEF9B3-70FF-44E7-8900-F3B222EFFB7D}"/>
              </a:ext>
            </a:extLst>
          </p:cNvPr>
          <p:cNvPicPr>
            <a:picLocks noChangeAspect="1"/>
          </p:cNvPicPr>
          <p:nvPr/>
        </p:nvPicPr>
        <p:blipFill>
          <a:blip r:embed="R8b46d50a8df64e29"/>
          <a:stretch/>
        </p:blipFill>
        <p:spPr>
          <a:xfrm>
            <a:off x="4095750" y="1490491"/>
            <a:ext cx="7620000" cy="4019892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036F6E3D-4F27-4557-AFC3-D03BBB9459BF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10096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Beyond Expected Goals, Spearman (2018)</a:t>
            </a:r>
          </a:p>
        </p:txBody>
      </p:sp>
      <p:sp>
        <p:nvSpPr>
          <p:cNvPr id="11" name="">
            <a:extLst>
              <a:ext uri="{FF2B5EF4-FFF2-40B4-BE49-F238E27FC236}">
                <ns2:creationId id="{D0770D42-931A-4480-A0E0-24206F327773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37 / 64</a:t>
            </a:r>
          </a:p>
        </p:txBody>
      </p:sp>
    </p:spTree>
    <p:extLst>
      <p:ext uri="{BB962C8B-B14F-4D97-AF65-F5344CB8AC3E}">
        <p14:creationId val="547236122"/>
      </p:ext>
    </p:extLst>
  </p:cSld>
</p:sld>
</file>

<file path=ppt/slides/slide38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5" name="">
            <a:extLst>
              <a:ext uri="{FF2B5EF4-FFF2-40B4-BE49-F238E27FC236}">
                <ns2:creationId id="{B4E97036-212E-4698-9FFC-DD3CF03CA32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81CE3323-8623-480C-90A6-97419A34ACD1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Expected pass completion</a:t>
            </a:r>
          </a:p>
        </p:txBody>
      </p:sp>
      <p:sp>
        <p:nvSpPr>
          <p:cNvPr id="3" name="">
            <a:extLst>
              <a:ext uri="{FF2B5EF4-FFF2-40B4-BE49-F238E27FC236}">
                <ns2:creationId id="{7A2162D4-9F5F-4480-A6B9-06538A0D2CB6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9AB47EE7-E8E9-462B-82D8-52EAC3C060CD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Specify a passer and candidate destination</a:t>
            </a:r>
          </a:p>
        </p:txBody>
      </p:sp>
      <p:sp>
        <p:nvSpPr>
          <p:cNvPr id="5" name="">
            <a:extLst>
              <a:ext uri="{FF2B5EF4-FFF2-40B4-BE49-F238E27FC236}">
                <ns2:creationId id="{BD73E57F-DA98-4C7A-A2BF-C666CA311D8F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84C951C4-3292-4357-9D90-DAB6CC74D185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Simulate ball travel and interception opportunities</a:t>
            </a:r>
          </a:p>
        </p:txBody>
      </p:sp>
      <p:sp>
        <p:nvSpPr>
          <p:cNvPr id="7" name="">
            <a:extLst>
              <a:ext uri="{FF2B5EF4-FFF2-40B4-BE49-F238E27FC236}">
                <ns2:creationId id="{F83E9A6F-36F4-4352-950D-D282C1E14689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450001F4-83BF-4FCC-BEA7-F0F91E9BAE63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Evaluate reliability on labeled attempts</a:t>
            </a:r>
          </a:p>
        </p:txBody>
      </p:sp>
      <p:pic>
        <p:nvPicPr>
          <p:cNvPr id="9" name="">
            <a:extLst>
              <a:ext uri="{FF2B5EF4-FFF2-40B4-BE49-F238E27FC236}">
                <ns2:creationId id="{20292E14-D2E5-46BC-A4A3-7ED799555705}"/>
              </a:ext>
            </a:extLst>
          </p:cNvPr>
          <p:cNvPicPr>
            <a:picLocks noChangeAspect="1"/>
          </p:cNvPicPr>
          <p:nvPr/>
        </p:nvPicPr>
        <p:blipFill>
          <a:blip r:embed="Rad122d71c2bb4419"/>
          <a:stretch/>
        </p:blipFill>
        <p:spPr>
          <a:xfrm>
            <a:off x="4785910" y="1333500"/>
            <a:ext cx="6239680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158807A4-3EBF-49F1-BC21-62E76DA38581}"/>
              </a:ext>
            </a:extLst>
          </p:cNvPr>
          <p:cNvSpPr>
            <a:spLocks noGrp="1"/>
          </p:cNvSpPr>
          <p:nvPr/>
        </p:nvSpPr>
        <p:spPr>
          <a:xfrm>
            <a:off x="571500" y="5715000"/>
            <a:ext cx="11049000" cy="409575"/>
          </a:xfrm>
          <a:prstGeom prst="rect">
            <a:avLst/>
          </a:prstGeom>
          <a:solidFill>
            <a:srgbClr val="E0EEE8"/>
          </a:solidFill>
          <a:ln w="0">
            <a:noFill/>
          </a:ln>
        </p:spPr>
      </p:sp>
      <p:sp>
        <p:nvSpPr>
          <p:cNvPr id="11" name="">
            <a:extLst>
              <a:ext uri="{FF2B5EF4-FFF2-40B4-BE49-F238E27FC236}">
                <ns2:creationId id="{F1E2F897-D9C8-4CFD-BA33-7466B7424BFB}"/>
              </a:ext>
            </a:extLst>
          </p:cNvPr>
          <p:cNvSpPr>
            <a:spLocks noGrp="1"/>
          </p:cNvSpPr>
          <p:nvPr/>
        </p:nvSpPr>
        <p:spPr>
          <a:xfrm>
            <a:off x="742950" y="579120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7D68"/>
                </a:solidFill>
                <a:latin typeface="Arial"/>
                <a:ea typeface="Arial"/>
                <a:cs typeface="Arial"/>
                <a:hlinkClick r:id="rIdWorkshop4"/>
              </a:rPr>
              <a:t>NOTEBOOK · 12_pass_completion.ipynb</a:t>
            </a:r>
          </a:p>
        </p:txBody>
      </p:sp>
      <p:sp>
        <p:nvSpPr>
          <p:cNvPr id="12" name="">
            <a:extLst>
              <a:ext uri="{FF2B5EF4-FFF2-40B4-BE49-F238E27FC236}">
                <ns2:creationId id="{30F331EF-2D88-4364-BB01-379DE472866B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DataBallPy DAS and expected completion</a:t>
            </a:r>
          </a:p>
        </p:txBody>
      </p:sp>
      <p:sp>
        <p:nvSpPr>
          <p:cNvPr id="13" name="">
            <a:extLst>
              <a:ext uri="{FF2B5EF4-FFF2-40B4-BE49-F238E27FC236}">
                <ns2:creationId id="{EE3D7F35-024C-4422-8360-1A2C70A932FC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6"/>
              </a:rPr>
              <a:t>Dangerous Accessible Space: paper and implementation</a:t>
            </a:r>
          </a:p>
        </p:txBody>
      </p:sp>
      <p:sp>
        <p:nvSpPr>
          <p:cNvPr id="14" name="">
            <a:extLst>
              <a:ext uri="{FF2B5EF4-FFF2-40B4-BE49-F238E27FC236}">
                <ns2:creationId id="{DE57BB43-D655-4471-BE7F-AEFE71AAD7A3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38 / 64</a:t>
            </a:r>
          </a:p>
        </p:txBody>
      </p:sp>
    </p:spTree>
    <p:extLst>
      <p:ext uri="{BB962C8B-B14F-4D97-AF65-F5344CB8AC3E}">
        <p14:creationId val="1070809232"/>
      </p:ext>
    </p:extLst>
  </p:cSld>
</p:sld>
</file>

<file path=ppt/slides/slide39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5" name="">
            <a:extLst>
              <a:ext uri="{FF2B5EF4-FFF2-40B4-BE49-F238E27FC236}">
                <ns2:creationId id="{2ECBE47F-48FB-4188-9EB2-2F7D5ABC004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C2FE5BE1-F403-4727-95B8-CDBFE0336359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Accessible space</a:t>
            </a:r>
          </a:p>
        </p:txBody>
      </p:sp>
      <p:sp>
        <p:nvSpPr>
          <p:cNvPr id="3" name="">
            <a:extLst>
              <a:ext uri="{FF2B5EF4-FFF2-40B4-BE49-F238E27FC236}">
                <ns2:creationId id="{67D885A6-A524-4E2E-A2B2-9A4CB5C736FF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9787956A-6DAA-4DDD-A1C6-52FD01B10766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Simulate passes across directions and speeds</a:t>
            </a:r>
          </a:p>
        </p:txBody>
      </p:sp>
      <p:sp>
        <p:nvSpPr>
          <p:cNvPr id="5" name="">
            <a:extLst>
              <a:ext uri="{FF2B5EF4-FFF2-40B4-BE49-F238E27FC236}">
                <ns2:creationId id="{E49C0452-4333-430C-BA0D-D8E21F5B23B0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40317722-8DE4-4695-8955-BD338123EF3E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Estimate where the attacking team can receive</a:t>
            </a:r>
          </a:p>
        </p:txBody>
      </p:sp>
      <p:sp>
        <p:nvSpPr>
          <p:cNvPr id="7" name="">
            <a:extLst>
              <a:ext uri="{FF2B5EF4-FFF2-40B4-BE49-F238E27FC236}">
                <ns2:creationId id="{DEB6DFC5-3FE8-45B5-8D55-CEB993443C99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77FD1BCC-5B56-4AFF-9CED-1F72B23B11AF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Integrate accessibility across the pitch</a:t>
            </a:r>
          </a:p>
        </p:txBody>
      </p:sp>
      <p:pic>
        <p:nvPicPr>
          <p:cNvPr id="9" name="">
            <a:extLst>
              <a:ext uri="{FF2B5EF4-FFF2-40B4-BE49-F238E27FC236}">
                <ns2:creationId id="{1963DE1A-CED5-4A82-BAF7-9C66B2521083}"/>
              </a:ext>
            </a:extLst>
          </p:cNvPr>
          <p:cNvPicPr>
            <a:picLocks noChangeAspect="1"/>
          </p:cNvPicPr>
          <p:nvPr/>
        </p:nvPicPr>
        <p:blipFill>
          <a:blip r:embed="R466e5f2d55ca4377"/>
          <a:stretch/>
        </p:blipFill>
        <p:spPr>
          <a:xfrm>
            <a:off x="4785910" y="1333500"/>
            <a:ext cx="6239680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E47076D0-EE42-440E-BDEF-C60BECB34DAE}"/>
              </a:ext>
            </a:extLst>
          </p:cNvPr>
          <p:cNvSpPr>
            <a:spLocks noGrp="1"/>
          </p:cNvSpPr>
          <p:nvPr/>
        </p:nvSpPr>
        <p:spPr>
          <a:xfrm>
            <a:off x="571500" y="5715000"/>
            <a:ext cx="11049000" cy="409575"/>
          </a:xfrm>
          <a:prstGeom prst="rect">
            <a:avLst/>
          </a:prstGeom>
          <a:solidFill>
            <a:srgbClr val="E0EEE8"/>
          </a:solidFill>
          <a:ln w="0">
            <a:noFill/>
          </a:ln>
        </p:spPr>
      </p:sp>
      <p:sp>
        <p:nvSpPr>
          <p:cNvPr id="11" name="">
            <a:extLst>
              <a:ext uri="{FF2B5EF4-FFF2-40B4-BE49-F238E27FC236}">
                <ns2:creationId id="{09A7DA8A-0E78-4C48-BD44-56F2498CF6A0}"/>
              </a:ext>
            </a:extLst>
          </p:cNvPr>
          <p:cNvSpPr>
            <a:spLocks noGrp="1"/>
          </p:cNvSpPr>
          <p:nvPr/>
        </p:nvSpPr>
        <p:spPr>
          <a:xfrm>
            <a:off x="742950" y="579120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7D68"/>
                </a:solidFill>
                <a:latin typeface="Arial"/>
                <a:ea typeface="Arial"/>
                <a:cs typeface="Arial"/>
                <a:hlinkClick r:id="rIdWorkshop4"/>
              </a:rPr>
              <a:t>NOTEBOOK · 13_space_and_danger.ipynb</a:t>
            </a:r>
          </a:p>
        </p:txBody>
      </p:sp>
      <p:sp>
        <p:nvSpPr>
          <p:cNvPr id="12" name="">
            <a:extLst>
              <a:ext uri="{FF2B5EF4-FFF2-40B4-BE49-F238E27FC236}">
                <ns2:creationId id="{9B1384CE-4873-4455-A373-4EBD67D72860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Dangerous Accessible Space: paper and implementation</a:t>
            </a:r>
          </a:p>
        </p:txBody>
      </p:sp>
      <p:sp>
        <p:nvSpPr>
          <p:cNvPr id="13" name="">
            <a:extLst>
              <a:ext uri="{FF2B5EF4-FFF2-40B4-BE49-F238E27FC236}">
                <ns2:creationId id="{0C777CD4-5412-4AD3-BAB7-6884B05A944C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6"/>
              </a:rPr>
              <a:t>DataBallPy DAS and expected completion</a:t>
            </a:r>
          </a:p>
        </p:txBody>
      </p:sp>
      <p:sp>
        <p:nvSpPr>
          <p:cNvPr id="14" name="">
            <a:extLst>
              <a:ext uri="{FF2B5EF4-FFF2-40B4-BE49-F238E27FC236}">
                <ns2:creationId id="{208BB068-7EDB-4BF3-9D56-26180D880888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39 / 64</a:t>
            </a:r>
          </a:p>
        </p:txBody>
      </p:sp>
    </p:spTree>
    <p:extLst>
      <p:ext uri="{BB962C8B-B14F-4D97-AF65-F5344CB8AC3E}">
        <p14:creationId val="414258959"/>
      </p:ext>
    </p:extLst>
  </p:cSld>
</p:sld>
</file>

<file path=ppt/slides/slide40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5" name="">
            <a:extLst>
              <a:ext uri="{FF2B5EF4-FFF2-40B4-BE49-F238E27FC236}">
                <ns2:creationId id="{A01A4CBC-4458-4F8B-A54D-3C236BFCFC2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116FAB73-2F88-415D-A472-E1EE21058EFD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Dangerous accessible space</a:t>
            </a:r>
          </a:p>
        </p:txBody>
      </p:sp>
      <p:sp>
        <p:nvSpPr>
          <p:cNvPr id="3" name="">
            <a:extLst>
              <a:ext uri="{FF2B5EF4-FFF2-40B4-BE49-F238E27FC236}">
                <ns2:creationId id="{273188B5-BC51-4025-92B7-192E915B6FBE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5A911C48-57D7-4D4B-8760-4229E291A8F6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Weight accessible locations by goal danger</a:t>
            </a:r>
          </a:p>
        </p:txBody>
      </p:sp>
      <p:sp>
        <p:nvSpPr>
          <p:cNvPr id="5" name="">
            <a:extLst>
              <a:ext uri="{FF2B5EF4-FFF2-40B4-BE49-F238E27FC236}">
                <ns2:creationId id="{77186BB1-75D9-4BF3-9DD5-1C16E320177C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A62B402A-52BC-40F3-B726-B7A1EC87F6AA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Integrate to obtain danger-weighted space</a:t>
            </a:r>
          </a:p>
        </p:txBody>
      </p:sp>
      <p:sp>
        <p:nvSpPr>
          <p:cNvPr id="7" name="">
            <a:extLst>
              <a:ext uri="{FF2B5EF4-FFF2-40B4-BE49-F238E27FC236}">
                <ns2:creationId id="{CDB7C830-CE9A-4AFE-9F84-78AB3D1098F8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AD15FB86-83ED-45DA-B478-04BDA8C869BE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Keep danger-weighted area distinct from scoring probability</a:t>
            </a:r>
          </a:p>
        </p:txBody>
      </p:sp>
      <p:pic>
        <p:nvPicPr>
          <p:cNvPr id="9" name="">
            <a:extLst>
              <a:ext uri="{FF2B5EF4-FFF2-40B4-BE49-F238E27FC236}">
                <ns2:creationId id="{92F1EF18-0207-47CD-B5AB-08BAB838C38E}"/>
              </a:ext>
            </a:extLst>
          </p:cNvPr>
          <p:cNvPicPr>
            <a:picLocks noChangeAspect="1"/>
          </p:cNvPicPr>
          <p:nvPr/>
        </p:nvPicPr>
        <p:blipFill>
          <a:blip r:embed="R0f2314a4318a474c"/>
          <a:stretch/>
        </p:blipFill>
        <p:spPr>
          <a:xfrm>
            <a:off x="4785910" y="1333500"/>
            <a:ext cx="6239680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5B88B498-28D0-4B43-9000-D150D8AAD488}"/>
              </a:ext>
            </a:extLst>
          </p:cNvPr>
          <p:cNvSpPr>
            <a:spLocks noGrp="1"/>
          </p:cNvSpPr>
          <p:nvPr/>
        </p:nvSpPr>
        <p:spPr>
          <a:xfrm>
            <a:off x="571500" y="5715000"/>
            <a:ext cx="11049000" cy="409575"/>
          </a:xfrm>
          <a:prstGeom prst="rect">
            <a:avLst/>
          </a:prstGeom>
          <a:solidFill>
            <a:srgbClr val="E0EEE8"/>
          </a:solidFill>
          <a:ln w="0">
            <a:noFill/>
          </a:ln>
        </p:spPr>
      </p:sp>
      <p:sp>
        <p:nvSpPr>
          <p:cNvPr id="11" name="">
            <a:extLst>
              <a:ext uri="{FF2B5EF4-FFF2-40B4-BE49-F238E27FC236}">
                <ns2:creationId id="{18C52BCD-0283-4C47-96A6-A3081E471FE5}"/>
              </a:ext>
            </a:extLst>
          </p:cNvPr>
          <p:cNvSpPr>
            <a:spLocks noGrp="1"/>
          </p:cNvSpPr>
          <p:nvPr/>
        </p:nvSpPr>
        <p:spPr>
          <a:xfrm>
            <a:off x="742950" y="579120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7D68"/>
                </a:solidFill>
                <a:latin typeface="Arial"/>
                <a:ea typeface="Arial"/>
                <a:cs typeface="Arial"/>
                <a:hlinkClick r:id="rIdWorkshop4"/>
              </a:rPr>
              <a:t>NOTEBOOK · 13_space_and_danger.ipynb</a:t>
            </a:r>
          </a:p>
        </p:txBody>
      </p:sp>
      <p:sp>
        <p:nvSpPr>
          <p:cNvPr id="12" name="">
            <a:extLst>
              <a:ext uri="{FF2B5EF4-FFF2-40B4-BE49-F238E27FC236}">
                <ns2:creationId id="{EE5EDA51-7F44-4257-B1D6-8110A1D2245F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Dangerous Accessible Space: paper and implementation</a:t>
            </a:r>
          </a:p>
        </p:txBody>
      </p:sp>
      <p:sp>
        <p:nvSpPr>
          <p:cNvPr id="13" name="">
            <a:extLst>
              <a:ext uri="{FF2B5EF4-FFF2-40B4-BE49-F238E27FC236}">
                <ns2:creationId id="{41C19D97-4D5E-4DFB-9C36-5DF218FEAD0C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6"/>
              </a:rPr>
              <a:t>DataBallPy DAS and expected completion</a:t>
            </a:r>
          </a:p>
        </p:txBody>
      </p:sp>
      <p:sp>
        <p:nvSpPr>
          <p:cNvPr id="14" name="">
            <a:extLst>
              <a:ext uri="{FF2B5EF4-FFF2-40B4-BE49-F238E27FC236}">
                <ns2:creationId id="{2590B988-771F-419F-AF28-4EDFE13C55E7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40 / 64</a:t>
            </a:r>
          </a:p>
        </p:txBody>
      </p:sp>
    </p:spTree>
    <p:extLst>
      <p:ext uri="{BB962C8B-B14F-4D97-AF65-F5344CB8AC3E}">
        <p14:creationId val="418501758"/>
      </p:ext>
    </p:extLst>
  </p:cSld>
</p:sld>
</file>

<file path=ppt/slides/slide41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4" name="">
            <a:extLst>
              <a:ext uri="{FF2B5EF4-FFF2-40B4-BE49-F238E27FC236}">
                <ns2:creationId id="{0082BC86-0563-49ED-A932-F99544184D6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581FD053-C6D1-42B1-A0B5-49EFAB512D38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Changes in dangerous space</a:t>
            </a:r>
          </a:p>
        </p:txBody>
      </p:sp>
      <p:sp>
        <p:nvSpPr>
          <p:cNvPr id="3" name="">
            <a:extLst>
              <a:ext uri="{FF2B5EF4-FFF2-40B4-BE49-F238E27FC236}">
                <ns2:creationId id="{6478207E-6EBA-41C6-B6BF-95DAE712A462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5895244F-B059-453B-B345-9FCC0FE75291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Compare the model on successive real frames</a:t>
            </a:r>
          </a:p>
        </p:txBody>
      </p:sp>
      <p:sp>
        <p:nvSpPr>
          <p:cNvPr id="5" name="">
            <a:extLst>
              <a:ext uri="{FF2B5EF4-FFF2-40B4-BE49-F238E27FC236}">
                <ns2:creationId id="{BA2CE5EF-6DAA-458A-9476-F8901A86270B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E6EA9D0B-6143-492F-919E-03347D114D59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Report AS and DAS on their own scales</a:t>
            </a:r>
          </a:p>
        </p:txBody>
      </p:sp>
      <p:sp>
        <p:nvSpPr>
          <p:cNvPr id="7" name="">
            <a:extLst>
              <a:ext uri="{FF2B5EF4-FFF2-40B4-BE49-F238E27FC236}">
                <ns2:creationId id="{55170E8F-97C9-48CF-809B-7F7B6307D34B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45D7E02B-C398-423C-9407-92227F25C2FA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Inspect the movements that change available options</a:t>
            </a:r>
          </a:p>
        </p:txBody>
      </p:sp>
      <p:pic>
        <p:nvPicPr>
          <p:cNvPr id="9" name="">
            <a:extLst>
              <a:ext uri="{FF2B5EF4-FFF2-40B4-BE49-F238E27FC236}">
                <ns2:creationId id="{B3059FC3-A61B-4156-BAE4-ED80AE783F34}"/>
              </a:ext>
            </a:extLst>
          </p:cNvPr>
          <p:cNvPicPr>
            <a:picLocks noChangeAspect="1"/>
          </p:cNvPicPr>
          <p:nvPr/>
        </p:nvPicPr>
        <p:blipFill>
          <a:blip r:embed="Rbf286a92a9914a77"/>
          <a:stretch/>
        </p:blipFill>
        <p:spPr>
          <a:xfrm>
            <a:off x="4248576" y="1333500"/>
            <a:ext cx="7314347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472C7DBC-4ADC-4DF7-9605-35FA82E924E3}"/>
              </a:ext>
            </a:extLst>
          </p:cNvPr>
          <p:cNvSpPr>
            <a:spLocks noGrp="1"/>
          </p:cNvSpPr>
          <p:nvPr/>
        </p:nvSpPr>
        <p:spPr>
          <a:xfrm>
            <a:off x="571500" y="5715000"/>
            <a:ext cx="11049000" cy="409575"/>
          </a:xfrm>
          <a:prstGeom prst="rect">
            <a:avLst/>
          </a:prstGeom>
          <a:solidFill>
            <a:srgbClr val="E0EEE8"/>
          </a:solidFill>
          <a:ln w="0">
            <a:noFill/>
          </a:ln>
        </p:spPr>
      </p:sp>
      <p:sp>
        <p:nvSpPr>
          <p:cNvPr id="11" name="">
            <a:extLst>
              <a:ext uri="{FF2B5EF4-FFF2-40B4-BE49-F238E27FC236}">
                <ns2:creationId id="{60207423-E219-4E7E-8F01-1CAA3C4D9D28}"/>
              </a:ext>
            </a:extLst>
          </p:cNvPr>
          <p:cNvSpPr>
            <a:spLocks noGrp="1"/>
          </p:cNvSpPr>
          <p:nvPr/>
        </p:nvSpPr>
        <p:spPr>
          <a:xfrm>
            <a:off x="742950" y="579120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7D68"/>
                </a:solidFill>
                <a:latin typeface="Arial"/>
                <a:ea typeface="Arial"/>
                <a:cs typeface="Arial"/>
                <a:hlinkClick r:id="rIdWorkshop4"/>
              </a:rPr>
              <a:t>NOTEBOOK · 13_space_and_danger.ipynb</a:t>
            </a:r>
          </a:p>
        </p:txBody>
      </p:sp>
      <p:sp>
        <p:nvSpPr>
          <p:cNvPr id="12" name="">
            <a:extLst>
              <a:ext uri="{FF2B5EF4-FFF2-40B4-BE49-F238E27FC236}">
                <ns2:creationId id="{6D8FDAD1-0168-41FC-B580-613B53D62309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10096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Dangerous Accessible Space: paper and implementation</a:t>
            </a:r>
          </a:p>
        </p:txBody>
      </p:sp>
      <p:sp>
        <p:nvSpPr>
          <p:cNvPr id="13" name="">
            <a:extLst>
              <a:ext uri="{FF2B5EF4-FFF2-40B4-BE49-F238E27FC236}">
                <ns2:creationId id="{ABC7BA09-C8A1-45B4-A8F9-5A756203D306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41 / 64</a:t>
            </a:r>
          </a:p>
        </p:txBody>
      </p:sp>
    </p:spTree>
    <p:extLst>
      <p:ext uri="{BB962C8B-B14F-4D97-AF65-F5344CB8AC3E}">
        <p14:creationId val="25988355"/>
      </p:ext>
    </p:extLst>
  </p:cSld>
</p:sld>
</file>

<file path=ppt/slides/slide42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3" name="">
            <a:extLst>
              <a:ext uri="{FF2B5EF4-FFF2-40B4-BE49-F238E27FC236}">
                <ns2:creationId id="{79C74A10-B774-46BC-BB0A-0EB1DA89441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5BA8229B-3D52-4048-BA87-ECCF5E1FB831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Off-ball run threat</a:t>
            </a:r>
          </a:p>
        </p:txBody>
      </p:sp>
      <p:sp>
        <p:nvSpPr>
          <p:cNvPr id="3" name="">
            <a:extLst>
              <a:ext uri="{FF2B5EF4-FFF2-40B4-BE49-F238E27FC236}">
                <ns2:creationId id="{09BB7C1F-E978-45BC-A057-870AB2BE9F1F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74519536-D94F-43D9-9804-E186CFA5E667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Evaluate a run even when no pass is made</a:t>
            </a:r>
          </a:p>
        </p:txBody>
      </p:sp>
      <p:sp>
        <p:nvSpPr>
          <p:cNvPr id="5" name="">
            <a:extLst>
              <a:ext uri="{FF2B5EF4-FFF2-40B4-BE49-F238E27FC236}">
                <ns2:creationId id="{679C6613-BD32-4328-BC15-A4B2B97979C3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C17D3CBC-15C3-4BEB-B223-592F20F0BFAE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SkillCorner’s target considers a run being served</a:t>
            </a:r>
          </a:p>
        </p:txBody>
      </p:sp>
      <p:sp>
        <p:nvSpPr>
          <p:cNvPr id="7" name="">
            <a:extLst>
              <a:ext uri="{FF2B5EF4-FFF2-40B4-BE49-F238E27FC236}">
                <ns2:creationId id="{504D7202-BEE4-4967-81AB-16B3E751FDCA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CA09714D-3D7C-429D-879A-5D1E39E85AC8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Separate run threat from location-based event xT</a:t>
            </a:r>
          </a:p>
        </p:txBody>
      </p:sp>
      <p:pic>
        <p:nvPicPr>
          <p:cNvPr id="9" name="">
            <a:extLst>
              <a:ext uri="{FF2B5EF4-FFF2-40B4-BE49-F238E27FC236}">
                <ns2:creationId id="{960E8DDC-41BD-4EDC-B917-52BB9F0D05F6}"/>
              </a:ext>
            </a:extLst>
          </p:cNvPr>
          <p:cNvPicPr>
            <a:picLocks noChangeAspect="1"/>
          </p:cNvPicPr>
          <p:nvPr/>
        </p:nvPicPr>
        <p:blipFill>
          <a:blip r:embed="R0aa43ef75a4a442d"/>
          <a:stretch/>
        </p:blipFill>
        <p:spPr>
          <a:xfrm>
            <a:off x="4243601" y="1333500"/>
            <a:ext cx="7324299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A236AE89-6B53-4715-84DC-B9A8C5D7ED01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SkillCorner: Expected Threat for off-ball runs</a:t>
            </a:r>
          </a:p>
        </p:txBody>
      </p:sp>
      <p:sp>
        <p:nvSpPr>
          <p:cNvPr id="11" name="">
            <a:extLst>
              <a:ext uri="{FF2B5EF4-FFF2-40B4-BE49-F238E27FC236}">
                <ns2:creationId id="{B51AC6AF-EF82-47E8-878D-BE418550DDB2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SkillCorner open data and schema</a:t>
            </a:r>
          </a:p>
        </p:txBody>
      </p:sp>
      <p:sp>
        <p:nvSpPr>
          <p:cNvPr id="12" name="">
            <a:extLst>
              <a:ext uri="{FF2B5EF4-FFF2-40B4-BE49-F238E27FC236}">
                <ns2:creationId id="{11E053BA-3184-4438-88D2-9887A85AD827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42 / 64</a:t>
            </a:r>
          </a:p>
        </p:txBody>
      </p:sp>
    </p:spTree>
    <p:extLst>
      <p:ext uri="{BB962C8B-B14F-4D97-AF65-F5344CB8AC3E}">
        <p14:creationId val="1740270332"/>
      </p:ext>
    </p:extLst>
  </p:cSld>
</p:sld>
</file>

<file path=ppt/slides/slide43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5" name="">
            <a:extLst>
              <a:ext uri="{FF2B5EF4-FFF2-40B4-BE49-F238E27FC236}">
                <ns2:creationId id="{9A13B71B-DF26-4817-92C6-CF46A3E8237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0D463476-2A36-45F0-A1A9-70F141BFA005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Tracking as a spatial graph</a:t>
            </a:r>
          </a:p>
        </p:txBody>
      </p:sp>
      <p:sp>
        <p:nvSpPr>
          <p:cNvPr id="3" name="">
            <a:extLst>
              <a:ext uri="{FF2B5EF4-FFF2-40B4-BE49-F238E27FC236}">
                <ns2:creationId id="{7C34DB61-5BBA-4B28-864B-9D902EB354A3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9EF97D26-9229-4D47-A014-D1278FEDBD7F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Represent players as nodes</a:t>
            </a:r>
          </a:p>
        </p:txBody>
      </p:sp>
      <p:sp>
        <p:nvSpPr>
          <p:cNvPr id="5" name="">
            <a:extLst>
              <a:ext uri="{FF2B5EF4-FFF2-40B4-BE49-F238E27FC236}">
                <ns2:creationId id="{4AE5959A-D254-4CC8-8520-A249C48920DD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0FBFBB5D-1BD3-402E-B32B-6E798675505F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Choose relationships that define spatial edges</a:t>
            </a:r>
          </a:p>
        </p:txBody>
      </p:sp>
      <p:sp>
        <p:nvSpPr>
          <p:cNvPr id="7" name="">
            <a:extLst>
              <a:ext uri="{FF2B5EF4-FFF2-40B4-BE49-F238E27FC236}">
                <ns2:creationId id="{FA3A8E13-ABC9-4969-9BFD-9DC8DE1ACE6F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5F7099AA-0BF9-4658-A000-CB6A48A552D8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Preserve identities while avoiding arbitrary row-order effects</a:t>
            </a:r>
          </a:p>
        </p:txBody>
      </p:sp>
      <p:pic>
        <p:nvPicPr>
          <p:cNvPr id="9" name="">
            <a:extLst>
              <a:ext uri="{FF2B5EF4-FFF2-40B4-BE49-F238E27FC236}">
                <ns2:creationId id="{E193951E-4813-4C9D-866B-F79E369A87F3}"/>
              </a:ext>
            </a:extLst>
          </p:cNvPr>
          <p:cNvPicPr>
            <a:picLocks noChangeAspect="1"/>
          </p:cNvPicPr>
          <p:nvPr/>
        </p:nvPicPr>
        <p:blipFill>
          <a:blip r:embed="Rb8718d4e568141ca"/>
          <a:stretch/>
        </p:blipFill>
        <p:spPr>
          <a:xfrm>
            <a:off x="4785910" y="1333500"/>
            <a:ext cx="6239680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04EC772E-E262-4ACE-877F-2D883AD922D3}"/>
              </a:ext>
            </a:extLst>
          </p:cNvPr>
          <p:cNvSpPr>
            <a:spLocks noGrp="1"/>
          </p:cNvSpPr>
          <p:nvPr/>
        </p:nvSpPr>
        <p:spPr>
          <a:xfrm>
            <a:off x="571500" y="5715000"/>
            <a:ext cx="11049000" cy="409575"/>
          </a:xfrm>
          <a:prstGeom prst="rect">
            <a:avLst/>
          </a:prstGeom>
          <a:solidFill>
            <a:srgbClr val="E0EEE8"/>
          </a:solidFill>
          <a:ln w="0">
            <a:noFill/>
          </a:ln>
        </p:spPr>
      </p:sp>
      <p:sp>
        <p:nvSpPr>
          <p:cNvPr id="11" name="">
            <a:extLst>
              <a:ext uri="{FF2B5EF4-FFF2-40B4-BE49-F238E27FC236}">
                <ns2:creationId id="{CFA65F46-C9FB-46DF-841D-C5A7B6CA552D}"/>
              </a:ext>
            </a:extLst>
          </p:cNvPr>
          <p:cNvSpPr>
            <a:spLocks noGrp="1"/>
          </p:cNvSpPr>
          <p:nvPr/>
        </p:nvSpPr>
        <p:spPr>
          <a:xfrm>
            <a:off x="742950" y="579120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7D68"/>
                </a:solidFill>
                <a:latin typeface="Arial"/>
                <a:ea typeface="Arial"/>
                <a:cs typeface="Arial"/>
                <a:hlinkClick r:id="rIdWorkshop4"/>
              </a:rPr>
              <a:t>NOTEBOOK · 16_graph_epv.ipynb</a:t>
            </a:r>
          </a:p>
        </p:txBody>
      </p:sp>
      <p:sp>
        <p:nvSpPr>
          <p:cNvPr id="12" name="">
            <a:extLst>
              <a:ext uri="{FF2B5EF4-FFF2-40B4-BE49-F238E27FC236}">
                <ns2:creationId id="{7C892166-0D7E-40D2-9530-01F5599169DA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U.S. Soccer: counterattack GNNs with SkillCorner (2023)</a:t>
            </a:r>
          </a:p>
        </p:txBody>
      </p:sp>
      <p:sp>
        <p:nvSpPr>
          <p:cNvPr id="13" name="">
            <a:extLst>
              <a:ext uri="{FF2B5EF4-FFF2-40B4-BE49-F238E27FC236}">
                <ns2:creationId id="{B4DAED33-6BB4-4D4A-BE08-6FF32B2FCC1C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6"/>
              </a:rPr>
              <a:t>TacticAI (2024)</a:t>
            </a:r>
          </a:p>
        </p:txBody>
      </p:sp>
      <p:sp>
        <p:nvSpPr>
          <p:cNvPr id="14" name="">
            <a:extLst>
              <a:ext uri="{FF2B5EF4-FFF2-40B4-BE49-F238E27FC236}">
                <ns2:creationId id="{80371A06-0E7A-48CD-8290-9460729433CA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43 / 64</a:t>
            </a:r>
          </a:p>
        </p:txBody>
      </p:sp>
    </p:spTree>
    <p:extLst>
      <p:ext uri="{BB962C8B-B14F-4D97-AF65-F5344CB8AC3E}">
        <p14:creationId val="278312941"/>
      </p:ext>
    </p:extLst>
  </p:cSld>
</p:sld>
</file>

<file path=ppt/slides/slide44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4" name="">
            <a:extLst>
              <a:ext uri="{FF2B5EF4-FFF2-40B4-BE49-F238E27FC236}">
                <ns2:creationId id="{18279B74-EF89-4AA3-B8B7-742A1430C01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D045179E-7418-4A40-8833-49037DF6A528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Node and edge features</a:t>
            </a:r>
          </a:p>
        </p:txBody>
      </p:sp>
      <p:sp>
        <p:nvSpPr>
          <p:cNvPr id="3" name="">
            <a:extLst>
              <a:ext uri="{FF2B5EF4-FFF2-40B4-BE49-F238E27FC236}">
                <ns2:creationId id="{AA601919-6560-4974-B58B-D78F5628BB66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87623AC3-E12B-4BD7-B66D-ECD46E2BCD4F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Nodes: position, velocity, team and possession</a:t>
            </a:r>
          </a:p>
        </p:txBody>
      </p:sp>
      <p:sp>
        <p:nvSpPr>
          <p:cNvPr id="5" name="">
            <a:extLst>
              <a:ext uri="{FF2B5EF4-FFF2-40B4-BE49-F238E27FC236}">
                <ns2:creationId id="{CE42B8B7-D22F-46C7-9098-DE034F8B2541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31EC612C-582B-4030-9B18-8FC88BB0171B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Edges: distance, relative position and team relation</a:t>
            </a:r>
          </a:p>
        </p:txBody>
      </p:sp>
      <p:sp>
        <p:nvSpPr>
          <p:cNvPr id="7" name="">
            <a:extLst>
              <a:ext uri="{FF2B5EF4-FFF2-40B4-BE49-F238E27FC236}">
                <ns2:creationId id="{D3F782F7-8216-4373-8278-C5FFAE62B763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C4DCF732-3FE8-40C5-8323-A6F3FB4FDAC4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Normalize and mask missing features explicitly</a:t>
            </a:r>
          </a:p>
        </p:txBody>
      </p:sp>
      <p:pic>
        <p:nvPicPr>
          <p:cNvPr id="9" name="">
            <a:extLst>
              <a:ext uri="{FF2B5EF4-FFF2-40B4-BE49-F238E27FC236}">
                <ns2:creationId id="{7D50D50C-B452-43AA-898F-8D8BCEC9D243}"/>
              </a:ext>
            </a:extLst>
          </p:cNvPr>
          <p:cNvPicPr>
            <a:picLocks noChangeAspect="1"/>
          </p:cNvPicPr>
          <p:nvPr/>
        </p:nvPicPr>
        <p:blipFill>
          <a:blip r:embed="R31e4945474a74296"/>
          <a:stretch/>
        </p:blipFill>
        <p:spPr>
          <a:xfrm>
            <a:off x="4254473" y="1333500"/>
            <a:ext cx="7302555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E3F6973D-6544-434C-BC3F-3F5D5F651BD7}"/>
              </a:ext>
            </a:extLst>
          </p:cNvPr>
          <p:cNvSpPr>
            <a:spLocks noGrp="1"/>
          </p:cNvSpPr>
          <p:nvPr/>
        </p:nvSpPr>
        <p:spPr>
          <a:xfrm>
            <a:off x="571500" y="5715000"/>
            <a:ext cx="11049000" cy="409575"/>
          </a:xfrm>
          <a:prstGeom prst="rect">
            <a:avLst/>
          </a:prstGeom>
          <a:solidFill>
            <a:srgbClr val="E0EEE8"/>
          </a:solidFill>
          <a:ln w="0">
            <a:noFill/>
          </a:ln>
        </p:spPr>
      </p:sp>
      <p:sp>
        <p:nvSpPr>
          <p:cNvPr id="11" name="">
            <a:extLst>
              <a:ext uri="{FF2B5EF4-FFF2-40B4-BE49-F238E27FC236}">
                <ns2:creationId id="{A5E9A0A3-43A7-4916-BF7F-385397F0E45B}"/>
              </a:ext>
            </a:extLst>
          </p:cNvPr>
          <p:cNvSpPr>
            <a:spLocks noGrp="1"/>
          </p:cNvSpPr>
          <p:nvPr/>
        </p:nvSpPr>
        <p:spPr>
          <a:xfrm>
            <a:off x="742950" y="579120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7D68"/>
                </a:solidFill>
                <a:latin typeface="Arial"/>
                <a:ea typeface="Arial"/>
                <a:cs typeface="Arial"/>
                <a:hlinkClick r:id="rIdWorkshop4"/>
              </a:rPr>
              <a:t>NOTEBOOK · 16_graph_epv.ipynb</a:t>
            </a:r>
          </a:p>
        </p:txBody>
      </p:sp>
      <p:sp>
        <p:nvSpPr>
          <p:cNvPr id="12" name="">
            <a:extLst>
              <a:ext uri="{FF2B5EF4-FFF2-40B4-BE49-F238E27FC236}">
                <ns2:creationId id="{83BC912F-417E-4554-88FC-5ACEAB6FB602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10096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U.S. Soccer: counterattack GNNs with SkillCorner (2023)</a:t>
            </a:r>
          </a:p>
        </p:txBody>
      </p:sp>
      <p:sp>
        <p:nvSpPr>
          <p:cNvPr id="13" name="">
            <a:extLst>
              <a:ext uri="{FF2B5EF4-FFF2-40B4-BE49-F238E27FC236}">
                <ns2:creationId id="{F510F64E-332C-4C93-B687-9B3839FC6F10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44 / 64</a:t>
            </a:r>
          </a:p>
        </p:txBody>
      </p:sp>
    </p:spTree>
    <p:extLst>
      <p:ext uri="{BB962C8B-B14F-4D97-AF65-F5344CB8AC3E}">
        <p14:creationId val="212544758"/>
      </p:ext>
    </p:extLst>
  </p:cSld>
</p:sld>
</file>

<file path=ppt/slides/slide45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5" name="">
            <a:extLst>
              <a:ext uri="{FF2B5EF4-FFF2-40B4-BE49-F238E27FC236}">
                <ns2:creationId id="{14DEDF00-A383-45F4-83A4-572927C8D68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5772D382-09CD-42CD-8FA7-8133021A40C9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Graph neural message passing</a:t>
            </a:r>
          </a:p>
        </p:txBody>
      </p:sp>
      <p:sp>
        <p:nvSpPr>
          <p:cNvPr id="3" name="">
            <a:extLst>
              <a:ext uri="{FF2B5EF4-FFF2-40B4-BE49-F238E27FC236}">
                <ns2:creationId id="{102BF23C-3752-44A6-A8D3-9BF0F44854EB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8BFA377D-4DAE-4097-9C5B-5E94B61734C7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Create messages from players and their relationships</a:t>
            </a:r>
          </a:p>
        </p:txBody>
      </p:sp>
      <p:sp>
        <p:nvSpPr>
          <p:cNvPr id="5" name="">
            <a:extLst>
              <a:ext uri="{FF2B5EF4-FFF2-40B4-BE49-F238E27FC236}">
                <ns2:creationId id="{5403DAAF-3D5F-4DDA-984D-B5709B33BF66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56783D2B-3E3D-4A56-BE3C-4E6F753917D6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Aggregate neighbour messages with shared functions</a:t>
            </a:r>
          </a:p>
        </p:txBody>
      </p:sp>
      <p:sp>
        <p:nvSpPr>
          <p:cNvPr id="7" name="">
            <a:extLst>
              <a:ext uri="{FF2B5EF4-FFF2-40B4-BE49-F238E27FC236}">
                <ns2:creationId id="{B431C048-271B-4F30-B37D-A61A4C7877DB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F2D006D8-2300-48AE-ABAD-F969BE5362FA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Update player representations for a prediction task</a:t>
            </a:r>
          </a:p>
        </p:txBody>
      </p:sp>
      <p:pic>
        <p:nvPicPr>
          <p:cNvPr id="9" name="">
            <a:extLst>
              <a:ext uri="{FF2B5EF4-FFF2-40B4-BE49-F238E27FC236}">
                <ns2:creationId id="{F3BBFEA6-DD55-4C28-AA90-ABDD2C701079}"/>
              </a:ext>
            </a:extLst>
          </p:cNvPr>
          <p:cNvPicPr>
            <a:picLocks noChangeAspect="1"/>
          </p:cNvPicPr>
          <p:nvPr/>
        </p:nvPicPr>
        <p:blipFill>
          <a:blip r:embed="Rd4d2c0500286474d"/>
          <a:stretch/>
        </p:blipFill>
        <p:spPr>
          <a:xfrm>
            <a:off x="4095750" y="1490491"/>
            <a:ext cx="7620000" cy="4019892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82E6A34F-68CD-4599-A2D7-2DF0C9BE5EBD}"/>
              </a:ext>
            </a:extLst>
          </p:cNvPr>
          <p:cNvSpPr>
            <a:spLocks noGrp="1"/>
          </p:cNvSpPr>
          <p:nvPr/>
        </p:nvSpPr>
        <p:spPr>
          <a:xfrm>
            <a:off x="571500" y="5715000"/>
            <a:ext cx="11049000" cy="409575"/>
          </a:xfrm>
          <a:prstGeom prst="rect">
            <a:avLst/>
          </a:prstGeom>
          <a:solidFill>
            <a:srgbClr val="E0EEE8"/>
          </a:solidFill>
          <a:ln w="0">
            <a:noFill/>
          </a:ln>
        </p:spPr>
      </p:sp>
      <p:sp>
        <p:nvSpPr>
          <p:cNvPr id="11" name="">
            <a:extLst>
              <a:ext uri="{FF2B5EF4-FFF2-40B4-BE49-F238E27FC236}">
                <ns2:creationId id="{2B6C77E1-EA94-49CD-8C26-2F1E67CED771}"/>
              </a:ext>
            </a:extLst>
          </p:cNvPr>
          <p:cNvSpPr>
            <a:spLocks noGrp="1"/>
          </p:cNvSpPr>
          <p:nvPr/>
        </p:nvSpPr>
        <p:spPr>
          <a:xfrm>
            <a:off x="742950" y="579120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7D68"/>
                </a:solidFill>
                <a:latin typeface="Arial"/>
                <a:ea typeface="Arial"/>
                <a:cs typeface="Arial"/>
                <a:hlinkClick r:id="rIdWorkshop4"/>
              </a:rPr>
              <a:t>NOTEBOOK · 16_graph_epv.ipynb</a:t>
            </a:r>
          </a:p>
        </p:txBody>
      </p:sp>
      <p:sp>
        <p:nvSpPr>
          <p:cNvPr id="12" name="">
            <a:extLst>
              <a:ext uri="{FF2B5EF4-FFF2-40B4-BE49-F238E27FC236}">
                <ns2:creationId id="{7BAC2EF8-C74C-404F-8FC9-374750859903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TacticAI (2024)</a:t>
            </a:r>
          </a:p>
        </p:txBody>
      </p:sp>
      <p:sp>
        <p:nvSpPr>
          <p:cNvPr id="13" name="">
            <a:extLst>
              <a:ext uri="{FF2B5EF4-FFF2-40B4-BE49-F238E27FC236}">
                <ns2:creationId id="{9F43918C-EB0E-4777-AAEA-BCE4A37FB416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6"/>
              </a:rPr>
              <a:t>DEFCON: GNN-based defensive EPV (2026)</a:t>
            </a:r>
          </a:p>
        </p:txBody>
      </p:sp>
      <p:sp>
        <p:nvSpPr>
          <p:cNvPr id="14" name="">
            <a:extLst>
              <a:ext uri="{FF2B5EF4-FFF2-40B4-BE49-F238E27FC236}">
                <ns2:creationId id="{25826878-761E-48B7-B4F5-4630483FAD2F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45 / 64</a:t>
            </a:r>
          </a:p>
        </p:txBody>
      </p:sp>
    </p:spTree>
    <p:extLst>
      <p:ext uri="{BB962C8B-B14F-4D97-AF65-F5344CB8AC3E}">
        <p14:creationId val="391854102"/>
      </p:ext>
    </p:extLst>
  </p:cSld>
</p:sld>
</file>

<file path=ppt/slides/slide46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3" name="">
            <a:extLst>
              <a:ext uri="{FF2B5EF4-FFF2-40B4-BE49-F238E27FC236}">
                <ns2:creationId id="{5D0A322F-61F3-4B58-BC04-62CB89561FB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D7E7D270-3108-44AB-943E-867C9FA41C36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Temporal node features</a:t>
            </a:r>
          </a:p>
        </p:txBody>
      </p:sp>
      <p:sp>
        <p:nvSpPr>
          <p:cNvPr id="3" name="">
            <a:extLst>
              <a:ext uri="{FF2B5EF4-FFF2-40B4-BE49-F238E27FC236}">
                <ns2:creationId id="{B7555AD7-A35D-49DC-BAE8-5CC20CF5739F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07A12693-7A0A-4B41-A758-E844486FB066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Add lagged speed, displacement and relative movement</a:t>
            </a:r>
          </a:p>
        </p:txBody>
      </p:sp>
      <p:sp>
        <p:nvSpPr>
          <p:cNvPr id="5" name="">
            <a:extLst>
              <a:ext uri="{FF2B5EF4-FFF2-40B4-BE49-F238E27FC236}">
                <ns2:creationId id="{90E3D8B4-0FD1-4CBD-A237-19A744BFF00B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BA81D78C-503B-4E55-BE75-2ABD43336D02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Use rolling history only up to prediction time</a:t>
            </a:r>
          </a:p>
        </p:txBody>
      </p:sp>
      <p:sp>
        <p:nvSpPr>
          <p:cNvPr id="7" name="">
            <a:extLst>
              <a:ext uri="{FF2B5EF4-FFF2-40B4-BE49-F238E27FC236}">
                <ns2:creationId id="{8B51639E-19CF-4DD6-B043-028367598CEF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2E1910AB-0950-4A82-B7EE-667771DEA575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Include elapsed time and missing-history masks</a:t>
            </a:r>
          </a:p>
        </p:txBody>
      </p:sp>
      <p:pic>
        <p:nvPicPr>
          <p:cNvPr id="9" name="">
            <a:extLst>
              <a:ext uri="{FF2B5EF4-FFF2-40B4-BE49-F238E27FC236}">
                <ns2:creationId id="{7A12F3DD-73D5-403F-ADCB-5F94281CA6E9}"/>
              </a:ext>
            </a:extLst>
          </p:cNvPr>
          <p:cNvPicPr>
            <a:picLocks noChangeAspect="1"/>
          </p:cNvPicPr>
          <p:nvPr/>
        </p:nvPicPr>
        <p:blipFill>
          <a:blip r:embed="R5c5dee53de714e45"/>
          <a:stretch/>
        </p:blipFill>
        <p:spPr>
          <a:xfrm>
            <a:off x="4188868" y="1333500"/>
            <a:ext cx="7433765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34A74BCF-B0CB-40A0-92EB-D0C43513DB43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U.S. Soccer: counterattack GNNs with SkillCorner (2023)</a:t>
            </a:r>
          </a:p>
        </p:txBody>
      </p:sp>
      <p:sp>
        <p:nvSpPr>
          <p:cNvPr id="11" name="">
            <a:extLst>
              <a:ext uri="{FF2B5EF4-FFF2-40B4-BE49-F238E27FC236}">
                <ns2:creationId id="{33B86100-0A0F-4DC1-B4C1-B0609B47933C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DataBallPy preprocessing</a:t>
            </a:r>
          </a:p>
        </p:txBody>
      </p:sp>
      <p:sp>
        <p:nvSpPr>
          <p:cNvPr id="12" name="">
            <a:extLst>
              <a:ext uri="{FF2B5EF4-FFF2-40B4-BE49-F238E27FC236}">
                <ns2:creationId id="{FF43F32F-65AE-4049-89AA-CE1739E2EA2C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46 / 64</a:t>
            </a:r>
          </a:p>
        </p:txBody>
      </p:sp>
    </p:spTree>
    <p:extLst>
      <p:ext uri="{BB962C8B-B14F-4D97-AF65-F5344CB8AC3E}">
        <p14:creationId val="637247099"/>
      </p:ext>
    </p:extLst>
  </p:cSld>
</p:sld>
</file>

<file path=ppt/slides/slide47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4" name="">
            <a:extLst>
              <a:ext uri="{FF2B5EF4-FFF2-40B4-BE49-F238E27FC236}">
                <ns2:creationId id="{462E4A07-F168-4D1D-90D5-E4126BC0D2E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A32ACC9E-1FC5-4B43-A065-085FD7BACE5C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Dynamic graphs over time</a:t>
            </a:r>
          </a:p>
        </p:txBody>
      </p:sp>
      <p:sp>
        <p:nvSpPr>
          <p:cNvPr id="3" name="">
            <a:extLst>
              <a:ext uri="{FF2B5EF4-FFF2-40B4-BE49-F238E27FC236}">
                <ns2:creationId id="{986E6C31-5EEC-49DB-9092-1C0ACD0F1785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A2FC5109-A8F4-4616-A7C7-FA48BE0BE14D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Recompute spatial edges as players move</a:t>
            </a:r>
          </a:p>
        </p:txBody>
      </p:sp>
      <p:sp>
        <p:nvSpPr>
          <p:cNvPr id="5" name="">
            <a:extLst>
              <a:ext uri="{FF2B5EF4-FFF2-40B4-BE49-F238E27FC236}">
                <ns2:creationId id="{E0515312-684B-467B-B2DC-639FE38BFF01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55B45A26-AE59-4706-A1DA-1FF4451A16A5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Maintain player identities across snapshots</a:t>
            </a:r>
          </a:p>
        </p:txBody>
      </p:sp>
      <p:sp>
        <p:nvSpPr>
          <p:cNvPr id="7" name="">
            <a:extLst>
              <a:ext uri="{FF2B5EF4-FFF2-40B4-BE49-F238E27FC236}">
                <ns2:creationId id="{A5EC4CFC-9E94-4F2E-BF1A-21EF224E6E1F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36D4398A-11D3-4C93-ADD7-E09CE0856083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Model changing passing lanes and defensive relationships</a:t>
            </a:r>
          </a:p>
        </p:txBody>
      </p:sp>
      <p:pic>
        <p:nvPicPr>
          <p:cNvPr id="9" name="Video: Dynamic graphs over time" descr="Embedded MP4. Click to play. Embedded MP4 of real player motion and 20 m radius edges, recomputed at native 10 Hz. This player-only topology illustration differs from the workshop trained model, which adds a ball node and ball connections. No learned edge importance is displayed.">
            <a:extLst>
              <a:ext uri="{FF2B5EF4-FFF2-40B4-BE49-F238E27FC236}">
                <ns2:creationId id="{3000CD1F-192C-496E-A0E3-2172C1B17D02}"/>
              </a:ext>
            </a:extLst>
            <a:hlinkClick action="ppaction://media"/>
          </p:cNvPr>
          <p:cNvPicPr>
            <a:picLocks noChangeAspect="1"/>
          </p:cNvPicPr>
          <p:nvPr>
            <a:videoFile r:link="rIdWorkshopVideo"/>
            <p:extLst>
              <p:ext uri="{DAA4B4D4-6D71-4841-9C94-3DE7FCFBED7A}">
                <p14:media r:embed="rIdWorkshopMedia"/>
              </p:ext>
            </p:extLst>
          </p:nvPr>
        </p:nvPicPr>
        <p:blipFill>
          <a:blip r:embed="R68e714d929be4efe"/>
          <a:stretch/>
        </p:blipFill>
        <p:spPr>
          <a:xfrm>
            <a:off x="4349750" y="1381125"/>
            <a:ext cx="7112000" cy="4000500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BBCCAF0C-9C6B-494D-A52D-381AD8ABD8E9}"/>
              </a:ext>
            </a:extLst>
          </p:cNvPr>
          <p:cNvSpPr>
            <a:spLocks noGrp="1"/>
          </p:cNvSpPr>
          <p:nvPr/>
        </p:nvSpPr>
        <p:spPr>
          <a:xfrm>
            <a:off x="4286250" y="5467350"/>
            <a:ext cx="7239000" cy="228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▶ Click the video to play · embedded MP4</a:t>
            </a:r>
          </a:p>
        </p:txBody>
      </p:sp>
      <p:sp>
        <p:nvSpPr>
          <p:cNvPr id="11" name="">
            <a:extLst>
              <a:ext uri="{FF2B5EF4-FFF2-40B4-BE49-F238E27FC236}">
                <ns2:creationId id="{DABACF09-2B8D-495A-A149-E82920C436CE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U.S. Soccer: counterattack GNNs with SkillCorner (2023)</a:t>
            </a:r>
          </a:p>
        </p:txBody>
      </p:sp>
      <p:sp>
        <p:nvSpPr>
          <p:cNvPr id="12" name="">
            <a:extLst>
              <a:ext uri="{FF2B5EF4-FFF2-40B4-BE49-F238E27FC236}">
                <ns2:creationId id="{ECA86F8A-238F-4EAA-82A4-E5864F59A3FB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PathCRF: player trajectories to events (2026)</a:t>
            </a:r>
          </a:p>
        </p:txBody>
      </p:sp>
      <p:sp>
        <p:nvSpPr>
          <p:cNvPr id="13" name="">
            <a:extLst>
              <a:ext uri="{FF2B5EF4-FFF2-40B4-BE49-F238E27FC236}">
                <ns2:creationId id="{D6FA6757-3A00-4ACB-A47D-4B8C3048857B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47 / 64</a:t>
            </a:r>
          </a:p>
        </p:txBody>
      </p:sp>
    </p:spTree>
    <p:extLst>
      <p:ext uri="{BB962C8B-B14F-4D97-AF65-F5344CB8AC3E}">
        <p14:creationId val="189786739"/>
      </p:ext>
    </p:extLst>
  </p:cSld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48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2" name="">
            <a:extLst>
              <a:ext uri="{FF2B5EF4-FFF2-40B4-BE49-F238E27FC236}">
                <ns2:creationId id="{B89C5ADA-54ED-47D5-B188-6962396DBD2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7157E4A9-B419-4F53-982C-362ADC6998C8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Temporal edges between snapshots</a:t>
            </a:r>
          </a:p>
        </p:txBody>
      </p:sp>
      <p:sp>
        <p:nvSpPr>
          <p:cNvPr id="3" name="">
            <a:extLst>
              <a:ext uri="{FF2B5EF4-FFF2-40B4-BE49-F238E27FC236}">
                <ns2:creationId id="{276E67A5-FD7E-4B15-AA3B-1C638FE6120D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93DF2966-9C33-41D7-87CE-7CC5D6E58F71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Link each player to their previous observed state</a:t>
            </a:r>
          </a:p>
        </p:txBody>
      </p:sp>
      <p:sp>
        <p:nvSpPr>
          <p:cNvPr id="5" name="">
            <a:extLst>
              <a:ext uri="{FF2B5EF4-FFF2-40B4-BE49-F238E27FC236}">
                <ns2:creationId id="{1AFA1C30-CF6A-41BD-A662-E7A0345F9051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E16AA2F2-430A-482E-9787-8A313E4829CE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Retain spatial edges within each frame</a:t>
            </a:r>
          </a:p>
        </p:txBody>
      </p:sp>
      <p:sp>
        <p:nvSpPr>
          <p:cNvPr id="7" name="">
            <a:extLst>
              <a:ext uri="{FF2B5EF4-FFF2-40B4-BE49-F238E27FC236}">
                <ns2:creationId id="{628782EE-E467-4112-A4F7-9E52176DCDAD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FB8C4416-08BC-46D3-9F90-72E436C7CB34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Direct historical connections toward the prediction time</a:t>
            </a:r>
          </a:p>
        </p:txBody>
      </p:sp>
      <p:pic>
        <p:nvPicPr>
          <p:cNvPr id="9" name="">
            <a:extLst>
              <a:ext uri="{FF2B5EF4-FFF2-40B4-BE49-F238E27FC236}">
                <ns2:creationId id="{2445CA78-2181-4B0D-B845-5CA8047190BA}"/>
              </a:ext>
            </a:extLst>
          </p:cNvPr>
          <p:cNvPicPr>
            <a:picLocks noChangeAspect="1"/>
          </p:cNvPicPr>
          <p:nvPr/>
        </p:nvPicPr>
        <p:blipFill>
          <a:blip r:embed="R27dcbb94d5d44681"/>
          <a:stretch/>
        </p:blipFill>
        <p:spPr>
          <a:xfrm>
            <a:off x="4258650" y="1333500"/>
            <a:ext cx="7294199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7F3FBB0E-4DB4-4E01-ABB0-1B10DE053867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10096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PathCRF: player trajectories to events (2026)</a:t>
            </a:r>
          </a:p>
        </p:txBody>
      </p:sp>
      <p:sp>
        <p:nvSpPr>
          <p:cNvPr id="11" name="">
            <a:extLst>
              <a:ext uri="{FF2B5EF4-FFF2-40B4-BE49-F238E27FC236}">
                <ns2:creationId id="{2D6C36ED-76D6-4B2F-952A-DACFDC45AAD3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48 / 64</a:t>
            </a:r>
          </a:p>
        </p:txBody>
      </p:sp>
    </p:spTree>
    <p:extLst>
      <p:ext uri="{BB962C8B-B14F-4D97-AF65-F5344CB8AC3E}">
        <p14:creationId val="1467472370"/>
      </p:ext>
    </p:extLst>
  </p:cSld>
</p:sld>
</file>

<file path=ppt/slides/slide49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2" name="">
            <a:extLst>
              <a:ext uri="{FF2B5EF4-FFF2-40B4-BE49-F238E27FC236}">
                <ns2:creationId id="{96F45DFF-D081-4545-B026-B38C53A94A2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C8CDD2ED-8198-46D2-93A7-0FF4713CF863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Recurrent temporal graph models</a:t>
            </a:r>
          </a:p>
        </p:txBody>
      </p:sp>
      <p:sp>
        <p:nvSpPr>
          <p:cNvPr id="3" name="">
            <a:extLst>
              <a:ext uri="{FF2B5EF4-FFF2-40B4-BE49-F238E27FC236}">
                <ns2:creationId id="{E90C4DB1-276E-4E91-AC1B-3CFC6AFB76AD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5D43B5F0-050F-4E7A-81D8-2B9A6642F9D7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Encode each frame with a spatial GNN</a:t>
            </a:r>
          </a:p>
        </p:txBody>
      </p:sp>
      <p:sp>
        <p:nvSpPr>
          <p:cNvPr id="5" name="">
            <a:extLst>
              <a:ext uri="{FF2B5EF4-FFF2-40B4-BE49-F238E27FC236}">
                <ns2:creationId id="{44EC160C-B3B6-4471-8B3C-4678439B3F34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F28554D5-6A7D-45E8-80C7-9963127A745F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Update a recurrent hidden state as frames arrive</a:t>
            </a:r>
          </a:p>
        </p:txBody>
      </p:sp>
      <p:sp>
        <p:nvSpPr>
          <p:cNvPr id="7" name="">
            <a:extLst>
              <a:ext uri="{FF2B5EF4-FFF2-40B4-BE49-F238E27FC236}">
                <ns2:creationId id="{C70CD528-BD47-487E-B643-86CE8F85AE6D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9CC68DFE-4C9C-4963-9B16-8A2020254C27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Predict from the accumulated historical state</a:t>
            </a:r>
          </a:p>
        </p:txBody>
      </p:sp>
      <p:pic>
        <p:nvPicPr>
          <p:cNvPr id="9" name="">
            <a:extLst>
              <a:ext uri="{FF2B5EF4-FFF2-40B4-BE49-F238E27FC236}">
                <ns2:creationId id="{89B0FC1C-2809-4F24-9760-5CA27120A835}"/>
              </a:ext>
            </a:extLst>
          </p:cNvPr>
          <p:cNvPicPr>
            <a:picLocks noChangeAspect="1"/>
          </p:cNvPicPr>
          <p:nvPr/>
        </p:nvPicPr>
        <p:blipFill>
          <a:blip r:embed="R313f499e24924d8f"/>
          <a:stretch/>
        </p:blipFill>
        <p:spPr>
          <a:xfrm>
            <a:off x="4095750" y="1490491"/>
            <a:ext cx="7620000" cy="4019892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7941ED70-0E23-4F37-9A47-BD6C02B3943D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10096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PyTorch Geometric Temporal architectures</a:t>
            </a:r>
          </a:p>
        </p:txBody>
      </p:sp>
      <p:sp>
        <p:nvSpPr>
          <p:cNvPr id="11" name="">
            <a:extLst>
              <a:ext uri="{FF2B5EF4-FFF2-40B4-BE49-F238E27FC236}">
                <ns2:creationId id="{24E16855-016D-42D1-A59A-9448FF65A173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49 / 64</a:t>
            </a:r>
          </a:p>
        </p:txBody>
      </p:sp>
    </p:spTree>
    <p:extLst>
      <p:ext uri="{BB962C8B-B14F-4D97-AF65-F5344CB8AC3E}">
        <p14:creationId val="1155279665"/>
      </p:ext>
    </p:extLst>
  </p:cSld>
</p:sld>
</file>

<file path=ppt/slides/slide50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2" name="">
            <a:extLst>
              <a:ext uri="{FF2B5EF4-FFF2-40B4-BE49-F238E27FC236}">
                <ns2:creationId id="{4C4085A3-D0B0-4955-A67C-5AB864C6773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D244A2E7-1913-476D-B35D-D8C85C984C41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Temporal convolution on graph history</a:t>
            </a:r>
          </a:p>
        </p:txBody>
      </p:sp>
      <p:sp>
        <p:nvSpPr>
          <p:cNvPr id="3" name="">
            <a:extLst>
              <a:ext uri="{FF2B5EF4-FFF2-40B4-BE49-F238E27FC236}">
                <ns2:creationId id="{954608DF-3CC0-43AC-8435-371F57FD88B1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640DA0EF-797B-4E55-9E67-7B73FBC63EDB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Stack frame-level graph embeddings over time</a:t>
            </a:r>
          </a:p>
        </p:txBody>
      </p:sp>
      <p:sp>
        <p:nvSpPr>
          <p:cNvPr id="5" name="">
            <a:extLst>
              <a:ext uri="{FF2B5EF4-FFF2-40B4-BE49-F238E27FC236}">
                <ns2:creationId id="{837108EA-657E-438A-887C-4A068A7B853D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626B3232-479E-4ECC-A932-0086BB12BEA6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Apply causal filters across historical windows</a:t>
            </a:r>
          </a:p>
        </p:txBody>
      </p:sp>
      <p:sp>
        <p:nvSpPr>
          <p:cNvPr id="7" name="">
            <a:extLst>
              <a:ext uri="{FF2B5EF4-FFF2-40B4-BE49-F238E27FC236}">
                <ns2:creationId id="{81AFBF0E-2C19-4FD3-A32F-7C1EED38BCC5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029D5864-B3A3-4D68-825C-278AF250E811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Control the receptive field with layers and dilation</a:t>
            </a:r>
          </a:p>
        </p:txBody>
      </p:sp>
      <p:pic>
        <p:nvPicPr>
          <p:cNvPr id="9" name="">
            <a:extLst>
              <a:ext uri="{FF2B5EF4-FFF2-40B4-BE49-F238E27FC236}">
                <ns2:creationId id="{4D6EC799-808D-40FF-AC55-9A2E5B432498}"/>
              </a:ext>
            </a:extLst>
          </p:cNvPr>
          <p:cNvPicPr>
            <a:picLocks noChangeAspect="1"/>
          </p:cNvPicPr>
          <p:nvPr/>
        </p:nvPicPr>
        <p:blipFill>
          <a:blip r:embed="R9c5d6253360b4042"/>
          <a:stretch/>
        </p:blipFill>
        <p:spPr>
          <a:xfrm>
            <a:off x="4095750" y="1490491"/>
            <a:ext cx="7620000" cy="4019892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99BF5219-4BB4-4925-B7BF-A85754E8E179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10096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Temporal convolution for sequence modeling</a:t>
            </a:r>
          </a:p>
        </p:txBody>
      </p:sp>
      <p:sp>
        <p:nvSpPr>
          <p:cNvPr id="11" name="">
            <a:extLst>
              <a:ext uri="{FF2B5EF4-FFF2-40B4-BE49-F238E27FC236}">
                <ns2:creationId id="{DD1AF974-C81B-499C-B596-01BDFE64B47D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50 / 64</a:t>
            </a:r>
          </a:p>
        </p:txBody>
      </p:sp>
    </p:spTree>
    <p:extLst>
      <p:ext uri="{BB962C8B-B14F-4D97-AF65-F5344CB8AC3E}">
        <p14:creationId val="2100335580"/>
      </p:ext>
    </p:extLst>
  </p:cSld>
</p:sld>
</file>

<file path=ppt/slides/slide51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3" name="">
            <a:extLst>
              <a:ext uri="{FF2B5EF4-FFF2-40B4-BE49-F238E27FC236}">
                <ns2:creationId id="{1CFB9664-1437-4FA4-8B40-291057E5406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35CFAEED-63DE-4D61-9A67-E3F3174BD651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Causal temporal attention</a:t>
            </a:r>
          </a:p>
        </p:txBody>
      </p:sp>
      <p:sp>
        <p:nvSpPr>
          <p:cNvPr id="3" name="">
            <a:extLst>
              <a:ext uri="{FF2B5EF4-FFF2-40B4-BE49-F238E27FC236}">
                <ns2:creationId id="{E222E665-8A8A-448B-8331-EC0318AFEDD5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6D35F763-06DB-499D-9948-802D2F72A6BD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Add time information to historical graph embeddings</a:t>
            </a:r>
          </a:p>
        </p:txBody>
      </p:sp>
      <p:sp>
        <p:nvSpPr>
          <p:cNvPr id="5" name="">
            <a:extLst>
              <a:ext uri="{FF2B5EF4-FFF2-40B4-BE49-F238E27FC236}">
                <ns2:creationId id="{579F872F-84E8-41E8-B420-53BCD1751D57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DF5BB5FE-151C-4F98-948A-858C2EDEC2FB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Attend to relevant earlier states</a:t>
            </a:r>
          </a:p>
        </p:txBody>
      </p:sp>
      <p:sp>
        <p:nvSpPr>
          <p:cNvPr id="7" name="">
            <a:extLst>
              <a:ext uri="{FF2B5EF4-FFF2-40B4-BE49-F238E27FC236}">
                <ns2:creationId id="{5199B55A-2398-45B9-B4D0-46BA74B8E7F0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DF9C21D4-2C11-4A02-A7F1-E8010B0CF79E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Mask future frames and missing observations</a:t>
            </a:r>
          </a:p>
        </p:txBody>
      </p:sp>
      <p:pic>
        <p:nvPicPr>
          <p:cNvPr id="9" name="">
            <a:extLst>
              <a:ext uri="{FF2B5EF4-FFF2-40B4-BE49-F238E27FC236}">
                <ns2:creationId id="{605FCA3F-EE40-48AE-A042-5E5823A8651C}"/>
              </a:ext>
            </a:extLst>
          </p:cNvPr>
          <p:cNvPicPr>
            <a:picLocks noChangeAspect="1"/>
          </p:cNvPicPr>
          <p:nvPr/>
        </p:nvPicPr>
        <p:blipFill>
          <a:blip r:embed="R49596c0ac3154f6b"/>
          <a:stretch/>
        </p:blipFill>
        <p:spPr>
          <a:xfrm>
            <a:off x="4095750" y="1490491"/>
            <a:ext cx="7620000" cy="4019892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8F5B11E9-6439-492A-A57A-AE4F01EA94F2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Attention Is All You Need</a:t>
            </a:r>
          </a:p>
        </p:txBody>
      </p:sp>
      <p:sp>
        <p:nvSpPr>
          <p:cNvPr id="11" name="">
            <a:extLst>
              <a:ext uri="{FF2B5EF4-FFF2-40B4-BE49-F238E27FC236}">
                <ns2:creationId id="{F06934C5-1FAE-452F-A0B4-6775E2787A57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PyTorch Geometric Temporal architectures</a:t>
            </a:r>
          </a:p>
        </p:txBody>
      </p:sp>
      <p:sp>
        <p:nvSpPr>
          <p:cNvPr id="12" name="">
            <a:extLst>
              <a:ext uri="{FF2B5EF4-FFF2-40B4-BE49-F238E27FC236}">
                <ns2:creationId id="{7E1D6FCD-9689-4F57-A41A-6FED8AEBB95C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51 / 64</a:t>
            </a:r>
          </a:p>
        </p:txBody>
      </p:sp>
    </p:spTree>
    <p:extLst>
      <p:ext uri="{BB962C8B-B14F-4D97-AF65-F5344CB8AC3E}">
        <p14:creationId val="186919269"/>
      </p:ext>
    </p:extLst>
  </p:cSld>
</p:sld>
</file>

<file path=ppt/slides/slide52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3" name="">
            <a:extLst>
              <a:ext uri="{FF2B5EF4-FFF2-40B4-BE49-F238E27FC236}">
                <ns2:creationId id="{262F06FE-817E-4D65-BAB4-4921370B1E6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B23F84CA-6A81-4908-BB2E-929F6DF4A370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Spatiotemporal message passing</a:t>
            </a:r>
          </a:p>
        </p:txBody>
      </p:sp>
      <p:sp>
        <p:nvSpPr>
          <p:cNvPr id="3" name="">
            <a:extLst>
              <a:ext uri="{FF2B5EF4-FFF2-40B4-BE49-F238E27FC236}">
                <ns2:creationId id="{425EC5BA-88A2-4AE4-8E35-329D94043632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6A685E88-CAC9-4DF0-B019-8D24DC49DB6B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Connect spatial neighbors within each frame</a:t>
            </a:r>
          </a:p>
        </p:txBody>
      </p:sp>
      <p:sp>
        <p:nvSpPr>
          <p:cNvPr id="5" name="">
            <a:extLst>
              <a:ext uri="{FF2B5EF4-FFF2-40B4-BE49-F238E27FC236}">
                <ns2:creationId id="{A5DBC2F7-4CFD-418E-BCA4-F5302D2AD10A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60788B39-3E36-4EA5-9AEC-A5C3C2CB7D05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Connect player identities across observed time</a:t>
            </a:r>
          </a:p>
        </p:txBody>
      </p:sp>
      <p:sp>
        <p:nvSpPr>
          <p:cNvPr id="7" name="">
            <a:extLst>
              <a:ext uri="{FF2B5EF4-FFF2-40B4-BE49-F238E27FC236}">
                <ns2:creationId id="{D00B6590-B65B-44A3-99CD-91E3741E1D19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C068F385-0C5C-44B3-BC83-6808E6196C26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Learn updates over both relationship types</a:t>
            </a:r>
          </a:p>
        </p:txBody>
      </p:sp>
      <p:pic>
        <p:nvPicPr>
          <p:cNvPr id="9" name="">
            <a:extLst>
              <a:ext uri="{FF2B5EF4-FFF2-40B4-BE49-F238E27FC236}">
                <ns2:creationId id="{9AF8AFD8-94BD-4715-9C8F-74D5687EC191}"/>
              </a:ext>
            </a:extLst>
          </p:cNvPr>
          <p:cNvPicPr>
            <a:picLocks noChangeAspect="1"/>
          </p:cNvPicPr>
          <p:nvPr/>
        </p:nvPicPr>
        <p:blipFill>
          <a:blip r:embed="Re9efe1958e964311"/>
          <a:stretch/>
        </p:blipFill>
        <p:spPr>
          <a:xfrm>
            <a:off x="4095750" y="1490491"/>
            <a:ext cx="7620000" cy="4019892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172F7527-957A-4B21-A91E-05AC55F3939F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PyTorch Geometric Temporal architectures</a:t>
            </a:r>
          </a:p>
        </p:txBody>
      </p:sp>
      <p:sp>
        <p:nvSpPr>
          <p:cNvPr id="11" name="">
            <a:extLst>
              <a:ext uri="{FF2B5EF4-FFF2-40B4-BE49-F238E27FC236}">
                <ns2:creationId id="{EF858589-BC06-42D0-8AC9-7B6450E33B31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PathCRF: player trajectories to events (2026)</a:t>
            </a:r>
          </a:p>
        </p:txBody>
      </p:sp>
      <p:sp>
        <p:nvSpPr>
          <p:cNvPr id="12" name="">
            <a:extLst>
              <a:ext uri="{FF2B5EF4-FFF2-40B4-BE49-F238E27FC236}">
                <ns2:creationId id="{6B354D0F-5C8D-4014-9E6F-1015AA01AB2B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52 / 64</a:t>
            </a:r>
          </a:p>
        </p:txBody>
      </p:sp>
    </p:spTree>
    <p:extLst>
      <p:ext uri="{BB962C8B-B14F-4D97-AF65-F5344CB8AC3E}">
        <p14:creationId val="1618529580"/>
      </p:ext>
    </p:extLst>
  </p:cSld>
</p:sld>
</file>

<file path=ppt/slides/slide53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2" name="">
            <a:extLst>
              <a:ext uri="{FF2B5EF4-FFF2-40B4-BE49-F238E27FC236}">
                <ns2:creationId id="{BC53825C-7A30-49AE-958D-BCFFD0E50B7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1F0FBD9A-FDC3-4434-BB81-7E1E6F2A151D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SoccerMap: spatial neural prediction</a:t>
            </a:r>
          </a:p>
        </p:txBody>
      </p:sp>
      <p:sp>
        <p:nvSpPr>
          <p:cNvPr id="3" name="">
            <a:extLst>
              <a:ext uri="{FF2B5EF4-FFF2-40B4-BE49-F238E27FC236}">
                <ns2:creationId id="{86666760-264D-4582-923F-C39EDF1E5CC9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50270866-DF2A-47D8-B425-E96D547176EB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Convert tracking into spatial feature channels</a:t>
            </a:r>
          </a:p>
        </p:txBody>
      </p:sp>
      <p:sp>
        <p:nvSpPr>
          <p:cNvPr id="5" name="">
            <a:extLst>
              <a:ext uri="{FF2B5EF4-FFF2-40B4-BE49-F238E27FC236}">
                <ns2:creationId id="{355BA0E5-DD9F-43D4-A763-3AE2056468FC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43562CF5-F1D7-406B-93DA-7A229A54C3E0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Learn field-wide surfaces with convolutional networks</a:t>
            </a:r>
          </a:p>
        </p:txBody>
      </p:sp>
      <p:sp>
        <p:nvSpPr>
          <p:cNvPr id="7" name="">
            <a:extLst>
              <a:ext uri="{FF2B5EF4-FFF2-40B4-BE49-F238E27FC236}">
                <ns2:creationId id="{FB4734D6-2506-480B-A307-EF07937E3C15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0309BA51-3116-4AF0-ACC6-33C17E4149EA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Use distinct heads or models for distinct targets</a:t>
            </a:r>
          </a:p>
        </p:txBody>
      </p:sp>
      <p:pic>
        <p:nvPicPr>
          <p:cNvPr id="9" name="">
            <a:extLst>
              <a:ext uri="{FF2B5EF4-FFF2-40B4-BE49-F238E27FC236}">
                <ns2:creationId id="{6561135A-AA83-423D-8BFF-05A8C1ACA15E}"/>
              </a:ext>
            </a:extLst>
          </p:cNvPr>
          <p:cNvPicPr>
            <a:picLocks noChangeAspect="1"/>
          </p:cNvPicPr>
          <p:nvPr/>
        </p:nvPicPr>
        <p:blipFill>
          <a:blip r:embed="R36c75a3d6f444bd1"/>
          <a:stretch/>
        </p:blipFill>
        <p:spPr>
          <a:xfrm>
            <a:off x="4095750" y="1490491"/>
            <a:ext cx="7620000" cy="4019892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E3FBBF88-6F1C-4D4C-88BD-01421C18EA4C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10096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SoccerMap (2020)</a:t>
            </a:r>
          </a:p>
        </p:txBody>
      </p:sp>
      <p:sp>
        <p:nvSpPr>
          <p:cNvPr id="11" name="">
            <a:extLst>
              <a:ext uri="{FF2B5EF4-FFF2-40B4-BE49-F238E27FC236}">
                <ns2:creationId id="{30835F41-1B35-41E7-9B24-CFF4F1C77C4B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53 / 64</a:t>
            </a:r>
          </a:p>
        </p:txBody>
      </p:sp>
    </p:spTree>
    <p:extLst>
      <p:ext uri="{BB962C8B-B14F-4D97-AF65-F5344CB8AC3E}">
        <p14:creationId val="1604621929"/>
      </p:ext>
    </p:extLst>
  </p:cSld>
</p:sld>
</file>

<file path=ppt/slides/slide54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3" name="">
            <a:extLst>
              <a:ext uri="{FF2B5EF4-FFF2-40B4-BE49-F238E27FC236}">
                <ns2:creationId id="{6ADA46EF-A90E-4A23-97D5-5926AE35A7D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1BE75AA9-CCF8-4C4E-990F-6CB1780A0716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Bekkers: building a football graph</a:t>
            </a:r>
          </a:p>
        </p:txBody>
      </p:sp>
      <p:sp>
        <p:nvSpPr>
          <p:cNvPr id="3" name="">
            <a:extLst>
              <a:ext uri="{FF2B5EF4-FFF2-40B4-BE49-F238E27FC236}">
                <ns2:creationId id="{F4423BB2-D737-4705-837F-B706CA183022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D409877C-6265-43E8-ACA5-8A94D5D95182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Represent players and ball as nodes</a:t>
            </a:r>
          </a:p>
        </p:txBody>
      </p:sp>
      <p:sp>
        <p:nvSpPr>
          <p:cNvPr id="5" name="">
            <a:extLst>
              <a:ext uri="{FF2B5EF4-FFF2-40B4-BE49-F238E27FC236}">
                <ns2:creationId id="{D2B37C39-EFEA-4F7B-892D-56AD9C2BD9D2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1BE31253-2BEB-4CCC-9166-8ACEF29C7A9C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Encode team, motion and relative geometry</a:t>
            </a:r>
          </a:p>
        </p:txBody>
      </p:sp>
      <p:sp>
        <p:nvSpPr>
          <p:cNvPr id="7" name="">
            <a:extLst>
              <a:ext uri="{FF2B5EF4-FFF2-40B4-BE49-F238E27FC236}">
                <ns2:creationId id="{A97EA0D5-AC24-405B-A768-B412A244494C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056BC5FD-F86F-45D2-A7D1-19E8C33DAF5F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Choose edges to suit the prediction task</a:t>
            </a:r>
          </a:p>
        </p:txBody>
      </p:sp>
      <p:pic>
        <p:nvPicPr>
          <p:cNvPr id="9" name="">
            <a:extLst>
              <a:ext uri="{FF2B5EF4-FFF2-40B4-BE49-F238E27FC236}">
                <ns2:creationId id="{BE62997E-8C79-4297-8BCE-02DDB49C5B17}"/>
              </a:ext>
            </a:extLst>
          </p:cNvPr>
          <p:cNvPicPr>
            <a:picLocks noChangeAspect="1"/>
          </p:cNvPicPr>
          <p:nvPr/>
        </p:nvPicPr>
        <p:blipFill>
          <a:blip r:embed="Rc713ed715621459e"/>
          <a:stretch/>
        </p:blipFill>
        <p:spPr>
          <a:xfrm>
            <a:off x="4796890" y="1333500"/>
            <a:ext cx="6217721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CBEEA1F5-1062-4057-B1CD-B6BAC9C515FD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Joris Bekkers: GraphEPV, PyData London 2025</a:t>
            </a:r>
          </a:p>
        </p:txBody>
      </p:sp>
      <p:sp>
        <p:nvSpPr>
          <p:cNvPr id="11" name="">
            <a:extLst>
              <a:ext uri="{FF2B5EF4-FFF2-40B4-BE49-F238E27FC236}">
                <ns2:creationId id="{3724CF8A-59C8-48F0-A0BF-26B24D4F98CE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UnravelSports soccer GNN tutorial</a:t>
            </a:r>
          </a:p>
        </p:txBody>
      </p:sp>
      <p:sp>
        <p:nvSpPr>
          <p:cNvPr id="12" name="">
            <a:extLst>
              <a:ext uri="{FF2B5EF4-FFF2-40B4-BE49-F238E27FC236}">
                <ns2:creationId id="{CD267B51-AB08-4376-86D0-B7C3691F3B57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54 / 64</a:t>
            </a:r>
          </a:p>
        </p:txBody>
      </p:sp>
    </p:spTree>
    <p:extLst>
      <p:ext uri="{BB962C8B-B14F-4D97-AF65-F5344CB8AC3E}">
        <p14:creationId val="507769411"/>
      </p:ext>
    </p:extLst>
  </p:cSld>
</p:sld>
</file>

<file path=ppt/slides/slide55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5" name="">
            <a:extLst>
              <a:ext uri="{FF2B5EF4-FFF2-40B4-BE49-F238E27FC236}">
                <ns2:creationId id="{17246CD0-390B-4987-A6A3-47F9B2578C4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B2B3FF36-7F1F-4900-B499-BD6EB0342208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Bekkers: GraphEPV scoring target</a:t>
            </a:r>
          </a:p>
        </p:txBody>
      </p:sp>
      <p:sp>
        <p:nvSpPr>
          <p:cNvPr id="3" name="">
            <a:extLst>
              <a:ext uri="{FF2B5EF4-FFF2-40B4-BE49-F238E27FC236}">
                <ns2:creationId id="{9B7E6389-F5DF-4000-B0F1-6EF4F8AC1655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FEB02C87-BEEC-480F-942B-A2A34E0D01B3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One tracking frame becomes one graph</a:t>
            </a:r>
          </a:p>
        </p:txBody>
      </p:sp>
      <p:sp>
        <p:nvSpPr>
          <p:cNvPr id="5" name="">
            <a:extLst>
              <a:ext uri="{FF2B5EF4-FFF2-40B4-BE49-F238E27FC236}">
                <ns2:creationId id="{699150D9-A9AF-454B-B993-3E5575A29FD0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1431CF43-D0B2-46EB-86B4-71BED5470396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Label goals by the possession team within 10 seconds</a:t>
            </a:r>
          </a:p>
        </p:txBody>
      </p:sp>
      <p:sp>
        <p:nvSpPr>
          <p:cNvPr id="7" name="">
            <a:extLst>
              <a:ext uri="{FF2B5EF4-FFF2-40B4-BE49-F238E27FC236}">
                <ns2:creationId id="{8BCC790D-F86A-4F95-8CA1-D5F2A6D76231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05DD1F56-378A-450A-9814-0041D515EE83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Train a graph classifier to estimate that probability</a:t>
            </a:r>
          </a:p>
        </p:txBody>
      </p:sp>
      <p:pic>
        <p:nvPicPr>
          <p:cNvPr id="9" name="">
            <a:extLst>
              <a:ext uri="{FF2B5EF4-FFF2-40B4-BE49-F238E27FC236}">
                <ns2:creationId id="{6F58EA2E-C0F9-4D84-B6AD-28C2EF7AFBCE}"/>
              </a:ext>
            </a:extLst>
          </p:cNvPr>
          <p:cNvPicPr>
            <a:picLocks noChangeAspect="1"/>
          </p:cNvPicPr>
          <p:nvPr/>
        </p:nvPicPr>
        <p:blipFill>
          <a:blip r:embed="R86065abb654f45df"/>
          <a:stretch/>
        </p:blipFill>
        <p:spPr>
          <a:xfrm>
            <a:off x="4095750" y="1397783"/>
            <a:ext cx="7620000" cy="4205309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9B3E7BF8-B93B-421B-A189-850806EA0E88}"/>
              </a:ext>
            </a:extLst>
          </p:cNvPr>
          <p:cNvSpPr>
            <a:spLocks noGrp="1"/>
          </p:cNvSpPr>
          <p:nvPr/>
        </p:nvSpPr>
        <p:spPr>
          <a:xfrm>
            <a:off x="571500" y="5715000"/>
            <a:ext cx="11049000" cy="409575"/>
          </a:xfrm>
          <a:prstGeom prst="rect">
            <a:avLst/>
          </a:prstGeom>
          <a:solidFill>
            <a:srgbClr val="E0EEE8"/>
          </a:solidFill>
          <a:ln w="0">
            <a:noFill/>
          </a:ln>
        </p:spPr>
      </p:sp>
      <p:sp>
        <p:nvSpPr>
          <p:cNvPr id="11" name="">
            <a:extLst>
              <a:ext uri="{FF2B5EF4-FFF2-40B4-BE49-F238E27FC236}">
                <ns2:creationId id="{E7FC6247-CE05-4542-BCA2-08E2828A066B}"/>
              </a:ext>
            </a:extLst>
          </p:cNvPr>
          <p:cNvSpPr>
            <a:spLocks noGrp="1"/>
          </p:cNvSpPr>
          <p:nvPr/>
        </p:nvSpPr>
        <p:spPr>
          <a:xfrm>
            <a:off x="742950" y="579120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7D68"/>
                </a:solidFill>
                <a:latin typeface="Arial"/>
                <a:ea typeface="Arial"/>
                <a:cs typeface="Arial"/>
                <a:hlinkClick r:id="rIdWorkshop4"/>
              </a:rPr>
              <a:t>NOTEBOOK · 16_graph_epv.ipynb</a:t>
            </a:r>
          </a:p>
        </p:txBody>
      </p:sp>
      <p:sp>
        <p:nvSpPr>
          <p:cNvPr id="12" name="">
            <a:extLst>
              <a:ext uri="{FF2B5EF4-FFF2-40B4-BE49-F238E27FC236}">
                <ns2:creationId id="{6B1681B7-CB2B-4E09-A2BC-D251D1BF3FAE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Joris Bekkers: GraphEPV, PyData London 2025</a:t>
            </a:r>
          </a:p>
        </p:txBody>
      </p:sp>
      <p:sp>
        <p:nvSpPr>
          <p:cNvPr id="13" name="">
            <a:extLst>
              <a:ext uri="{FF2B5EF4-FFF2-40B4-BE49-F238E27FC236}">
                <ns2:creationId id="{2AD583C0-68E5-4095-9782-E6F02E7DB30A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6"/>
              </a:rPr>
              <a:t>UnravelSports soccer GNN tutorial</a:t>
            </a:r>
          </a:p>
        </p:txBody>
      </p:sp>
      <p:sp>
        <p:nvSpPr>
          <p:cNvPr id="14" name="">
            <a:extLst>
              <a:ext uri="{FF2B5EF4-FFF2-40B4-BE49-F238E27FC236}">
                <ns2:creationId id="{DFA3FC9D-63D3-4824-93CA-B2F41894FA75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55 / 64</a:t>
            </a:r>
          </a:p>
        </p:txBody>
      </p:sp>
    </p:spTree>
    <p:extLst>
      <p:ext uri="{BB962C8B-B14F-4D97-AF65-F5344CB8AC3E}">
        <p14:creationId val="1636686912"/>
      </p:ext>
    </p:extLst>
  </p:cSld>
</p:sld>
</file>

<file path=ppt/slides/slide56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6" name="">
            <a:extLst>
              <a:ext uri="{FF2B5EF4-FFF2-40B4-BE49-F238E27FC236}">
                <ns2:creationId id="{71DB535A-32AA-46E7-9FC5-8E29F32DF3A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E50844E5-AFF8-4FE6-BF25-A27D6F240CC1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Our graph model: an unseen possession</a:t>
            </a:r>
          </a:p>
        </p:txBody>
      </p:sp>
      <p:sp>
        <p:nvSpPr>
          <p:cNvPr id="3" name="">
            <a:extLst>
              <a:ext uri="{FF2B5EF4-FFF2-40B4-BE49-F238E27FC236}">
                <ns2:creationId id="{65A27B37-E2D6-4F37-A6E3-373D8EF54C22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0E2A367E-8E6C-4764-92C7-85ED16443952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Predict scoring within the next ten seconds</a:t>
            </a:r>
          </a:p>
        </p:txBody>
      </p:sp>
      <p:sp>
        <p:nvSpPr>
          <p:cNvPr id="5" name="">
            <a:extLst>
              <a:ext uri="{FF2B5EF4-FFF2-40B4-BE49-F238E27FC236}">
                <ns2:creationId id="{84FD7EBF-C10B-471E-9A07-FF6F40A22FAE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1D7D08FE-3B58-467B-8BE7-E0740EA86985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Follow real held-out tracking and frozen-model predictions</a:t>
            </a:r>
          </a:p>
        </p:txBody>
      </p:sp>
      <p:sp>
        <p:nvSpPr>
          <p:cNvPr id="7" name="">
            <a:extLst>
              <a:ext uri="{FF2B5EF4-FFF2-40B4-BE49-F238E27FC236}">
                <ns2:creationId id="{00D5997C-988E-40C1-97C5-4EE1AC5DDAC2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48B20832-905E-4ED0-BC34-E38665DE0FE4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Compare the goal buildup with the non-goal notebook example</a:t>
            </a:r>
          </a:p>
        </p:txBody>
      </p:sp>
      <p:pic>
        <p:nvPicPr>
          <p:cNvPr id="9" name="Video: Our graph model: an unseen possession" descr="Embedded MP4. Click to play. Embedded MP4 re-encodes the actual animation generated by notebook 16. Independent 353-parameter frame GNN trained on ten SkillCorner matches, calibrated on three and evaluated on three unseen matches. Not Bekkers CrystalGraph architecture or weights; not supplied SkillCorner EPV. Test ROC AUC 0.843, AP 0.020 versus prevalence 0.0033; Brier score does not improve over the constant baseline. Goal markers are score-reconciled but not video-verified. This display case was selected by event context, not high predictions; it is not a performance sample. The model uses only the current frame, even though playback reveals successive predictions.">
            <a:extLst>
              <a:ext uri="{FF2B5EF4-FFF2-40B4-BE49-F238E27FC236}">
                <ns2:creationId id="{3A666A48-351B-40DC-ADEF-F22E36969A46}"/>
              </a:ext>
            </a:extLst>
            <a:hlinkClick action="ppaction://media"/>
          </p:cNvPr>
          <p:cNvPicPr>
            <a:picLocks noChangeAspect="1"/>
          </p:cNvPicPr>
          <p:nvPr>
            <a:videoFile r:link="rIdWorkshopVideo"/>
            <p:extLst>
              <p:ext uri="{DAA4B4D4-6D71-4841-9C94-3DE7FCFBED7A}">
                <p14:media r:embed="rIdWorkshopMedia"/>
              </p:ext>
            </p:extLst>
          </p:nvPr>
        </p:nvPicPr>
        <p:blipFill>
          <a:blip r:embed="R05592f68d37b4143"/>
          <a:stretch/>
        </p:blipFill>
        <p:spPr>
          <a:xfrm>
            <a:off x="4349750" y="1381125"/>
            <a:ext cx="7112000" cy="4000500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464B4E4E-0EB1-44EF-96BD-F897C66D942B}"/>
              </a:ext>
            </a:extLst>
          </p:cNvPr>
          <p:cNvSpPr>
            <a:spLocks noGrp="1"/>
          </p:cNvSpPr>
          <p:nvPr/>
        </p:nvSpPr>
        <p:spPr>
          <a:xfrm>
            <a:off x="571500" y="5715000"/>
            <a:ext cx="11049000" cy="409575"/>
          </a:xfrm>
          <a:prstGeom prst="rect">
            <a:avLst/>
          </a:prstGeom>
          <a:solidFill>
            <a:srgbClr val="E0EEE8"/>
          </a:solidFill>
          <a:ln w="0">
            <a:noFill/>
          </a:ln>
        </p:spPr>
      </p:sp>
      <p:sp>
        <p:nvSpPr>
          <p:cNvPr id="11" name="">
            <a:extLst>
              <a:ext uri="{FF2B5EF4-FFF2-40B4-BE49-F238E27FC236}">
                <ns2:creationId id="{F33AF0CB-0168-4AA3-A26C-A2317177864B}"/>
              </a:ext>
            </a:extLst>
          </p:cNvPr>
          <p:cNvSpPr>
            <a:spLocks noGrp="1"/>
          </p:cNvSpPr>
          <p:nvPr/>
        </p:nvSpPr>
        <p:spPr>
          <a:xfrm>
            <a:off x="742950" y="5791200"/>
            <a:ext cx="106680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7D68"/>
                </a:solidFill>
                <a:latin typeface="Arial"/>
                <a:ea typeface="Arial"/>
                <a:cs typeface="Arial"/>
                <a:hlinkClick r:id="rIdWorkshop4"/>
              </a:rPr>
              <a:t>NOTEBOOK · 16_graph_epv.ipynb</a:t>
            </a:r>
          </a:p>
        </p:txBody>
      </p:sp>
      <p:sp>
        <p:nvSpPr>
          <p:cNvPr id="12" name="">
            <a:extLst>
              <a:ext uri="{FF2B5EF4-FFF2-40B4-BE49-F238E27FC236}">
                <ns2:creationId id="{C725590D-ABE4-44F3-B8DC-EBB061D2638B}"/>
              </a:ext>
            </a:extLst>
          </p:cNvPr>
          <p:cNvSpPr>
            <a:spLocks noGrp="1"/>
          </p:cNvSpPr>
          <p:nvPr/>
        </p:nvSpPr>
        <p:spPr>
          <a:xfrm>
            <a:off x="4286250" y="5467350"/>
            <a:ext cx="7239000" cy="228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125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▶ Click the video to play · embedded MP4</a:t>
            </a:r>
          </a:p>
        </p:txBody>
      </p:sp>
      <p:sp>
        <p:nvSpPr>
          <p:cNvPr id="13" name="">
            <a:extLst>
              <a:ext uri="{FF2B5EF4-FFF2-40B4-BE49-F238E27FC236}">
                <ns2:creationId id="{071671AC-97A8-4B99-975E-E6F9F2437249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SkillCorner open data and schema</a:t>
            </a:r>
          </a:p>
        </p:txBody>
      </p:sp>
      <p:sp>
        <p:nvSpPr>
          <p:cNvPr id="14" name="">
            <a:extLst>
              <a:ext uri="{FF2B5EF4-FFF2-40B4-BE49-F238E27FC236}">
                <ns2:creationId id="{2B7A5B56-4E67-4A1A-B4FC-893A356C3E47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6"/>
              </a:rPr>
              <a:t>Joris Bekkers: GraphEPV, PyData London 2025</a:t>
            </a:r>
          </a:p>
        </p:txBody>
      </p:sp>
      <p:sp>
        <p:nvSpPr>
          <p:cNvPr id="15" name="">
            <a:extLst>
              <a:ext uri="{FF2B5EF4-FFF2-40B4-BE49-F238E27FC236}">
                <ns2:creationId id="{462B922B-17E3-4557-B65D-E0BA985EED09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56 / 64</a:t>
            </a:r>
          </a:p>
        </p:txBody>
      </p:sp>
    </p:spTree>
    <p:extLst>
      <p:ext uri="{BB962C8B-B14F-4D97-AF65-F5344CB8AC3E}">
        <p14:creationId val="1698904884"/>
      </p:ext>
    </p:extLst>
  </p:cSld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57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3" name="">
            <a:extLst>
              <a:ext uri="{FF2B5EF4-FFF2-40B4-BE49-F238E27FC236}">
                <ns2:creationId id="{F45735EC-61A4-494C-8AC0-D8F764056C7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333E2609-7AEF-4034-957D-8291015D6609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GraphEPV and temporal extensions</a:t>
            </a:r>
          </a:p>
        </p:txBody>
      </p:sp>
      <p:sp>
        <p:nvSpPr>
          <p:cNvPr id="3" name="">
            <a:extLst>
              <a:ext uri="{FF2B5EF4-FFF2-40B4-BE49-F238E27FC236}">
                <ns2:creationId id="{163BD4EE-503D-4B40-B531-C71CCEA2008C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F3AFD090-F5AD-44DC-97A6-EB7445BBA388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A frame model can use velocity features</a:t>
            </a:r>
          </a:p>
        </p:txBody>
      </p:sp>
      <p:sp>
        <p:nvSpPr>
          <p:cNvPr id="5" name="">
            <a:extLst>
              <a:ext uri="{FF2B5EF4-FFF2-40B4-BE49-F238E27FC236}">
                <ns2:creationId id="{84F33DDF-11CC-4E75-B893-1828DB939ED9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1F7FDB65-174A-485A-B3C3-50BAAB86529F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History adds runs, pressure and changing lanes</a:t>
            </a:r>
          </a:p>
        </p:txBody>
      </p:sp>
      <p:sp>
        <p:nvSpPr>
          <p:cNvPr id="7" name="">
            <a:extLst>
              <a:ext uri="{FF2B5EF4-FFF2-40B4-BE49-F238E27FC236}">
                <ns2:creationId id="{DE4C0D62-4415-46BA-891B-6221B559F70D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BC2E6182-7798-42ED-89DE-9DD0029C53A7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Add temporal encoders with causal inputs</a:t>
            </a:r>
          </a:p>
        </p:txBody>
      </p:sp>
      <p:pic>
        <p:nvPicPr>
          <p:cNvPr id="9" name="">
            <a:extLst>
              <a:ext uri="{FF2B5EF4-FFF2-40B4-BE49-F238E27FC236}">
                <ns2:creationId id="{9F85ADD7-B078-4F23-89A4-65B692C4FBE2}"/>
              </a:ext>
            </a:extLst>
          </p:cNvPr>
          <p:cNvPicPr>
            <a:picLocks noChangeAspect="1"/>
          </p:cNvPicPr>
          <p:nvPr/>
        </p:nvPicPr>
        <p:blipFill>
          <a:blip r:embed="R4e01d6110b894d8e"/>
          <a:stretch/>
        </p:blipFill>
        <p:spPr>
          <a:xfrm>
            <a:off x="4258650" y="1333500"/>
            <a:ext cx="7294199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EE099A3F-21CA-4A6A-9584-442E9A8AFFB4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Joris Bekkers: GraphEPV, PyData London 2025</a:t>
            </a:r>
          </a:p>
        </p:txBody>
      </p:sp>
      <p:sp>
        <p:nvSpPr>
          <p:cNvPr id="11" name="">
            <a:extLst>
              <a:ext uri="{FF2B5EF4-FFF2-40B4-BE49-F238E27FC236}">
                <ns2:creationId id="{24C8BBC8-B7AE-4D87-BFBE-3139E5F97523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UnravelSports soccer GNN tutorial</a:t>
            </a:r>
          </a:p>
        </p:txBody>
      </p:sp>
      <p:sp>
        <p:nvSpPr>
          <p:cNvPr id="12" name="">
            <a:extLst>
              <a:ext uri="{FF2B5EF4-FFF2-40B4-BE49-F238E27FC236}">
                <ns2:creationId id="{9BDFE9D0-A34B-4DDD-94CA-8197F04A8DE1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57 / 64</a:t>
            </a:r>
          </a:p>
        </p:txBody>
      </p:sp>
    </p:spTree>
    <p:extLst>
      <p:ext uri="{BB962C8B-B14F-4D97-AF65-F5344CB8AC3E}">
        <p14:creationId val="1679151808"/>
      </p:ext>
    </p:extLst>
  </p:cSld>
</p:sld>
</file>

<file path=ppt/slides/slide58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3" name="">
            <a:extLst>
              <a:ext uri="{FF2B5EF4-FFF2-40B4-BE49-F238E27FC236}">
                <ns2:creationId id="{A3B63AFC-6074-4547-8AFC-EB5ACE35658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3622EF23-45DE-4E30-9987-B79B6D091243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Expected possession value</a:t>
            </a:r>
          </a:p>
        </p:txBody>
      </p:sp>
      <p:sp>
        <p:nvSpPr>
          <p:cNvPr id="3" name="">
            <a:extLst>
              <a:ext uri="{FF2B5EF4-FFF2-40B4-BE49-F238E27FC236}">
                <ns2:creationId id="{3B97AF14-5C70-440C-BE09-3F4C4123E821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50C6B91B-3CE2-440E-BA7B-87BC8AF3448F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Specify what outcome and horizon value means</a:t>
            </a:r>
          </a:p>
        </p:txBody>
      </p:sp>
      <p:sp>
        <p:nvSpPr>
          <p:cNvPr id="5" name="">
            <a:extLst>
              <a:ext uri="{FF2B5EF4-FFF2-40B4-BE49-F238E27FC236}">
                <ns2:creationId id="{F8C29FB3-A8BB-4B2A-8008-0277A7356591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C77ECC57-CDF1-4A19-963E-A9DD8975994E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Combine action selection, success and continuation</a:t>
            </a:r>
          </a:p>
        </p:txBody>
      </p:sp>
      <p:sp>
        <p:nvSpPr>
          <p:cNvPr id="7" name="">
            <a:extLst>
              <a:ext uri="{FF2B5EF4-FFF2-40B4-BE49-F238E27FC236}">
                <ns2:creationId id="{4DCEA0C0-623B-4987-9E92-4F462C161E0E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B1D2005E-92A0-4152-8E6F-2A2F52AC05B9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Include the value of failure and turnovers</a:t>
            </a:r>
          </a:p>
        </p:txBody>
      </p:sp>
      <p:pic>
        <p:nvPicPr>
          <p:cNvPr id="9" name="">
            <a:extLst>
              <a:ext uri="{FF2B5EF4-FFF2-40B4-BE49-F238E27FC236}">
                <ns2:creationId id="{6F88F472-4D8B-4193-9316-6E23C1D799E0}"/>
              </a:ext>
            </a:extLst>
          </p:cNvPr>
          <p:cNvPicPr>
            <a:picLocks noChangeAspect="1"/>
          </p:cNvPicPr>
          <p:nvPr/>
        </p:nvPicPr>
        <p:blipFill>
          <a:blip r:embed="R95ed197d1fc54384"/>
          <a:stretch/>
        </p:blipFill>
        <p:spPr>
          <a:xfrm>
            <a:off x="4095750" y="1490491"/>
            <a:ext cx="7620000" cy="4019892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026AF5EA-3E8E-4D20-8FC8-C562EC652821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Fine-grained expected possession value (2021)</a:t>
            </a:r>
          </a:p>
        </p:txBody>
      </p:sp>
      <p:sp>
        <p:nvSpPr>
          <p:cNvPr id="11" name="">
            <a:extLst>
              <a:ext uri="{FF2B5EF4-FFF2-40B4-BE49-F238E27FC236}">
                <ns2:creationId id="{E1F21E2E-C00E-4033-8355-0F4CF9BA1159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DEFCON: GNN-based defensive EPV (2026)</a:t>
            </a:r>
          </a:p>
        </p:txBody>
      </p:sp>
      <p:sp>
        <p:nvSpPr>
          <p:cNvPr id="12" name="">
            <a:extLst>
              <a:ext uri="{FF2B5EF4-FFF2-40B4-BE49-F238E27FC236}">
                <ns2:creationId id="{F78D7ADD-178D-4E08-96F4-805B6E543F29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58 / 64</a:t>
            </a:r>
          </a:p>
        </p:txBody>
      </p:sp>
    </p:spTree>
    <p:extLst>
      <p:ext uri="{BB962C8B-B14F-4D97-AF65-F5344CB8AC3E}">
        <p14:creationId val="1417592745"/>
      </p:ext>
    </p:extLst>
  </p:cSld>
</p:sld>
</file>

<file path=ppt/slides/slide59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3" name="">
            <a:extLst>
              <a:ext uri="{FF2B5EF4-FFF2-40B4-BE49-F238E27FC236}">
                <ns2:creationId id="{8BC7E477-4C9F-42F4-9568-6A3DC226A61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EA50A9F2-0DB1-4F50-A668-5CB4B02EC069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Observed passes and supplied EPV</a:t>
            </a:r>
          </a:p>
        </p:txBody>
      </p:sp>
      <p:sp>
        <p:nvSpPr>
          <p:cNvPr id="3" name="">
            <a:extLst>
              <a:ext uri="{FF2B5EF4-FFF2-40B4-BE49-F238E27FC236}">
                <ns2:creationId id="{835983F5-0516-4CA9-B1DA-DBE18FEA96E6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DB9DF062-B7E7-4498-AE41-6699F60CB374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Inspect value changes on actual pass events</a:t>
            </a:r>
          </a:p>
        </p:txBody>
      </p:sp>
      <p:sp>
        <p:nvSpPr>
          <p:cNvPr id="5" name="">
            <a:extLst>
              <a:ext uri="{FF2B5EF4-FFF2-40B4-BE49-F238E27FC236}">
                <ns2:creationId id="{C683FE27-C879-46DF-A7CC-4091198E3BB3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AB85E75E-4645-4F26-8D7C-010AFB05FD14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Compare valuable actions with their tracking context</a:t>
            </a:r>
          </a:p>
        </p:txBody>
      </p:sp>
      <p:sp>
        <p:nvSpPr>
          <p:cNvPr id="7" name="">
            <a:extLst>
              <a:ext uri="{FF2B5EF4-FFF2-40B4-BE49-F238E27FC236}">
                <ns2:creationId id="{89E30B1E-FF74-4E1B-9F1B-AB4C73F3E322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184A5EC3-BF35-44AF-8F23-182517E7AFF9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Keep supplied predictions separate from our calculations</a:t>
            </a:r>
          </a:p>
        </p:txBody>
      </p:sp>
      <p:pic>
        <p:nvPicPr>
          <p:cNvPr id="9" name="">
            <a:extLst>
              <a:ext uri="{FF2B5EF4-FFF2-40B4-BE49-F238E27FC236}">
                <ns2:creationId id="{F85B0F58-2495-4015-9D15-AF6D60C7D76C}"/>
              </a:ext>
            </a:extLst>
          </p:cNvPr>
          <p:cNvPicPr>
            <a:picLocks noChangeAspect="1"/>
          </p:cNvPicPr>
          <p:nvPr/>
        </p:nvPicPr>
        <p:blipFill>
          <a:blip r:embed="R6560d784e0ae4587"/>
          <a:stretch/>
        </p:blipFill>
        <p:spPr>
          <a:xfrm>
            <a:off x="4261130" y="1333500"/>
            <a:ext cx="7289241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C0B5D3E9-C5D2-4ED5-A2CF-15B29E437EFF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SkillCorner open data and schema</a:t>
            </a:r>
          </a:p>
        </p:txBody>
      </p:sp>
      <p:sp>
        <p:nvSpPr>
          <p:cNvPr id="11" name="">
            <a:extLst>
              <a:ext uri="{FF2B5EF4-FFF2-40B4-BE49-F238E27FC236}">
                <ns2:creationId id="{E3332BA1-D51A-4FE2-8FB3-C17883DCC67E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Fine-grained expected possession value (2021)</a:t>
            </a:r>
          </a:p>
        </p:txBody>
      </p:sp>
      <p:sp>
        <p:nvSpPr>
          <p:cNvPr id="12" name="">
            <a:extLst>
              <a:ext uri="{FF2B5EF4-FFF2-40B4-BE49-F238E27FC236}">
                <ns2:creationId id="{C1A9BA80-6E11-4B5F-AA25-7EF4BF402764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59 / 64</a:t>
            </a:r>
          </a:p>
        </p:txBody>
      </p:sp>
    </p:spTree>
    <p:extLst>
      <p:ext uri="{BB962C8B-B14F-4D97-AF65-F5344CB8AC3E}">
        <p14:creationId val="343773512"/>
      </p:ext>
    </p:extLst>
  </p:cSld>
</p:sld>
</file>

<file path=ppt/slides/slide60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2" name="">
            <a:extLst>
              <a:ext uri="{FF2B5EF4-FFF2-40B4-BE49-F238E27FC236}">
                <ns2:creationId id="{70F020DF-CC77-4F72-A498-170A9DD2377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9DFE8451-AEA0-4215-9FC7-532BF9F5A6CA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DEFCON: defensive contribution</a:t>
            </a:r>
          </a:p>
        </p:txBody>
      </p:sp>
      <p:sp>
        <p:nvSpPr>
          <p:cNvPr id="3" name="">
            <a:extLst>
              <a:ext uri="{FF2B5EF4-FFF2-40B4-BE49-F238E27FC236}">
                <ns2:creationId id="{73766973-6523-4700-A1EA-34EE245F7C99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AC3F4E34-E20C-4F5D-AE6F-EFA54DB477CB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Use graph-based models for action components</a:t>
            </a:r>
          </a:p>
        </p:txBody>
      </p:sp>
      <p:sp>
        <p:nvSpPr>
          <p:cNvPr id="5" name="">
            <a:extLst>
              <a:ext uri="{FF2B5EF4-FFF2-40B4-BE49-F238E27FC236}">
                <ns2:creationId id="{24845C1C-7335-4F59-8DE3-106BB2255EE6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C9D84934-3C2B-4BE5-B9C5-10DBA7DC402D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Estimate the opponent’s possession value</a:t>
            </a:r>
          </a:p>
        </p:txBody>
      </p:sp>
      <p:sp>
        <p:nvSpPr>
          <p:cNvPr id="7" name="">
            <a:extLst>
              <a:ext uri="{FF2B5EF4-FFF2-40B4-BE49-F238E27FC236}">
                <ns2:creationId id="{52E3BFAE-A153-4D4A-B5E2-A6E839C3D235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1505EE0A-C0BD-47B4-9897-45CA26165135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Account for defenders’ contribution to reducing danger</a:t>
            </a:r>
          </a:p>
        </p:txBody>
      </p:sp>
      <p:pic>
        <p:nvPicPr>
          <p:cNvPr id="9" name="">
            <a:extLst>
              <a:ext uri="{FF2B5EF4-FFF2-40B4-BE49-F238E27FC236}">
                <ns2:creationId id="{01F9B4F4-D8E6-499D-8779-DE44F9E2F868}"/>
              </a:ext>
            </a:extLst>
          </p:cNvPr>
          <p:cNvPicPr>
            <a:picLocks noChangeAspect="1"/>
          </p:cNvPicPr>
          <p:nvPr/>
        </p:nvPicPr>
        <p:blipFill>
          <a:blip r:embed="Rc800568d2010486b"/>
          <a:stretch/>
        </p:blipFill>
        <p:spPr>
          <a:xfrm>
            <a:off x="4095750" y="1490491"/>
            <a:ext cx="7620000" cy="4019892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7BADE575-9333-414D-B0D4-60875B93E380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10096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DEFCON: GNN-based defensive EPV (2026)</a:t>
            </a:r>
          </a:p>
        </p:txBody>
      </p:sp>
      <p:sp>
        <p:nvSpPr>
          <p:cNvPr id="11" name="">
            <a:extLst>
              <a:ext uri="{FF2B5EF4-FFF2-40B4-BE49-F238E27FC236}">
                <ns2:creationId id="{291C5F3E-456D-4A08-A99F-A0677F8B4ADD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60 / 64</a:t>
            </a:r>
          </a:p>
        </p:txBody>
      </p:sp>
    </p:spTree>
    <p:extLst>
      <p:ext uri="{BB962C8B-B14F-4D97-AF65-F5344CB8AC3E}">
        <p14:creationId val="212637593"/>
      </p:ext>
    </p:extLst>
  </p:cSld>
</p:sld>
</file>

<file path=ppt/slides/slide61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2" name="">
            <a:extLst>
              <a:ext uri="{FF2B5EF4-FFF2-40B4-BE49-F238E27FC236}">
                <ns2:creationId id="{72B0DC1E-17A7-493F-8140-95A024475B9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2F36A38D-42E5-4786-8485-7267CD0EAA2A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U.S. Soccer: counterattack graphs</a:t>
            </a:r>
          </a:p>
        </p:txBody>
      </p:sp>
      <p:sp>
        <p:nvSpPr>
          <p:cNvPr id="3" name="">
            <a:extLst>
              <a:ext uri="{FF2B5EF4-FFF2-40B4-BE49-F238E27FC236}">
                <ns2:creationId id="{2403C835-8EDE-4A17-ABF1-1274E6DD9C28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AF1C767C-E6ED-4372-A184-79868CF5638C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Build graphs from synchronized SkillCorner and events</a:t>
            </a:r>
          </a:p>
        </p:txBody>
      </p:sp>
      <p:sp>
        <p:nvSpPr>
          <p:cNvPr id="5" name="">
            <a:extLst>
              <a:ext uri="{FF2B5EF4-FFF2-40B4-BE49-F238E27FC236}">
                <ns2:creationId id="{DE4A6B3E-1026-4990-9E96-61E112FFAE52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141A95CA-6A79-4094-80AF-CB9DF73E416F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Define counterattack success explicitly</a:t>
            </a:r>
          </a:p>
        </p:txBody>
      </p:sp>
      <p:sp>
        <p:nvSpPr>
          <p:cNvPr id="7" name="">
            <a:extLst>
              <a:ext uri="{FF2B5EF4-FFF2-40B4-BE49-F238E27FC236}">
                <ns2:creationId id="{2EFCC108-3212-4D3C-BC90-EF99A90F774B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E1C7EACB-9943-4F28-A58F-36B70F4722A3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Evaluate predictions on held-out sequences</a:t>
            </a:r>
          </a:p>
        </p:txBody>
      </p:sp>
      <p:pic>
        <p:nvPicPr>
          <p:cNvPr id="9" name="">
            <a:extLst>
              <a:ext uri="{FF2B5EF4-FFF2-40B4-BE49-F238E27FC236}">
                <ns2:creationId id="{98CD65E6-6234-4965-BA56-25CC9924FD1F}"/>
              </a:ext>
            </a:extLst>
          </p:cNvPr>
          <p:cNvPicPr>
            <a:picLocks noChangeAspect="1"/>
          </p:cNvPicPr>
          <p:nvPr/>
        </p:nvPicPr>
        <p:blipFill>
          <a:blip r:embed="R6b656cfedb654a79"/>
          <a:stretch/>
        </p:blipFill>
        <p:spPr>
          <a:xfrm>
            <a:off x="4095750" y="1490491"/>
            <a:ext cx="7620000" cy="4019892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10152145-D9C2-4973-8B4E-DC89E51EB57E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10096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U.S. Soccer: counterattack GNNs with SkillCorner (2023)</a:t>
            </a:r>
          </a:p>
        </p:txBody>
      </p:sp>
      <p:sp>
        <p:nvSpPr>
          <p:cNvPr id="11" name="">
            <a:extLst>
              <a:ext uri="{FF2B5EF4-FFF2-40B4-BE49-F238E27FC236}">
                <ns2:creationId id="{A83FD6FF-54D2-4A45-9C1D-959979B87BDD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61 / 64</a:t>
            </a:r>
          </a:p>
        </p:txBody>
      </p:sp>
    </p:spTree>
    <p:extLst>
      <p:ext uri="{BB962C8B-B14F-4D97-AF65-F5344CB8AC3E}">
        <p14:creationId val="1506855809"/>
      </p:ext>
    </p:extLst>
  </p:cSld>
</p:sld>
</file>

<file path=ppt/slides/slide62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2" name="">
            <a:extLst>
              <a:ext uri="{FF2B5EF4-FFF2-40B4-BE49-F238E27FC236}">
                <ns2:creationId id="{F7762D5C-6FF9-44A6-91FD-8CE50009BBA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C2C260F7-1D72-4880-B079-85D555CA1E56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TacticAI: corner-kick modeling</a:t>
            </a:r>
          </a:p>
        </p:txBody>
      </p:sp>
      <p:sp>
        <p:nvSpPr>
          <p:cNvPr id="3" name="">
            <a:extLst>
              <a:ext uri="{FF2B5EF4-FFF2-40B4-BE49-F238E27FC236}">
                <ns2:creationId id="{9EC055E4-3571-48AC-9E97-981FBC4AD659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CBDE531D-06D4-465A-9508-DA0A5D7C72A0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Predict receiver and shot outcomes</a:t>
            </a:r>
          </a:p>
        </p:txBody>
      </p:sp>
      <p:sp>
        <p:nvSpPr>
          <p:cNvPr id="5" name="">
            <a:extLst>
              <a:ext uri="{FF2B5EF4-FFF2-40B4-BE49-F238E27FC236}">
                <ns2:creationId id="{78515097-EA4C-4C69-879A-CD6472B37DF6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285370EE-DC7D-4CD6-A702-FE755782B814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Represent player interactions with graph networks</a:t>
            </a:r>
          </a:p>
        </p:txBody>
      </p:sp>
      <p:sp>
        <p:nvSpPr>
          <p:cNvPr id="7" name="">
            <a:extLst>
              <a:ext uri="{FF2B5EF4-FFF2-40B4-BE49-F238E27FC236}">
                <ns2:creationId id="{2CFDBCA3-7404-4E57-BAF8-C9F8F7D9B0B5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A8DF9C7D-1B48-4620-A970-26807FE78B5A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Suggest alternative positional configurations</a:t>
            </a:r>
          </a:p>
        </p:txBody>
      </p:sp>
      <p:pic>
        <p:nvPicPr>
          <p:cNvPr id="9" name="">
            <a:extLst>
              <a:ext uri="{FF2B5EF4-FFF2-40B4-BE49-F238E27FC236}">
                <ns2:creationId id="{D44FD60D-411C-4C22-B495-60E599B839CC}"/>
              </a:ext>
            </a:extLst>
          </p:cNvPr>
          <p:cNvPicPr>
            <a:picLocks noChangeAspect="1"/>
          </p:cNvPicPr>
          <p:nvPr/>
        </p:nvPicPr>
        <p:blipFill>
          <a:blip r:embed="Rc475f8ae9b3240ac"/>
          <a:stretch/>
        </p:blipFill>
        <p:spPr>
          <a:xfrm>
            <a:off x="4095750" y="1490491"/>
            <a:ext cx="7620000" cy="4019892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774F5E31-73F9-4C8A-BCDD-DC91F70A0A0E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10096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TacticAI (2024)</a:t>
            </a:r>
          </a:p>
        </p:txBody>
      </p:sp>
      <p:sp>
        <p:nvSpPr>
          <p:cNvPr id="11" name="">
            <a:extLst>
              <a:ext uri="{FF2B5EF4-FFF2-40B4-BE49-F238E27FC236}">
                <ns2:creationId id="{6E380216-A8F8-44DA-A351-8EEE4F0BCA30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62 / 64</a:t>
            </a:r>
          </a:p>
        </p:txBody>
      </p:sp>
    </p:spTree>
    <p:extLst>
      <p:ext uri="{BB962C8B-B14F-4D97-AF65-F5344CB8AC3E}">
        <p14:creationId val="1964800831"/>
      </p:ext>
    </p:extLst>
  </p:cSld>
</p:sld>
</file>

<file path=ppt/slides/slide63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2" name="">
            <a:extLst>
              <a:ext uri="{FF2B5EF4-FFF2-40B4-BE49-F238E27FC236}">
                <ns2:creationId id="{20ACF385-AAA8-40F4-BCE7-CC3817C7962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FDADE1DC-C873-487C-A546-F758B8AD4952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Trajectory forecasting</a:t>
            </a:r>
          </a:p>
        </p:txBody>
      </p:sp>
      <p:sp>
        <p:nvSpPr>
          <p:cNvPr id="3" name="">
            <a:extLst>
              <a:ext uri="{FF2B5EF4-FFF2-40B4-BE49-F238E27FC236}">
                <ns2:creationId id="{234C87BB-4232-493F-912A-D840486D16B1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80F61953-DB8E-419C-9406-4DB30DEB59DD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Encode observed player and team history</a:t>
            </a:r>
          </a:p>
        </p:txBody>
      </p:sp>
      <p:sp>
        <p:nvSpPr>
          <p:cNvPr id="5" name="">
            <a:extLst>
              <a:ext uri="{FF2B5EF4-FFF2-40B4-BE49-F238E27FC236}">
                <ns2:creationId id="{877FB895-E41A-415D-9530-86BA6A2D6F58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D9E965A8-E655-41D9-B719-D3A4F4B33FA3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Generate multiple plausible continuations</a:t>
            </a:r>
          </a:p>
        </p:txBody>
      </p:sp>
      <p:sp>
        <p:nvSpPr>
          <p:cNvPr id="7" name="">
            <a:extLst>
              <a:ext uri="{FF2B5EF4-FFF2-40B4-BE49-F238E27FC236}">
                <ns2:creationId id="{362292C1-7594-42D9-9428-329F37031B74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3857E6BF-3582-4CDD-903B-E76074B92A7F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Evaluate geometry, tactical coherence and uncertainty</a:t>
            </a:r>
          </a:p>
        </p:txBody>
      </p:sp>
      <p:pic>
        <p:nvPicPr>
          <p:cNvPr id="9" name="">
            <a:extLst>
              <a:ext uri="{FF2B5EF4-FFF2-40B4-BE49-F238E27FC236}">
                <ns2:creationId id="{2D3E290B-D375-4739-BA1B-5B0BB3A12AD1}"/>
              </a:ext>
            </a:extLst>
          </p:cNvPr>
          <p:cNvPicPr>
            <a:picLocks noChangeAspect="1"/>
          </p:cNvPicPr>
          <p:nvPr/>
        </p:nvPicPr>
        <p:blipFill>
          <a:blip r:embed="Raf78a6f22494498e"/>
          <a:stretch/>
        </p:blipFill>
        <p:spPr>
          <a:xfrm>
            <a:off x="4095750" y="1490491"/>
            <a:ext cx="7620000" cy="4019892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855134AA-3D5D-41EE-A7A6-0C68D3CA2050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10096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GenTac: trajectory forecasting (2026 preprint)</a:t>
            </a:r>
          </a:p>
        </p:txBody>
      </p:sp>
      <p:sp>
        <p:nvSpPr>
          <p:cNvPr id="11" name="">
            <a:extLst>
              <a:ext uri="{FF2B5EF4-FFF2-40B4-BE49-F238E27FC236}">
                <ns2:creationId id="{02F969D4-D117-46AA-AB1B-1B6798A99633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63 / 64</a:t>
            </a:r>
          </a:p>
        </p:txBody>
      </p:sp>
    </p:spTree>
    <p:extLst>
      <p:ext uri="{BB962C8B-B14F-4D97-AF65-F5344CB8AC3E}">
        <p14:creationId val="458640238"/>
      </p:ext>
    </p:extLst>
  </p:cSld>
</p:sld>
</file>

<file path=ppt/slides/slide64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BFCF8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3" name="">
            <a:extLst>
              <a:ext uri="{FF2B5EF4-FFF2-40B4-BE49-F238E27FC236}">
                <ns2:creationId id="{50723632-4729-461D-ABCE-ECCF4C102A2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47D68"/>
          </a:solidFill>
          <a:ln w="0">
            <a:noFill/>
          </a:ln>
        </p:spPr>
      </p:sp>
      <p:sp>
        <p:nvSpPr>
          <p:cNvPr id="2" name="">
            <a:extLst>
              <a:ext uri="{FF2B5EF4-FFF2-40B4-BE49-F238E27FC236}">
                <ns2:creationId id="{F225A37B-AE57-44BA-B3DF-E8C60EE527DF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000" b="1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83A35"/>
                </a:solidFill>
                <a:latin typeface="Arial"/>
                <a:ea typeface="Arial"/>
                <a:cs typeface="Arial"/>
              </a:rPr>
              <a:t>Validating tracking models</a:t>
            </a:r>
          </a:p>
        </p:txBody>
      </p:sp>
      <p:sp>
        <p:nvSpPr>
          <p:cNvPr id="3" name="">
            <a:extLst>
              <a:ext uri="{FF2B5EF4-FFF2-40B4-BE49-F238E27FC236}">
                <ns2:creationId id="{B786577F-6F0D-4007-B641-22FAD23CA043}"/>
              </a:ext>
            </a:extLst>
          </p:cNvPr>
          <p:cNvSpPr>
            <a:spLocks noGrp="1"/>
          </p:cNvSpPr>
          <p:nvPr/>
        </p:nvSpPr>
        <p:spPr>
          <a:xfrm>
            <a:off x="523875" y="1438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>
              <a:ext uri="{FF2B5EF4-FFF2-40B4-BE49-F238E27FC236}">
                <ns2:creationId id="{EAE9A939-1FCB-4113-A166-8146C5562BBF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Split data by matches or independent sequences</a:t>
            </a:r>
          </a:p>
        </p:txBody>
      </p:sp>
      <p:sp>
        <p:nvSpPr>
          <p:cNvPr id="5" name="">
            <a:extLst>
              <a:ext uri="{FF2B5EF4-FFF2-40B4-BE49-F238E27FC236}">
                <ns2:creationId id="{8AB43E6F-5A18-4795-A351-3C7741C5A1EB}"/>
              </a:ext>
            </a:extLst>
          </p:cNvPr>
          <p:cNvSpPr>
            <a:spLocks noGrp="1"/>
          </p:cNvSpPr>
          <p:nvPr/>
        </p:nvSpPr>
        <p:spPr>
          <a:xfrm>
            <a:off x="523875" y="27717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>
              <a:ext uri="{FF2B5EF4-FFF2-40B4-BE49-F238E27FC236}">
                <ns2:creationId id="{5D465EDB-B9CB-45FB-A78B-2D6E40B1D167}"/>
              </a:ext>
            </a:extLst>
          </p:cNvPr>
          <p:cNvSpPr>
            <a:spLocks noGrp="1"/>
          </p:cNvSpPr>
          <p:nvPr/>
        </p:nvSpPr>
        <p:spPr>
          <a:xfrm>
            <a:off x="523875" y="30956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Evaluate calibration and task-specific outcomes</a:t>
            </a:r>
          </a:p>
        </p:txBody>
      </p:sp>
      <p:sp>
        <p:nvSpPr>
          <p:cNvPr id="7" name="">
            <a:extLst>
              <a:ext uri="{FF2B5EF4-FFF2-40B4-BE49-F238E27FC236}">
                <ns2:creationId id="{71BB5433-5C4A-40DA-B182-59C5B2AA383E}"/>
              </a:ext>
            </a:extLst>
          </p:cNvPr>
          <p:cNvSpPr>
            <a:spLocks noGrp="1"/>
          </p:cNvSpPr>
          <p:nvPr/>
        </p:nvSpPr>
        <p:spPr>
          <a:xfrm>
            <a:off x="523875" y="4105275"/>
            <a:ext cx="381000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200" b="1">
                <a:solidFill>
                  <a:srgbClr val="147D6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47D6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>
              <a:ext uri="{FF2B5EF4-FFF2-40B4-BE49-F238E27FC236}">
                <ns2:creationId id="{C0A7BEBD-C499-4137-9175-94C30664C00D}"/>
              </a:ext>
            </a:extLst>
          </p:cNvPr>
          <p:cNvSpPr>
            <a:spLocks noGrp="1"/>
          </p:cNvSpPr>
          <p:nvPr/>
        </p:nvSpPr>
        <p:spPr>
          <a:xfrm>
            <a:off x="523875" y="4429125"/>
            <a:ext cx="3238500" cy="10382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75" b="0">
                <a:solidFill>
                  <a:srgbClr val="183A3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83A35"/>
                </a:solidFill>
                <a:latin typeface="Arial"/>
                <a:ea typeface="Arial"/>
                <a:cs typeface="Arial"/>
              </a:rPr>
              <a:t>Stress-test missingness, direction and parameters</a:t>
            </a:r>
          </a:p>
        </p:txBody>
      </p:sp>
      <p:pic>
        <p:nvPicPr>
          <p:cNvPr id="9" name="">
            <a:extLst>
              <a:ext uri="{FF2B5EF4-FFF2-40B4-BE49-F238E27FC236}">
                <ns2:creationId id="{E3D2C7BD-3A22-4ABF-BE3B-AAC020A56687}"/>
              </a:ext>
            </a:extLst>
          </p:cNvPr>
          <p:cNvPicPr>
            <a:picLocks noChangeAspect="1"/>
          </p:cNvPicPr>
          <p:nvPr/>
        </p:nvPicPr>
        <p:blipFill>
          <a:blip r:embed="R082fb6002dbf4045"/>
          <a:stretch/>
        </p:blipFill>
        <p:spPr>
          <a:xfrm>
            <a:off x="4254473" y="1333500"/>
            <a:ext cx="7302555" cy="4333875"/>
          </a:xfrm>
          <a:prstGeom prst="rect">
            <a:avLst/>
          </a:prstGeom>
        </p:spPr>
      </p:pic>
      <p:sp>
        <p:nvSpPr>
          <p:cNvPr id="10" name="">
            <a:extLst>
              <a:ext uri="{FF2B5EF4-FFF2-40B4-BE49-F238E27FC236}">
                <ns2:creationId id="{4F0B9583-246A-4496-BBE5-78560329B466}"/>
              </a:ext>
            </a:extLst>
          </p:cNvPr>
          <p:cNvSpPr>
            <a:spLocks noGrp="1"/>
          </p:cNvSpPr>
          <p:nvPr/>
        </p:nvSpPr>
        <p:spPr>
          <a:xfrm>
            <a:off x="5715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4"/>
              </a:rPr>
              <a:t>Fine-grained expected possession value (2021)</a:t>
            </a:r>
          </a:p>
        </p:txBody>
      </p:sp>
      <p:sp>
        <p:nvSpPr>
          <p:cNvPr id="11" name="">
            <a:extLst>
              <a:ext uri="{FF2B5EF4-FFF2-40B4-BE49-F238E27FC236}">
                <ns2:creationId id="{4DBA2BB9-98E4-487D-B1DF-4F4A3156042E}"/>
              </a:ext>
            </a:extLst>
          </p:cNvPr>
          <p:cNvSpPr>
            <a:spLocks noGrp="1"/>
          </p:cNvSpPr>
          <p:nvPr/>
        </p:nvSpPr>
        <p:spPr>
          <a:xfrm>
            <a:off x="5715000" y="62579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90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1645C"/>
                </a:solidFill>
                <a:latin typeface="Arial"/>
                <a:ea typeface="Arial"/>
                <a:cs typeface="Arial"/>
                <a:hlinkClick r:id="rIdWorkshop5"/>
              </a:rPr>
              <a:t>Dangerous Accessible Space: paper and implementation</a:t>
            </a:r>
          </a:p>
        </p:txBody>
      </p:sp>
      <p:sp>
        <p:nvSpPr>
          <p:cNvPr id="12" name="">
            <a:extLst>
              <a:ext uri="{FF2B5EF4-FFF2-40B4-BE49-F238E27FC236}">
                <ns2:creationId id="{DAF6CE4C-7CD8-4DE2-8B22-6B16296C25F0}"/>
              </a:ext>
            </a:extLst>
          </p:cNvPr>
          <p:cNvSpPr>
            <a:spLocks noGrp="1"/>
          </p:cNvSpPr>
          <p:nvPr/>
        </p:nvSpPr>
        <p:spPr>
          <a:xfrm>
            <a:off x="11096625" y="62579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050" b="0">
                <a:solidFill>
                  <a:srgbClr val="5164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1645C"/>
                </a:solidFill>
                <a:latin typeface="Arial"/>
                <a:ea typeface="Arial"/>
                <a:cs typeface="Arial"/>
              </a:rPr>
              <a:t>64 / 64</a:t>
            </a:r>
          </a:p>
        </p:txBody>
      </p:sp>
    </p:spTree>
    <p:extLst>
      <p:ext uri="{BB962C8B-B14F-4D97-AF65-F5344CB8AC3E}">
        <p14:creationId val="121286177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2026-10-20T05:41:42.2430000Z</dcterms:created>
  <dcterms:modified xsi:type="dcterms:W3CDTF">2026-10-20T05:41:42.2430000Z</dcterms:modified>
</coreProperties>
</file>
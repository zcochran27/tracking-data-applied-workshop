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cedb27360554b8b" /><Relationship Type="http://schemas.openxmlformats.org/officeDocument/2006/relationships/extended-properties" Target="/docProps/app.xml" Id="R4f85aeb5023b4f8d" /><Relationship Type="http://schemas.openxmlformats.org/officeDocument/2006/relationships/officeDocument" Target="/ppt/presentation.xml" Id="R7c2172840ede4042" /></Relationships>
</file>

<file path=ppt/presentation.xml><?xml version="1.0" encoding="utf-8"?>
<p:presentation xmlns:p="http://schemas.openxmlformats.org/presentationml/2006/main">
  <p:sldMasterIdLst>
    <p:sldMasterId xmlns:r="http://schemas.openxmlformats.org/officeDocument/2006/relationships" id="2147483648" r:id="R2c8bbd8e47194268"/>
  </p:sldMasterIdLst>
  <p:notesMasterIdLst>
    <p:notesMasterId xmlns:r="http://schemas.openxmlformats.org/officeDocument/2006/relationships" r:id="R24cccc1084124767"/>
  </p:notesMasterIdLst>
  <p:sldIdLst>
    <p:sldId xmlns:r="http://schemas.openxmlformats.org/officeDocument/2006/relationships" id="256" r:id="R8f76e66edc1f45be"/>
    <p:sldId xmlns:r="http://schemas.openxmlformats.org/officeDocument/2006/relationships" id="257" r:id="R03aa0f4be8d24bd7"/>
    <p:sldId xmlns:r="http://schemas.openxmlformats.org/officeDocument/2006/relationships" id="258" r:id="R804b44bc5cb84aec"/>
    <p:sldId xmlns:r="http://schemas.openxmlformats.org/officeDocument/2006/relationships" id="259" r:id="R7170bec380964e13"/>
    <p:sldId xmlns:r="http://schemas.openxmlformats.org/officeDocument/2006/relationships" id="260" r:id="R24fd2677d7904f8f"/>
    <p:sldId xmlns:r="http://schemas.openxmlformats.org/officeDocument/2006/relationships" id="261" r:id="R10014e7bef634847"/>
    <p:sldId xmlns:r="http://schemas.openxmlformats.org/officeDocument/2006/relationships" id="262" r:id="Rc332dc6793fd433b"/>
    <p:sldId xmlns:r="http://schemas.openxmlformats.org/officeDocument/2006/relationships" id="263" r:id="Re5edc3f016c44be9"/>
    <p:sldId xmlns:r="http://schemas.openxmlformats.org/officeDocument/2006/relationships" id="264" r:id="Ref2d7ff6f7104f59"/>
    <p:sldId xmlns:r="http://schemas.openxmlformats.org/officeDocument/2006/relationships" id="265" r:id="R539e66349391479c"/>
    <p:sldId xmlns:r="http://schemas.openxmlformats.org/officeDocument/2006/relationships" id="266" r:id="R39c4a36ca70943f5"/>
    <p:sldId xmlns:r="http://schemas.openxmlformats.org/officeDocument/2006/relationships" id="267" r:id="R805d22a33f6c4099"/>
    <p:sldId xmlns:r="http://schemas.openxmlformats.org/officeDocument/2006/relationships" id="268" r:id="R33168d6c48404a08"/>
    <p:sldId xmlns:r="http://schemas.openxmlformats.org/officeDocument/2006/relationships" id="269" r:id="Rf3fdf45bd8124784"/>
    <p:sldId xmlns:r="http://schemas.openxmlformats.org/officeDocument/2006/relationships" id="270" r:id="R6fd53eb0c5c94ecc"/>
    <p:sldId xmlns:r="http://schemas.openxmlformats.org/officeDocument/2006/relationships" id="271" r:id="R9d055b7111e44c6a"/>
    <p:sldId xmlns:r="http://schemas.openxmlformats.org/officeDocument/2006/relationships" id="272" r:id="Rbac0cfe2fe434ce3"/>
    <p:sldId xmlns:r="http://schemas.openxmlformats.org/officeDocument/2006/relationships" id="273" r:id="R7c5faf098243481e"/>
    <p:sldId xmlns:r="http://schemas.openxmlformats.org/officeDocument/2006/relationships" id="274" r:id="R62ee9234c81446fb"/>
    <p:sldId xmlns:r="http://schemas.openxmlformats.org/officeDocument/2006/relationships" id="275" r:id="R02ad4a92607d4fe3"/>
    <p:sldId xmlns:r="http://schemas.openxmlformats.org/officeDocument/2006/relationships" id="276" r:id="R5698929a83cf4fe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86b27148444800" /><Relationship Type="http://schemas.openxmlformats.org/officeDocument/2006/relationships/slideMaster" Target="/ppt/slideMasters/slideMaster1.xml" Id="R2c8bbd8e47194268" /><Relationship Type="http://schemas.openxmlformats.org/officeDocument/2006/relationships/notesMaster" Target="/ppt/notesMasters/notesMaster1.xml" Id="R24cccc1084124767" /><Relationship Type="http://schemas.openxmlformats.org/officeDocument/2006/relationships/presProps" Target="/ppt/presProps.xml" Id="R76f4663f89e5406c" /><Relationship Type="http://schemas.openxmlformats.org/officeDocument/2006/relationships/tableStyles" Target="/ppt/tableStyles.xml" Id="Re8b0b20666084119" /><Relationship Type="http://schemas.openxmlformats.org/officeDocument/2006/relationships/slide" Target="/ppt/slides/slide1.xml" Id="R8f76e66edc1f45be" /><Relationship Type="http://schemas.openxmlformats.org/officeDocument/2006/relationships/slide" Target="/ppt/slides/slide2.xml" Id="R03aa0f4be8d24bd7" /><Relationship Type="http://schemas.openxmlformats.org/officeDocument/2006/relationships/slide" Target="/ppt/slides/slide3.xml" Id="R804b44bc5cb84aec" /><Relationship Type="http://schemas.openxmlformats.org/officeDocument/2006/relationships/slide" Target="/ppt/slides/slide4.xml" Id="R7170bec380964e13" /><Relationship Type="http://schemas.openxmlformats.org/officeDocument/2006/relationships/slide" Target="/ppt/slides/slide5.xml" Id="R24fd2677d7904f8f" /><Relationship Type="http://schemas.openxmlformats.org/officeDocument/2006/relationships/slide" Target="/ppt/slides/slide6.xml" Id="R10014e7bef634847" /><Relationship Type="http://schemas.openxmlformats.org/officeDocument/2006/relationships/slide" Target="/ppt/slides/slide7.xml" Id="Rc332dc6793fd433b" /><Relationship Type="http://schemas.openxmlformats.org/officeDocument/2006/relationships/slide" Target="/ppt/slides/slide8.xml" Id="Re5edc3f016c44be9" /><Relationship Type="http://schemas.openxmlformats.org/officeDocument/2006/relationships/slide" Target="/ppt/slides/slide9.xml" Id="Ref2d7ff6f7104f59" /><Relationship Type="http://schemas.openxmlformats.org/officeDocument/2006/relationships/slide" Target="/ppt/slides/slide10.xml" Id="R539e66349391479c" /><Relationship Type="http://schemas.openxmlformats.org/officeDocument/2006/relationships/slide" Target="/ppt/slides/slide11.xml" Id="R39c4a36ca70943f5" /><Relationship Type="http://schemas.openxmlformats.org/officeDocument/2006/relationships/slide" Target="/ppt/slides/slide12.xml" Id="R805d22a33f6c4099" /><Relationship Type="http://schemas.openxmlformats.org/officeDocument/2006/relationships/slide" Target="/ppt/slides/slide13.xml" Id="R33168d6c48404a08" /><Relationship Type="http://schemas.openxmlformats.org/officeDocument/2006/relationships/slide" Target="/ppt/slides/slide14.xml" Id="Rf3fdf45bd8124784" /><Relationship Type="http://schemas.openxmlformats.org/officeDocument/2006/relationships/slide" Target="/ppt/slides/slide15.xml" Id="R6fd53eb0c5c94ecc" /><Relationship Type="http://schemas.openxmlformats.org/officeDocument/2006/relationships/slide" Target="/ppt/slides/slide16.xml" Id="R9d055b7111e44c6a" /><Relationship Type="http://schemas.openxmlformats.org/officeDocument/2006/relationships/slide" Target="/ppt/slides/slide17.xml" Id="Rbac0cfe2fe434ce3" /><Relationship Type="http://schemas.openxmlformats.org/officeDocument/2006/relationships/slide" Target="/ppt/slides/slide18.xml" Id="R7c5faf098243481e" /><Relationship Type="http://schemas.openxmlformats.org/officeDocument/2006/relationships/slide" Target="/ppt/slides/slide19.xml" Id="R62ee9234c81446fb" /><Relationship Type="http://schemas.openxmlformats.org/officeDocument/2006/relationships/slide" Target="/ppt/slides/slide20.xml" Id="R02ad4a92607d4fe3" /><Relationship Type="http://schemas.openxmlformats.org/officeDocument/2006/relationships/slide" Target="/ppt/slides/slide21.xml" Id="R5698929a83cf4fe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1971b0d29b42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a76ec307a24e1e" /><Relationship Type="http://schemas.openxmlformats.org/officeDocument/2006/relationships/notesMaster" Target="/ppt/notesMasters/notesMaster1.xml" Id="Reb0b35b5964c43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a1af1750f940d2" /><Relationship Type="http://schemas.openxmlformats.org/officeDocument/2006/relationships/notesMaster" Target="/ppt/notesMasters/notesMaster1.xml" Id="R56ec6e9fc30342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7baa6b61c946cc" /><Relationship Type="http://schemas.openxmlformats.org/officeDocument/2006/relationships/notesMaster" Target="/ppt/notesMasters/notesMaster1.xml" Id="Rf74f9802d68345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c12009f8d0448e" /><Relationship Type="http://schemas.openxmlformats.org/officeDocument/2006/relationships/notesMaster" Target="/ppt/notesMasters/notesMaster1.xml" Id="Rab5e7f93eeb743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cd50dcde064f0b" /><Relationship Type="http://schemas.openxmlformats.org/officeDocument/2006/relationships/notesMaster" Target="/ppt/notesMasters/notesMaster1.xml" Id="Ree2df295570645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18877f1c2e4c62" /><Relationship Type="http://schemas.openxmlformats.org/officeDocument/2006/relationships/notesMaster" Target="/ppt/notesMasters/notesMaster1.xml" Id="R71ddf87c3d6840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bfae9b179b496a" /><Relationship Type="http://schemas.openxmlformats.org/officeDocument/2006/relationships/notesMaster" Target="/ppt/notesMasters/notesMaster1.xml" Id="Rb600db662edc41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7ccf3412634ebc" /><Relationship Type="http://schemas.openxmlformats.org/officeDocument/2006/relationships/notesMaster" Target="/ppt/notesMasters/notesMaster1.xml" Id="R0bc86a26e9574f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e08fcc12f597460a" /><Relationship Type="http://schemas.openxmlformats.org/officeDocument/2006/relationships/notesMaster" Target="/ppt/notesMasters/notesMaster1.xml" Id="Rd21af412b0444c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757a8319a74b15" /><Relationship Type="http://schemas.openxmlformats.org/officeDocument/2006/relationships/notesMaster" Target="/ppt/notesMasters/notesMaster1.xml" Id="R327daed3bb294a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ccdd345af94c60" /><Relationship Type="http://schemas.openxmlformats.org/officeDocument/2006/relationships/notesMaster" Target="/ppt/notesMasters/notesMaster1.xml" Id="Re2127648dc2149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8dc7189e70843ea" /><Relationship Type="http://schemas.openxmlformats.org/officeDocument/2006/relationships/notesMaster" Target="/ppt/notesMasters/notesMaster1.xml" Id="R44d84b96410f46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d308de50c9f447c" /><Relationship Type="http://schemas.openxmlformats.org/officeDocument/2006/relationships/notesMaster" Target="/ppt/notesMasters/notesMaster1.xml" Id="R4855efd06193446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bb7fa1cfb44739" /><Relationship Type="http://schemas.openxmlformats.org/officeDocument/2006/relationships/notesMaster" Target="/ppt/notesMasters/notesMaster1.xml" Id="Rce57c7e2b6604fd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059b6836ad46d2" /><Relationship Type="http://schemas.openxmlformats.org/officeDocument/2006/relationships/notesMaster" Target="/ppt/notesMasters/notesMaster1.xml" Id="Re789873422e54d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66fd213d13444e4" /><Relationship Type="http://schemas.openxmlformats.org/officeDocument/2006/relationships/notesMaster" Target="/ppt/notesMasters/notesMaster1.xml" Id="R9f3aa4fc35b1479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e19c07884854db6" /><Relationship Type="http://schemas.openxmlformats.org/officeDocument/2006/relationships/notesMaster" Target="/ppt/notesMasters/notesMaster1.xml" Id="R2a2bdf9ed49c4d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e21bd40f3064556" /><Relationship Type="http://schemas.openxmlformats.org/officeDocument/2006/relationships/notesMaster" Target="/ppt/notesMasters/notesMaster1.xml" Id="R0216eb0f90454a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311640c8d04888" /><Relationship Type="http://schemas.openxmlformats.org/officeDocument/2006/relationships/notesMaster" Target="/ppt/notesMasters/notesMaster1.xml" Id="Re84101e7659646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5f23074bdec4dab" /><Relationship Type="http://schemas.openxmlformats.org/officeDocument/2006/relationships/notesMaster" Target="/ppt/notesMasters/notesMaster1.xml" Id="R2a8148da7935490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b187456b6d4a1a" /><Relationship Type="http://schemas.openxmlformats.org/officeDocument/2006/relationships/notesMaster" Target="/ppt/notesMasters/notesMaster1.xml" Id="R0c5433e50a7b44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football problem: who has a useful passing option, and what created it? Ask students to watch the same sequence before looking at model outputs.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links in resources/READING_LIST.md. Tracking and derived labels are different products. The sample is Brisbane vs Perth, match 1925299; do not imply all files in the current manifest are downloaded.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includes notebook visits: A=7, B=4, C=5, graph=1, D=7 minutes. Slides total 31 minutes; questions 5 minutes. Avoid running full-match simulations live.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 sample is 10 Hz. Inspect raw is_detected fields where present. Keep contiguous segments; never differentiate across a half or a gap. Dynamic-event coordinates may use different orientation from tracking.</a:t>
            </a:r>
          </a:p>
          <a:p xmlns:a="http://schemas.openxmlformats.org/drawingml/2006/main">
            <a:r>
              <a:t/>
            </a:r>
          </a:p>
          <a:p xmlns:a="http://schemas.openxmlformats.org/drawingml/2006/main">
            <a:r>
              <a:t>NOTEBOOK A · load → inspect → animate · 7 min</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Defense/off-ball movement are cross-cutting applications. Keep the core taxonomy of five avenues while making those questions visible.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Simple proximity is a candidate detector, not ground truth. Loose balls, aerial passes and duels create ambiguity. PathCRF (2026) models dynamic graphs and possession-path inference. Validate event precision/recall with timing tolerances and hand-reviewed clips.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PathCRF: player trajectories to events (2026)</a:t>
            </a:r>
          </a:p>
          <a:p xmlns:a="http://schemas.openxmlformats.org/drawingml/2006/main">
            <a:r>
              <a:t>https://github.com/hyunsungkim-ds/pathcrf</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Shaw &amp; Glickman show dynamic formations by game state. Mean positions alone hide role switches and transition periods. Phase definitions depend on the taxonomy. Notebook appendix demonstrates interval joins and shape summaries, not a trained formation classifier.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Thresholds here refer to the documented men’s context. Use half-open bins [20,25) and [25,∞) in our teaching code to avoid overlap; this boundary convention is ours. SkillCorner describes PSV-99 over physical activities above 15 km/h; do not replace it with a percentile of all frames. Exact production smoothing and effort rules are not fully reproduced.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Distance estimate = sum(speed in m/s × dt). Our effort rule uses &gt;=1 second and no merging. It is an educational approximation, not an exact SkillCorner count. Do not extrapolate the 15-minute sample into a full-match total or compare it directly with player-season aggregates.</a:t>
            </a:r>
          </a:p>
          <a:p xmlns:a="http://schemas.openxmlformats.org/drawingml/2006/main">
            <a:r>
              <a:t/>
            </a:r>
          </a:p>
          <a:p xmlns:a="http://schemas.openxmlformats.org/drawingml/2006/main">
            <a:r>
              <a:t>NOTEBOOK B · speed → efforts → distance · 4 min</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a:p xmlns:a="http://schemas.openxmlformats.org/drawingml/2006/main">
            <a:r>
              <a:t/>
            </a:r>
          </a:p>
          <a:p xmlns:a="http://schemas.openxmlformats.org/drawingml/2006/main">
            <a:r>
              <a:t>SkillCorner physical thresholds and time-to metrics</a:t>
            </a:r>
          </a:p>
          <a:p xmlns:a="http://schemas.openxmlformats.org/drawingml/2006/main">
            <a:r>
              <a:t>https://skillcorner.com/us/articles/scouted-brazilian-centre-backs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which model notices a player running away from the ball. Gaussian does not automatically mean calibrated probability. Our arrival-time baseline is not Spearman’s ball-aware control model.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same frame across panels. Our Gaussian uses a transparent illustrative covariance rather than exactly reproducing Fernández/Bornn. Control is not value: safe space behind your goal need not be valuable. Transition to pass simulation later.</a:t>
            </a:r>
          </a:p>
          <a:p xmlns:a="http://schemas.openxmlformats.org/drawingml/2006/main">
            <a:r>
              <a:t/>
            </a:r>
          </a:p>
          <a:p xmlns:a="http://schemas.openxmlformats.org/drawingml/2006/main">
            <a:r>
              <a:t>NOTEBOOK C · compare surfaces · 5 min</a:t>
            </a:r>
          </a:p>
          <a:p xmlns:a="http://schemas.openxmlformats.org/drawingml/2006/main">
            <a:r>
              <a:t/>
            </a:r>
          </a:p>
          <a:p xmlns:a="http://schemas.openxmlformats.org/drawingml/2006/main">
            <a:r>
              <a:t>Sources:</a:t>
            </a:r>
          </a:p>
          <a:p xmlns:a="http://schemas.openxmlformats.org/drawingml/2006/main">
            <a:r>
              <a:t>DataBallPy space occupation</a:t>
            </a:r>
          </a:p>
          <a:p xmlns:a="http://schemas.openxmlformats.org/drawingml/2006/main">
            <a:r>
              <a:t>https://databallpy.readthedocs.io/en/main/features/space_occupation.html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a frame-level interaction graph from an aggregate passing network. The radius graph is an example, not a claim that only nearby players interact. Fully connected graphs can capture distant tactical relationships.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message passing verbally: the receiver representation changes when a defender closes the lane. Permutation-aware architectures avoid arbitrary player ordering. Temporal context needs a recurrent, temporal-attention or spatiotemporal design. Graph construction, data quality and calibration still matter.</a:t>
            </a:r>
          </a:p>
          <a:p xmlns:a="http://schemas.openxmlformats.org/drawingml/2006/main">
            <a:r>
              <a:t/>
            </a:r>
          </a:p>
          <a:p xmlns:a="http://schemas.openxmlformats.org/drawingml/2006/main">
            <a:r>
              <a:t>NOTEBOOK · inspect node and edge features · 1 min</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project comparison in resources/READING_LIST.md. TacticAI is a set-piece study, not a general open-play EPV model. Its task-specific code and licensed tracking data were not released. Do not interpret attention weights as causal defensive credit.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a:p xmlns:a="http://schemas.openxmlformats.org/drawingml/2006/main">
            <a:r>
              <a:t/>
            </a:r>
          </a:p>
          <a:p xmlns:a="http://schemas.openxmlformats.org/drawingml/2006/main">
            <a:r>
              <a:t>TacticAI (2024)</a:t>
            </a:r>
          </a:p>
          <a:p xmlns:a="http://schemas.openxmlformats.org/drawingml/2006/main">
            <a:r>
              <a:t>https://www.nature.com/articles/s41467-024-45965-x</a:t>
            </a:r>
          </a:p>
          <a:p xmlns:a="http://schemas.openxmlformats.org/drawingml/2006/main">
            <a:r>
              <a:t/>
            </a:r>
          </a:p>
          <a:p xmlns:a="http://schemas.openxmlformats.org/drawingml/2006/main">
            <a:r>
              <a:t>Graph attention for defensive influence</a:t>
            </a:r>
          </a:p>
          <a:p xmlns:a="http://schemas.openxmlformats.org/drawingml/2006/main">
            <a:r>
              <a:t>https://github.com/Sentient-Sports/EvaluatingDefensiveInfluenceUsingGATs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schematic decomposition is sum over actions P(action|state) × E(value after action|state,action). Include failure/turnover branches. EPV definitions vary: expected net next-goal outcome, possession scoring probability, or fixed-horizon scoring are not interchangeable. GNNs can estimate components; EPV does not require GNNs. Fernández et al use convolutional pass surfaces.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a:p xmlns:a="http://schemas.openxmlformats.org/drawingml/2006/main">
            <a:r>
              <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uses physical pass simulation. The notebook calls the public accessible-space implementation and plots its actual output; it does not relabel a Gaussian map as pass completion. Ball speed assumptions, direction and offside treatment affect results. DAS is danger-weighted area, not calibrated goal probability.</a:t>
            </a:r>
          </a:p>
          <a:p xmlns:a="http://schemas.openxmlformats.org/drawingml/2006/main">
            <a:r>
              <a:t/>
            </a:r>
          </a:p>
          <a:p xmlns:a="http://schemas.openxmlformats.org/drawingml/2006/main">
            <a:r>
              <a:t>NOTEBOOK D · options → AS/DAS · 7 min</a:t>
            </a:r>
          </a:p>
          <a:p xmlns:a="http://schemas.openxmlformats.org/drawingml/2006/main">
            <a:r>
              <a:t/>
            </a:r>
          </a:p>
          <a:p xmlns:a="http://schemas.openxmlformats.org/drawingml/2006/main">
            <a:r>
              <a:t>Sources:</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StatsBomb’s xG discussion for features and Spearman for OBSO. Never train an xG model on a handful of shots from this sample. A location-danger heuristic is not a fitted xG model.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describes run xT as the chance of a goal within 10 seconds if the run is served. Distinguish this counterfactual target from location-based event xT and observed EPV change. Supplied provider values may be explored without claiming to reproduce the model.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DEFCON is a direct defense/EPV example. GenTac is recent preprint research: present it as emerging work, not settled operational evidence. More realistic simulated outcomes still require out-of-sample validation.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a:p xmlns:a="http://schemas.openxmlformats.org/drawingml/2006/main">
            <a:r>
              <a:t/>
            </a:r>
          </a:p>
          <a:p xmlns:a="http://schemas.openxmlformats.org/drawingml/2006/main">
            <a:r>
              <a:t>GenTac: trajectory forecasting (2026 preprint)</a:t>
            </a:r>
          </a:p>
          <a:p xmlns:a="http://schemas.openxmlformats.org/drawingml/2006/main">
            <a:r>
              <a:t>https://arxiv.org/abs/2604.11786</a:t>
            </a:r>
          </a:p>
          <a:p xmlns:a="http://schemas.openxmlformats.org/drawingml/2006/main">
            <a:r>
              <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same sequence. Ask: which option became available, which player helped create it, and what would you need to establish that contribution reliably? Save 5 minutes for questions.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Questions: 5 minutes. Optional appendix code is for after the workshop. All research references are in slide notes and resources/READING_LIST.md.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a6565d5e5249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89e5da1332d4fa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be322103694ca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ae83639efb74c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2bd1ad8d39b4fb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803df3e13d743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EEE716-C61E-4C87-AFC1-55D44A32363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B69D76D-27FC-41E3-A255-BB04052095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E5BC78D-6647-44E8-9CA3-8D6C688A4A2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58E9F0-6A7A-473B-9094-89B6AE7E979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33B3C2-3235-46CE-AE0B-E1BAD3E3C10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DD9E78-6B9E-46F6-BC30-1DC4E16D8B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92EF17-1782-41F0-8F3D-4BBC4CD571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497E49-1CAF-4F22-8400-553F42532B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88A663-5E26-4C0E-8F7C-8CA495B5AD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202EC4A-A146-4CEB-8028-B1BF4C4BC3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bbec852dee4fd5" /><Relationship Type="http://schemas.openxmlformats.org/officeDocument/2006/relationships/slideLayout" Target="/ppt/slideLayouts/slideLayout1.xml" Id="R97dcf1245911435c" /><Relationship Type="http://schemas.openxmlformats.org/officeDocument/2006/relationships/slideLayout" Target="/ppt/slideLayouts/slideLayout2.xml" Id="R7329504979044be3" /><Relationship Type="http://schemas.openxmlformats.org/officeDocument/2006/relationships/slideLayout" Target="/ppt/slideLayouts/slideLayout3.xml" Id="R111948943e0e4711" /><Relationship Type="http://schemas.openxmlformats.org/officeDocument/2006/relationships/slideLayout" Target="/ppt/slideLayouts/slideLayout4.xml" Id="R7ceb4f498e8249e8" /><Relationship Type="http://schemas.openxmlformats.org/officeDocument/2006/relationships/slideLayout" Target="/ppt/slideLayouts/slideLayout5.xml" Id="R7c9e702d39e5400d" /><Relationship Type="http://schemas.openxmlformats.org/officeDocument/2006/relationships/slideLayout" Target="/ppt/slideLayouts/slideLayout6.xml" Id="R22b6b3ee5df944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dcf1245911435c"/>
    <p:sldLayoutId xmlns:r="http://schemas.openxmlformats.org/officeDocument/2006/relationships" id="2147483650" r:id="R7329504979044be3"/>
    <p:sldLayoutId xmlns:r="http://schemas.openxmlformats.org/officeDocument/2006/relationships" id="2147483651" r:id="R111948943e0e4711"/>
    <p:sldLayoutId xmlns:r="http://schemas.openxmlformats.org/officeDocument/2006/relationships" id="2147483652" r:id="R7ceb4f498e8249e8"/>
    <p:sldLayoutId xmlns:r="http://schemas.openxmlformats.org/officeDocument/2006/relationships" id="2147483653" r:id="R7c9e702d39e5400d"/>
    <p:sldLayoutId xmlns:r="http://schemas.openxmlformats.org/officeDocument/2006/relationships" id="2147483654" r:id="R22b6b3ee5df944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96167d9bcdf149f8" /><ns0:Relationship Type="http://schemas.openxmlformats.org/officeDocument/2006/relationships/image" Target="/ppt/media/image.png" Id="Rd06d8fe682324c5c" /><ns0:Relationship Type="http://schemas.openxmlformats.org/officeDocument/2006/relationships/notesSlide" Target="/ppt/notesSlides/notesSlide1.xml" Id="R6271100eaf004a5d"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8c2b63cbc6bd4d12" /><ns0:Relationship Type="http://schemas.openxmlformats.org/officeDocument/2006/relationships/notesSlide" Target="/ppt/notesSlides/notesSlide2.xml" Id="R84fcb7fa621e4a2c" /><ns0:Relationship Id="rIdWorkshop3" Type="http://schemas.openxmlformats.org/officeDocument/2006/relationships/hyperlink" Target="https://github.com/SkillCorner/opendata" TargetMode="External" /><ns0:Relationship Id="rIdWorkshop4" Type="http://schemas.openxmlformats.org/officeDocument/2006/relationships/hyperlink" Target="https://kloppy.pysport.org/reference/providers/skillcorner/"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dca2cfbbe6a14d05" /><ns0:Relationship Type="http://schemas.openxmlformats.org/officeDocument/2006/relationships/notesSlide" Target="/ppt/notesSlides/notesSlide3.xml" Id="Rf9d523d848994732"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130798f5ced4483c" /><ns0:Relationship Type="http://schemas.openxmlformats.org/officeDocument/2006/relationships/image" Target="/ppt/media/image2.png" Id="R25796bb82c3641e2" /><ns0:Relationship Type="http://schemas.openxmlformats.org/officeDocument/2006/relationships/notesSlide" Target="/ppt/notesSlides/notesSlide4.xml" Id="R73443b8950db4f19" /><ns0:Relationship Id="rIdWorkshop4" Type="http://schemas.openxmlformats.org/officeDocument/2006/relationships/hyperlink" Target="https://github.com/SkillCorner/opendata"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c82d0c5765914c5f" /><ns0:Relationship Type="http://schemas.openxmlformats.org/officeDocument/2006/relationships/notesSlide" Target="/ppt/notesSlides/notesSlide5.xml" Id="R74476663edba4bed"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45c39a04b2244a31" /><ns0:Relationship Type="http://schemas.openxmlformats.org/officeDocument/2006/relationships/notesSlide" Target="/ppt/notesSlides/notesSlide6.xml" Id="R4051caa2a3e24923" /><ns0:Relationship Id="rIdWorkshop3" Type="http://schemas.openxmlformats.org/officeDocument/2006/relationships/hyperlink" Target="https://github.com/hyunsungkim-ds/pathcrf"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a82babb9e3fd4f1d" /><ns0:Relationship Type="http://schemas.openxmlformats.org/officeDocument/2006/relationships/notesSlide" Target="/ppt/notesSlides/notesSlide7.xml" Id="Reb86ef4250154e8b" /><ns0:Relationship Id="rIdWorkshop3" Type="http://schemas.openxmlformats.org/officeDocument/2006/relationships/hyperlink" Target="https://static.capabiliaserver.com/frontend/clients/barca/wp_prod/wp-content/uploads/2020/01/83c87dfe-barca_poster_shaw.pdf"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90db7c250b3f4850" /><ns0:Relationship Type="http://schemas.openxmlformats.org/officeDocument/2006/relationships/notesSlide" Target="/ppt/notesSlides/notesSlide8.xml" Id="Rf533e500978243c4" /><ns0:Relationship Id="rIdWorkshop3" Type="http://schemas.openxmlformats.org/officeDocument/2006/relationships/hyperlink" Target="https://skillcorner.com/us/articles/scouted-brazilian-centre-backs"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89782d611e00489c" /><ns0:Relationship Type="http://schemas.openxmlformats.org/officeDocument/2006/relationships/image" Target="/ppt/media/image3.png" Id="Ra594bacd076e4fe3" /><ns0:Relationship Type="http://schemas.openxmlformats.org/officeDocument/2006/relationships/notesSlide" Target="/ppt/notesSlides/notesSlide9.xml" Id="R5a5ca17a623f44b0" /><ns0:Relationship Id="rIdWorkshop4" Type="http://schemas.openxmlformats.org/officeDocument/2006/relationships/hyperlink" Target="https://databallpy.readthedocs.io/en/main/features/covered_distance_page.html"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b6936e89ba474bea" /><ns0:Relationship Type="http://schemas.openxmlformats.org/officeDocument/2006/relationships/image" Target="/ppt/media/image4.png" Id="R4a1f107572954a37" /><ns0:Relationship Type="http://schemas.openxmlformats.org/officeDocument/2006/relationships/notesSlide" Target="/ppt/notesSlides/notesSlide10.xml" Id="R83b71d303db0473b" /><ns0:Relationship Id="rIdWorkshop4" Type="http://schemas.openxmlformats.org/officeDocument/2006/relationships/hyperlink" Target="https://static.capabiliaserver.com/frontend/clients/barca/wp_prod/wp-content/uploads/2018/05/Wide-Open-Spaces.pd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3e0c052ae7b94879" /><ns0:Relationship Type="http://schemas.openxmlformats.org/officeDocument/2006/relationships/notesSlide" Target="/ppt/notesSlides/notesSlide11.xml" Id="Rea8fdb7b8c1d42b6" /><ns0:Relationship Id="rIdWorkshop3" Type="http://schemas.openxmlformats.org/officeDocument/2006/relationships/hyperlink" Target="https://databallpy.readthedocs.io/en/main/features/space_occupation.html"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86e7ed79f4164416" /><ns0:Relationship Type="http://schemas.openxmlformats.org/officeDocument/2006/relationships/image" Target="/ppt/media/image5.png" Id="Radad4cd6ac0a4904" /><ns0:Relationship Type="http://schemas.openxmlformats.org/officeDocument/2006/relationships/notesSlide" Target="/ppt/notesSlides/notesSlide12.xml" Id="Ra903441230984cf9" /><ns0:Relationship Id="rIdWorkshop4" Type="http://schemas.openxmlformats.org/officeDocument/2006/relationships/hyperlink" Target="https://github.com/USSoccerFederation/ussf_ssac_23_soccer_gnn"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da98c1bece894c5a" /><ns0:Relationship Type="http://schemas.openxmlformats.org/officeDocument/2006/relationships/notesSlide" Target="/ppt/notesSlides/notesSlide13.xml" Id="R0eccc5291aa34f0e" /><ns0:Relationship Id="rIdWorkshop3" Type="http://schemas.openxmlformats.org/officeDocument/2006/relationships/hyperlink" Target="https://www.nature.com/articles/s41467-024-45965-x"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f7f96b4918d54b40" /><ns0:Relationship Type="http://schemas.openxmlformats.org/officeDocument/2006/relationships/notesSlide" Target="/ppt/notesSlides/notesSlide14.xml" Id="R1f8e4a11e1294deb" /><ns0:Relationship Id="rIdWorkshop3" Type="http://schemas.openxmlformats.org/officeDocument/2006/relationships/hyperlink" Target="https://github.com/USSoccerFederation/ussf_ssac_23_soccer_gnn"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b72725e7da3e4bb5" /><ns0:Relationship Type="http://schemas.openxmlformats.org/officeDocument/2006/relationships/notesSlide" Target="/ppt/notesSlides/notesSlide15.xml" Id="Ra8980106090f4174" /><ns0:Relationship Id="rIdWorkshop3" Type="http://schemas.openxmlformats.org/officeDocument/2006/relationships/hyperlink" Target="https://pmc.ncbi.nlm.nih.gov/articles/PMC8570314/"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4099738e6d1447c2" /><ns0:Relationship Type="http://schemas.openxmlformats.org/officeDocument/2006/relationships/notesSlide" Target="/ppt/notesSlides/notesSlide16.xml" Id="R9c26ed7218ab4610" /><ns0:Relationship Id="rIdWorkshop3" Type="http://schemas.openxmlformats.org/officeDocument/2006/relationships/hyperlink" Target="https://databallpy.readthedocs.io/en/main/features/dangerous_accessible_space.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447d14ad5abc4803" /><ns0:Relationship Type="http://schemas.openxmlformats.org/officeDocument/2006/relationships/notesSlide" Target="/ppt/notesSlides/notesSlide17.xml" Id="R6c2d087472884434" /><ns0:Relationship Id="rIdWorkshop3" Type="http://schemas.openxmlformats.org/officeDocument/2006/relationships/hyperlink" Target="https://blogarchive.statsbomb.com/articles/soccer/upgrading-expected-goals/"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87e2dd44e6794d99" /><ns0:Relationship Type="http://schemas.openxmlformats.org/officeDocument/2006/relationships/image" Target="/ppt/media/image6.png" Id="R78e8f46382b943f3" /><ns0:Relationship Type="http://schemas.openxmlformats.org/officeDocument/2006/relationships/notesSlide" Target="/ppt/notesSlides/notesSlide18.xml" Id="Rdf9a48f706a74051" /><ns0:Relationship Id="rIdWorkshop4" Type="http://schemas.openxmlformats.org/officeDocument/2006/relationships/hyperlink" Target="https://www.linkedin.com/posts/skillcorner_game-intelligence-expected-threat-activity-7057009275247689728-NVPh"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0601e2db66e74259" /><ns0:Relationship Type="http://schemas.openxmlformats.org/officeDocument/2006/relationships/notesSlide" Target="/ppt/notesSlides/notesSlide19.xml" Id="R3d26bfa7961746c1" /><ns0:Relationship Id="rIdWorkshop3" Type="http://schemas.openxmlformats.org/officeDocument/2006/relationships/hyperlink" Target="https://github.com/hyunsungkim-ds/defcon"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17144bfea033421c" /><ns0:Relationship Type="http://schemas.openxmlformats.org/officeDocument/2006/relationships/notesSlide" Target="/ppt/notesSlides/notesSlide20.xml" Id="Rd2852f4e4c8d420d" /><ns0:Relationship Id="rIdWorkshop3" Type="http://schemas.openxmlformats.org/officeDocument/2006/relationships/hyperlink" Target="https://pmc.ncbi.nlm.nih.gov/articles/PMC8570314/"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8a119e48aeb64e99" /><ns0:Relationship Type="http://schemas.openxmlformats.org/officeDocument/2006/relationships/notesSlide" Target="/ppt/notesSlides/notesSlide21.xml" Id="R7856c5a0fd714c5f" /></ns0: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870F943F-23C7-4FF6-83F5-B415296A563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2F72CF3-031A-4C77-8AA0-54D88DB7609E}"/>
              </a:ext>
            </a:extLst>
          </p:cNvPr>
          <p:cNvSpPr>
            <a:spLocks noGrp="1"/>
          </p:cNvSpPr>
          <p:nvPr/>
        </p:nvSpPr>
        <p:spPr>
          <a:xfrm>
            <a:off x="571500" y="400050"/>
            <a:ext cx="11049000" cy="809625"/>
          </a:xfrm>
          <a:prstGeom prst="rect">
            <a:avLst/>
          </a:prstGeom>
          <a:noFill/>
          <a:ln w="0">
            <a:noFill/>
          </a:ln>
        </p:spPr>
        <p:txBody>
          <a:bodyPr/>
          <a:lstStyle>
            <a:defPPr>
              <a:defRPr sz="3750" b="1">
                <a:solidFill>
                  <a:srgbClr val="183A35"/>
                </a:solidFill>
                <a:latin typeface="Arial"/>
                <a:ea typeface="Arial"/>
                <a:cs typeface="Arial"/>
              </a:defRPr>
            </a:defPPr>
            <a:lvl1pPr>
              <a:defRPr sz="3750" b="1">
                <a:solidFill>
                  <a:srgbClr val="183A35"/>
                </a:solidFill>
                <a:latin typeface="Arial"/>
                <a:ea typeface="Arial"/>
                <a:cs typeface="Arial"/>
              </a:defRPr>
            </a:lvl1pPr>
            <a:lvl2pPr>
              <a:defRPr sz="3750" b="1">
                <a:solidFill>
                  <a:srgbClr val="183A35"/>
                </a:solidFill>
                <a:latin typeface="Arial"/>
                <a:ea typeface="Arial"/>
                <a:cs typeface="Arial"/>
              </a:defRPr>
            </a:lvl2pPr>
            <a:lvl3pPr>
              <a:defRPr sz="3750" b="1">
                <a:solidFill>
                  <a:srgbClr val="183A35"/>
                </a:solidFill>
                <a:latin typeface="Arial"/>
                <a:ea typeface="Arial"/>
                <a:cs typeface="Arial"/>
              </a:defRPr>
            </a:lvl3pPr>
            <a:lvl4pPr>
              <a:defRPr sz="3750" b="1">
                <a:solidFill>
                  <a:srgbClr val="183A35"/>
                </a:solidFill>
                <a:latin typeface="Arial"/>
                <a:ea typeface="Arial"/>
                <a:cs typeface="Arial"/>
              </a:defRPr>
            </a:lvl4pPr>
            <a:lvl5pPr>
              <a:defRPr sz="3750" b="1">
                <a:solidFill>
                  <a:srgbClr val="183A35"/>
                </a:solidFill>
                <a:latin typeface="Arial"/>
                <a:ea typeface="Arial"/>
                <a:cs typeface="Arial"/>
              </a:defRPr>
            </a:lvl5pPr>
            <a:lvl6pPr>
              <a:defRPr sz="3750" b="1">
                <a:solidFill>
                  <a:srgbClr val="183A35"/>
                </a:solidFill>
                <a:latin typeface="Arial"/>
                <a:ea typeface="Arial"/>
                <a:cs typeface="Arial"/>
              </a:defRPr>
            </a:lvl6pPr>
            <a:lvl7pPr>
              <a:defRPr sz="3750" b="1">
                <a:solidFill>
                  <a:srgbClr val="183A35"/>
                </a:solidFill>
                <a:latin typeface="Arial"/>
                <a:ea typeface="Arial"/>
                <a:cs typeface="Arial"/>
              </a:defRPr>
            </a:lvl7pPr>
            <a:lvl8pPr>
              <a:defRPr sz="3750" b="1">
                <a:solidFill>
                  <a:srgbClr val="183A35"/>
                </a:solidFill>
                <a:latin typeface="Arial"/>
                <a:ea typeface="Arial"/>
                <a:cs typeface="Arial"/>
              </a:defRPr>
            </a:lvl8pPr>
            <a:lvl9pPr>
              <a:defRPr sz="3750" b="1">
                <a:solidFill>
                  <a:srgbClr val="183A35"/>
                </a:solidFill>
                <a:latin typeface="Arial"/>
                <a:ea typeface="Arial"/>
                <a:cs typeface="Arial"/>
              </a:defRPr>
            </a:lvl9pPr>
          </a:lstStyle>
          <a:p>
            <a:pPr>
              <a:defRPr sz="3750" b="1">
                <a:solidFill>
                  <a:srgbClr val="183A35"/>
                </a:solidFill>
                <a:latin typeface="Arial"/>
                <a:ea typeface="Arial"/>
                <a:cs typeface="Arial"/>
              </a:defRPr>
            </a:pPr>
            <a:r>
              <a:rPr sz="3750" b="1">
                <a:solidFill>
                  <a:srgbClr val="183A35"/>
                </a:solidFill>
                <a:latin typeface="Arial"/>
                <a:ea typeface="Arial"/>
                <a:cs typeface="Arial"/>
              </a:rPr>
              <a:t>Tracking Data Applied</a:t>
            </a:r>
          </a:p>
        </p:txBody>
      </p:sp>
      <p:sp>
        <p:nvSpPr>
          <p:cNvPr id="3" name="">
            <a:extLst>
              <a:ext uri="{FF2B5EF4-FFF2-40B4-BE49-F238E27FC236}">
                <ns2:creationId id="{BCB18F3D-D74C-4708-A55E-06D3CABEDDEE}"/>
              </a:ext>
            </a:extLst>
          </p:cNvPr>
          <p:cNvSpPr>
            <a:spLocks noGrp="1"/>
          </p:cNvSpPr>
          <p:nvPr/>
        </p:nvSpPr>
        <p:spPr>
          <a:xfrm>
            <a:off x="571500" y="14668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1D3F1EE9-0DE8-45D2-9F37-A37CFF64D4D9}"/>
              </a:ext>
            </a:extLst>
          </p:cNvPr>
          <p:cNvSpPr>
            <a:spLocks noGrp="1"/>
          </p:cNvSpPr>
          <p:nvPr/>
        </p:nvSpPr>
        <p:spPr>
          <a:xfrm>
            <a:off x="1095375" y="14097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Soccer analytics with SkillCorner</a:t>
            </a:r>
          </a:p>
        </p:txBody>
      </p:sp>
      <p:sp>
        <p:nvSpPr>
          <p:cNvPr id="5" name="">
            <a:extLst>
              <a:ext uri="{FF2B5EF4-FFF2-40B4-BE49-F238E27FC236}">
                <ns2:creationId id="{976C265D-B925-4B7B-8574-39D3295F08CD}"/>
              </a:ext>
            </a:extLst>
          </p:cNvPr>
          <p:cNvSpPr>
            <a:spLocks noGrp="1"/>
          </p:cNvSpPr>
          <p:nvPr/>
        </p:nvSpPr>
        <p:spPr>
          <a:xfrm>
            <a:off x="571500" y="251460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74726674-EEFC-43E8-84A1-8266DB05D0DE}"/>
              </a:ext>
            </a:extLst>
          </p:cNvPr>
          <p:cNvSpPr>
            <a:spLocks noGrp="1"/>
          </p:cNvSpPr>
          <p:nvPr/>
        </p:nvSpPr>
        <p:spPr>
          <a:xfrm>
            <a:off x="1095375" y="245745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Load • inspect • visualize • model</a:t>
            </a:r>
          </a:p>
        </p:txBody>
      </p:sp>
      <p:sp>
        <p:nvSpPr>
          <p:cNvPr id="7" name="">
            <a:extLst>
              <a:ext uri="{FF2B5EF4-FFF2-40B4-BE49-F238E27FC236}">
                <ns2:creationId id="{C1D132A1-5487-4857-BFB7-8F1A614A2C35}"/>
              </a:ext>
            </a:extLst>
          </p:cNvPr>
          <p:cNvSpPr>
            <a:spLocks noGrp="1"/>
          </p:cNvSpPr>
          <p:nvPr/>
        </p:nvSpPr>
        <p:spPr>
          <a:xfrm>
            <a:off x="571500" y="35623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8D24C258-9BB1-4D43-B759-F2C44239F22B}"/>
              </a:ext>
            </a:extLst>
          </p:cNvPr>
          <p:cNvSpPr>
            <a:spLocks noGrp="1"/>
          </p:cNvSpPr>
          <p:nvPr/>
        </p:nvSpPr>
        <p:spPr>
          <a:xfrm>
            <a:off x="1095375" y="35052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60-minute workshop | basic pandas</a:t>
            </a:r>
          </a:p>
        </p:txBody>
      </p:sp>
      <p:pic>
        <p:nvPicPr>
          <p:cNvPr id="9" name="">
            <a:extLst>
              <a:ext uri="{FF2B5EF4-FFF2-40B4-BE49-F238E27FC236}">
                <ns2:creationId id="{9184DE2F-ADFF-4028-ACCB-F4317285992E}"/>
              </a:ext>
            </a:extLst>
          </p:cNvPr>
          <p:cNvPicPr>
            <a:picLocks noChangeAspect="1"/>
          </p:cNvPicPr>
          <p:nvPr/>
        </p:nvPicPr>
        <p:blipFill>
          <a:blip r:embed="Rd06d8fe682324c5c"/>
          <a:stretch/>
        </p:blipFill>
        <p:spPr>
          <a:xfrm>
            <a:off x="5905500" y="1435635"/>
            <a:ext cx="5715000" cy="3939106"/>
          </a:xfrm>
          <a:prstGeom prst="rect">
            <a:avLst/>
          </a:prstGeom>
        </p:spPr>
      </p:pic>
      <p:sp>
        <p:nvSpPr>
          <p:cNvPr id="10" name="">
            <a:extLst>
              <a:ext uri="{FF2B5EF4-FFF2-40B4-BE49-F238E27FC236}">
                <ns2:creationId id="{0B002ACD-BD66-400C-992D-74099D8523E8}"/>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SkillCorner open data and schema</a:t>
            </a:r>
          </a:p>
        </p:txBody>
      </p:sp>
      <p:sp>
        <p:nvSpPr>
          <p:cNvPr id="11" name="">
            <a:extLst>
              <a:ext uri="{FF2B5EF4-FFF2-40B4-BE49-F238E27FC236}">
                <ns2:creationId id="{8B48CD24-1CF3-426B-BEEF-54C3A541ACA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 / 21</a:t>
            </a:r>
          </a:p>
        </p:txBody>
      </p:sp>
    </p:spTree>
    <p:extLst>
      <p:ext uri="{BB962C8B-B14F-4D97-AF65-F5344CB8AC3E}">
        <ns4:creationId val="200719254"/>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1" name="">
            <a:extLst>
              <a:ext uri="{FF2B5EF4-FFF2-40B4-BE49-F238E27FC236}">
                <ns2:creationId id="{E941AC3C-ADE8-407B-B0E5-1426FCD93D7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E2AF24F-8188-4F8A-80E6-09532639DAA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Data and documentation</a:t>
            </a:r>
          </a:p>
        </p:txBody>
      </p:sp>
      <p:sp>
        <p:nvSpPr>
          <p:cNvPr id="3" name="">
            <a:extLst>
              <a:ext uri="{FF2B5EF4-FFF2-40B4-BE49-F238E27FC236}">
                <ns2:creationId id="{7C1B9885-7191-4288-B306-F353C67E6EBD}"/>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616B120E-3974-4DC2-BA0B-D92AEA06967B}"/>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hlinkClick r:id="rIdWorkshop3"/>
              </a:rPr>
              <a:t>SkillCorner/opendata: match metadata, tracking, dynamic events, phases</a:t>
            </a:r>
          </a:p>
        </p:txBody>
      </p:sp>
      <p:sp>
        <p:nvSpPr>
          <p:cNvPr id="5" name="">
            <a:extLst>
              <a:ext uri="{FF2B5EF4-FFF2-40B4-BE49-F238E27FC236}">
                <ns2:creationId id="{2F627C0C-ED74-486F-9CE4-EAD71C457BCA}"/>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AF3B7370-5426-4540-89AF-54AC6F65C29B}"/>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hlinkClick r:id="rIdWorkshop4"/>
              </a:rPr>
              <a:t>kloppy: standardize the tracking loader</a:t>
            </a:r>
          </a:p>
        </p:txBody>
      </p:sp>
      <p:sp>
        <p:nvSpPr>
          <p:cNvPr id="7" name="">
            <a:extLst>
              <a:ext uri="{FF2B5EF4-FFF2-40B4-BE49-F238E27FC236}">
                <ns2:creationId id="{2EF07633-F2C2-48B0-9031-B833467C1BA6}"/>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12DB9A91-B67C-4654-9AA6-1972AFB3B156}"/>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hlinkClick r:id="rIdWorkshop5"/>
              </a:rPr>
              <a:t>DataBallPy: metric explanations and implementation references</a:t>
            </a:r>
          </a:p>
        </p:txBody>
      </p:sp>
      <p:sp>
        <p:nvSpPr>
          <p:cNvPr id="9" name="">
            <a:extLst>
              <a:ext uri="{FF2B5EF4-FFF2-40B4-BE49-F238E27FC236}">
                <ns2:creationId id="{4B42CFBA-432E-4BA5-9297-74B17FA7496C}"/>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6"/>
              </a:rPr>
              <a:t>SkillCorner open data and schema · kloppy SkillCorner loader · DataBallPy covered distance</a:t>
            </a:r>
          </a:p>
        </p:txBody>
      </p:sp>
      <p:sp>
        <p:nvSpPr>
          <p:cNvPr id="10" name="">
            <a:extLst>
              <a:ext uri="{FF2B5EF4-FFF2-40B4-BE49-F238E27FC236}">
                <ns2:creationId id="{FDBC97AF-E49D-4ECA-AB49-4E630575A48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 / 21</a:t>
            </a:r>
          </a:p>
        </p:txBody>
      </p:sp>
    </p:spTree>
    <p:extLst>
      <p:ext uri="{BB962C8B-B14F-4D97-AF65-F5344CB8AC3E}">
        <ns4:creationId val="1147334911"/>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BFCF8"/>
        </a:solidFill>
      </p:bgPr>
    </p:bg>
    <p:spTree>
      <p:nvGrpSpPr>
        <p:cNvPr id="1" name=""/>
        <p:cNvGrpSpPr/>
        <p:nvPr/>
      </p:nvGrpSpPr>
      <p:grpSpPr>
        <a:xfrm/>
      </p:grpSpPr>
      <p:sp>
        <p:nvSpPr>
          <p:cNvPr id="13" name="">
            <a:extLst>
              <a:ext uri="{FF2B5EF4-FFF2-40B4-BE49-F238E27FC236}">
                <ns2:creationId id="{B0D91C36-1484-4121-AFEB-F99469692D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EFE9A82-4292-4302-951C-9807E4A5BFD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The hour</a:t>
            </a:r>
          </a:p>
        </p:txBody>
      </p:sp>
      <p:sp>
        <p:nvSpPr>
          <p:cNvPr id="3" name="">
            <a:extLst>
              <a:ext uri="{FF2B5EF4-FFF2-40B4-BE49-F238E27FC236}">
                <ns2:creationId id="{F188F9FA-3A4C-493C-8AF1-B04F513BE0CC}"/>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624128D8-569A-417D-8727-C62C78507E61}"/>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0–13: data, loading, plotting and animation</a:t>
            </a:r>
          </a:p>
        </p:txBody>
      </p:sp>
      <p:sp>
        <p:nvSpPr>
          <p:cNvPr id="5" name="">
            <a:extLst>
              <a:ext uri="{FF2B5EF4-FFF2-40B4-BE49-F238E27FC236}">
                <ns2:creationId id="{BBD0B8DF-5FEE-48F6-9E5A-4B1AC39DC1A3}"/>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1E05E531-6945-4C8C-BDC1-F20F8F522042}"/>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13–26: applications and physical metrics</a:t>
            </a:r>
          </a:p>
        </p:txBody>
      </p:sp>
      <p:sp>
        <p:nvSpPr>
          <p:cNvPr id="7" name="">
            <a:extLst>
              <a:ext uri="{FF2B5EF4-FFF2-40B4-BE49-F238E27FC236}">
                <ns2:creationId id="{33A6CADF-EE92-4558-8127-C7433FB06AFD}"/>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5AF2846D-DA2F-427A-9079-B9F92FE82F9B}"/>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26–50: space, graphs, passing and value</a:t>
            </a:r>
          </a:p>
        </p:txBody>
      </p:sp>
      <p:sp>
        <p:nvSpPr>
          <p:cNvPr id="9" name="">
            <a:extLst>
              <a:ext uri="{FF2B5EF4-FFF2-40B4-BE49-F238E27FC236}">
                <ns2:creationId id="{064C7C5A-530A-43AD-881D-434EDFFF3442}"/>
              </a:ext>
            </a:extLst>
          </p:cNvPr>
          <p:cNvSpPr>
            <a:spLocks noGrp="1"/>
          </p:cNvSpPr>
          <p:nvPr/>
        </p:nvSpPr>
        <p:spPr>
          <a:xfrm>
            <a:off x="619125" y="37814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04</a:t>
            </a:r>
          </a:p>
        </p:txBody>
      </p:sp>
      <p:sp>
        <p:nvSpPr>
          <p:cNvPr id="10" name="">
            <a:extLst>
              <a:ext uri="{FF2B5EF4-FFF2-40B4-BE49-F238E27FC236}">
                <ns2:creationId id="{1ED90C7F-8A9B-4BD6-B9AA-032BD9AB4A07}"/>
              </a:ext>
            </a:extLst>
          </p:cNvPr>
          <p:cNvSpPr>
            <a:spLocks noGrp="1"/>
          </p:cNvSpPr>
          <p:nvPr/>
        </p:nvSpPr>
        <p:spPr>
          <a:xfrm>
            <a:off x="1190625" y="37242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50–60: off-ball applications, interpretation and questions</a:t>
            </a:r>
          </a:p>
        </p:txBody>
      </p:sp>
      <p:sp>
        <p:nvSpPr>
          <p:cNvPr id="11" name="">
            <a:extLst>
              <a:ext uri="{FF2B5EF4-FFF2-40B4-BE49-F238E27FC236}">
                <ns2:creationId id="{7B5D9C8F-8394-478E-ADCD-CE781C0D61A7}"/>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r>
              <a:t/>
            </a:r>
          </a:p>
        </p:txBody>
      </p:sp>
      <p:sp>
        <p:nvSpPr>
          <p:cNvPr id="12" name="">
            <a:extLst>
              <a:ext uri="{FF2B5EF4-FFF2-40B4-BE49-F238E27FC236}">
                <ns2:creationId id="{C6D5FCD3-4B33-4324-A410-9D44FC11530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 / 21</a:t>
            </a:r>
          </a:p>
        </p:txBody>
      </p:sp>
    </p:spTree>
    <p:extLst>
      <p:ext uri="{BB962C8B-B14F-4D97-AF65-F5344CB8AC3E}">
        <ns3:creationId val="424364205"/>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5EFF580-D2CF-4D6D-BA41-8512FAC11EC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AEF1C7F-F93E-4A68-A508-BFF441C0EF7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Coordinates are measurements</a:t>
            </a:r>
          </a:p>
        </p:txBody>
      </p:sp>
      <p:sp>
        <p:nvSpPr>
          <p:cNvPr id="3" name="">
            <a:extLst>
              <a:ext uri="{FF2B5EF4-FFF2-40B4-BE49-F238E27FC236}">
                <ns2:creationId id="{73E606E8-6B54-4502-A77D-6B2432BA5A9E}"/>
              </a:ext>
            </a:extLst>
          </p:cNvPr>
          <p:cNvSpPr>
            <a:spLocks noGrp="1"/>
          </p:cNvSpPr>
          <p:nvPr/>
        </p:nvSpPr>
        <p:spPr>
          <a:xfrm>
            <a:off x="571500" y="14668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3B67A742-BDF6-4487-B1D9-DB7131B5701C}"/>
              </a:ext>
            </a:extLst>
          </p:cNvPr>
          <p:cNvSpPr>
            <a:spLocks noGrp="1"/>
          </p:cNvSpPr>
          <p:nvPr/>
        </p:nvSpPr>
        <p:spPr>
          <a:xfrm>
            <a:off x="1095375" y="14097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Frames + player identities + x/y positions + ball</a:t>
            </a:r>
          </a:p>
        </p:txBody>
      </p:sp>
      <p:sp>
        <p:nvSpPr>
          <p:cNvPr id="5" name="">
            <a:extLst>
              <a:ext uri="{FF2B5EF4-FFF2-40B4-BE49-F238E27FC236}">
                <ns2:creationId id="{701D6B52-8654-4A02-BE73-97B4594A23D3}"/>
              </a:ext>
            </a:extLst>
          </p:cNvPr>
          <p:cNvSpPr>
            <a:spLocks noGrp="1"/>
          </p:cNvSpPr>
          <p:nvPr/>
        </p:nvSpPr>
        <p:spPr>
          <a:xfrm>
            <a:off x="571500" y="251460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8C91B443-1C95-4501-BD7D-B5975B5FA9AF}"/>
              </a:ext>
            </a:extLst>
          </p:cNvPr>
          <p:cNvSpPr>
            <a:spLocks noGrp="1"/>
          </p:cNvSpPr>
          <p:nvPr/>
        </p:nvSpPr>
        <p:spPr>
          <a:xfrm>
            <a:off x="1095375" y="245745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Check units, pitch size, clock and attacking direction</a:t>
            </a:r>
          </a:p>
        </p:txBody>
      </p:sp>
      <p:sp>
        <p:nvSpPr>
          <p:cNvPr id="7" name="">
            <a:extLst>
              <a:ext uri="{FF2B5EF4-FFF2-40B4-BE49-F238E27FC236}">
                <ns2:creationId id="{846C840B-5A0E-4F00-B5FD-D7FED661C4FE}"/>
              </a:ext>
            </a:extLst>
          </p:cNvPr>
          <p:cNvSpPr>
            <a:spLocks noGrp="1"/>
          </p:cNvSpPr>
          <p:nvPr/>
        </p:nvSpPr>
        <p:spPr>
          <a:xfrm>
            <a:off x="571500" y="35623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A47CADA4-52E2-42F7-B9AE-C1CBE88F6A49}"/>
              </a:ext>
            </a:extLst>
          </p:cNvPr>
          <p:cNvSpPr>
            <a:spLocks noGrp="1"/>
          </p:cNvSpPr>
          <p:nvPr/>
        </p:nvSpPr>
        <p:spPr>
          <a:xfrm>
            <a:off x="1095375" y="35052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Missing or extrapolated positions affect every downstream metric</a:t>
            </a:r>
          </a:p>
        </p:txBody>
      </p:sp>
      <p:pic>
        <p:nvPicPr>
          <p:cNvPr id="9" name="">
            <a:extLst>
              <a:ext uri="{FF2B5EF4-FFF2-40B4-BE49-F238E27FC236}">
                <ns2:creationId id="{43295F24-3CA7-40FD-8D16-74BDEA89D283}"/>
              </a:ext>
            </a:extLst>
          </p:cNvPr>
          <p:cNvPicPr>
            <a:picLocks noChangeAspect="1"/>
          </p:cNvPicPr>
          <p:nvPr/>
        </p:nvPicPr>
        <p:blipFill>
          <a:blip r:embed="R25796bb82c3641e2"/>
          <a:stretch/>
        </p:blipFill>
        <p:spPr>
          <a:xfrm>
            <a:off x="5905500" y="1435635"/>
            <a:ext cx="5715000" cy="3939106"/>
          </a:xfrm>
          <a:prstGeom prst="rect">
            <a:avLst/>
          </a:prstGeom>
        </p:spPr>
      </p:pic>
      <p:sp>
        <p:nvSpPr>
          <p:cNvPr id="10" name="">
            <a:extLst>
              <a:ext uri="{FF2B5EF4-FFF2-40B4-BE49-F238E27FC236}">
                <ns2:creationId id="{8BD8D3A0-B224-44F4-BC7D-33BD749948F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B5CB7187-8B2B-41DA-AE07-3798C53E0A1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NOTEBOOK A · load → inspect → animate · 7 min</a:t>
            </a:r>
          </a:p>
        </p:txBody>
      </p:sp>
      <p:sp>
        <p:nvSpPr>
          <p:cNvPr id="12" name="">
            <a:extLst>
              <a:ext uri="{FF2B5EF4-FFF2-40B4-BE49-F238E27FC236}">
                <ns2:creationId id="{65756F34-4715-474A-B2B7-7CD5FAB050E0}"/>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SkillCorner open data and schema · DataBallPy preprocessing</a:t>
            </a:r>
          </a:p>
        </p:txBody>
      </p:sp>
      <p:sp>
        <p:nvSpPr>
          <p:cNvPr id="13" name="">
            <a:extLst>
              <a:ext uri="{FF2B5EF4-FFF2-40B4-BE49-F238E27FC236}">
                <ns2:creationId id="{15CF6B60-9E24-49B0-8849-C507738F158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 / 21</a:t>
            </a:r>
          </a:p>
        </p:txBody>
      </p:sp>
    </p:spTree>
    <p:extLst>
      <p:ext uri="{BB962C8B-B14F-4D97-AF65-F5344CB8AC3E}">
        <ns4:creationId val="180371415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BFCF8"/>
        </a:solidFill>
      </p:bgPr>
    </p:bg>
    <p:spTree>
      <p:nvGrpSpPr>
        <p:cNvPr id="1" name=""/>
        <p:cNvGrpSpPr/>
        <p:nvPr/>
      </p:nvGrpSpPr>
      <p:grpSpPr>
        <a:xfrm/>
      </p:grpSpPr>
      <p:sp>
        <p:nvSpPr>
          <p:cNvPr id="15" name="">
            <a:extLst>
              <a:ext uri="{FF2B5EF4-FFF2-40B4-BE49-F238E27FC236}">
                <ns2:creationId id="{D5B0F7F7-3D62-4326-93FB-03A18FE6087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8DA7F4D-4AD9-416D-9FE3-71A46699BFD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Five avenues for tracking analysis</a:t>
            </a:r>
          </a:p>
        </p:txBody>
      </p:sp>
      <p:sp>
        <p:nvSpPr>
          <p:cNvPr id="3" name="">
            <a:extLst>
              <a:ext uri="{FF2B5EF4-FFF2-40B4-BE49-F238E27FC236}">
                <ns2:creationId id="{AFB6F0DC-D9FC-41D2-BB2A-3FB92C4E63F1}"/>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2C457113-D893-461E-B476-45693FC55FC1}"/>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Events: what happened?  |  Roles: who played where?</a:t>
            </a:r>
          </a:p>
        </p:txBody>
      </p:sp>
      <p:sp>
        <p:nvSpPr>
          <p:cNvPr id="5" name="">
            <a:extLst>
              <a:ext uri="{FF2B5EF4-FFF2-40B4-BE49-F238E27FC236}">
                <ns2:creationId id="{52BEEF82-9D84-4A2F-8B3A-FBF83FB63142}"/>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8BD355AC-224D-42D0-BDEC-5416CA48B502}"/>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Phases: what was the tactical context?</a:t>
            </a:r>
          </a:p>
        </p:txBody>
      </p:sp>
      <p:sp>
        <p:nvSpPr>
          <p:cNvPr id="7" name="">
            <a:extLst>
              <a:ext uri="{FF2B5EF4-FFF2-40B4-BE49-F238E27FC236}">
                <ns2:creationId id="{0ADFCC61-C7EC-466D-A034-110AE2541698}"/>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1B8A9ED7-76B4-420E-8C31-93F24FCBACDE}"/>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Physical output: how did players move?</a:t>
            </a:r>
          </a:p>
        </p:txBody>
      </p:sp>
      <p:sp>
        <p:nvSpPr>
          <p:cNvPr id="9" name="">
            <a:extLst>
              <a:ext uri="{FF2B5EF4-FFF2-40B4-BE49-F238E27FC236}">
                <ns2:creationId id="{ED52A118-6107-4765-A285-102F1893CB1A}"/>
              </a:ext>
            </a:extLst>
          </p:cNvPr>
          <p:cNvSpPr>
            <a:spLocks noGrp="1"/>
          </p:cNvSpPr>
          <p:nvPr/>
        </p:nvSpPr>
        <p:spPr>
          <a:xfrm>
            <a:off x="619125" y="37814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04</a:t>
            </a:r>
          </a:p>
        </p:txBody>
      </p:sp>
      <p:sp>
        <p:nvSpPr>
          <p:cNvPr id="10" name="">
            <a:extLst>
              <a:ext uri="{FF2B5EF4-FFF2-40B4-BE49-F238E27FC236}">
                <ns2:creationId id="{F4CF155F-4692-43A7-B250-475DC5C746D8}"/>
              </a:ext>
            </a:extLst>
          </p:cNvPr>
          <p:cNvSpPr>
            <a:spLocks noGrp="1"/>
          </p:cNvSpPr>
          <p:nvPr/>
        </p:nvSpPr>
        <p:spPr>
          <a:xfrm>
            <a:off x="1190625" y="37242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Game modeling: which options were available and valuable?</a:t>
            </a:r>
          </a:p>
        </p:txBody>
      </p:sp>
      <p:sp>
        <p:nvSpPr>
          <p:cNvPr id="11" name="">
            <a:extLst>
              <a:ext uri="{FF2B5EF4-FFF2-40B4-BE49-F238E27FC236}">
                <ns2:creationId id="{FE79882D-F854-45DC-B3ED-CE6A21765D5F}"/>
              </a:ext>
            </a:extLst>
          </p:cNvPr>
          <p:cNvSpPr>
            <a:spLocks noGrp="1"/>
          </p:cNvSpPr>
          <p:nvPr/>
        </p:nvSpPr>
        <p:spPr>
          <a:xfrm>
            <a:off x="619125" y="45624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05</a:t>
            </a:r>
          </a:p>
        </p:txBody>
      </p:sp>
      <p:sp>
        <p:nvSpPr>
          <p:cNvPr id="12" name="">
            <a:extLst>
              <a:ext uri="{FF2B5EF4-FFF2-40B4-BE49-F238E27FC236}">
                <ns2:creationId id="{4A848620-DE85-4B8F-B18F-F6E255518C19}"/>
              </a:ext>
            </a:extLst>
          </p:cNvPr>
          <p:cNvSpPr>
            <a:spLocks noGrp="1"/>
          </p:cNvSpPr>
          <p:nvPr/>
        </p:nvSpPr>
        <p:spPr>
          <a:xfrm>
            <a:off x="1190625" y="45053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Defense and off-ball movement connect all five</a:t>
            </a:r>
          </a:p>
        </p:txBody>
      </p:sp>
      <p:sp>
        <p:nvSpPr>
          <p:cNvPr id="13" name="">
            <a:extLst>
              <a:ext uri="{FF2B5EF4-FFF2-40B4-BE49-F238E27FC236}">
                <ns2:creationId id="{CA80C6F6-AC95-449D-A2E5-3AB50ED1B6A9}"/>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r>
              <a:t/>
            </a:r>
          </a:p>
        </p:txBody>
      </p:sp>
      <p:sp>
        <p:nvSpPr>
          <p:cNvPr id="14" name="">
            <a:extLst>
              <a:ext uri="{FF2B5EF4-FFF2-40B4-BE49-F238E27FC236}">
                <ns2:creationId id="{696B6ADC-601A-454D-A3FD-79F2E091DD1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 / 21</a:t>
            </a:r>
          </a:p>
        </p:txBody>
      </p:sp>
    </p:spTree>
    <p:extLst>
      <p:ext uri="{BB962C8B-B14F-4D97-AF65-F5344CB8AC3E}">
        <ns3:creationId val="1139368801"/>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1" name="">
            <a:extLst>
              <a:ext uri="{FF2B5EF4-FFF2-40B4-BE49-F238E27FC236}">
                <ns2:creationId id="{1593CA0F-C706-4E71-8414-6D35C35609E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E64961F-1C7C-45EB-A8E7-F8AF68137BE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Event detection</a:t>
            </a:r>
          </a:p>
        </p:txBody>
      </p:sp>
      <p:sp>
        <p:nvSpPr>
          <p:cNvPr id="3" name="">
            <a:extLst>
              <a:ext uri="{FF2B5EF4-FFF2-40B4-BE49-F238E27FC236}">
                <ns2:creationId id="{C2BF79C8-BFF9-42C8-99E8-A8A50F81CE82}"/>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648817AB-6537-4BA5-9971-4EF092EA956D}"/>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Start with possession zones and changes in ball motion</a:t>
            </a:r>
          </a:p>
        </p:txBody>
      </p:sp>
      <p:sp>
        <p:nvSpPr>
          <p:cNvPr id="5" name="">
            <a:extLst>
              <a:ext uri="{FF2B5EF4-FFF2-40B4-BE49-F238E27FC236}">
                <ns2:creationId id="{ED098881-2FAF-4128-A742-3C7DA9095003}"/>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C249501B-F42D-4FDC-AF0D-1447E922A056}"/>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Extend to passes, receptions, runs and pressure</a:t>
            </a:r>
          </a:p>
        </p:txBody>
      </p:sp>
      <p:sp>
        <p:nvSpPr>
          <p:cNvPr id="7" name="">
            <a:extLst>
              <a:ext uri="{FF2B5EF4-FFF2-40B4-BE49-F238E27FC236}">
                <ns2:creationId id="{36D3CEDF-5A2D-4682-B16D-97BFCFB87402}"/>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022F0B53-0AC6-49AD-85CC-2DA90152FC67}"/>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PathCRF: infer possession paths from player trajectories</a:t>
            </a:r>
          </a:p>
        </p:txBody>
      </p:sp>
      <p:sp>
        <p:nvSpPr>
          <p:cNvPr id="9" name="">
            <a:extLst>
              <a:ext uri="{FF2B5EF4-FFF2-40B4-BE49-F238E27FC236}">
                <ns2:creationId id="{5268CD72-19A0-4E3A-9DF2-1150B858FFCF}"/>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PathCRF: player trajectories to events (2026) · DataBallPy preprocessing</a:t>
            </a:r>
          </a:p>
        </p:txBody>
      </p:sp>
      <p:sp>
        <p:nvSpPr>
          <p:cNvPr id="10" name="">
            <a:extLst>
              <a:ext uri="{FF2B5EF4-FFF2-40B4-BE49-F238E27FC236}">
                <ns2:creationId id="{2A06945A-5C9E-400D-9D0E-207ECA253F8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 / 21</a:t>
            </a:r>
          </a:p>
        </p:txBody>
      </p:sp>
    </p:spTree>
    <p:extLst>
      <p:ext uri="{BB962C8B-B14F-4D97-AF65-F5344CB8AC3E}">
        <ns4:creationId val="2129636268"/>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1" name="">
            <a:extLst>
              <a:ext uri="{FF2B5EF4-FFF2-40B4-BE49-F238E27FC236}">
                <ns2:creationId id="{3D9D8FBC-2373-4DD2-B876-AB94A7EFD08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FDB1ED-C088-4679-A6A6-B4778F172A0B}"/>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Formation, roles and phases</a:t>
            </a:r>
          </a:p>
        </p:txBody>
      </p:sp>
      <p:sp>
        <p:nvSpPr>
          <p:cNvPr id="3" name="">
            <a:extLst>
              <a:ext uri="{FF2B5EF4-FFF2-40B4-BE49-F238E27FC236}">
                <ns2:creationId id="{AD2FDC32-0039-4FFC-AF0D-4FBDF3EB09AC}"/>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13A6B83A-A5DC-4512-ABF5-0EBFCE351586}"/>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Compare shape separately in and out of possession</a:t>
            </a:r>
          </a:p>
        </p:txBody>
      </p:sp>
      <p:sp>
        <p:nvSpPr>
          <p:cNvPr id="5" name="">
            <a:extLst>
              <a:ext uri="{FF2B5EF4-FFF2-40B4-BE49-F238E27FC236}">
                <ns2:creationId id="{2DC17A9C-8425-4ABF-A863-52B0293C46BC}"/>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BC84221E-FE78-4CBB-A78E-2ED5A2086641}"/>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Normalize location before grouping players into roles</a:t>
            </a:r>
          </a:p>
        </p:txBody>
      </p:sp>
      <p:sp>
        <p:nvSpPr>
          <p:cNvPr id="7" name="">
            <a:extLst>
              <a:ext uri="{FF2B5EF4-FFF2-40B4-BE49-F238E27FC236}">
                <ns2:creationId id="{BD7E83C9-181F-4E9B-9C9C-83117AF50E8E}"/>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CAA1B8B2-BC40-4A6C-93F5-F8682BD9D995}"/>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Join supplied phase intervals to frames before summarizing</a:t>
            </a:r>
          </a:p>
        </p:txBody>
      </p:sp>
      <p:sp>
        <p:nvSpPr>
          <p:cNvPr id="9" name="">
            <a:extLst>
              <a:ext uri="{FF2B5EF4-FFF2-40B4-BE49-F238E27FC236}">
                <ns2:creationId id="{3F7EC0B1-D33F-4276-B94C-CA053DC2CB29}"/>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Shaw &amp; Glickman: Dynamic Analysis of Team Strategy · Augmented possession and phases framework (2025) · SkillCorner open data and schema</a:t>
            </a:r>
          </a:p>
        </p:txBody>
      </p:sp>
      <p:sp>
        <p:nvSpPr>
          <p:cNvPr id="10" name="">
            <a:extLst>
              <a:ext uri="{FF2B5EF4-FFF2-40B4-BE49-F238E27FC236}">
                <ns2:creationId id="{A5E4FD64-1750-4413-840D-14A5C7C015D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7 / 21</a:t>
            </a:r>
          </a:p>
        </p:txBody>
      </p:sp>
    </p:spTree>
    <p:extLst>
      <p:ext uri="{BB962C8B-B14F-4D97-AF65-F5344CB8AC3E}">
        <ns4:creationId val="1894144410"/>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8D35016E-D6B2-400F-B108-58B796BE0BF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942CBF4-9CAE-4979-8DEE-F076B7154EA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SkillCorner physical metrics</a:t>
            </a:r>
          </a:p>
        </p:txBody>
      </p:sp>
      <p:sp>
        <p:nvSpPr>
          <p:cNvPr id="3" name="">
            <a:extLst>
              <a:ext uri="{FF2B5EF4-FFF2-40B4-BE49-F238E27FC236}">
                <ns2:creationId id="{C6D0D3FF-B831-4F7D-9257-0465408811CD}"/>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96F4989F-867B-422B-AC49-9D37BF801817}"/>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Volume: distance, HSR distance, sprint distance</a:t>
            </a:r>
          </a:p>
        </p:txBody>
      </p:sp>
      <p:sp>
        <p:nvSpPr>
          <p:cNvPr id="5" name="">
            <a:extLst>
              <a:ext uri="{FF2B5EF4-FFF2-40B4-BE49-F238E27FC236}">
                <ns2:creationId id="{B7D77A08-928B-402A-AEC4-47E0C217E20D}"/>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1029AB1D-B3FA-47F4-B4D1-BF38D78DE0D1}"/>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Intensity: HSR 20–25 km/h; sprint above 25 km/h</a:t>
            </a:r>
          </a:p>
        </p:txBody>
      </p:sp>
      <p:sp>
        <p:nvSpPr>
          <p:cNvPr id="7" name="">
            <a:extLst>
              <a:ext uri="{FF2B5EF4-FFF2-40B4-BE49-F238E27FC236}">
                <ns2:creationId id="{8552B02D-E62D-4545-8541-28172EEE9C43}"/>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5BBA1F5F-7155-460D-99F0-A5DF794AE2D2}"/>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Explosiveness: time to HSR or sprint from a qualifying start</a:t>
            </a:r>
          </a:p>
        </p:txBody>
      </p:sp>
      <p:sp>
        <p:nvSpPr>
          <p:cNvPr id="9" name="">
            <a:extLst>
              <a:ext uri="{FF2B5EF4-FFF2-40B4-BE49-F238E27FC236}">
                <ns2:creationId id="{9A899AF0-F751-4B16-830C-0CE3F051D4C5}"/>
              </a:ext>
            </a:extLst>
          </p:cNvPr>
          <p:cNvSpPr>
            <a:spLocks noGrp="1"/>
          </p:cNvSpPr>
          <p:nvPr/>
        </p:nvSpPr>
        <p:spPr>
          <a:xfrm>
            <a:off x="619125" y="37814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04</a:t>
            </a:r>
          </a:p>
        </p:txBody>
      </p:sp>
      <p:sp>
        <p:nvSpPr>
          <p:cNvPr id="10" name="">
            <a:extLst>
              <a:ext uri="{FF2B5EF4-FFF2-40B4-BE49-F238E27FC236}">
                <ns2:creationId id="{95650BB3-A59F-4545-99B5-EA0ADBEBE4B9}"/>
              </a:ext>
            </a:extLst>
          </p:cNvPr>
          <p:cNvSpPr>
            <a:spLocks noGrp="1"/>
          </p:cNvSpPr>
          <p:nvPr/>
        </p:nvSpPr>
        <p:spPr>
          <a:xfrm>
            <a:off x="1190625" y="37242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Capacity: PSV-99 differs from absolute Peak Velocity</a:t>
            </a:r>
          </a:p>
        </p:txBody>
      </p:sp>
      <p:sp>
        <p:nvSpPr>
          <p:cNvPr id="11" name="">
            <a:extLst>
              <a:ext uri="{FF2B5EF4-FFF2-40B4-BE49-F238E27FC236}">
                <ns2:creationId id="{1ACEF962-EE51-4A2E-8563-57C2D07E1D8F}"/>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SkillCorner physical thresholds and time-to metrics · SkillCorner PSV-99 and Peak Velocity</a:t>
            </a:r>
          </a:p>
        </p:txBody>
      </p:sp>
      <p:sp>
        <p:nvSpPr>
          <p:cNvPr id="12" name="">
            <a:extLst>
              <a:ext uri="{FF2B5EF4-FFF2-40B4-BE49-F238E27FC236}">
                <ns2:creationId id="{A190EBF3-D1C7-4977-9823-1FA06661DA9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8 / 21</a:t>
            </a:r>
          </a:p>
        </p:txBody>
      </p:sp>
    </p:spTree>
    <p:extLst>
      <p:ext uri="{BB962C8B-B14F-4D97-AF65-F5344CB8AC3E}">
        <ns4:creationId val="1715951823"/>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922F370-5603-4318-AC95-FFC5E52240F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5668B91-F340-47E5-960C-C72EF06591A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From positions to physical output</a:t>
            </a:r>
          </a:p>
        </p:txBody>
      </p:sp>
      <p:sp>
        <p:nvSpPr>
          <p:cNvPr id="3" name="">
            <a:extLst>
              <a:ext uri="{FF2B5EF4-FFF2-40B4-BE49-F238E27FC236}">
                <ns2:creationId id="{91C74F67-1CAA-4D39-805F-DC456E6BCE36}"/>
              </a:ext>
            </a:extLst>
          </p:cNvPr>
          <p:cNvSpPr>
            <a:spLocks noGrp="1"/>
          </p:cNvSpPr>
          <p:nvPr/>
        </p:nvSpPr>
        <p:spPr>
          <a:xfrm>
            <a:off x="571500" y="14668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DE6D9C48-6758-446F-93C6-CC106D0B8C7F}"/>
              </a:ext>
            </a:extLst>
          </p:cNvPr>
          <p:cNvSpPr>
            <a:spLocks noGrp="1"/>
          </p:cNvSpPr>
          <p:nvPr/>
        </p:nvSpPr>
        <p:spPr>
          <a:xfrm>
            <a:off x="1095375" y="14097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Clean positions → speed → speed bands → distance</a:t>
            </a:r>
          </a:p>
        </p:txBody>
      </p:sp>
      <p:sp>
        <p:nvSpPr>
          <p:cNvPr id="5" name="">
            <a:extLst>
              <a:ext uri="{FF2B5EF4-FFF2-40B4-BE49-F238E27FC236}">
                <ns2:creationId id="{18E71B48-46CC-40C0-BF18-7632800478B3}"/>
              </a:ext>
            </a:extLst>
          </p:cNvPr>
          <p:cNvSpPr>
            <a:spLocks noGrp="1"/>
          </p:cNvSpPr>
          <p:nvPr/>
        </p:nvSpPr>
        <p:spPr>
          <a:xfrm>
            <a:off x="571500" y="251460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CCC3F071-2454-4E3A-B7F9-0B78D3932A88}"/>
              </a:ext>
            </a:extLst>
          </p:cNvPr>
          <p:cNvSpPr>
            <a:spLocks noGrp="1"/>
          </p:cNvSpPr>
          <p:nvPr/>
        </p:nvSpPr>
        <p:spPr>
          <a:xfrm>
            <a:off x="1095375" y="245745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Count efforts using an explicit duration and merging rule</a:t>
            </a:r>
          </a:p>
        </p:txBody>
      </p:sp>
      <p:sp>
        <p:nvSpPr>
          <p:cNvPr id="7" name="">
            <a:extLst>
              <a:ext uri="{FF2B5EF4-FFF2-40B4-BE49-F238E27FC236}">
                <ns2:creationId id="{D81FE145-4A5A-45DF-9924-54460B625FF4}"/>
              </a:ext>
            </a:extLst>
          </p:cNvPr>
          <p:cNvSpPr>
            <a:spLocks noGrp="1"/>
          </p:cNvSpPr>
          <p:nvPr/>
        </p:nvSpPr>
        <p:spPr>
          <a:xfrm>
            <a:off x="571500" y="35623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CFBD15B1-1B77-47DE-8E00-BE1D2ABEE01F}"/>
              </a:ext>
            </a:extLst>
          </p:cNvPr>
          <p:cNvSpPr>
            <a:spLocks noGrp="1"/>
          </p:cNvSpPr>
          <p:nvPr/>
        </p:nvSpPr>
        <p:spPr>
          <a:xfrm>
            <a:off x="1095375" y="35052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Report valid coverage and the time denominator</a:t>
            </a:r>
          </a:p>
        </p:txBody>
      </p:sp>
      <p:pic>
        <p:nvPicPr>
          <p:cNvPr id="9" name="">
            <a:extLst>
              <a:ext uri="{FF2B5EF4-FFF2-40B4-BE49-F238E27FC236}">
                <ns2:creationId id="{5D2ED91F-8C92-4734-BC57-F41D3359F221}"/>
              </a:ext>
            </a:extLst>
          </p:cNvPr>
          <p:cNvPicPr>
            <a:picLocks noChangeAspect="1"/>
          </p:cNvPicPr>
          <p:nvPr/>
        </p:nvPicPr>
        <p:blipFill>
          <a:blip r:embed="Ra594bacd076e4fe3"/>
          <a:stretch/>
        </p:blipFill>
        <p:spPr>
          <a:xfrm>
            <a:off x="5905500" y="2286449"/>
            <a:ext cx="5715000" cy="2237476"/>
          </a:xfrm>
          <a:prstGeom prst="rect">
            <a:avLst/>
          </a:prstGeom>
        </p:spPr>
      </p:pic>
      <p:sp>
        <p:nvSpPr>
          <p:cNvPr id="10" name="">
            <a:extLst>
              <a:ext uri="{FF2B5EF4-FFF2-40B4-BE49-F238E27FC236}">
                <ns2:creationId id="{BB089020-D9E0-4A4A-9B17-478502631BEE}"/>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79673171-66E8-443C-9A8A-CA787980B15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NOTEBOOK B · speed → efforts → distance · 4 min</a:t>
            </a:r>
          </a:p>
        </p:txBody>
      </p:sp>
      <p:sp>
        <p:nvSpPr>
          <p:cNvPr id="12" name="">
            <a:extLst>
              <a:ext uri="{FF2B5EF4-FFF2-40B4-BE49-F238E27FC236}">
                <ns2:creationId id="{1F76C12B-76B1-4F73-849A-659E96311150}"/>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DataBallPy covered distance · DataBallPy preprocessing · SkillCorner physical thresholds and time-to metrics</a:t>
            </a:r>
          </a:p>
        </p:txBody>
      </p:sp>
      <p:sp>
        <p:nvSpPr>
          <p:cNvPr id="13" name="">
            <a:extLst>
              <a:ext uri="{FF2B5EF4-FFF2-40B4-BE49-F238E27FC236}">
                <ns2:creationId id="{A51D3E64-148F-46B3-ACD7-CB2C59A32ED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9 / 21</a:t>
            </a:r>
          </a:p>
        </p:txBody>
      </p:sp>
    </p:spTree>
    <p:extLst>
      <p:ext uri="{BB962C8B-B14F-4D97-AF65-F5344CB8AC3E}">
        <ns4:creationId val="1224328124"/>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3D9AA439-1607-4B69-B899-D4E1EEABFA4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167B1E4-3E00-4127-AB92-6F012221629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Pitch control: three assumptions</a:t>
            </a:r>
          </a:p>
        </p:txBody>
      </p:sp>
      <p:sp>
        <p:nvSpPr>
          <p:cNvPr id="3" name="">
            <a:extLst>
              <a:ext uri="{FF2B5EF4-FFF2-40B4-BE49-F238E27FC236}">
                <ns2:creationId id="{D46FE0FF-E09B-4B1C-8AB1-EB548DED5F7D}"/>
              </a:ext>
            </a:extLst>
          </p:cNvPr>
          <p:cNvSpPr>
            <a:spLocks noGrp="1"/>
          </p:cNvSpPr>
          <p:nvPr/>
        </p:nvSpPr>
        <p:spPr>
          <a:xfrm>
            <a:off x="619125" y="1381125"/>
            <a:ext cx="10953750" cy="4286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Voronoi: the nearest player owns the location</a:t>
            </a:r>
          </a:p>
        </p:txBody>
      </p:sp>
      <p:sp>
        <p:nvSpPr>
          <p:cNvPr id="4" name="">
            <a:extLst>
              <a:ext uri="{FF2B5EF4-FFF2-40B4-BE49-F238E27FC236}">
                <ns2:creationId id="{945B4EAE-90F6-4329-BBE2-5AB589405A40}"/>
              </a:ext>
            </a:extLst>
          </p:cNvPr>
          <p:cNvSpPr>
            <a:spLocks noGrp="1"/>
          </p:cNvSpPr>
          <p:nvPr/>
        </p:nvSpPr>
        <p:spPr>
          <a:xfrm>
            <a:off x="619125" y="1819275"/>
            <a:ext cx="10953750" cy="4286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Gaussian: smooth influence depends on position and motion</a:t>
            </a:r>
          </a:p>
        </p:txBody>
      </p:sp>
      <p:sp>
        <p:nvSpPr>
          <p:cNvPr id="5" name="">
            <a:extLst>
              <a:ext uri="{FF2B5EF4-FFF2-40B4-BE49-F238E27FC236}">
                <ns2:creationId id="{B887C791-5F4D-4B3B-9DFD-9C69A3A599C2}"/>
              </a:ext>
            </a:extLst>
          </p:cNvPr>
          <p:cNvSpPr>
            <a:spLocks noGrp="1"/>
          </p:cNvSpPr>
          <p:nvPr/>
        </p:nvSpPr>
        <p:spPr>
          <a:xfrm>
            <a:off x="619125" y="2257425"/>
            <a:ext cx="10953750" cy="4286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Arrival time: compare who can reach a location sooner</a:t>
            </a:r>
          </a:p>
        </p:txBody>
      </p:sp>
      <p:pic>
        <p:nvPicPr>
          <p:cNvPr id="6" name="">
            <a:extLst>
              <a:ext uri="{FF2B5EF4-FFF2-40B4-BE49-F238E27FC236}">
                <ns2:creationId id="{4755333C-17BE-4F7B-B439-B4B5593E6D2C}"/>
              </a:ext>
            </a:extLst>
          </p:cNvPr>
          <p:cNvPicPr>
            <a:picLocks noChangeAspect="1"/>
          </p:cNvPicPr>
          <p:nvPr/>
        </p:nvPicPr>
        <p:blipFill>
          <a:blip r:embed="R4a1f107572954a37"/>
          <a:stretch/>
        </p:blipFill>
        <p:spPr>
          <a:xfrm>
            <a:off x="571500" y="2893938"/>
            <a:ext cx="11049000" cy="2641749"/>
          </a:xfrm>
          <a:prstGeom prst="rect">
            <a:avLst/>
          </a:prstGeom>
        </p:spPr>
      </p:pic>
      <p:sp>
        <p:nvSpPr>
          <p:cNvPr id="7" name="">
            <a:extLst>
              <a:ext uri="{FF2B5EF4-FFF2-40B4-BE49-F238E27FC236}">
                <ns2:creationId id="{41273191-BB97-4896-9A8F-3A3290A26EB6}"/>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Wide Open Spaces, Fernández &amp; Bornn (2018) · Space and Control in Soccer (2021) · Beyond Expected Goals, Spearman (2018)</a:t>
            </a:r>
          </a:p>
        </p:txBody>
      </p:sp>
      <p:sp>
        <p:nvSpPr>
          <p:cNvPr id="8" name="">
            <a:extLst>
              <a:ext uri="{FF2B5EF4-FFF2-40B4-BE49-F238E27FC236}">
                <ns2:creationId id="{11564ECD-B445-4AF6-8889-1D4A5C370F1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10 / 21</a:t>
            </a:r>
          </a:p>
        </p:txBody>
      </p:sp>
    </p:spTree>
    <p:extLst>
      <p:ext uri="{BB962C8B-B14F-4D97-AF65-F5344CB8AC3E}">
        <ns4:creationId val="259872835"/>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48C1E786-B710-4AF5-BDF5-B66D398E7B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672F1D1-AEB4-4ED7-8F94-BC656B61429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Choosing a control model</a:t>
            </a:r>
          </a:p>
        </p:txBody>
      </p:sp>
      <p:sp>
        <p:nvSpPr>
          <p:cNvPr id="3" name="">
            <a:extLst>
              <a:ext uri="{FF2B5EF4-FFF2-40B4-BE49-F238E27FC236}">
                <ns2:creationId id="{21D6A5B0-D2E5-4CAD-BCE1-9501A81ED66F}"/>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EAC6823C-12CD-4A52-A54F-49C17B7E21A9}"/>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Voronoi: fast and clear; ignores movement and contested space</a:t>
            </a:r>
          </a:p>
        </p:txBody>
      </p:sp>
      <p:sp>
        <p:nvSpPr>
          <p:cNvPr id="5" name="">
            <a:extLst>
              <a:ext uri="{FF2B5EF4-FFF2-40B4-BE49-F238E27FC236}">
                <ns2:creationId id="{1F17EAF2-2939-4777-9698-D66E28260942}"/>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C2EB4E47-8EA7-4C0E-85B7-5625E318951B}"/>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Gaussian: smooth and directional; sensitive to influence parameters</a:t>
            </a:r>
          </a:p>
        </p:txBody>
      </p:sp>
      <p:sp>
        <p:nvSpPr>
          <p:cNvPr id="7" name="">
            <a:extLst>
              <a:ext uri="{FF2B5EF4-FFF2-40B4-BE49-F238E27FC236}">
                <ns2:creationId id="{504D311D-475C-4B7C-8D1D-2D6EC0383572}"/>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0B242B46-5F26-4DE0-A27F-936BC4C43DDE}"/>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Physics-based: ball/player timing; more assumptions and validation</a:t>
            </a:r>
          </a:p>
        </p:txBody>
      </p:sp>
      <p:sp>
        <p:nvSpPr>
          <p:cNvPr id="9" name="">
            <a:extLst>
              <a:ext uri="{FF2B5EF4-FFF2-40B4-BE49-F238E27FC236}">
                <ns2:creationId id="{DB2723A7-4E01-4925-B011-C29138E7526F}"/>
              </a:ext>
            </a:extLst>
          </p:cNvPr>
          <p:cNvSpPr>
            <a:spLocks noGrp="1"/>
          </p:cNvSpPr>
          <p:nvPr/>
        </p:nvSpPr>
        <p:spPr>
          <a:xfrm>
            <a:off x="571500" y="5715000"/>
            <a:ext cx="11049000" cy="409575"/>
          </a:xfrm>
          <a:prstGeom prst="rect">
            <a:avLst/>
          </a:prstGeom>
          <a:solidFill>
            <a:srgbClr val="E0EEE8"/>
          </a:solidFill>
          <a:ln w="0">
            <a:noFill/>
          </a:ln>
        </p:spPr>
      </p:sp>
      <p:sp>
        <p:nvSpPr>
          <p:cNvPr id="10" name="">
            <a:extLst>
              <a:ext uri="{FF2B5EF4-FFF2-40B4-BE49-F238E27FC236}">
                <ns2:creationId id="{D8D4E52F-0A8B-4A56-8079-CD59FD2C79F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NOTEBOOK C · compare surfaces · 5 min</a:t>
            </a:r>
          </a:p>
        </p:txBody>
      </p:sp>
      <p:sp>
        <p:nvSpPr>
          <p:cNvPr id="11" name="">
            <a:extLst>
              <a:ext uri="{FF2B5EF4-FFF2-40B4-BE49-F238E27FC236}">
                <ns2:creationId id="{26B6E55F-E088-4973-B0EA-6488BB86CF46}"/>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DataBallPy space occupation · Wide Open Spaces, Fernández &amp; Bornn (2018) · Beyond Expected Goals, Spearman (2018)</a:t>
            </a:r>
          </a:p>
        </p:txBody>
      </p:sp>
      <p:sp>
        <p:nvSpPr>
          <p:cNvPr id="12" name="">
            <a:extLst>
              <a:ext uri="{FF2B5EF4-FFF2-40B4-BE49-F238E27FC236}">
                <ns2:creationId id="{C9352A7A-94B2-4F63-9D49-26CE4001233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11 / 21</a:t>
            </a:r>
          </a:p>
        </p:txBody>
      </p:sp>
    </p:spTree>
    <p:extLst>
      <p:ext uri="{BB962C8B-B14F-4D97-AF65-F5344CB8AC3E}">
        <ns4:creationId val="1683824966"/>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B5155871-E07C-4BE5-947B-E2922673DE8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5318879-1747-42FA-BF0B-BC42F8064C3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Tracking as a graph</a:t>
            </a:r>
          </a:p>
        </p:txBody>
      </p:sp>
      <p:sp>
        <p:nvSpPr>
          <p:cNvPr id="3" name="">
            <a:extLst>
              <a:ext uri="{FF2B5EF4-FFF2-40B4-BE49-F238E27FC236}">
                <ns2:creationId id="{F604BA34-5D2B-44FE-AC49-481FEC54A8EE}"/>
              </a:ext>
            </a:extLst>
          </p:cNvPr>
          <p:cNvSpPr>
            <a:spLocks noGrp="1"/>
          </p:cNvSpPr>
          <p:nvPr/>
        </p:nvSpPr>
        <p:spPr>
          <a:xfrm>
            <a:off x="571500" y="14668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64309C29-9F07-4D9B-90B7-288BBE37FA22}"/>
              </a:ext>
            </a:extLst>
          </p:cNvPr>
          <p:cNvSpPr>
            <a:spLocks noGrp="1"/>
          </p:cNvSpPr>
          <p:nvPr/>
        </p:nvSpPr>
        <p:spPr>
          <a:xfrm>
            <a:off x="1095375" y="14097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Nodes: players, with position, velocity, team and possession</a:t>
            </a:r>
          </a:p>
        </p:txBody>
      </p:sp>
      <p:sp>
        <p:nvSpPr>
          <p:cNvPr id="5" name="">
            <a:extLst>
              <a:ext uri="{FF2B5EF4-FFF2-40B4-BE49-F238E27FC236}">
                <ns2:creationId id="{28D701F0-A192-4A1C-B4D9-F5DC399EA4B5}"/>
              </a:ext>
            </a:extLst>
          </p:cNvPr>
          <p:cNvSpPr>
            <a:spLocks noGrp="1"/>
          </p:cNvSpPr>
          <p:nvPr/>
        </p:nvSpPr>
        <p:spPr>
          <a:xfrm>
            <a:off x="571500" y="251460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6A81A812-B133-4D7D-8224-C97F76E08E38}"/>
              </a:ext>
            </a:extLst>
          </p:cNvPr>
          <p:cNvSpPr>
            <a:spLocks noGrp="1"/>
          </p:cNvSpPr>
          <p:nvPr/>
        </p:nvSpPr>
        <p:spPr>
          <a:xfrm>
            <a:off x="1095375" y="245745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Edges: relative position, distance and team relationship</a:t>
            </a:r>
          </a:p>
        </p:txBody>
      </p:sp>
      <p:sp>
        <p:nvSpPr>
          <p:cNvPr id="7" name="">
            <a:extLst>
              <a:ext uri="{FF2B5EF4-FFF2-40B4-BE49-F238E27FC236}">
                <ns2:creationId id="{7EAD66DA-A7E1-4724-A8FA-57A6602C2F5C}"/>
              </a:ext>
            </a:extLst>
          </p:cNvPr>
          <p:cNvSpPr>
            <a:spLocks noGrp="1"/>
          </p:cNvSpPr>
          <p:nvPr/>
        </p:nvSpPr>
        <p:spPr>
          <a:xfrm>
            <a:off x="571500" y="35623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DA964003-770D-49B1-A248-BA352A41F0E9}"/>
              </a:ext>
            </a:extLst>
          </p:cNvPr>
          <p:cNvSpPr>
            <a:spLocks noGrp="1"/>
          </p:cNvSpPr>
          <p:nvPr/>
        </p:nvSpPr>
        <p:spPr>
          <a:xfrm>
            <a:off x="1095375" y="35052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A sequence becomes a dynamic graph as players move</a:t>
            </a:r>
          </a:p>
        </p:txBody>
      </p:sp>
      <p:pic>
        <p:nvPicPr>
          <p:cNvPr id="9" name="">
            <a:extLst>
              <a:ext uri="{FF2B5EF4-FFF2-40B4-BE49-F238E27FC236}">
                <ns2:creationId id="{0FFCA8BC-7E11-4DD7-A04D-AE9799EE93D5}"/>
              </a:ext>
            </a:extLst>
          </p:cNvPr>
          <p:cNvPicPr>
            <a:picLocks noChangeAspect="1"/>
          </p:cNvPicPr>
          <p:nvPr/>
        </p:nvPicPr>
        <p:blipFill>
          <a:blip r:embed="Radad4cd6ac0a4904"/>
          <a:stretch/>
        </p:blipFill>
        <p:spPr>
          <a:xfrm>
            <a:off x="5905500" y="1435635"/>
            <a:ext cx="5715000" cy="3939106"/>
          </a:xfrm>
          <a:prstGeom prst="rect">
            <a:avLst/>
          </a:prstGeom>
        </p:spPr>
      </p:pic>
      <p:sp>
        <p:nvSpPr>
          <p:cNvPr id="10" name="">
            <a:extLst>
              <a:ext uri="{FF2B5EF4-FFF2-40B4-BE49-F238E27FC236}">
                <ns2:creationId id="{A1617EE3-D769-4B91-9C84-925D11E9CB60}"/>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U.S. Soccer: counterattack GNNs with SkillCorner (2023) · TacticAI (2024)</a:t>
            </a:r>
          </a:p>
        </p:txBody>
      </p:sp>
      <p:sp>
        <p:nvSpPr>
          <p:cNvPr id="11" name="">
            <a:extLst>
              <a:ext uri="{FF2B5EF4-FFF2-40B4-BE49-F238E27FC236}">
                <ns2:creationId id="{7A743FF5-B968-4380-A123-97167EE0AE0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12 / 21</a:t>
            </a:r>
          </a:p>
        </p:txBody>
      </p:sp>
    </p:spTree>
    <p:extLst>
      <p:ext uri="{BB962C8B-B14F-4D97-AF65-F5344CB8AC3E}">
        <ns4:creationId val="344033023"/>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21" name="">
            <a:extLst>
              <a:ext uri="{FF2B5EF4-FFF2-40B4-BE49-F238E27FC236}">
                <ns2:creationId id="{B48E224A-F7F9-4412-9639-53B533F322E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F4775E8-37C4-49F8-820A-52EE74E793B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What a graph neural network learns</a:t>
            </a:r>
          </a:p>
        </p:txBody>
      </p:sp>
      <p:sp>
        <p:nvSpPr>
          <p:cNvPr id="3" name="">
            <a:extLst>
              <a:ext uri="{FF2B5EF4-FFF2-40B4-BE49-F238E27FC236}">
                <ns2:creationId id="{027EB816-D124-47BD-85EF-E37CA10788A0}"/>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D7315915-2488-479A-84A1-0B0148658E03}"/>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Messages combine a player with surrounding players</a:t>
            </a:r>
          </a:p>
        </p:txBody>
      </p:sp>
      <p:sp>
        <p:nvSpPr>
          <p:cNvPr id="5" name="">
            <a:extLst>
              <a:ext uri="{FF2B5EF4-FFF2-40B4-BE49-F238E27FC236}">
                <ns2:creationId id="{98F04FDD-A876-406E-8CAF-4C4B5005C327}"/>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995C4E66-512C-4C2E-A306-9989F0AC78C3}"/>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Shared updates learn interactions without depending on row order</a:t>
            </a:r>
          </a:p>
        </p:txBody>
      </p:sp>
      <p:sp>
        <p:nvSpPr>
          <p:cNvPr id="7" name="">
            <a:extLst>
              <a:ext uri="{FF2B5EF4-FFF2-40B4-BE49-F238E27FC236}">
                <ns2:creationId id="{C3504E58-2175-40BE-857C-C2FFEBB98A2E}"/>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35967A6C-DD5B-419C-AAA1-B78CFBAE43B1}"/>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Readouts predict a receiver, a pass outcome or a situation value</a:t>
            </a:r>
          </a:p>
        </p:txBody>
      </p:sp>
      <p:sp>
        <p:nvSpPr>
          <p:cNvPr id="9" name="">
            <a:extLst>
              <a:ext uri="{FF2B5EF4-FFF2-40B4-BE49-F238E27FC236}">
                <ns2:creationId id="{34F347E8-F49C-4C46-BD11-8EC1E59C0A45}"/>
              </a:ext>
            </a:extLst>
          </p:cNvPr>
          <p:cNvSpPr>
            <a:spLocks noGrp="1"/>
          </p:cNvSpPr>
          <p:nvPr/>
        </p:nvSpPr>
        <p:spPr>
          <a:xfrm>
            <a:off x="619125" y="4381500"/>
            <a:ext cx="2667000" cy="723900"/>
          </a:xfrm>
          <a:prstGeom prst="rect">
            <a:avLst/>
          </a:prstGeom>
          <a:solidFill>
            <a:srgbClr val="E0EEE8"/>
          </a:solidFill>
          <a:ln w="0">
            <a:noFill/>
          </a:ln>
        </p:spPr>
      </p:sp>
      <p:sp>
        <p:nvSpPr>
          <p:cNvPr id="10" name="">
            <a:extLst>
              <a:ext uri="{FF2B5EF4-FFF2-40B4-BE49-F238E27FC236}">
                <ns2:creationId id="{E05BC58F-1B17-49B6-9A3F-12DE05860028}"/>
              </a:ext>
            </a:extLst>
          </p:cNvPr>
          <p:cNvSpPr>
            <a:spLocks noGrp="1"/>
          </p:cNvSpPr>
          <p:nvPr/>
        </p:nvSpPr>
        <p:spPr>
          <a:xfrm>
            <a:off x="762000" y="4457700"/>
            <a:ext cx="238125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Player features</a:t>
            </a:r>
          </a:p>
        </p:txBody>
      </p:sp>
      <p:sp>
        <p:nvSpPr>
          <p:cNvPr id="11" name="">
            <a:extLst>
              <a:ext uri="{FF2B5EF4-FFF2-40B4-BE49-F238E27FC236}">
                <ns2:creationId id="{F0D41D95-A38F-4C73-B7AA-FB4D633CAA91}"/>
              </a:ext>
            </a:extLst>
          </p:cNvPr>
          <p:cNvSpPr>
            <a:spLocks noGrp="1"/>
          </p:cNvSpPr>
          <p:nvPr/>
        </p:nvSpPr>
        <p:spPr>
          <a:xfrm>
            <a:off x="3381375" y="4524375"/>
            <a:ext cx="476250" cy="523875"/>
          </a:xfrm>
          <a:prstGeom prst="rect">
            <a:avLst/>
          </a:prstGeom>
          <a:noFill/>
          <a:ln w="0">
            <a:noFill/>
          </a:ln>
        </p:spPr>
        <p:txBody>
          <a:bodyPr/>
          <a:lstStyle>
            <a:defPPr>
              <a:defRPr sz="2700" b="0">
                <a:solidFill>
                  <a:srgbClr val="147D68"/>
                </a:solidFill>
                <a:latin typeface="Arial"/>
                <a:ea typeface="Arial"/>
                <a:cs typeface="Arial"/>
              </a:defRPr>
            </a:defPPr>
            <a:lvl1pPr>
              <a:defRPr sz="2700" b="0">
                <a:solidFill>
                  <a:srgbClr val="147D68"/>
                </a:solidFill>
                <a:latin typeface="Arial"/>
                <a:ea typeface="Arial"/>
                <a:cs typeface="Arial"/>
              </a:defRPr>
            </a:lvl1pPr>
            <a:lvl2pPr>
              <a:defRPr sz="2700" b="0">
                <a:solidFill>
                  <a:srgbClr val="147D68"/>
                </a:solidFill>
                <a:latin typeface="Arial"/>
                <a:ea typeface="Arial"/>
                <a:cs typeface="Arial"/>
              </a:defRPr>
            </a:lvl2pPr>
            <a:lvl3pPr>
              <a:defRPr sz="2700" b="0">
                <a:solidFill>
                  <a:srgbClr val="147D68"/>
                </a:solidFill>
                <a:latin typeface="Arial"/>
                <a:ea typeface="Arial"/>
                <a:cs typeface="Arial"/>
              </a:defRPr>
            </a:lvl3pPr>
            <a:lvl4pPr>
              <a:defRPr sz="2700" b="0">
                <a:solidFill>
                  <a:srgbClr val="147D68"/>
                </a:solidFill>
                <a:latin typeface="Arial"/>
                <a:ea typeface="Arial"/>
                <a:cs typeface="Arial"/>
              </a:defRPr>
            </a:lvl4pPr>
            <a:lvl5pPr>
              <a:defRPr sz="2700" b="0">
                <a:solidFill>
                  <a:srgbClr val="147D68"/>
                </a:solidFill>
                <a:latin typeface="Arial"/>
                <a:ea typeface="Arial"/>
                <a:cs typeface="Arial"/>
              </a:defRPr>
            </a:lvl5pPr>
            <a:lvl6pPr>
              <a:defRPr sz="2700" b="0">
                <a:solidFill>
                  <a:srgbClr val="147D68"/>
                </a:solidFill>
                <a:latin typeface="Arial"/>
                <a:ea typeface="Arial"/>
                <a:cs typeface="Arial"/>
              </a:defRPr>
            </a:lvl6pPr>
            <a:lvl7pPr>
              <a:defRPr sz="2700" b="0">
                <a:solidFill>
                  <a:srgbClr val="147D68"/>
                </a:solidFill>
                <a:latin typeface="Arial"/>
                <a:ea typeface="Arial"/>
                <a:cs typeface="Arial"/>
              </a:defRPr>
            </a:lvl7pPr>
            <a:lvl8pPr>
              <a:defRPr sz="2700" b="0">
                <a:solidFill>
                  <a:srgbClr val="147D68"/>
                </a:solidFill>
                <a:latin typeface="Arial"/>
                <a:ea typeface="Arial"/>
                <a:cs typeface="Arial"/>
              </a:defRPr>
            </a:lvl8pPr>
            <a:lvl9pPr>
              <a:defRPr sz="2700" b="0">
                <a:solidFill>
                  <a:srgbClr val="147D68"/>
                </a:solidFill>
                <a:latin typeface="Arial"/>
                <a:ea typeface="Arial"/>
                <a:cs typeface="Arial"/>
              </a:defRPr>
            </a:lvl9pPr>
          </a:lstStyle>
          <a:p>
            <a:pPr>
              <a:defRPr sz="2700" b="0">
                <a:solidFill>
                  <a:srgbClr val="147D68"/>
                </a:solidFill>
                <a:latin typeface="Arial"/>
                <a:ea typeface="Arial"/>
                <a:cs typeface="Arial"/>
              </a:defRPr>
            </a:pPr>
            <a:r>
              <a:rPr sz="2700" b="0">
                <a:solidFill>
                  <a:srgbClr val="147D68"/>
                </a:solidFill>
                <a:latin typeface="Arial"/>
                <a:ea typeface="Arial"/>
                <a:cs typeface="Arial"/>
              </a:rPr>
              <a:t>→</a:t>
            </a:r>
          </a:p>
        </p:txBody>
      </p:sp>
      <p:sp>
        <p:nvSpPr>
          <p:cNvPr id="12" name="">
            <a:extLst>
              <a:ext uri="{FF2B5EF4-FFF2-40B4-BE49-F238E27FC236}">
                <ns2:creationId id="{328FD0C8-09EF-4E8E-938A-94B85960EE0B}"/>
              </a:ext>
            </a:extLst>
          </p:cNvPr>
          <p:cNvSpPr>
            <a:spLocks noGrp="1"/>
          </p:cNvSpPr>
          <p:nvPr/>
        </p:nvSpPr>
        <p:spPr>
          <a:xfrm>
            <a:off x="4000500" y="4381500"/>
            <a:ext cx="3238500" cy="723900"/>
          </a:xfrm>
          <a:prstGeom prst="rect">
            <a:avLst/>
          </a:prstGeom>
          <a:solidFill>
            <a:srgbClr val="E0EEE8"/>
          </a:solidFill>
          <a:ln w="0">
            <a:noFill/>
          </a:ln>
        </p:spPr>
      </p:sp>
      <p:sp>
        <p:nvSpPr>
          <p:cNvPr id="13" name="">
            <a:extLst>
              <a:ext uri="{FF2B5EF4-FFF2-40B4-BE49-F238E27FC236}">
                <ns2:creationId id="{5150A58E-0287-4303-BF4E-331C021E8318}"/>
              </a:ext>
            </a:extLst>
          </p:cNvPr>
          <p:cNvSpPr>
            <a:spLocks noGrp="1"/>
          </p:cNvSpPr>
          <p:nvPr/>
        </p:nvSpPr>
        <p:spPr>
          <a:xfrm>
            <a:off x="4143375" y="4457700"/>
            <a:ext cx="295275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Aggregate messages</a:t>
            </a:r>
          </a:p>
        </p:txBody>
      </p:sp>
      <p:sp>
        <p:nvSpPr>
          <p:cNvPr id="14" name="">
            <a:extLst>
              <a:ext uri="{FF2B5EF4-FFF2-40B4-BE49-F238E27FC236}">
                <ns2:creationId id="{563555E1-1DA7-469D-8E2F-81DBB0709BE5}"/>
              </a:ext>
            </a:extLst>
          </p:cNvPr>
          <p:cNvSpPr>
            <a:spLocks noGrp="1"/>
          </p:cNvSpPr>
          <p:nvPr/>
        </p:nvSpPr>
        <p:spPr>
          <a:xfrm>
            <a:off x="7410450" y="4524375"/>
            <a:ext cx="476250" cy="523875"/>
          </a:xfrm>
          <a:prstGeom prst="rect">
            <a:avLst/>
          </a:prstGeom>
          <a:noFill/>
          <a:ln w="0">
            <a:noFill/>
          </a:ln>
        </p:spPr>
        <p:txBody>
          <a:bodyPr/>
          <a:lstStyle>
            <a:defPPr>
              <a:defRPr sz="2700" b="0">
                <a:solidFill>
                  <a:srgbClr val="147D68"/>
                </a:solidFill>
                <a:latin typeface="Arial"/>
                <a:ea typeface="Arial"/>
                <a:cs typeface="Arial"/>
              </a:defRPr>
            </a:defPPr>
            <a:lvl1pPr>
              <a:defRPr sz="2700" b="0">
                <a:solidFill>
                  <a:srgbClr val="147D68"/>
                </a:solidFill>
                <a:latin typeface="Arial"/>
                <a:ea typeface="Arial"/>
                <a:cs typeface="Arial"/>
              </a:defRPr>
            </a:lvl1pPr>
            <a:lvl2pPr>
              <a:defRPr sz="2700" b="0">
                <a:solidFill>
                  <a:srgbClr val="147D68"/>
                </a:solidFill>
                <a:latin typeface="Arial"/>
                <a:ea typeface="Arial"/>
                <a:cs typeface="Arial"/>
              </a:defRPr>
            </a:lvl2pPr>
            <a:lvl3pPr>
              <a:defRPr sz="2700" b="0">
                <a:solidFill>
                  <a:srgbClr val="147D68"/>
                </a:solidFill>
                <a:latin typeface="Arial"/>
                <a:ea typeface="Arial"/>
                <a:cs typeface="Arial"/>
              </a:defRPr>
            </a:lvl3pPr>
            <a:lvl4pPr>
              <a:defRPr sz="2700" b="0">
                <a:solidFill>
                  <a:srgbClr val="147D68"/>
                </a:solidFill>
                <a:latin typeface="Arial"/>
                <a:ea typeface="Arial"/>
                <a:cs typeface="Arial"/>
              </a:defRPr>
            </a:lvl4pPr>
            <a:lvl5pPr>
              <a:defRPr sz="2700" b="0">
                <a:solidFill>
                  <a:srgbClr val="147D68"/>
                </a:solidFill>
                <a:latin typeface="Arial"/>
                <a:ea typeface="Arial"/>
                <a:cs typeface="Arial"/>
              </a:defRPr>
            </a:lvl5pPr>
            <a:lvl6pPr>
              <a:defRPr sz="2700" b="0">
                <a:solidFill>
                  <a:srgbClr val="147D68"/>
                </a:solidFill>
                <a:latin typeface="Arial"/>
                <a:ea typeface="Arial"/>
                <a:cs typeface="Arial"/>
              </a:defRPr>
            </a:lvl6pPr>
            <a:lvl7pPr>
              <a:defRPr sz="2700" b="0">
                <a:solidFill>
                  <a:srgbClr val="147D68"/>
                </a:solidFill>
                <a:latin typeface="Arial"/>
                <a:ea typeface="Arial"/>
                <a:cs typeface="Arial"/>
              </a:defRPr>
            </a:lvl7pPr>
            <a:lvl8pPr>
              <a:defRPr sz="2700" b="0">
                <a:solidFill>
                  <a:srgbClr val="147D68"/>
                </a:solidFill>
                <a:latin typeface="Arial"/>
                <a:ea typeface="Arial"/>
                <a:cs typeface="Arial"/>
              </a:defRPr>
            </a:lvl8pPr>
            <a:lvl9pPr>
              <a:defRPr sz="2700" b="0">
                <a:solidFill>
                  <a:srgbClr val="147D68"/>
                </a:solidFill>
                <a:latin typeface="Arial"/>
                <a:ea typeface="Arial"/>
                <a:cs typeface="Arial"/>
              </a:defRPr>
            </a:lvl9pPr>
          </a:lstStyle>
          <a:p>
            <a:pPr>
              <a:defRPr sz="2700" b="0">
                <a:solidFill>
                  <a:srgbClr val="147D68"/>
                </a:solidFill>
                <a:latin typeface="Arial"/>
                <a:ea typeface="Arial"/>
                <a:cs typeface="Arial"/>
              </a:defRPr>
            </a:pPr>
            <a:r>
              <a:rPr sz="2700" b="0">
                <a:solidFill>
                  <a:srgbClr val="147D68"/>
                </a:solidFill>
                <a:latin typeface="Arial"/>
                <a:ea typeface="Arial"/>
                <a:cs typeface="Arial"/>
              </a:rPr>
              <a:t>→</a:t>
            </a:r>
          </a:p>
        </p:txBody>
      </p:sp>
      <p:sp>
        <p:nvSpPr>
          <p:cNvPr id="15" name="">
            <a:extLst>
              <a:ext uri="{FF2B5EF4-FFF2-40B4-BE49-F238E27FC236}">
                <ns2:creationId id="{8C8A8261-B6B5-4BCB-AB96-8FB1DE70AABE}"/>
              </a:ext>
            </a:extLst>
          </p:cNvPr>
          <p:cNvSpPr>
            <a:spLocks noGrp="1"/>
          </p:cNvSpPr>
          <p:nvPr/>
        </p:nvSpPr>
        <p:spPr>
          <a:xfrm>
            <a:off x="8001000" y="4381500"/>
            <a:ext cx="3048000" cy="723900"/>
          </a:xfrm>
          <a:prstGeom prst="rect">
            <a:avLst/>
          </a:prstGeom>
          <a:solidFill>
            <a:srgbClr val="E0EEE8"/>
          </a:solidFill>
          <a:ln w="0">
            <a:noFill/>
          </a:ln>
        </p:spPr>
      </p:sp>
      <p:sp>
        <p:nvSpPr>
          <p:cNvPr id="16" name="">
            <a:extLst>
              <a:ext uri="{FF2B5EF4-FFF2-40B4-BE49-F238E27FC236}">
                <ns2:creationId id="{A97980A7-F324-4B28-8D0C-540520C0CC6E}"/>
              </a:ext>
            </a:extLst>
          </p:cNvPr>
          <p:cNvSpPr>
            <a:spLocks noGrp="1"/>
          </p:cNvSpPr>
          <p:nvPr/>
        </p:nvSpPr>
        <p:spPr>
          <a:xfrm>
            <a:off x="8143875" y="4457700"/>
            <a:ext cx="276225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Task prediction</a:t>
            </a:r>
          </a:p>
        </p:txBody>
      </p:sp>
      <p:sp>
        <p:nvSpPr>
          <p:cNvPr id="17" name="">
            <a:extLst>
              <a:ext uri="{FF2B5EF4-FFF2-40B4-BE49-F238E27FC236}">
                <ns2:creationId id="{86CCDE9E-2A1E-4271-AF7F-0F1987A85107}"/>
              </a:ext>
            </a:extLst>
          </p:cNvPr>
          <p:cNvSpPr>
            <a:spLocks noGrp="1"/>
          </p:cNvSpPr>
          <p:nvPr/>
        </p:nvSpPr>
        <p:spPr>
          <a:xfrm>
            <a:off x="571500" y="5715000"/>
            <a:ext cx="11049000" cy="409575"/>
          </a:xfrm>
          <a:prstGeom prst="rect">
            <a:avLst/>
          </a:prstGeom>
          <a:solidFill>
            <a:srgbClr val="E0EEE8"/>
          </a:solidFill>
          <a:ln w="0">
            <a:noFill/>
          </a:ln>
        </p:spPr>
      </p:sp>
      <p:sp>
        <p:nvSpPr>
          <p:cNvPr id="18" name="">
            <a:extLst>
              <a:ext uri="{FF2B5EF4-FFF2-40B4-BE49-F238E27FC236}">
                <ns2:creationId id="{D41F7DD9-8309-4B4C-9A20-798C6A0BE23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NOTEBOOK · inspect node and edge features · 1 min</a:t>
            </a:r>
          </a:p>
        </p:txBody>
      </p:sp>
      <p:sp>
        <p:nvSpPr>
          <p:cNvPr id="19" name="">
            <a:extLst>
              <a:ext uri="{FF2B5EF4-FFF2-40B4-BE49-F238E27FC236}">
                <ns2:creationId id="{A8426A8D-B36B-442F-BADD-7AB2411F45BB}"/>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TacticAI (2024) · DEFCON: GNN-based defensive EPV (2026)</a:t>
            </a:r>
          </a:p>
        </p:txBody>
      </p:sp>
      <p:sp>
        <p:nvSpPr>
          <p:cNvPr id="20" name="">
            <a:extLst>
              <a:ext uri="{FF2B5EF4-FFF2-40B4-BE49-F238E27FC236}">
                <ns2:creationId id="{0947AEE5-B0F6-40AC-943A-1A1B623A2D1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13 / 21</a:t>
            </a:r>
          </a:p>
        </p:txBody>
      </p:sp>
    </p:spTree>
    <p:extLst>
      <p:ext uri="{BB962C8B-B14F-4D97-AF65-F5344CB8AC3E}">
        <ns4:creationId val="10668256"/>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4097AD47-DCCE-4F8A-A83B-3DDC158CCD9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CDE969-3190-4DF5-9098-040D82A37FC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Graph models in soccer</a:t>
            </a:r>
          </a:p>
        </p:txBody>
      </p:sp>
      <p:sp>
        <p:nvSpPr>
          <p:cNvPr id="3" name="">
            <a:extLst>
              <a:ext uri="{FF2B5EF4-FFF2-40B4-BE49-F238E27FC236}">
                <ns2:creationId id="{5589E35A-D950-462B-9297-DBCE5124E75F}"/>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118615F8-DBB2-4DEB-A18C-C09E587A317B}"/>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U.S. Soccer: counterattack success with SkillCorner tracking</a:t>
            </a:r>
          </a:p>
        </p:txBody>
      </p:sp>
      <p:sp>
        <p:nvSpPr>
          <p:cNvPr id="5" name="">
            <a:extLst>
              <a:ext uri="{FF2B5EF4-FFF2-40B4-BE49-F238E27FC236}">
                <ns2:creationId id="{97EC18AC-D30E-43E2-9E5A-E2318760FA82}"/>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5FAD0381-A3D5-44A6-AF51-628930FB7DF2}"/>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DEFCON: defensive contribution through opponent EPV</a:t>
            </a:r>
          </a:p>
        </p:txBody>
      </p:sp>
      <p:sp>
        <p:nvSpPr>
          <p:cNvPr id="7" name="">
            <a:extLst>
              <a:ext uri="{FF2B5EF4-FFF2-40B4-BE49-F238E27FC236}">
                <ns2:creationId id="{F132C9E5-14BA-435F-9FC2-5E551779BAD2}"/>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83DBCB13-5757-4E45-BA66-825BF4395AA3}"/>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TacticAI: corner receivers, shots and position suggestions</a:t>
            </a:r>
          </a:p>
        </p:txBody>
      </p:sp>
      <p:sp>
        <p:nvSpPr>
          <p:cNvPr id="9" name="">
            <a:extLst>
              <a:ext uri="{FF2B5EF4-FFF2-40B4-BE49-F238E27FC236}">
                <ns2:creationId id="{74256AA7-68EF-484A-AF41-9564FE2B7191}"/>
              </a:ext>
            </a:extLst>
          </p:cNvPr>
          <p:cNvSpPr>
            <a:spLocks noGrp="1"/>
          </p:cNvSpPr>
          <p:nvPr/>
        </p:nvSpPr>
        <p:spPr>
          <a:xfrm>
            <a:off x="619125" y="37814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04</a:t>
            </a:r>
          </a:p>
        </p:txBody>
      </p:sp>
      <p:sp>
        <p:nvSpPr>
          <p:cNvPr id="10" name="">
            <a:extLst>
              <a:ext uri="{FF2B5EF4-FFF2-40B4-BE49-F238E27FC236}">
                <ns2:creationId id="{628EF1B5-B017-4173-B764-1C24EEA7CBFB}"/>
              </a:ext>
            </a:extLst>
          </p:cNvPr>
          <p:cNvSpPr>
            <a:spLocks noGrp="1"/>
          </p:cNvSpPr>
          <p:nvPr/>
        </p:nvSpPr>
        <p:spPr>
          <a:xfrm>
            <a:off x="1190625" y="37242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Graph attention: reception prediction and defensive influence</a:t>
            </a:r>
          </a:p>
        </p:txBody>
      </p:sp>
      <p:sp>
        <p:nvSpPr>
          <p:cNvPr id="11" name="">
            <a:extLst>
              <a:ext uri="{FF2B5EF4-FFF2-40B4-BE49-F238E27FC236}">
                <ns2:creationId id="{5424D64C-4138-416B-89EE-8EAADC5293F5}"/>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U.S. Soccer: counterattack GNNs with SkillCorner (2023) · DEFCON: GNN-based defensive EPV (2026) · TacticAI (2024) · Graph attention for defensive influence</a:t>
            </a:r>
          </a:p>
        </p:txBody>
      </p:sp>
      <p:sp>
        <p:nvSpPr>
          <p:cNvPr id="12" name="">
            <a:extLst>
              <a:ext uri="{FF2B5EF4-FFF2-40B4-BE49-F238E27FC236}">
                <ns2:creationId id="{556166DA-9B60-4BF6-B8FB-52F66229E00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14 / 21</a:t>
            </a:r>
          </a:p>
        </p:txBody>
      </p:sp>
    </p:spTree>
    <p:extLst>
      <p:ext uri="{BB962C8B-B14F-4D97-AF65-F5344CB8AC3E}">
        <ns4:creationId val="206499938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9" name="">
            <a:extLst>
              <a:ext uri="{FF2B5EF4-FFF2-40B4-BE49-F238E27FC236}">
                <ns2:creationId id="{B80CBDEC-0696-40CA-916A-99A344B5009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484161D-7A3B-49EC-960F-1A4035E09D3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EPV: value the situation</a:t>
            </a:r>
          </a:p>
        </p:txBody>
      </p:sp>
      <p:sp>
        <p:nvSpPr>
          <p:cNvPr id="3" name="">
            <a:extLst>
              <a:ext uri="{FF2B5EF4-FFF2-40B4-BE49-F238E27FC236}">
                <ns2:creationId id="{33372A84-283D-4780-831B-4ABF4D5843BB}"/>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77597D31-CF00-4173-BABB-3241BF3D3541}"/>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Define the target and horizon before building the model</a:t>
            </a:r>
          </a:p>
        </p:txBody>
      </p:sp>
      <p:sp>
        <p:nvSpPr>
          <p:cNvPr id="5" name="">
            <a:extLst>
              <a:ext uri="{FF2B5EF4-FFF2-40B4-BE49-F238E27FC236}">
                <ns2:creationId id="{BBEAA7F6-633A-490B-B725-F9D443577FD4}"/>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C661F756-3DFB-482E-AA4A-DBAD7AFA3991}"/>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Estimate action selection, success and resulting value</a:t>
            </a:r>
          </a:p>
        </p:txBody>
      </p:sp>
      <p:sp>
        <p:nvSpPr>
          <p:cNvPr id="7" name="">
            <a:extLst>
              <a:ext uri="{FF2B5EF4-FFF2-40B4-BE49-F238E27FC236}">
                <ns2:creationId id="{05A3E940-3A05-4A23-B4FC-C1E3A8E78404}"/>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23E8BB1B-FD59-4604-91B2-B368194D574F}"/>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Combine those components into expected possession value</a:t>
            </a:r>
          </a:p>
        </p:txBody>
      </p:sp>
      <p:sp>
        <p:nvSpPr>
          <p:cNvPr id="9" name="">
            <a:extLst>
              <a:ext uri="{FF2B5EF4-FFF2-40B4-BE49-F238E27FC236}">
                <ns2:creationId id="{A124FF3E-344B-462D-B796-B3D6D0F84008}"/>
              </a:ext>
            </a:extLst>
          </p:cNvPr>
          <p:cNvSpPr>
            <a:spLocks noGrp="1"/>
          </p:cNvSpPr>
          <p:nvPr/>
        </p:nvSpPr>
        <p:spPr>
          <a:xfrm>
            <a:off x="619125" y="4524375"/>
            <a:ext cx="2571750" cy="723900"/>
          </a:xfrm>
          <a:prstGeom prst="rect">
            <a:avLst/>
          </a:prstGeom>
          <a:solidFill>
            <a:srgbClr val="E0EEE8"/>
          </a:solidFill>
          <a:ln w="0">
            <a:noFill/>
          </a:ln>
        </p:spPr>
      </p:sp>
      <p:sp>
        <p:nvSpPr>
          <p:cNvPr id="10" name="">
            <a:extLst>
              <a:ext uri="{FF2B5EF4-FFF2-40B4-BE49-F238E27FC236}">
                <ns2:creationId id="{D6C75C01-73ED-47DA-84E5-A4017323A4B7}"/>
              </a:ext>
            </a:extLst>
          </p:cNvPr>
          <p:cNvSpPr>
            <a:spLocks noGrp="1"/>
          </p:cNvSpPr>
          <p:nvPr/>
        </p:nvSpPr>
        <p:spPr>
          <a:xfrm>
            <a:off x="762000" y="4600575"/>
            <a:ext cx="228600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State representation</a:t>
            </a:r>
          </a:p>
        </p:txBody>
      </p:sp>
      <p:sp>
        <p:nvSpPr>
          <p:cNvPr id="11" name="">
            <a:extLst>
              <a:ext uri="{FF2B5EF4-FFF2-40B4-BE49-F238E27FC236}">
                <ns2:creationId id="{05DAD8E8-3F36-448B-9FDD-821D56818436}"/>
              </a:ext>
            </a:extLst>
          </p:cNvPr>
          <p:cNvSpPr>
            <a:spLocks noGrp="1"/>
          </p:cNvSpPr>
          <p:nvPr/>
        </p:nvSpPr>
        <p:spPr>
          <a:xfrm>
            <a:off x="3305175" y="4667250"/>
            <a:ext cx="476250" cy="523875"/>
          </a:xfrm>
          <a:prstGeom prst="rect">
            <a:avLst/>
          </a:prstGeom>
          <a:noFill/>
          <a:ln w="0">
            <a:noFill/>
          </a:ln>
        </p:spPr>
        <p:txBody>
          <a:bodyPr/>
          <a:lstStyle>
            <a:defPPr>
              <a:defRPr sz="2700" b="0">
                <a:solidFill>
                  <a:srgbClr val="147D68"/>
                </a:solidFill>
                <a:latin typeface="Arial"/>
                <a:ea typeface="Arial"/>
                <a:cs typeface="Arial"/>
              </a:defRPr>
            </a:defPPr>
            <a:lvl1pPr>
              <a:defRPr sz="2700" b="0">
                <a:solidFill>
                  <a:srgbClr val="147D68"/>
                </a:solidFill>
                <a:latin typeface="Arial"/>
                <a:ea typeface="Arial"/>
                <a:cs typeface="Arial"/>
              </a:defRPr>
            </a:lvl1pPr>
            <a:lvl2pPr>
              <a:defRPr sz="2700" b="0">
                <a:solidFill>
                  <a:srgbClr val="147D68"/>
                </a:solidFill>
                <a:latin typeface="Arial"/>
                <a:ea typeface="Arial"/>
                <a:cs typeface="Arial"/>
              </a:defRPr>
            </a:lvl2pPr>
            <a:lvl3pPr>
              <a:defRPr sz="2700" b="0">
                <a:solidFill>
                  <a:srgbClr val="147D68"/>
                </a:solidFill>
                <a:latin typeface="Arial"/>
                <a:ea typeface="Arial"/>
                <a:cs typeface="Arial"/>
              </a:defRPr>
            </a:lvl3pPr>
            <a:lvl4pPr>
              <a:defRPr sz="2700" b="0">
                <a:solidFill>
                  <a:srgbClr val="147D68"/>
                </a:solidFill>
                <a:latin typeface="Arial"/>
                <a:ea typeface="Arial"/>
                <a:cs typeface="Arial"/>
              </a:defRPr>
            </a:lvl4pPr>
            <a:lvl5pPr>
              <a:defRPr sz="2700" b="0">
                <a:solidFill>
                  <a:srgbClr val="147D68"/>
                </a:solidFill>
                <a:latin typeface="Arial"/>
                <a:ea typeface="Arial"/>
                <a:cs typeface="Arial"/>
              </a:defRPr>
            </a:lvl5pPr>
            <a:lvl6pPr>
              <a:defRPr sz="2700" b="0">
                <a:solidFill>
                  <a:srgbClr val="147D68"/>
                </a:solidFill>
                <a:latin typeface="Arial"/>
                <a:ea typeface="Arial"/>
                <a:cs typeface="Arial"/>
              </a:defRPr>
            </a:lvl6pPr>
            <a:lvl7pPr>
              <a:defRPr sz="2700" b="0">
                <a:solidFill>
                  <a:srgbClr val="147D68"/>
                </a:solidFill>
                <a:latin typeface="Arial"/>
                <a:ea typeface="Arial"/>
                <a:cs typeface="Arial"/>
              </a:defRPr>
            </a:lvl7pPr>
            <a:lvl8pPr>
              <a:defRPr sz="2700" b="0">
                <a:solidFill>
                  <a:srgbClr val="147D68"/>
                </a:solidFill>
                <a:latin typeface="Arial"/>
                <a:ea typeface="Arial"/>
                <a:cs typeface="Arial"/>
              </a:defRPr>
            </a:lvl8pPr>
            <a:lvl9pPr>
              <a:defRPr sz="2700" b="0">
                <a:solidFill>
                  <a:srgbClr val="147D68"/>
                </a:solidFill>
                <a:latin typeface="Arial"/>
                <a:ea typeface="Arial"/>
                <a:cs typeface="Arial"/>
              </a:defRPr>
            </a:lvl9pPr>
          </a:lstStyle>
          <a:p>
            <a:pPr>
              <a:defRPr sz="2700" b="0">
                <a:solidFill>
                  <a:srgbClr val="147D68"/>
                </a:solidFill>
                <a:latin typeface="Arial"/>
                <a:ea typeface="Arial"/>
                <a:cs typeface="Arial"/>
              </a:defRPr>
            </a:pPr>
            <a:r>
              <a:rPr sz="2700" b="0">
                <a:solidFill>
                  <a:srgbClr val="147D68"/>
                </a:solidFill>
                <a:latin typeface="Arial"/>
                <a:ea typeface="Arial"/>
                <a:cs typeface="Arial"/>
              </a:rPr>
              <a:t>→</a:t>
            </a:r>
          </a:p>
        </p:txBody>
      </p:sp>
      <p:sp>
        <p:nvSpPr>
          <p:cNvPr id="12" name="">
            <a:extLst>
              <a:ext uri="{FF2B5EF4-FFF2-40B4-BE49-F238E27FC236}">
                <ns2:creationId id="{68E9EB59-5AD1-4116-BA75-234D8CC6B960}"/>
              </a:ext>
            </a:extLst>
          </p:cNvPr>
          <p:cNvSpPr>
            <a:spLocks noGrp="1"/>
          </p:cNvSpPr>
          <p:nvPr/>
        </p:nvSpPr>
        <p:spPr>
          <a:xfrm>
            <a:off x="3857625" y="4524375"/>
            <a:ext cx="3333750" cy="723900"/>
          </a:xfrm>
          <a:prstGeom prst="rect">
            <a:avLst/>
          </a:prstGeom>
          <a:solidFill>
            <a:srgbClr val="E0EEE8"/>
          </a:solidFill>
          <a:ln w="0">
            <a:noFill/>
          </a:ln>
        </p:spPr>
      </p:sp>
      <p:sp>
        <p:nvSpPr>
          <p:cNvPr id="13" name="">
            <a:extLst>
              <a:ext uri="{FF2B5EF4-FFF2-40B4-BE49-F238E27FC236}">
                <ns2:creationId id="{61A6FB0A-D0EC-4993-AFF7-9A4647177B8C}"/>
              </a:ext>
            </a:extLst>
          </p:cNvPr>
          <p:cNvSpPr>
            <a:spLocks noGrp="1"/>
          </p:cNvSpPr>
          <p:nvPr/>
        </p:nvSpPr>
        <p:spPr>
          <a:xfrm>
            <a:off x="4000500" y="4600575"/>
            <a:ext cx="304800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Action + outcome models</a:t>
            </a:r>
          </a:p>
        </p:txBody>
      </p:sp>
      <p:sp>
        <p:nvSpPr>
          <p:cNvPr id="14" name="">
            <a:extLst>
              <a:ext uri="{FF2B5EF4-FFF2-40B4-BE49-F238E27FC236}">
                <ns2:creationId id="{9BAF7781-0634-45AC-9A5F-C2F6F5D1AE16}"/>
              </a:ext>
            </a:extLst>
          </p:cNvPr>
          <p:cNvSpPr>
            <a:spLocks noGrp="1"/>
          </p:cNvSpPr>
          <p:nvPr/>
        </p:nvSpPr>
        <p:spPr>
          <a:xfrm>
            <a:off x="7334250" y="4667250"/>
            <a:ext cx="476250" cy="523875"/>
          </a:xfrm>
          <a:prstGeom prst="rect">
            <a:avLst/>
          </a:prstGeom>
          <a:noFill/>
          <a:ln w="0">
            <a:noFill/>
          </a:ln>
        </p:spPr>
        <p:txBody>
          <a:bodyPr/>
          <a:lstStyle>
            <a:defPPr>
              <a:defRPr sz="2700" b="0">
                <a:solidFill>
                  <a:srgbClr val="147D68"/>
                </a:solidFill>
                <a:latin typeface="Arial"/>
                <a:ea typeface="Arial"/>
                <a:cs typeface="Arial"/>
              </a:defRPr>
            </a:defPPr>
            <a:lvl1pPr>
              <a:defRPr sz="2700" b="0">
                <a:solidFill>
                  <a:srgbClr val="147D68"/>
                </a:solidFill>
                <a:latin typeface="Arial"/>
                <a:ea typeface="Arial"/>
                <a:cs typeface="Arial"/>
              </a:defRPr>
            </a:lvl1pPr>
            <a:lvl2pPr>
              <a:defRPr sz="2700" b="0">
                <a:solidFill>
                  <a:srgbClr val="147D68"/>
                </a:solidFill>
                <a:latin typeface="Arial"/>
                <a:ea typeface="Arial"/>
                <a:cs typeface="Arial"/>
              </a:defRPr>
            </a:lvl2pPr>
            <a:lvl3pPr>
              <a:defRPr sz="2700" b="0">
                <a:solidFill>
                  <a:srgbClr val="147D68"/>
                </a:solidFill>
                <a:latin typeface="Arial"/>
                <a:ea typeface="Arial"/>
                <a:cs typeface="Arial"/>
              </a:defRPr>
            </a:lvl3pPr>
            <a:lvl4pPr>
              <a:defRPr sz="2700" b="0">
                <a:solidFill>
                  <a:srgbClr val="147D68"/>
                </a:solidFill>
                <a:latin typeface="Arial"/>
                <a:ea typeface="Arial"/>
                <a:cs typeface="Arial"/>
              </a:defRPr>
            </a:lvl4pPr>
            <a:lvl5pPr>
              <a:defRPr sz="2700" b="0">
                <a:solidFill>
                  <a:srgbClr val="147D68"/>
                </a:solidFill>
                <a:latin typeface="Arial"/>
                <a:ea typeface="Arial"/>
                <a:cs typeface="Arial"/>
              </a:defRPr>
            </a:lvl5pPr>
            <a:lvl6pPr>
              <a:defRPr sz="2700" b="0">
                <a:solidFill>
                  <a:srgbClr val="147D68"/>
                </a:solidFill>
                <a:latin typeface="Arial"/>
                <a:ea typeface="Arial"/>
                <a:cs typeface="Arial"/>
              </a:defRPr>
            </a:lvl6pPr>
            <a:lvl7pPr>
              <a:defRPr sz="2700" b="0">
                <a:solidFill>
                  <a:srgbClr val="147D68"/>
                </a:solidFill>
                <a:latin typeface="Arial"/>
                <a:ea typeface="Arial"/>
                <a:cs typeface="Arial"/>
              </a:defRPr>
            </a:lvl7pPr>
            <a:lvl8pPr>
              <a:defRPr sz="2700" b="0">
                <a:solidFill>
                  <a:srgbClr val="147D68"/>
                </a:solidFill>
                <a:latin typeface="Arial"/>
                <a:ea typeface="Arial"/>
                <a:cs typeface="Arial"/>
              </a:defRPr>
            </a:lvl8pPr>
            <a:lvl9pPr>
              <a:defRPr sz="2700" b="0">
                <a:solidFill>
                  <a:srgbClr val="147D68"/>
                </a:solidFill>
                <a:latin typeface="Arial"/>
                <a:ea typeface="Arial"/>
                <a:cs typeface="Arial"/>
              </a:defRPr>
            </a:lvl9pPr>
          </a:lstStyle>
          <a:p>
            <a:pPr>
              <a:defRPr sz="2700" b="0">
                <a:solidFill>
                  <a:srgbClr val="147D68"/>
                </a:solidFill>
                <a:latin typeface="Arial"/>
                <a:ea typeface="Arial"/>
                <a:cs typeface="Arial"/>
              </a:defRPr>
            </a:pPr>
            <a:r>
              <a:rPr sz="2700" b="0">
                <a:solidFill>
                  <a:srgbClr val="147D68"/>
                </a:solidFill>
                <a:latin typeface="Arial"/>
                <a:ea typeface="Arial"/>
                <a:cs typeface="Arial"/>
              </a:rPr>
              <a:t>→</a:t>
            </a:r>
          </a:p>
        </p:txBody>
      </p:sp>
      <p:sp>
        <p:nvSpPr>
          <p:cNvPr id="15" name="">
            <a:extLst>
              <a:ext uri="{FF2B5EF4-FFF2-40B4-BE49-F238E27FC236}">
                <ns2:creationId id="{0D905A1D-CD75-4D23-A8E4-62BB68C174F9}"/>
              </a:ext>
            </a:extLst>
          </p:cNvPr>
          <p:cNvSpPr>
            <a:spLocks noGrp="1"/>
          </p:cNvSpPr>
          <p:nvPr/>
        </p:nvSpPr>
        <p:spPr>
          <a:xfrm>
            <a:off x="7953375" y="4524375"/>
            <a:ext cx="3143250" cy="723900"/>
          </a:xfrm>
          <a:prstGeom prst="rect">
            <a:avLst/>
          </a:prstGeom>
          <a:solidFill>
            <a:srgbClr val="E0EEE8"/>
          </a:solidFill>
          <a:ln w="0">
            <a:noFill/>
          </a:ln>
        </p:spPr>
      </p:sp>
      <p:sp>
        <p:nvSpPr>
          <p:cNvPr id="16" name="">
            <a:extLst>
              <a:ext uri="{FF2B5EF4-FFF2-40B4-BE49-F238E27FC236}">
                <ns2:creationId id="{D8384D45-0651-4705-8DC3-802AC1D93004}"/>
              </a:ext>
            </a:extLst>
          </p:cNvPr>
          <p:cNvSpPr>
            <a:spLocks noGrp="1"/>
          </p:cNvSpPr>
          <p:nvPr/>
        </p:nvSpPr>
        <p:spPr>
          <a:xfrm>
            <a:off x="8096250" y="4600575"/>
            <a:ext cx="2857500" cy="619125"/>
          </a:xfrm>
          <a:prstGeom prst="rect">
            <a:avLst/>
          </a:prstGeom>
          <a:noFill/>
          <a:ln w="0">
            <a:noFill/>
          </a:ln>
        </p:spPr>
        <p:txBody>
          <a:bodyPr/>
          <a:lstStyle>
            <a:defPPr>
              <a:defRPr sz="1650" b="1">
                <a:solidFill>
                  <a:srgbClr val="183A35"/>
                </a:solidFill>
                <a:latin typeface="Arial"/>
                <a:ea typeface="Arial"/>
                <a:cs typeface="Arial"/>
              </a:defRPr>
            </a:defPPr>
            <a:lvl1pPr>
              <a:defRPr sz="1650" b="1">
                <a:solidFill>
                  <a:srgbClr val="183A35"/>
                </a:solidFill>
                <a:latin typeface="Arial"/>
                <a:ea typeface="Arial"/>
                <a:cs typeface="Arial"/>
              </a:defRPr>
            </a:lvl1pPr>
            <a:lvl2pPr>
              <a:defRPr sz="1650" b="1">
                <a:solidFill>
                  <a:srgbClr val="183A35"/>
                </a:solidFill>
                <a:latin typeface="Arial"/>
                <a:ea typeface="Arial"/>
                <a:cs typeface="Arial"/>
              </a:defRPr>
            </a:lvl2pPr>
            <a:lvl3pPr>
              <a:defRPr sz="1650" b="1">
                <a:solidFill>
                  <a:srgbClr val="183A35"/>
                </a:solidFill>
                <a:latin typeface="Arial"/>
                <a:ea typeface="Arial"/>
                <a:cs typeface="Arial"/>
              </a:defRPr>
            </a:lvl3pPr>
            <a:lvl4pPr>
              <a:defRPr sz="1650" b="1">
                <a:solidFill>
                  <a:srgbClr val="183A35"/>
                </a:solidFill>
                <a:latin typeface="Arial"/>
                <a:ea typeface="Arial"/>
                <a:cs typeface="Arial"/>
              </a:defRPr>
            </a:lvl4pPr>
            <a:lvl5pPr>
              <a:defRPr sz="1650" b="1">
                <a:solidFill>
                  <a:srgbClr val="183A35"/>
                </a:solidFill>
                <a:latin typeface="Arial"/>
                <a:ea typeface="Arial"/>
                <a:cs typeface="Arial"/>
              </a:defRPr>
            </a:lvl5pPr>
            <a:lvl6pPr>
              <a:defRPr sz="1650" b="1">
                <a:solidFill>
                  <a:srgbClr val="183A35"/>
                </a:solidFill>
                <a:latin typeface="Arial"/>
                <a:ea typeface="Arial"/>
                <a:cs typeface="Arial"/>
              </a:defRPr>
            </a:lvl6pPr>
            <a:lvl7pPr>
              <a:defRPr sz="1650" b="1">
                <a:solidFill>
                  <a:srgbClr val="183A35"/>
                </a:solidFill>
                <a:latin typeface="Arial"/>
                <a:ea typeface="Arial"/>
                <a:cs typeface="Arial"/>
              </a:defRPr>
            </a:lvl7pPr>
            <a:lvl8pPr>
              <a:defRPr sz="1650" b="1">
                <a:solidFill>
                  <a:srgbClr val="183A35"/>
                </a:solidFill>
                <a:latin typeface="Arial"/>
                <a:ea typeface="Arial"/>
                <a:cs typeface="Arial"/>
              </a:defRPr>
            </a:lvl8pPr>
            <a:lvl9pPr>
              <a:defRPr sz="1650" b="1">
                <a:solidFill>
                  <a:srgbClr val="183A35"/>
                </a:solidFill>
                <a:latin typeface="Arial"/>
                <a:ea typeface="Arial"/>
                <a:cs typeface="Arial"/>
              </a:defRPr>
            </a:lvl9pPr>
          </a:lstStyle>
          <a:p>
            <a:pPr>
              <a:defRPr sz="1650" b="1">
                <a:solidFill>
                  <a:srgbClr val="183A35"/>
                </a:solidFill>
                <a:latin typeface="Arial"/>
                <a:ea typeface="Arial"/>
                <a:cs typeface="Arial"/>
              </a:defRPr>
            </a:pPr>
            <a:r>
              <a:rPr sz="1650" b="1">
                <a:solidFill>
                  <a:srgbClr val="183A35"/>
                </a:solidFill>
                <a:latin typeface="Arial"/>
                <a:ea typeface="Arial"/>
                <a:cs typeface="Arial"/>
              </a:rPr>
              <a:t>Expected value</a:t>
            </a:r>
          </a:p>
        </p:txBody>
      </p:sp>
      <p:sp>
        <p:nvSpPr>
          <p:cNvPr id="17" name="">
            <a:extLst>
              <a:ext uri="{FF2B5EF4-FFF2-40B4-BE49-F238E27FC236}">
                <ns2:creationId id="{EBF64ED9-F801-4534-9795-5C06A04A788E}"/>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Fine-grained expected possession value (2021) · DEFCON: GNN-based defensive EPV (2026) · SoccerMap (2020)</a:t>
            </a:r>
          </a:p>
        </p:txBody>
      </p:sp>
      <p:sp>
        <p:nvSpPr>
          <p:cNvPr id="18" name="">
            <a:extLst>
              <a:ext uri="{FF2B5EF4-FFF2-40B4-BE49-F238E27FC236}">
                <ns2:creationId id="{D90E6B9E-E1CF-4847-9FAE-A2F74005CCF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15 / 21</a:t>
            </a:r>
          </a:p>
        </p:txBody>
      </p:sp>
    </p:spTree>
    <p:extLst>
      <p:ext uri="{BB962C8B-B14F-4D97-AF65-F5344CB8AC3E}">
        <ns4:creationId val="970691716"/>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8D279AD-E5FB-4D18-B493-4B11E84670F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D165FA1-FFCB-4FAD-B41A-ABDCD3CD9D1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Passing risk and dangerous space</a:t>
            </a:r>
          </a:p>
        </p:txBody>
      </p:sp>
      <p:sp>
        <p:nvSpPr>
          <p:cNvPr id="3" name="">
            <a:extLst>
              <a:ext uri="{FF2B5EF4-FFF2-40B4-BE49-F238E27FC236}">
                <ns2:creationId id="{1FC2B774-09E3-4C29-823A-36702AE677D0}"/>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86DB2518-1C2E-44A8-AD2A-C1C7CAD5A8E3}"/>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Completion: how likely is this pass to succeed?</a:t>
            </a:r>
          </a:p>
        </p:txBody>
      </p:sp>
      <p:sp>
        <p:nvSpPr>
          <p:cNvPr id="5" name="">
            <a:extLst>
              <a:ext uri="{FF2B5EF4-FFF2-40B4-BE49-F238E27FC236}">
                <ns2:creationId id="{00235ED7-C73E-4CF1-9F85-E05A4CD55566}"/>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5A414E5C-0F89-4DF5-85CB-87210972532D}"/>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Accessible space: where can a pass reach teammates?</a:t>
            </a:r>
          </a:p>
        </p:txBody>
      </p:sp>
      <p:sp>
        <p:nvSpPr>
          <p:cNvPr id="7" name="">
            <a:extLst>
              <a:ext uri="{FF2B5EF4-FFF2-40B4-BE49-F238E27FC236}">
                <ns2:creationId id="{A168AABF-F8A1-4F22-9566-05B0963B3329}"/>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7C9F1F8F-37D8-4170-85D5-6CA6D9FD3E5A}"/>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Dangerous accessible space: weight access by goal threat</a:t>
            </a:r>
          </a:p>
        </p:txBody>
      </p:sp>
      <p:sp>
        <p:nvSpPr>
          <p:cNvPr id="9" name="">
            <a:extLst>
              <a:ext uri="{FF2B5EF4-FFF2-40B4-BE49-F238E27FC236}">
                <ns2:creationId id="{7EE5B961-9DDD-431C-9BC1-DB362F48F0BB}"/>
              </a:ext>
            </a:extLst>
          </p:cNvPr>
          <p:cNvSpPr>
            <a:spLocks noGrp="1"/>
          </p:cNvSpPr>
          <p:nvPr/>
        </p:nvSpPr>
        <p:spPr>
          <a:xfrm>
            <a:off x="571500" y="5715000"/>
            <a:ext cx="11049000" cy="409575"/>
          </a:xfrm>
          <a:prstGeom prst="rect">
            <a:avLst/>
          </a:prstGeom>
          <a:solidFill>
            <a:srgbClr val="E0EEE8"/>
          </a:solidFill>
          <a:ln w="0">
            <a:noFill/>
          </a:ln>
        </p:spPr>
      </p:sp>
      <p:sp>
        <p:nvSpPr>
          <p:cNvPr id="10" name="">
            <a:extLst>
              <a:ext uri="{FF2B5EF4-FFF2-40B4-BE49-F238E27FC236}">
                <ns2:creationId id="{EF1BA864-BF2E-44E9-BE02-950473E4FD8A}"/>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NOTEBOOK D · options → AS/DAS · 7 min</a:t>
            </a:r>
          </a:p>
        </p:txBody>
      </p:sp>
      <p:sp>
        <p:nvSpPr>
          <p:cNvPr id="11" name="">
            <a:extLst>
              <a:ext uri="{FF2B5EF4-FFF2-40B4-BE49-F238E27FC236}">
                <ns2:creationId id="{5FBAB07B-C19B-4566-9095-8898F7DEE370}"/>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DataBallPy DAS and expected completion · Dangerous Accessible Space: paper and implementation</a:t>
            </a:r>
          </a:p>
        </p:txBody>
      </p:sp>
      <p:sp>
        <p:nvSpPr>
          <p:cNvPr id="12" name="">
            <a:extLst>
              <a:ext uri="{FF2B5EF4-FFF2-40B4-BE49-F238E27FC236}">
                <ns2:creationId id="{008B5B92-FD47-4CC2-B234-420AB7E98402}"/>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16 / 21</a:t>
            </a:r>
          </a:p>
        </p:txBody>
      </p:sp>
    </p:spTree>
    <p:extLst>
      <p:ext uri="{BB962C8B-B14F-4D97-AF65-F5344CB8AC3E}">
        <ns4:creationId val="1811586509"/>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1" name="">
            <a:extLst>
              <a:ext uri="{FF2B5EF4-FFF2-40B4-BE49-F238E27FC236}">
                <ns2:creationId id="{50853768-71AA-47B9-80C9-F1E3E2B2DEB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5E8FB86-BF24-42CA-9C0D-F09FE8452C9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xG and off-ball scoring opportunities</a:t>
            </a:r>
          </a:p>
        </p:txBody>
      </p:sp>
      <p:sp>
        <p:nvSpPr>
          <p:cNvPr id="3" name="">
            <a:extLst>
              <a:ext uri="{FF2B5EF4-FFF2-40B4-BE49-F238E27FC236}">
                <ns2:creationId id="{00D67603-221F-46A8-A9AF-5484085F4F91}"/>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4E728334-DDD4-4E93-9DF8-DB2F818AED6D}"/>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Tracking-informed xG adds keeper and defender context</a:t>
            </a:r>
          </a:p>
        </p:txBody>
      </p:sp>
      <p:sp>
        <p:nvSpPr>
          <p:cNvPr id="5" name="">
            <a:extLst>
              <a:ext uri="{FF2B5EF4-FFF2-40B4-BE49-F238E27FC236}">
                <ns2:creationId id="{E33D68B7-825A-4033-A237-49BC64F77A6B}"/>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A26F0318-88B5-48DC-9971-5970CF1D7475}"/>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Off-ball scoring opportunity combines access and scoring potential</a:t>
            </a:r>
          </a:p>
        </p:txBody>
      </p:sp>
      <p:sp>
        <p:nvSpPr>
          <p:cNvPr id="7" name="">
            <a:extLst>
              <a:ext uri="{FF2B5EF4-FFF2-40B4-BE49-F238E27FC236}">
                <ns2:creationId id="{CA3C640E-BFB6-4317-977B-BF2232AC32AB}"/>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DE9B5516-EE5D-4FB8-8A2D-81AD95A6B7EB}"/>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Full EPV also accounts for continuation and turnover risk</a:t>
            </a:r>
          </a:p>
        </p:txBody>
      </p:sp>
      <p:sp>
        <p:nvSpPr>
          <p:cNvPr id="9" name="">
            <a:extLst>
              <a:ext uri="{FF2B5EF4-FFF2-40B4-BE49-F238E27FC236}">
                <ns2:creationId id="{08125DD0-3732-4F72-BCE1-D04B00210F3A}"/>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StatsBomb: Upgrading Expected Goals · Beyond Expected Goals, Spearman (2018) · Fine-grained expected possession value (2021)</a:t>
            </a:r>
          </a:p>
        </p:txBody>
      </p:sp>
      <p:sp>
        <p:nvSpPr>
          <p:cNvPr id="10" name="">
            <a:extLst>
              <a:ext uri="{FF2B5EF4-FFF2-40B4-BE49-F238E27FC236}">
                <ns2:creationId id="{52ECA83C-176D-4ADC-A0C6-B1F75F26628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17 / 21</a:t>
            </a:r>
          </a:p>
        </p:txBody>
      </p:sp>
    </p:spTree>
    <p:extLst>
      <p:ext uri="{BB962C8B-B14F-4D97-AF65-F5344CB8AC3E}">
        <ns4:creationId val="659585593"/>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D8CDBA4A-2EBB-41C4-AE04-E393CF4CC24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555CD6D-5692-4A25-A327-2D077D16542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Value runs that never receive the ball</a:t>
            </a:r>
          </a:p>
        </p:txBody>
      </p:sp>
      <p:sp>
        <p:nvSpPr>
          <p:cNvPr id="3" name="">
            <a:extLst>
              <a:ext uri="{FF2B5EF4-FFF2-40B4-BE49-F238E27FC236}">
                <ns2:creationId id="{A89BF6E1-A114-41F7-A0D6-CFECBBACD72D}"/>
              </a:ext>
            </a:extLst>
          </p:cNvPr>
          <p:cNvSpPr>
            <a:spLocks noGrp="1"/>
          </p:cNvSpPr>
          <p:nvPr/>
        </p:nvSpPr>
        <p:spPr>
          <a:xfrm>
            <a:off x="571500" y="14668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E9CD165C-4ED1-4046-9DAF-DD1520861ABE}"/>
              </a:ext>
            </a:extLst>
          </p:cNvPr>
          <p:cNvSpPr>
            <a:spLocks noGrp="1"/>
          </p:cNvSpPr>
          <p:nvPr/>
        </p:nvSpPr>
        <p:spPr>
          <a:xfrm>
            <a:off x="1095375" y="14097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Run threat asks what could happen if the runner were served</a:t>
            </a:r>
          </a:p>
        </p:txBody>
      </p:sp>
      <p:sp>
        <p:nvSpPr>
          <p:cNvPr id="5" name="">
            <a:extLst>
              <a:ext uri="{FF2B5EF4-FFF2-40B4-BE49-F238E27FC236}">
                <ns2:creationId id="{691D5EA6-F4BA-46D0-92A2-947860EB8C79}"/>
              </a:ext>
            </a:extLst>
          </p:cNvPr>
          <p:cNvSpPr>
            <a:spLocks noGrp="1"/>
          </p:cNvSpPr>
          <p:nvPr/>
        </p:nvSpPr>
        <p:spPr>
          <a:xfrm>
            <a:off x="571500" y="251460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952B06B2-37CB-4CEC-965A-6FD28B28A6B8}"/>
              </a:ext>
            </a:extLst>
          </p:cNvPr>
          <p:cNvSpPr>
            <a:spLocks noGrp="1"/>
          </p:cNvSpPr>
          <p:nvPr/>
        </p:nvSpPr>
        <p:spPr>
          <a:xfrm>
            <a:off x="1095375" y="245745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Space creation can benefit a different teammate</a:t>
            </a:r>
          </a:p>
        </p:txBody>
      </p:sp>
      <p:sp>
        <p:nvSpPr>
          <p:cNvPr id="7" name="">
            <a:extLst>
              <a:ext uri="{FF2B5EF4-FFF2-40B4-BE49-F238E27FC236}">
                <ns2:creationId id="{6C792D47-5734-42C0-91BD-2D7BE7F9F8C1}"/>
              </a:ext>
            </a:extLst>
          </p:cNvPr>
          <p:cNvSpPr>
            <a:spLocks noGrp="1"/>
          </p:cNvSpPr>
          <p:nvPr/>
        </p:nvSpPr>
        <p:spPr>
          <a:xfrm>
            <a:off x="571500" y="3562350"/>
            <a:ext cx="428625" cy="333375"/>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F193F0FE-FB72-4BF3-8D8C-FF3A0BD92A56}"/>
              </a:ext>
            </a:extLst>
          </p:cNvPr>
          <p:cNvSpPr>
            <a:spLocks noGrp="1"/>
          </p:cNvSpPr>
          <p:nvPr/>
        </p:nvSpPr>
        <p:spPr>
          <a:xfrm>
            <a:off x="1095375" y="3505200"/>
            <a:ext cx="4429125" cy="971550"/>
          </a:xfrm>
          <a:prstGeom prst="rect">
            <a:avLst/>
          </a:prstGeom>
          <a:noFill/>
          <a:ln w="0">
            <a:noFill/>
          </a:ln>
        </p:spPr>
        <p:txBody>
          <a:bodyPr/>
          <a:lstStyle>
            <a:defPPr>
              <a:defRPr sz="2025" b="0">
                <a:solidFill>
                  <a:srgbClr val="183A35"/>
                </a:solidFill>
                <a:latin typeface="Arial"/>
                <a:ea typeface="Arial"/>
                <a:cs typeface="Arial"/>
              </a:defRPr>
            </a:defPPr>
            <a:lvl1pPr>
              <a:defRPr sz="2025" b="0">
                <a:solidFill>
                  <a:srgbClr val="183A35"/>
                </a:solidFill>
                <a:latin typeface="Arial"/>
                <a:ea typeface="Arial"/>
                <a:cs typeface="Arial"/>
              </a:defRPr>
            </a:lvl1pPr>
            <a:lvl2pPr>
              <a:defRPr sz="2025" b="0">
                <a:solidFill>
                  <a:srgbClr val="183A35"/>
                </a:solidFill>
                <a:latin typeface="Arial"/>
                <a:ea typeface="Arial"/>
                <a:cs typeface="Arial"/>
              </a:defRPr>
            </a:lvl2pPr>
            <a:lvl3pPr>
              <a:defRPr sz="2025" b="0">
                <a:solidFill>
                  <a:srgbClr val="183A35"/>
                </a:solidFill>
                <a:latin typeface="Arial"/>
                <a:ea typeface="Arial"/>
                <a:cs typeface="Arial"/>
              </a:defRPr>
            </a:lvl3pPr>
            <a:lvl4pPr>
              <a:defRPr sz="2025" b="0">
                <a:solidFill>
                  <a:srgbClr val="183A35"/>
                </a:solidFill>
                <a:latin typeface="Arial"/>
                <a:ea typeface="Arial"/>
                <a:cs typeface="Arial"/>
              </a:defRPr>
            </a:lvl4pPr>
            <a:lvl5pPr>
              <a:defRPr sz="2025" b="0">
                <a:solidFill>
                  <a:srgbClr val="183A35"/>
                </a:solidFill>
                <a:latin typeface="Arial"/>
                <a:ea typeface="Arial"/>
                <a:cs typeface="Arial"/>
              </a:defRPr>
            </a:lvl5pPr>
            <a:lvl6pPr>
              <a:defRPr sz="2025" b="0">
                <a:solidFill>
                  <a:srgbClr val="183A35"/>
                </a:solidFill>
                <a:latin typeface="Arial"/>
                <a:ea typeface="Arial"/>
                <a:cs typeface="Arial"/>
              </a:defRPr>
            </a:lvl6pPr>
            <a:lvl7pPr>
              <a:defRPr sz="2025" b="0">
                <a:solidFill>
                  <a:srgbClr val="183A35"/>
                </a:solidFill>
                <a:latin typeface="Arial"/>
                <a:ea typeface="Arial"/>
                <a:cs typeface="Arial"/>
              </a:defRPr>
            </a:lvl7pPr>
            <a:lvl8pPr>
              <a:defRPr sz="2025" b="0">
                <a:solidFill>
                  <a:srgbClr val="183A35"/>
                </a:solidFill>
                <a:latin typeface="Arial"/>
                <a:ea typeface="Arial"/>
                <a:cs typeface="Arial"/>
              </a:defRPr>
            </a:lvl8pPr>
            <a:lvl9pPr>
              <a:defRPr sz="2025" b="0">
                <a:solidFill>
                  <a:srgbClr val="183A35"/>
                </a:solidFill>
                <a:latin typeface="Arial"/>
                <a:ea typeface="Arial"/>
                <a:cs typeface="Arial"/>
              </a:defRPr>
            </a:lvl9pPr>
          </a:lstStyle>
          <a:p>
            <a:pPr>
              <a:defRPr sz="2025" b="0">
                <a:solidFill>
                  <a:srgbClr val="183A35"/>
                </a:solidFill>
                <a:latin typeface="Arial"/>
                <a:ea typeface="Arial"/>
                <a:cs typeface="Arial"/>
              </a:defRPr>
            </a:pPr>
            <a:r>
              <a:rPr sz="2025" b="0">
                <a:solidFill>
                  <a:srgbClr val="183A35"/>
                </a:solidFill>
                <a:latin typeface="Arial"/>
                <a:ea typeface="Arial"/>
                <a:cs typeface="Arial"/>
              </a:rPr>
              <a:t>Compare changing options without claiming causal attribution</a:t>
            </a:r>
          </a:p>
        </p:txBody>
      </p:sp>
      <p:pic>
        <p:nvPicPr>
          <p:cNvPr id="9" name="">
            <a:extLst>
              <a:ext uri="{FF2B5EF4-FFF2-40B4-BE49-F238E27FC236}">
                <ns2:creationId id="{73F534EA-9279-4F25-9836-616715EFA94B}"/>
              </a:ext>
            </a:extLst>
          </p:cNvPr>
          <p:cNvPicPr>
            <a:picLocks noChangeAspect="1"/>
          </p:cNvPicPr>
          <p:nvPr/>
        </p:nvPicPr>
        <p:blipFill>
          <a:blip r:embed="R78e8f46382b943f3"/>
          <a:stretch/>
        </p:blipFill>
        <p:spPr>
          <a:xfrm>
            <a:off x="5905500" y="1435635"/>
            <a:ext cx="5715000" cy="3939106"/>
          </a:xfrm>
          <a:prstGeom prst="rect">
            <a:avLst/>
          </a:prstGeom>
        </p:spPr>
      </p:pic>
      <p:sp>
        <p:nvSpPr>
          <p:cNvPr id="10" name="">
            <a:extLst>
              <a:ext uri="{FF2B5EF4-FFF2-40B4-BE49-F238E27FC236}">
                <ns2:creationId id="{2C56B082-489E-4CF6-9C96-8D1152B97035}"/>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4"/>
              </a:rPr>
              <a:t>SkillCorner: Expected Threat for off-ball runs · Wide Open Spaces, Fernández &amp; Bornn (2018)</a:t>
            </a:r>
          </a:p>
        </p:txBody>
      </p:sp>
      <p:sp>
        <p:nvSpPr>
          <p:cNvPr id="11" name="">
            <a:extLst>
              <a:ext uri="{FF2B5EF4-FFF2-40B4-BE49-F238E27FC236}">
                <ns2:creationId id="{491B6399-7F52-4B49-B9F3-0D8105F0DCB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18 / 21</a:t>
            </a:r>
          </a:p>
        </p:txBody>
      </p:sp>
    </p:spTree>
    <p:extLst>
      <p:ext uri="{BB962C8B-B14F-4D97-AF65-F5344CB8AC3E}">
        <ns4:creationId val="1170466322"/>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1" name="">
            <a:extLst>
              <a:ext uri="{FF2B5EF4-FFF2-40B4-BE49-F238E27FC236}">
                <ns2:creationId id="{180CE802-F951-4249-A2E7-D21BA6B55E3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62CE621-FA3E-4C50-8256-CFDC4008D39B}"/>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Where research goes next</a:t>
            </a:r>
          </a:p>
        </p:txBody>
      </p:sp>
      <p:sp>
        <p:nvSpPr>
          <p:cNvPr id="3" name="">
            <a:extLst>
              <a:ext uri="{FF2B5EF4-FFF2-40B4-BE49-F238E27FC236}">
                <ns2:creationId id="{D8CB44A8-0515-4A14-B4AD-103F9AC550D8}"/>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92AA1303-B823-4E5A-BC20-51A2586E7399}"/>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Defense: suppress valuable passing options</a:t>
            </a:r>
          </a:p>
        </p:txBody>
      </p:sp>
      <p:sp>
        <p:nvSpPr>
          <p:cNvPr id="5" name="">
            <a:extLst>
              <a:ext uri="{FF2B5EF4-FFF2-40B4-BE49-F238E27FC236}">
                <ns2:creationId id="{FA87C141-CE71-4564-BCE7-D42B9572C228}"/>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464E0639-31BC-4000-A23D-A4C458DF05EC}"/>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Trajectory models: forecast possible team movements</a:t>
            </a:r>
          </a:p>
        </p:txBody>
      </p:sp>
      <p:sp>
        <p:nvSpPr>
          <p:cNvPr id="7" name="">
            <a:extLst>
              <a:ext uri="{FF2B5EF4-FFF2-40B4-BE49-F238E27FC236}">
                <ns2:creationId id="{3A1DD468-0669-449E-8096-61D6149A0BC7}"/>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94EA92A1-8B44-4907-B73A-8F70C8FA0E28}"/>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Counterfactuals: evaluate alternative actions or positions</a:t>
            </a:r>
          </a:p>
        </p:txBody>
      </p:sp>
      <p:sp>
        <p:nvSpPr>
          <p:cNvPr id="9" name="">
            <a:extLst>
              <a:ext uri="{FF2B5EF4-FFF2-40B4-BE49-F238E27FC236}">
                <ns2:creationId id="{17E7BF7E-A02E-4A78-927B-BFC18BB01F64}"/>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DEFCON: GNN-based defensive EPV (2026) · GenTac: trajectory forecasting (2026 preprint) · TacticAI (2024)</a:t>
            </a:r>
          </a:p>
        </p:txBody>
      </p:sp>
      <p:sp>
        <p:nvSpPr>
          <p:cNvPr id="10" name="">
            <a:extLst>
              <a:ext uri="{FF2B5EF4-FFF2-40B4-BE49-F238E27FC236}">
                <ns2:creationId id="{A7D42C2F-8EF2-4A85-8FD7-74423E0BC32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19 / 21</a:t>
            </a:r>
          </a:p>
        </p:txBody>
      </p:sp>
    </p:spTree>
    <p:extLst>
      <p:ext uri="{BB962C8B-B14F-4D97-AF65-F5344CB8AC3E}">
        <ns4:creationId val="1426673262"/>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1A53AA2D-FB99-43E7-A0E6-93CFF91F26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9A97481-F83A-416F-91D7-34EC5767D88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Validate the football answer</a:t>
            </a:r>
          </a:p>
        </p:txBody>
      </p:sp>
      <p:sp>
        <p:nvSpPr>
          <p:cNvPr id="3" name="">
            <a:extLst>
              <a:ext uri="{FF2B5EF4-FFF2-40B4-BE49-F238E27FC236}">
                <ns2:creationId id="{4403CC5C-7442-4331-8552-B61B7A2003BB}"/>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EAA6AE6E-4F8E-4F4B-8DBF-6858FA5AFB10}"/>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Check clips and labels before trusting metrics</a:t>
            </a:r>
          </a:p>
        </p:txBody>
      </p:sp>
      <p:sp>
        <p:nvSpPr>
          <p:cNvPr id="5" name="">
            <a:extLst>
              <a:ext uri="{FF2B5EF4-FFF2-40B4-BE49-F238E27FC236}">
                <ns2:creationId id="{D525FF9F-740D-4127-B705-E158459D4626}"/>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E719BA7F-6A0C-4115-83ED-2310180D6AA3}"/>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Split evaluation by match; prevent nearby-frame leakage</a:t>
            </a:r>
          </a:p>
        </p:txBody>
      </p:sp>
      <p:sp>
        <p:nvSpPr>
          <p:cNvPr id="7" name="">
            <a:extLst>
              <a:ext uri="{FF2B5EF4-FFF2-40B4-BE49-F238E27FC236}">
                <ns2:creationId id="{8CE2B8B2-9131-4ABE-A89B-6B7EC1CAB469}"/>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DF700F9D-3036-4093-B137-7EA3D5D856F7}"/>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Test calibration, model assumptions and missing-data sensitivity</a:t>
            </a:r>
          </a:p>
        </p:txBody>
      </p:sp>
      <p:sp>
        <p:nvSpPr>
          <p:cNvPr id="9" name="">
            <a:extLst>
              <a:ext uri="{FF2B5EF4-FFF2-40B4-BE49-F238E27FC236}">
                <ns2:creationId id="{065033E9-6CAB-4B3A-94AF-B2DA2654410E}"/>
              </a:ext>
            </a:extLst>
          </p:cNvPr>
          <p:cNvSpPr>
            <a:spLocks noGrp="1"/>
          </p:cNvSpPr>
          <p:nvPr/>
        </p:nvSpPr>
        <p:spPr>
          <a:xfrm>
            <a:off x="619125" y="37814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04</a:t>
            </a:r>
          </a:p>
        </p:txBody>
      </p:sp>
      <p:sp>
        <p:nvSpPr>
          <p:cNvPr id="10" name="">
            <a:extLst>
              <a:ext uri="{FF2B5EF4-FFF2-40B4-BE49-F238E27FC236}">
                <ns2:creationId id="{1D75AAF2-A61A-4430-88B2-973237F2F984}"/>
              </a:ext>
            </a:extLst>
          </p:cNvPr>
          <p:cNvSpPr>
            <a:spLocks noGrp="1"/>
          </p:cNvSpPr>
          <p:nvPr/>
        </p:nvSpPr>
        <p:spPr>
          <a:xfrm>
            <a:off x="1190625" y="37242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Use the result to explain a football decision</a:t>
            </a:r>
          </a:p>
        </p:txBody>
      </p:sp>
      <p:sp>
        <p:nvSpPr>
          <p:cNvPr id="11" name="">
            <a:extLst>
              <a:ext uri="{FF2B5EF4-FFF2-40B4-BE49-F238E27FC236}">
                <ns2:creationId id="{0A0784EC-CB74-4CF8-8B19-B8E0720E1AA1}"/>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hlinkClick r:id="rIdWorkshop3"/>
              </a:rPr>
              <a:t>Fine-grained expected possession value (2021) · Dangerous Accessible Space: paper and implementation</a:t>
            </a:r>
          </a:p>
        </p:txBody>
      </p:sp>
      <p:sp>
        <p:nvSpPr>
          <p:cNvPr id="12" name="">
            <a:extLst>
              <a:ext uri="{FF2B5EF4-FFF2-40B4-BE49-F238E27FC236}">
                <ns2:creationId id="{4A7423C8-885D-4B5D-880D-2A480863911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20 / 21</a:t>
            </a:r>
          </a:p>
        </p:txBody>
      </p:sp>
    </p:spTree>
    <p:extLst>
      <p:ext uri="{BB962C8B-B14F-4D97-AF65-F5344CB8AC3E}">
        <ns4:creationId val="480833048"/>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BFCF8"/>
        </a:solidFill>
      </p:bgPr>
    </p:bg>
    <p:spTree>
      <p:nvGrpSpPr>
        <p:cNvPr id="1" name=""/>
        <p:cNvGrpSpPr/>
        <p:nvPr/>
      </p:nvGrpSpPr>
      <p:grpSpPr>
        <a:xfrm/>
      </p:grpSpPr>
      <p:sp>
        <p:nvSpPr>
          <p:cNvPr id="11" name="">
            <a:extLst>
              <a:ext uri="{FF2B5EF4-FFF2-40B4-BE49-F238E27FC236}">
                <ns2:creationId id="{8C1AFAB8-A00D-45C5-902D-07DDBFC7E8F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19F72AF-BA27-49C0-A49F-B5957C3860C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Questions and next steps</a:t>
            </a:r>
          </a:p>
        </p:txBody>
      </p:sp>
      <p:sp>
        <p:nvSpPr>
          <p:cNvPr id="3" name="">
            <a:extLst>
              <a:ext uri="{FF2B5EF4-FFF2-40B4-BE49-F238E27FC236}">
                <ns2:creationId id="{39A81FDC-D45D-4CDC-B852-F487A32D0013}"/>
              </a:ext>
            </a:extLst>
          </p:cNvPr>
          <p:cNvSpPr>
            <a:spLocks noGrp="1"/>
          </p:cNvSpPr>
          <p:nvPr/>
        </p:nvSpPr>
        <p:spPr>
          <a:xfrm>
            <a:off x="619125" y="14382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01</a:t>
            </a:r>
          </a:p>
        </p:txBody>
      </p:sp>
      <p:sp>
        <p:nvSpPr>
          <p:cNvPr id="4" name="">
            <a:extLst>
              <a:ext uri="{FF2B5EF4-FFF2-40B4-BE49-F238E27FC236}">
                <ns2:creationId id="{7CE300D2-47A1-4267-B9A1-9E2162E0654D}"/>
              </a:ext>
            </a:extLst>
          </p:cNvPr>
          <p:cNvSpPr>
            <a:spLocks noGrp="1"/>
          </p:cNvSpPr>
          <p:nvPr/>
        </p:nvSpPr>
        <p:spPr>
          <a:xfrm>
            <a:off x="1190625" y="13811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changes when defenders move?</a:t>
            </a:r>
          </a:p>
        </p:txBody>
      </p:sp>
      <p:sp>
        <p:nvSpPr>
          <p:cNvPr id="5" name="">
            <a:extLst>
              <a:ext uri="{FF2B5EF4-FFF2-40B4-BE49-F238E27FC236}">
                <ns2:creationId id="{040F47D5-F7A7-4DDA-B4B5-72E92433D8A9}"/>
              </a:ext>
            </a:extLst>
          </p:cNvPr>
          <p:cNvSpPr>
            <a:spLocks noGrp="1"/>
          </p:cNvSpPr>
          <p:nvPr/>
        </p:nvSpPr>
        <p:spPr>
          <a:xfrm>
            <a:off x="619125" y="221932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02</a:t>
            </a:r>
          </a:p>
        </p:txBody>
      </p:sp>
      <p:sp>
        <p:nvSpPr>
          <p:cNvPr id="6" name="">
            <a:extLst>
              <a:ext uri="{FF2B5EF4-FFF2-40B4-BE49-F238E27FC236}">
                <ns2:creationId id="{E3740DED-5B2C-4F6D-8848-8077D86C054B}"/>
              </a:ext>
            </a:extLst>
          </p:cNvPr>
          <p:cNvSpPr>
            <a:spLocks noGrp="1"/>
          </p:cNvSpPr>
          <p:nvPr/>
        </p:nvSpPr>
        <p:spPr>
          <a:xfrm>
            <a:off x="1190625" y="216217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assumptions are useful for your football question?</a:t>
            </a:r>
          </a:p>
        </p:txBody>
      </p:sp>
      <p:sp>
        <p:nvSpPr>
          <p:cNvPr id="7" name="">
            <a:extLst>
              <a:ext uri="{FF2B5EF4-FFF2-40B4-BE49-F238E27FC236}">
                <ns2:creationId id="{2CCCC64A-4BD7-42A4-B898-B8C9C77E3BF4}"/>
              </a:ext>
            </a:extLst>
          </p:cNvPr>
          <p:cNvSpPr>
            <a:spLocks noGrp="1"/>
          </p:cNvSpPr>
          <p:nvPr/>
        </p:nvSpPr>
        <p:spPr>
          <a:xfrm>
            <a:off x="619125" y="3000375"/>
            <a:ext cx="428625" cy="304800"/>
          </a:xfrm>
          <a:prstGeom prst="rect">
            <a:avLst/>
          </a:prstGeom>
          <a:noFill/>
          <a:ln w="0">
            <a:noFill/>
          </a:ln>
        </p:spPr>
        <p:txBody>
          <a:bodyPr/>
          <a:lstStyle>
            <a:defPPr>
              <a:defRPr sz="1350" b="1">
                <a:solidFill>
                  <a:srgbClr val="147D68"/>
                </a:solidFill>
                <a:latin typeface="Arial"/>
                <a:ea typeface="Arial"/>
                <a:cs typeface="Arial"/>
              </a:defRPr>
            </a:defPPr>
            <a:lvl1pPr>
              <a:defRPr sz="1350" b="1">
                <a:solidFill>
                  <a:srgbClr val="147D68"/>
                </a:solidFill>
                <a:latin typeface="Arial"/>
                <a:ea typeface="Arial"/>
                <a:cs typeface="Arial"/>
              </a:defRPr>
            </a:lvl1pPr>
            <a:lvl2pPr>
              <a:defRPr sz="1350" b="1">
                <a:solidFill>
                  <a:srgbClr val="147D68"/>
                </a:solidFill>
                <a:latin typeface="Arial"/>
                <a:ea typeface="Arial"/>
                <a:cs typeface="Arial"/>
              </a:defRPr>
            </a:lvl2pPr>
            <a:lvl3pPr>
              <a:defRPr sz="1350" b="1">
                <a:solidFill>
                  <a:srgbClr val="147D68"/>
                </a:solidFill>
                <a:latin typeface="Arial"/>
                <a:ea typeface="Arial"/>
                <a:cs typeface="Arial"/>
              </a:defRPr>
            </a:lvl3pPr>
            <a:lvl4pPr>
              <a:defRPr sz="1350" b="1">
                <a:solidFill>
                  <a:srgbClr val="147D68"/>
                </a:solidFill>
                <a:latin typeface="Arial"/>
                <a:ea typeface="Arial"/>
                <a:cs typeface="Arial"/>
              </a:defRPr>
            </a:lvl4pPr>
            <a:lvl5pPr>
              <a:defRPr sz="1350" b="1">
                <a:solidFill>
                  <a:srgbClr val="147D68"/>
                </a:solidFill>
                <a:latin typeface="Arial"/>
                <a:ea typeface="Arial"/>
                <a:cs typeface="Arial"/>
              </a:defRPr>
            </a:lvl5pPr>
            <a:lvl6pPr>
              <a:defRPr sz="1350" b="1">
                <a:solidFill>
                  <a:srgbClr val="147D68"/>
                </a:solidFill>
                <a:latin typeface="Arial"/>
                <a:ea typeface="Arial"/>
                <a:cs typeface="Arial"/>
              </a:defRPr>
            </a:lvl6pPr>
            <a:lvl7pPr>
              <a:defRPr sz="1350" b="1">
                <a:solidFill>
                  <a:srgbClr val="147D68"/>
                </a:solidFill>
                <a:latin typeface="Arial"/>
                <a:ea typeface="Arial"/>
                <a:cs typeface="Arial"/>
              </a:defRPr>
            </a:lvl7pPr>
            <a:lvl8pPr>
              <a:defRPr sz="1350" b="1">
                <a:solidFill>
                  <a:srgbClr val="147D68"/>
                </a:solidFill>
                <a:latin typeface="Arial"/>
                <a:ea typeface="Arial"/>
                <a:cs typeface="Arial"/>
              </a:defRPr>
            </a:lvl8pPr>
            <a:lvl9pPr>
              <a:defRPr sz="1350" b="1">
                <a:solidFill>
                  <a:srgbClr val="147D68"/>
                </a:solidFill>
                <a:latin typeface="Arial"/>
                <a:ea typeface="Arial"/>
                <a:cs typeface="Arial"/>
              </a:defRPr>
            </a:lvl9pPr>
          </a:lstStyle>
          <a:p>
            <a:pPr>
              <a:defRPr sz="1350" b="1">
                <a:solidFill>
                  <a:srgbClr val="147D68"/>
                </a:solidFill>
                <a:latin typeface="Arial"/>
                <a:ea typeface="Arial"/>
                <a:cs typeface="Arial"/>
              </a:defRPr>
            </a:pPr>
            <a:r>
              <a:rPr sz="1350" b="1">
                <a:solidFill>
                  <a:srgbClr val="147D68"/>
                </a:solidFill>
                <a:latin typeface="Arial"/>
                <a:ea typeface="Arial"/>
                <a:cs typeface="Arial"/>
              </a:rPr>
              <a:t>03</a:t>
            </a:r>
          </a:p>
        </p:txBody>
      </p:sp>
      <p:sp>
        <p:nvSpPr>
          <p:cNvPr id="8" name="">
            <a:extLst>
              <a:ext uri="{FF2B5EF4-FFF2-40B4-BE49-F238E27FC236}">
                <ns2:creationId id="{E04DFBE1-A2D8-4E1B-BC9A-2CFD94690AD0}"/>
              </a:ext>
            </a:extLst>
          </p:cNvPr>
          <p:cNvSpPr>
            <a:spLocks noGrp="1"/>
          </p:cNvSpPr>
          <p:nvPr/>
        </p:nvSpPr>
        <p:spPr>
          <a:xfrm>
            <a:off x="1190625" y="2943225"/>
            <a:ext cx="10287000" cy="7239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Resources: reading list, methodology notes and full notebook</a:t>
            </a:r>
          </a:p>
        </p:txBody>
      </p:sp>
      <p:sp>
        <p:nvSpPr>
          <p:cNvPr id="9" name="">
            <a:extLst>
              <a:ext uri="{FF2B5EF4-FFF2-40B4-BE49-F238E27FC236}">
                <ns2:creationId id="{C47ADE3B-0CDA-4E2C-B08A-7968B7D234A8}"/>
              </a:ext>
            </a:extLst>
          </p:cNvPr>
          <p:cNvSpPr>
            <a:spLocks noGrp="1"/>
          </p:cNvSpPr>
          <p:nvPr/>
        </p:nvSpPr>
        <p:spPr>
          <a:xfrm>
            <a:off x="571500" y="6257925"/>
            <a:ext cx="10382250" cy="304800"/>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r>
              <a:t/>
            </a:r>
          </a:p>
        </p:txBody>
      </p:sp>
      <p:sp>
        <p:nvSpPr>
          <p:cNvPr id="10" name="">
            <a:extLst>
              <a:ext uri="{FF2B5EF4-FFF2-40B4-BE49-F238E27FC236}">
                <ns2:creationId id="{8AC7E40D-95F4-40B4-908B-B4D539A08A8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21 / 21</a:t>
            </a:r>
          </a:p>
        </p:txBody>
      </p:sp>
    </p:spTree>
    <p:extLst>
      <p:ext uri="{BB962C8B-B14F-4D97-AF65-F5344CB8AC3E}">
        <ns3:creationId val="21444271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2026-10-20T02:00:02.3740000Z</dcterms:created>
  <dcterms:modified xsi:type="dcterms:W3CDTF">2026-10-20T02:00:02.3740000Z</dcterms:modified>
</coreProperties>
</file>